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66" r:id="rId6"/>
    <p:sldId id="270" r:id="rId7"/>
    <p:sldId id="276" r:id="rId8"/>
    <p:sldId id="271" r:id="rId9"/>
    <p:sldId id="268" r:id="rId10"/>
    <p:sldId id="272" r:id="rId11"/>
    <p:sldId id="269" r:id="rId12"/>
    <p:sldId id="265" r:id="rId13"/>
    <p:sldId id="281" r:id="rId14"/>
    <p:sldId id="278" r:id="rId15"/>
    <p:sldId id="279" r:id="rId16"/>
    <p:sldId id="275" r:id="rId17"/>
    <p:sldId id="274" r:id="rId18"/>
  </p:sldIdLst>
  <p:sldSz cx="12192000" cy="6858000"/>
  <p:notesSz cx="6858000" cy="9144000"/>
  <p:defaultText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309" autoAdjust="0"/>
    <p:restoredTop sz="94660"/>
  </p:normalViewPr>
  <p:slideViewPr>
    <p:cSldViewPr snapToGrid="0">
      <p:cViewPr varScale="1">
        <p:scale>
          <a:sx n="75" d="100"/>
          <a:sy n="75" d="100"/>
        </p:scale>
        <p:origin x="4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H"/>
          </a:p>
        </p:txBody>
      </p:sp>
      <p:sp>
        <p:nvSpPr>
          <p:cNvPr id="4" name="Date Placeholder 3"/>
          <p:cNvSpPr>
            <a:spLocks noGrp="1"/>
          </p:cNvSpPr>
          <p:nvPr>
            <p:ph type="dt" sz="half" idx="10"/>
          </p:nvPr>
        </p:nvSpPr>
        <p:spPr/>
        <p:txBody>
          <a:bodyPr/>
          <a:lstStyle/>
          <a:p>
            <a:fld id="{7975582C-E970-4946-A3EF-6EA7AE6CE774}" type="datetimeFigureOut">
              <a:rPr lang="en-GH" smtClean="0"/>
              <a:t>12/03/2026</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CFBE681A-45E9-4723-8BE0-9EFF18FDFD0B}" type="slidenum">
              <a:rPr lang="en-GH" smtClean="0"/>
              <a:t>‹#›</a:t>
            </a:fld>
            <a:endParaRPr lang="en-GH"/>
          </a:p>
        </p:txBody>
      </p:sp>
    </p:spTree>
    <p:extLst>
      <p:ext uri="{BB962C8B-B14F-4D97-AF65-F5344CB8AC3E}">
        <p14:creationId xmlns:p14="http://schemas.microsoft.com/office/powerpoint/2010/main" val="938585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H"/>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p:cNvSpPr>
            <a:spLocks noGrp="1"/>
          </p:cNvSpPr>
          <p:nvPr>
            <p:ph type="dt" sz="half" idx="10"/>
          </p:nvPr>
        </p:nvSpPr>
        <p:spPr/>
        <p:txBody>
          <a:bodyPr/>
          <a:lstStyle/>
          <a:p>
            <a:fld id="{7975582C-E970-4946-A3EF-6EA7AE6CE774}" type="datetimeFigureOut">
              <a:rPr lang="en-GH" smtClean="0"/>
              <a:t>12/03/2026</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CFBE681A-45E9-4723-8BE0-9EFF18FDFD0B}" type="slidenum">
              <a:rPr lang="en-GH" smtClean="0"/>
              <a:t>‹#›</a:t>
            </a:fld>
            <a:endParaRPr lang="en-GH"/>
          </a:p>
        </p:txBody>
      </p:sp>
    </p:spTree>
    <p:extLst>
      <p:ext uri="{BB962C8B-B14F-4D97-AF65-F5344CB8AC3E}">
        <p14:creationId xmlns:p14="http://schemas.microsoft.com/office/powerpoint/2010/main" val="683754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975582C-E970-4946-A3EF-6EA7AE6CE774}" type="datetimeFigureOut">
              <a:rPr lang="en-GH" smtClean="0"/>
              <a:t>12/03/2026</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CFBE681A-45E9-4723-8BE0-9EFF18FDFD0B}" type="slidenum">
              <a:rPr lang="en-GH" smtClean="0"/>
              <a:t>‹#›</a:t>
            </a:fld>
            <a:endParaRPr lang="en-GH"/>
          </a:p>
        </p:txBody>
      </p:sp>
    </p:spTree>
    <p:extLst>
      <p:ext uri="{BB962C8B-B14F-4D97-AF65-F5344CB8AC3E}">
        <p14:creationId xmlns:p14="http://schemas.microsoft.com/office/powerpoint/2010/main" val="590406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H"/>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Date Placeholder 4"/>
          <p:cNvSpPr>
            <a:spLocks noGrp="1"/>
          </p:cNvSpPr>
          <p:nvPr>
            <p:ph type="dt" sz="half" idx="10"/>
          </p:nvPr>
        </p:nvSpPr>
        <p:spPr/>
        <p:txBody>
          <a:bodyPr/>
          <a:lstStyle/>
          <a:p>
            <a:fld id="{7975582C-E970-4946-A3EF-6EA7AE6CE774}" type="datetimeFigureOut">
              <a:rPr lang="en-GH" smtClean="0"/>
              <a:t>12/03/2026</a:t>
            </a:fld>
            <a:endParaRPr lang="en-GH"/>
          </a:p>
        </p:txBody>
      </p:sp>
      <p:sp>
        <p:nvSpPr>
          <p:cNvPr id="6" name="Footer Placeholder 5"/>
          <p:cNvSpPr>
            <a:spLocks noGrp="1"/>
          </p:cNvSpPr>
          <p:nvPr>
            <p:ph type="ftr" sz="quarter" idx="11"/>
          </p:nvPr>
        </p:nvSpPr>
        <p:spPr/>
        <p:txBody>
          <a:bodyPr/>
          <a:lstStyle/>
          <a:p>
            <a:endParaRPr lang="en-GH"/>
          </a:p>
        </p:txBody>
      </p:sp>
      <p:sp>
        <p:nvSpPr>
          <p:cNvPr id="7" name="Slide Number Placeholder 6"/>
          <p:cNvSpPr>
            <a:spLocks noGrp="1"/>
          </p:cNvSpPr>
          <p:nvPr>
            <p:ph type="sldNum" sz="quarter" idx="12"/>
          </p:nvPr>
        </p:nvSpPr>
        <p:spPr/>
        <p:txBody>
          <a:bodyPr/>
          <a:lstStyle/>
          <a:p>
            <a:fld id="{CFBE681A-45E9-4723-8BE0-9EFF18FDFD0B}" type="slidenum">
              <a:rPr lang="en-GH" smtClean="0"/>
              <a:t>‹#›</a:t>
            </a:fld>
            <a:endParaRPr lang="en-GH"/>
          </a:p>
        </p:txBody>
      </p:sp>
    </p:spTree>
    <p:extLst>
      <p:ext uri="{BB962C8B-B14F-4D97-AF65-F5344CB8AC3E}">
        <p14:creationId xmlns:p14="http://schemas.microsoft.com/office/powerpoint/2010/main" val="3580064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7" name="Date Placeholder 6"/>
          <p:cNvSpPr>
            <a:spLocks noGrp="1"/>
          </p:cNvSpPr>
          <p:nvPr>
            <p:ph type="dt" sz="half" idx="10"/>
          </p:nvPr>
        </p:nvSpPr>
        <p:spPr/>
        <p:txBody>
          <a:bodyPr/>
          <a:lstStyle/>
          <a:p>
            <a:fld id="{7975582C-E970-4946-A3EF-6EA7AE6CE774}" type="datetimeFigureOut">
              <a:rPr lang="en-GH" smtClean="0"/>
              <a:t>12/03/2026</a:t>
            </a:fld>
            <a:endParaRPr lang="en-GH"/>
          </a:p>
        </p:txBody>
      </p:sp>
      <p:sp>
        <p:nvSpPr>
          <p:cNvPr id="8" name="Footer Placeholder 7"/>
          <p:cNvSpPr>
            <a:spLocks noGrp="1"/>
          </p:cNvSpPr>
          <p:nvPr>
            <p:ph type="ftr" sz="quarter" idx="11"/>
          </p:nvPr>
        </p:nvSpPr>
        <p:spPr/>
        <p:txBody>
          <a:bodyPr/>
          <a:lstStyle/>
          <a:p>
            <a:endParaRPr lang="en-GH"/>
          </a:p>
        </p:txBody>
      </p:sp>
      <p:sp>
        <p:nvSpPr>
          <p:cNvPr id="9" name="Slide Number Placeholder 8"/>
          <p:cNvSpPr>
            <a:spLocks noGrp="1"/>
          </p:cNvSpPr>
          <p:nvPr>
            <p:ph type="sldNum" sz="quarter" idx="12"/>
          </p:nvPr>
        </p:nvSpPr>
        <p:spPr/>
        <p:txBody>
          <a:bodyPr/>
          <a:lstStyle/>
          <a:p>
            <a:fld id="{CFBE681A-45E9-4723-8BE0-9EFF18FDFD0B}" type="slidenum">
              <a:rPr lang="en-GH" smtClean="0"/>
              <a:t>‹#›</a:t>
            </a:fld>
            <a:endParaRPr lang="en-GH"/>
          </a:p>
        </p:txBody>
      </p:sp>
    </p:spTree>
    <p:extLst>
      <p:ext uri="{BB962C8B-B14F-4D97-AF65-F5344CB8AC3E}">
        <p14:creationId xmlns:p14="http://schemas.microsoft.com/office/powerpoint/2010/main" val="3685102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H"/>
          </a:p>
        </p:txBody>
      </p:sp>
      <p:sp>
        <p:nvSpPr>
          <p:cNvPr id="3" name="Date Placeholder 2"/>
          <p:cNvSpPr>
            <a:spLocks noGrp="1"/>
          </p:cNvSpPr>
          <p:nvPr>
            <p:ph type="dt" sz="half" idx="10"/>
          </p:nvPr>
        </p:nvSpPr>
        <p:spPr/>
        <p:txBody>
          <a:bodyPr/>
          <a:lstStyle/>
          <a:p>
            <a:fld id="{7975582C-E970-4946-A3EF-6EA7AE6CE774}" type="datetimeFigureOut">
              <a:rPr lang="en-GH" smtClean="0"/>
              <a:t>12/03/2026</a:t>
            </a:fld>
            <a:endParaRPr lang="en-GH"/>
          </a:p>
        </p:txBody>
      </p:sp>
      <p:sp>
        <p:nvSpPr>
          <p:cNvPr id="4" name="Footer Placeholder 3"/>
          <p:cNvSpPr>
            <a:spLocks noGrp="1"/>
          </p:cNvSpPr>
          <p:nvPr>
            <p:ph type="ftr" sz="quarter" idx="11"/>
          </p:nvPr>
        </p:nvSpPr>
        <p:spPr/>
        <p:txBody>
          <a:bodyPr/>
          <a:lstStyle/>
          <a:p>
            <a:endParaRPr lang="en-GH"/>
          </a:p>
        </p:txBody>
      </p:sp>
      <p:sp>
        <p:nvSpPr>
          <p:cNvPr id="5" name="Slide Number Placeholder 4"/>
          <p:cNvSpPr>
            <a:spLocks noGrp="1"/>
          </p:cNvSpPr>
          <p:nvPr>
            <p:ph type="sldNum" sz="quarter" idx="12"/>
          </p:nvPr>
        </p:nvSpPr>
        <p:spPr/>
        <p:txBody>
          <a:bodyPr/>
          <a:lstStyle/>
          <a:p>
            <a:fld id="{CFBE681A-45E9-4723-8BE0-9EFF18FDFD0B}" type="slidenum">
              <a:rPr lang="en-GH" smtClean="0"/>
              <a:t>‹#›</a:t>
            </a:fld>
            <a:endParaRPr lang="en-GH"/>
          </a:p>
        </p:txBody>
      </p:sp>
    </p:spTree>
    <p:extLst>
      <p:ext uri="{BB962C8B-B14F-4D97-AF65-F5344CB8AC3E}">
        <p14:creationId xmlns:p14="http://schemas.microsoft.com/office/powerpoint/2010/main" val="4121253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75582C-E970-4946-A3EF-6EA7AE6CE774}" type="datetimeFigureOut">
              <a:rPr lang="en-GH" smtClean="0"/>
              <a:t>12/03/2026</a:t>
            </a:fld>
            <a:endParaRPr lang="en-GH"/>
          </a:p>
        </p:txBody>
      </p:sp>
      <p:sp>
        <p:nvSpPr>
          <p:cNvPr id="3" name="Footer Placeholder 2"/>
          <p:cNvSpPr>
            <a:spLocks noGrp="1"/>
          </p:cNvSpPr>
          <p:nvPr>
            <p:ph type="ftr" sz="quarter" idx="11"/>
          </p:nvPr>
        </p:nvSpPr>
        <p:spPr/>
        <p:txBody>
          <a:bodyPr/>
          <a:lstStyle/>
          <a:p>
            <a:endParaRPr lang="en-GH"/>
          </a:p>
        </p:txBody>
      </p:sp>
      <p:sp>
        <p:nvSpPr>
          <p:cNvPr id="4" name="Slide Number Placeholder 3"/>
          <p:cNvSpPr>
            <a:spLocks noGrp="1"/>
          </p:cNvSpPr>
          <p:nvPr>
            <p:ph type="sldNum" sz="quarter" idx="12"/>
          </p:nvPr>
        </p:nvSpPr>
        <p:spPr/>
        <p:txBody>
          <a:bodyPr/>
          <a:lstStyle/>
          <a:p>
            <a:fld id="{CFBE681A-45E9-4723-8BE0-9EFF18FDFD0B}" type="slidenum">
              <a:rPr lang="en-GH" smtClean="0"/>
              <a:t>‹#›</a:t>
            </a:fld>
            <a:endParaRPr lang="en-GH"/>
          </a:p>
        </p:txBody>
      </p:sp>
    </p:spTree>
    <p:extLst>
      <p:ext uri="{BB962C8B-B14F-4D97-AF65-F5344CB8AC3E}">
        <p14:creationId xmlns:p14="http://schemas.microsoft.com/office/powerpoint/2010/main" val="1582794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975582C-E970-4946-A3EF-6EA7AE6CE774}" type="datetimeFigureOut">
              <a:rPr lang="en-GH" smtClean="0"/>
              <a:t>12/03/2026</a:t>
            </a:fld>
            <a:endParaRPr lang="en-GH"/>
          </a:p>
        </p:txBody>
      </p:sp>
      <p:sp>
        <p:nvSpPr>
          <p:cNvPr id="6" name="Footer Placeholder 5"/>
          <p:cNvSpPr>
            <a:spLocks noGrp="1"/>
          </p:cNvSpPr>
          <p:nvPr>
            <p:ph type="ftr" sz="quarter" idx="11"/>
          </p:nvPr>
        </p:nvSpPr>
        <p:spPr/>
        <p:txBody>
          <a:bodyPr/>
          <a:lstStyle/>
          <a:p>
            <a:endParaRPr lang="en-GH"/>
          </a:p>
        </p:txBody>
      </p:sp>
      <p:sp>
        <p:nvSpPr>
          <p:cNvPr id="7" name="Slide Number Placeholder 6"/>
          <p:cNvSpPr>
            <a:spLocks noGrp="1"/>
          </p:cNvSpPr>
          <p:nvPr>
            <p:ph type="sldNum" sz="quarter" idx="12"/>
          </p:nvPr>
        </p:nvSpPr>
        <p:spPr/>
        <p:txBody>
          <a:bodyPr/>
          <a:lstStyle/>
          <a:p>
            <a:fld id="{CFBE681A-45E9-4723-8BE0-9EFF18FDFD0B}" type="slidenum">
              <a:rPr lang="en-GH" smtClean="0"/>
              <a:t>‹#›</a:t>
            </a:fld>
            <a:endParaRPr lang="en-GH"/>
          </a:p>
        </p:txBody>
      </p:sp>
    </p:spTree>
    <p:extLst>
      <p:ext uri="{BB962C8B-B14F-4D97-AF65-F5344CB8AC3E}">
        <p14:creationId xmlns:p14="http://schemas.microsoft.com/office/powerpoint/2010/main" val="3900830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975582C-E970-4946-A3EF-6EA7AE6CE774}" type="datetimeFigureOut">
              <a:rPr lang="en-GH" smtClean="0"/>
              <a:t>12/03/2026</a:t>
            </a:fld>
            <a:endParaRPr lang="en-GH"/>
          </a:p>
        </p:txBody>
      </p:sp>
      <p:sp>
        <p:nvSpPr>
          <p:cNvPr id="6" name="Footer Placeholder 5"/>
          <p:cNvSpPr>
            <a:spLocks noGrp="1"/>
          </p:cNvSpPr>
          <p:nvPr>
            <p:ph type="ftr" sz="quarter" idx="11"/>
          </p:nvPr>
        </p:nvSpPr>
        <p:spPr/>
        <p:txBody>
          <a:bodyPr/>
          <a:lstStyle/>
          <a:p>
            <a:endParaRPr lang="en-GH"/>
          </a:p>
        </p:txBody>
      </p:sp>
      <p:sp>
        <p:nvSpPr>
          <p:cNvPr id="7" name="Slide Number Placeholder 6"/>
          <p:cNvSpPr>
            <a:spLocks noGrp="1"/>
          </p:cNvSpPr>
          <p:nvPr>
            <p:ph type="sldNum" sz="quarter" idx="12"/>
          </p:nvPr>
        </p:nvSpPr>
        <p:spPr/>
        <p:txBody>
          <a:bodyPr/>
          <a:lstStyle/>
          <a:p>
            <a:fld id="{CFBE681A-45E9-4723-8BE0-9EFF18FDFD0B}" type="slidenum">
              <a:rPr lang="en-GH" smtClean="0"/>
              <a:t>‹#›</a:t>
            </a:fld>
            <a:endParaRPr lang="en-GH"/>
          </a:p>
        </p:txBody>
      </p:sp>
    </p:spTree>
    <p:extLst>
      <p:ext uri="{BB962C8B-B14F-4D97-AF65-F5344CB8AC3E}">
        <p14:creationId xmlns:p14="http://schemas.microsoft.com/office/powerpoint/2010/main" val="1227972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H"/>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p:cNvSpPr>
            <a:spLocks noGrp="1"/>
          </p:cNvSpPr>
          <p:nvPr>
            <p:ph type="dt" sz="half" idx="10"/>
          </p:nvPr>
        </p:nvSpPr>
        <p:spPr/>
        <p:txBody>
          <a:bodyPr/>
          <a:lstStyle/>
          <a:p>
            <a:fld id="{7975582C-E970-4946-A3EF-6EA7AE6CE774}" type="datetimeFigureOut">
              <a:rPr lang="en-GH" smtClean="0"/>
              <a:t>12/03/2026</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CFBE681A-45E9-4723-8BE0-9EFF18FDFD0B}" type="slidenum">
              <a:rPr lang="en-GH" smtClean="0"/>
              <a:t>‹#›</a:t>
            </a:fld>
            <a:endParaRPr lang="en-GH"/>
          </a:p>
        </p:txBody>
      </p:sp>
    </p:spTree>
    <p:extLst>
      <p:ext uri="{BB962C8B-B14F-4D97-AF65-F5344CB8AC3E}">
        <p14:creationId xmlns:p14="http://schemas.microsoft.com/office/powerpoint/2010/main" val="5519505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p:cNvSpPr>
            <a:spLocks noGrp="1"/>
          </p:cNvSpPr>
          <p:nvPr>
            <p:ph type="dt" sz="half" idx="10"/>
          </p:nvPr>
        </p:nvSpPr>
        <p:spPr/>
        <p:txBody>
          <a:bodyPr/>
          <a:lstStyle/>
          <a:p>
            <a:fld id="{7975582C-E970-4946-A3EF-6EA7AE6CE774}" type="datetimeFigureOut">
              <a:rPr lang="en-GH" smtClean="0"/>
              <a:t>12/03/2026</a:t>
            </a:fld>
            <a:endParaRPr lang="en-GH"/>
          </a:p>
        </p:txBody>
      </p:sp>
      <p:sp>
        <p:nvSpPr>
          <p:cNvPr id="5" name="Footer Placeholder 4"/>
          <p:cNvSpPr>
            <a:spLocks noGrp="1"/>
          </p:cNvSpPr>
          <p:nvPr>
            <p:ph type="ftr" sz="quarter" idx="11"/>
          </p:nvPr>
        </p:nvSpPr>
        <p:spPr/>
        <p:txBody>
          <a:bodyPr/>
          <a:lstStyle/>
          <a:p>
            <a:endParaRPr lang="en-GH"/>
          </a:p>
        </p:txBody>
      </p:sp>
      <p:sp>
        <p:nvSpPr>
          <p:cNvPr id="6" name="Slide Number Placeholder 5"/>
          <p:cNvSpPr>
            <a:spLocks noGrp="1"/>
          </p:cNvSpPr>
          <p:nvPr>
            <p:ph type="sldNum" sz="quarter" idx="12"/>
          </p:nvPr>
        </p:nvSpPr>
        <p:spPr/>
        <p:txBody>
          <a:bodyPr/>
          <a:lstStyle/>
          <a:p>
            <a:fld id="{CFBE681A-45E9-4723-8BE0-9EFF18FDFD0B}" type="slidenum">
              <a:rPr lang="en-GH" smtClean="0"/>
              <a:t>‹#›</a:t>
            </a:fld>
            <a:endParaRPr lang="en-GH"/>
          </a:p>
        </p:txBody>
      </p:sp>
    </p:spTree>
    <p:extLst>
      <p:ext uri="{BB962C8B-B14F-4D97-AF65-F5344CB8AC3E}">
        <p14:creationId xmlns:p14="http://schemas.microsoft.com/office/powerpoint/2010/main" val="39659507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75582C-E970-4946-A3EF-6EA7AE6CE774}" type="datetimeFigureOut">
              <a:rPr lang="en-GH" smtClean="0"/>
              <a:t>12/03/2026</a:t>
            </a:fld>
            <a:endParaRPr lang="en-G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BE681A-45E9-4723-8BE0-9EFF18FDFD0B}" type="slidenum">
              <a:rPr lang="en-GH" smtClean="0"/>
              <a:t>‹#›</a:t>
            </a:fld>
            <a:endParaRPr lang="en-GH"/>
          </a:p>
        </p:txBody>
      </p:sp>
    </p:spTree>
    <p:extLst>
      <p:ext uri="{BB962C8B-B14F-4D97-AF65-F5344CB8AC3E}">
        <p14:creationId xmlns:p14="http://schemas.microsoft.com/office/powerpoint/2010/main" val="39703948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0087D53-9295-4463-AAE4-D5C626046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415361" y="2490524"/>
            <a:ext cx="10909640" cy="2046410"/>
          </a:xfrm>
        </p:spPr>
        <p:txBody>
          <a:bodyPr anchor="ctr">
            <a:noAutofit/>
          </a:bodyPr>
          <a:lstStyle/>
          <a:p>
            <a:pPr>
              <a:lnSpc>
                <a:spcPct val="100000"/>
              </a:lnSpc>
            </a:pPr>
            <a:r>
              <a:rPr lang="en-GB" sz="4000" b="1" dirty="0">
                <a:latin typeface="Arial" panose="020B0604020202020204" pitchFamily="34" charset="0"/>
                <a:cs typeface="Arial" panose="020B0604020202020204" pitchFamily="34" charset="0"/>
              </a:rPr>
              <a:t>Assessment of Consecutive Dry Days (CDD) in West Africa: </a:t>
            </a:r>
            <a:br>
              <a:rPr lang="en-GB" sz="4000" b="1" dirty="0">
                <a:latin typeface="Arial" panose="020B0604020202020204" pitchFamily="34" charset="0"/>
                <a:cs typeface="Arial" panose="020B0604020202020204" pitchFamily="34" charset="0"/>
              </a:rPr>
            </a:br>
            <a:r>
              <a:rPr lang="en-GB" sz="4000" b="1" dirty="0">
                <a:latin typeface="Arial" panose="020B0604020202020204" pitchFamily="34" charset="0"/>
                <a:cs typeface="Arial" panose="020B0604020202020204" pitchFamily="34" charset="0"/>
              </a:rPr>
              <a:t>Model Evaluation and Climate Projections</a:t>
            </a:r>
            <a:endParaRPr lang="en-GH" sz="4000" b="1" dirty="0">
              <a:latin typeface="Arial" panose="020B0604020202020204" pitchFamily="34" charset="0"/>
              <a:cs typeface="Arial" panose="020B0604020202020204" pitchFamily="34" charset="0"/>
            </a:endParaRPr>
          </a:p>
        </p:txBody>
      </p:sp>
      <p:pic>
        <p:nvPicPr>
          <p:cNvPr id="8" name="Picture 7"/>
          <p:cNvPicPr>
            <a:picLocks noChangeAspect="1" noChangeArrowheads="1"/>
          </p:cNvPicPr>
          <p:nvPr/>
        </p:nvPicPr>
        <p:blipFill>
          <a:blip r:embed="rId2"/>
          <a:srcRect l="18750" t="23958" r="14453" b="59375"/>
          <a:stretch>
            <a:fillRect/>
          </a:stretch>
        </p:blipFill>
        <p:spPr bwMode="auto">
          <a:xfrm>
            <a:off x="1134836" y="95232"/>
            <a:ext cx="9788814" cy="1423151"/>
          </a:xfrm>
          <a:prstGeom prst="rect">
            <a:avLst/>
          </a:prstGeom>
          <a:noFill/>
        </p:spPr>
      </p:pic>
      <p:sp>
        <p:nvSpPr>
          <p:cNvPr id="22"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5594358"/>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Subtitle 2"/>
          <p:cNvSpPr txBox="1">
            <a:spLocks/>
          </p:cNvSpPr>
          <p:nvPr/>
        </p:nvSpPr>
        <p:spPr>
          <a:xfrm>
            <a:off x="304799" y="5442696"/>
            <a:ext cx="3249387" cy="109508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b="1" dirty="0">
                <a:latin typeface="Arial" panose="020B0604020202020204" pitchFamily="34" charset="0"/>
                <a:cs typeface="Arial" panose="020B0604020202020204" pitchFamily="34" charset="0"/>
              </a:rPr>
              <a:t>Presented by</a:t>
            </a:r>
          </a:p>
          <a:p>
            <a:r>
              <a:rPr lang="en-GB" dirty="0">
                <a:latin typeface="Arial" panose="020B0604020202020204" pitchFamily="34" charset="0"/>
                <a:cs typeface="Arial" panose="020B0604020202020204" pitchFamily="34" charset="0"/>
              </a:rPr>
              <a:t>Abdoulaye DIOP</a:t>
            </a:r>
          </a:p>
        </p:txBody>
      </p:sp>
      <p:sp>
        <p:nvSpPr>
          <p:cNvPr id="10" name="Subtitle 2"/>
          <p:cNvSpPr txBox="1">
            <a:spLocks/>
          </p:cNvSpPr>
          <p:nvPr/>
        </p:nvSpPr>
        <p:spPr>
          <a:xfrm>
            <a:off x="8637814" y="5442696"/>
            <a:ext cx="3148693" cy="1095083"/>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b="1" dirty="0">
                <a:latin typeface="Arial" panose="020B0604020202020204" pitchFamily="34" charset="0"/>
                <a:cs typeface="Arial" panose="020B0604020202020204" pitchFamily="34" charset="0"/>
              </a:rPr>
              <a:t>Supervised by</a:t>
            </a:r>
          </a:p>
          <a:p>
            <a:r>
              <a:rPr lang="en-US" dirty="0">
                <a:latin typeface="Arial" panose="020B0604020202020204" pitchFamily="34" charset="0"/>
                <a:cs typeface="Arial" panose="020B0604020202020204" pitchFamily="34" charset="0"/>
              </a:rPr>
              <a:t>Dr. Windmanagda Sawadogo</a:t>
            </a:r>
            <a:endParaRPr lang="en-GH" dirty="0">
              <a:latin typeface="Arial" panose="020B0604020202020204" pitchFamily="34" charset="0"/>
              <a:cs typeface="Arial" panose="020B0604020202020204" pitchFamily="34" charset="0"/>
            </a:endParaRPr>
          </a:p>
        </p:txBody>
      </p:sp>
      <p:sp>
        <p:nvSpPr>
          <p:cNvPr id="23" name="Subtitle 2"/>
          <p:cNvSpPr txBox="1">
            <a:spLocks/>
          </p:cNvSpPr>
          <p:nvPr/>
        </p:nvSpPr>
        <p:spPr>
          <a:xfrm>
            <a:off x="3758292" y="5899408"/>
            <a:ext cx="4773387" cy="552659"/>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latin typeface="Arial" panose="020B0604020202020204" pitchFamily="34" charset="0"/>
                <a:cs typeface="Arial" panose="020B0604020202020204" pitchFamily="34" charset="0"/>
              </a:rPr>
              <a:t>23/09/2024</a:t>
            </a:r>
            <a:endParaRPr lang="en-GH"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902864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vert="horz" lIns="91440" tIns="45720" rIns="91440" bIns="45720" rtlCol="0" anchor="ctr">
            <a:normAutofit/>
          </a:bodyPr>
          <a:lstStyle/>
          <a:p>
            <a:r>
              <a:rPr lang="en-US" sz="4000" b="1" dirty="0">
                <a:latin typeface="Arial" panose="020B0604020202020204" pitchFamily="34" charset="0"/>
                <a:cs typeface="Arial" panose="020B0604020202020204" pitchFamily="34" charset="0"/>
              </a:rPr>
              <a:t>Outline</a:t>
            </a:r>
            <a:endParaRPr lang="en-US" sz="40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sz="half" idx="1"/>
          </p:nvPr>
        </p:nvSpPr>
        <p:spPr>
          <a:xfrm>
            <a:off x="1115568" y="2125858"/>
            <a:ext cx="10168128" cy="4602429"/>
          </a:xfrm>
        </p:spPr>
        <p:txBody>
          <a:bodyPr vert="horz" lIns="91440" tIns="45720" rIns="91440" bIns="45720" rtlCol="0">
            <a:noAutofit/>
          </a:bodyPr>
          <a:lstStyle/>
          <a:p>
            <a:pPr marL="1143000" lvl="1" indent="-457200">
              <a:lnSpc>
                <a:spcPct val="100000"/>
              </a:lnSpc>
              <a:buFont typeface="+mj-lt"/>
              <a:buAutoNum type="arabicPeriod"/>
            </a:pPr>
            <a:r>
              <a:rPr lang="en-US" sz="2800" dirty="0">
                <a:latin typeface="Arial" panose="020B0604020202020204" pitchFamily="34" charset="0"/>
                <a:cs typeface="Arial" panose="020B0604020202020204" pitchFamily="34" charset="0"/>
              </a:rPr>
              <a:t>Introduction</a:t>
            </a:r>
          </a:p>
          <a:p>
            <a:pPr marL="1143000" lvl="1" indent="-457200">
              <a:lnSpc>
                <a:spcPct val="100000"/>
              </a:lnSpc>
              <a:buFont typeface="+mj-lt"/>
              <a:buAutoNum type="arabicPeriod"/>
            </a:pPr>
            <a:r>
              <a:rPr lang="en-US" sz="2800" dirty="0">
                <a:latin typeface="Arial" panose="020B0604020202020204" pitchFamily="34" charset="0"/>
                <a:cs typeface="Arial" panose="020B0604020202020204" pitchFamily="34" charset="0"/>
              </a:rPr>
              <a:t>Background of the Study</a:t>
            </a:r>
          </a:p>
          <a:p>
            <a:pPr marL="1143000" lvl="1" indent="-457200">
              <a:lnSpc>
                <a:spcPct val="100000"/>
              </a:lnSpc>
              <a:buFont typeface="+mj-lt"/>
              <a:buAutoNum type="arabicPeriod"/>
            </a:pPr>
            <a:r>
              <a:rPr lang="en-US" sz="2800" dirty="0">
                <a:latin typeface="Arial" panose="020B0604020202020204" pitchFamily="34" charset="0"/>
                <a:cs typeface="Arial" panose="020B0604020202020204" pitchFamily="34" charset="0"/>
              </a:rPr>
              <a:t>Study area</a:t>
            </a:r>
          </a:p>
          <a:p>
            <a:pPr marL="1143000" lvl="1" indent="-457200">
              <a:lnSpc>
                <a:spcPct val="100000"/>
              </a:lnSpc>
              <a:buFont typeface="+mj-lt"/>
              <a:buAutoNum type="arabicPeriod"/>
            </a:pPr>
            <a:r>
              <a:rPr lang="en-US" sz="2800" dirty="0">
                <a:latin typeface="Arial" panose="020B0604020202020204" pitchFamily="34" charset="0"/>
                <a:cs typeface="Arial" panose="020B0604020202020204" pitchFamily="34" charset="0"/>
              </a:rPr>
              <a:t>Objectives</a:t>
            </a:r>
          </a:p>
          <a:p>
            <a:pPr marL="1143000" lvl="1" indent="-457200">
              <a:lnSpc>
                <a:spcPct val="100000"/>
              </a:lnSpc>
              <a:buFont typeface="+mj-lt"/>
              <a:buAutoNum type="arabicPeriod"/>
            </a:pPr>
            <a:r>
              <a:rPr lang="en-US" sz="2800" dirty="0">
                <a:latin typeface="Arial" panose="020B0604020202020204" pitchFamily="34" charset="0"/>
                <a:cs typeface="Arial" panose="020B0604020202020204" pitchFamily="34" charset="0"/>
              </a:rPr>
              <a:t>D</a:t>
            </a:r>
            <a:r>
              <a:rPr lang="en-GB" sz="2800" dirty="0">
                <a:latin typeface="Arial" panose="020B0604020202020204" pitchFamily="34" charset="0"/>
                <a:cs typeface="Arial" panose="020B0604020202020204" pitchFamily="34" charset="0"/>
              </a:rPr>
              <a:t>ata descriptions</a:t>
            </a:r>
            <a:endParaRPr lang="en-US" sz="2800" dirty="0">
              <a:latin typeface="Arial" panose="020B0604020202020204" pitchFamily="34" charset="0"/>
              <a:cs typeface="Arial" panose="020B0604020202020204" pitchFamily="34" charset="0"/>
            </a:endParaRPr>
          </a:p>
          <a:p>
            <a:pPr marL="1143000" lvl="1" indent="-457200">
              <a:lnSpc>
                <a:spcPct val="100000"/>
              </a:lnSpc>
              <a:buFont typeface="+mj-lt"/>
              <a:buAutoNum type="arabicPeriod"/>
            </a:pPr>
            <a:r>
              <a:rPr lang="en-US" sz="2800" dirty="0">
                <a:latin typeface="Arial" panose="020B0604020202020204" pitchFamily="34" charset="0"/>
                <a:cs typeface="Arial" panose="020B0604020202020204" pitchFamily="34" charset="0"/>
              </a:rPr>
              <a:t>Methodology</a:t>
            </a:r>
          </a:p>
          <a:p>
            <a:pPr marL="1143000" lvl="1" indent="-457200">
              <a:lnSpc>
                <a:spcPct val="100000"/>
              </a:lnSpc>
              <a:buFont typeface="+mj-lt"/>
              <a:buAutoNum type="arabicPeriod"/>
            </a:pPr>
            <a:r>
              <a:rPr lang="en-US" sz="2800" dirty="0">
                <a:latin typeface="Arial" panose="020B0604020202020204" pitchFamily="34" charset="0"/>
                <a:cs typeface="Arial" panose="020B0604020202020204" pitchFamily="34" charset="0"/>
              </a:rPr>
              <a:t>Results and discussions</a:t>
            </a:r>
          </a:p>
          <a:p>
            <a:pPr marL="1143000" lvl="1" indent="-457200">
              <a:lnSpc>
                <a:spcPct val="100000"/>
              </a:lnSpc>
              <a:buFont typeface="+mj-lt"/>
              <a:buAutoNum type="arabicPeriod"/>
            </a:pPr>
            <a:r>
              <a:rPr lang="en-US" sz="2800" dirty="0">
                <a:latin typeface="Arial" panose="020B0604020202020204" pitchFamily="34" charset="0"/>
                <a:cs typeface="Arial" panose="020B0604020202020204" pitchFamily="34" charset="0"/>
              </a:rPr>
              <a:t>Conclusion</a:t>
            </a:r>
          </a:p>
          <a:p>
            <a:pPr lvl="1" indent="0">
              <a:lnSpc>
                <a:spcPct val="100000"/>
              </a:lnSpc>
              <a:buNone/>
            </a:pPr>
            <a:r>
              <a:rPr lang="en-US" sz="2800" dirty="0">
                <a:latin typeface="Arial" panose="020B0604020202020204" pitchFamily="34" charset="0"/>
                <a:cs typeface="Arial" panose="020B0604020202020204" pitchFamily="34" charset="0"/>
              </a:rPr>
              <a:t>References</a:t>
            </a:r>
          </a:p>
          <a:p>
            <a:pPr marL="685800" indent="-457200">
              <a:lnSpc>
                <a:spcPct val="100000"/>
              </a:lnSpc>
              <a:buFont typeface="+mj-lt"/>
              <a:buAutoNum type="arabicPeriod"/>
            </a:pPr>
            <a:endParaRPr lang="en-US" sz="2400" dirty="0">
              <a:latin typeface="Arial" panose="020B0604020202020204" pitchFamily="34" charset="0"/>
              <a:cs typeface="Arial" panose="020B0604020202020204" pitchFamily="34" charset="0"/>
            </a:endParaRPr>
          </a:p>
          <a:p>
            <a:pPr marL="685800" indent="-457200">
              <a:lnSpc>
                <a:spcPct val="100000"/>
              </a:lnSpc>
              <a:buFont typeface="+mj-lt"/>
              <a:buAutoNum type="arabicPeriod"/>
            </a:pPr>
            <a:endParaRPr lang="en-US" sz="2400" dirty="0">
              <a:latin typeface="Arial" panose="020B0604020202020204" pitchFamily="34" charset="0"/>
              <a:cs typeface="Arial" panose="020B0604020202020204" pitchFamily="34" charset="0"/>
            </a:endParaRPr>
          </a:p>
          <a:p>
            <a:pPr marL="685800" indent="-457200">
              <a:lnSpc>
                <a:spcPct val="100000"/>
              </a:lnSpc>
              <a:buFont typeface="+mj-lt"/>
              <a:buAutoNum type="arabicPeriod"/>
            </a:pPr>
            <a:endParaRPr lang="en-US" sz="2400" dirty="0">
              <a:latin typeface="Arial" panose="020B0604020202020204" pitchFamily="34" charset="0"/>
              <a:cs typeface="Arial" panose="020B0604020202020204" pitchFamily="34" charset="0"/>
            </a:endParaRPr>
          </a:p>
          <a:p>
            <a:pPr marL="685800" indent="-457200">
              <a:lnSpc>
                <a:spcPct val="100000"/>
              </a:lnSpc>
              <a:buFont typeface="+mj-lt"/>
              <a:buAutoNum type="arabicPeriod"/>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5509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vert="horz" lIns="91440" tIns="45720" rIns="91440" bIns="45720" rtlCol="0" anchor="ctr">
            <a:normAutofit/>
          </a:bodyPr>
          <a:lstStyle/>
          <a:p>
            <a:r>
              <a:rPr lang="en-US" sz="4000" b="1" dirty="0">
                <a:latin typeface="Arial" panose="020B0604020202020204" pitchFamily="34" charset="0"/>
                <a:cs typeface="Arial" panose="020B0604020202020204" pitchFamily="34" charset="0"/>
              </a:rPr>
              <a:t>Introduction</a:t>
            </a:r>
            <a:endParaRPr lang="en-US" sz="40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sz="half" idx="1"/>
          </p:nvPr>
        </p:nvSpPr>
        <p:spPr>
          <a:xfrm>
            <a:off x="558208" y="2157988"/>
            <a:ext cx="11228323" cy="4226034"/>
          </a:xfrm>
        </p:spPr>
        <p:txBody>
          <a:bodyPr vert="horz" lIns="91440" tIns="45720" rIns="91440" bIns="45720" rtlCol="0">
            <a:noAutofit/>
          </a:bodyPr>
          <a:lstStyle/>
          <a:p>
            <a:pPr indent="0" algn="just">
              <a:lnSpc>
                <a:spcPct val="150000"/>
              </a:lnSpc>
              <a:buNone/>
            </a:pPr>
            <a:r>
              <a:rPr lang="en-GB" dirty="0">
                <a:latin typeface="Arial" panose="020B0604020202020204" pitchFamily="34" charset="0"/>
                <a:cs typeface="Arial" panose="020B0604020202020204" pitchFamily="34" charset="0"/>
              </a:rPr>
              <a:t>Consecutive Dry Days (CDD) are periods where rainfall is less than 1 mm for consecutive days, often used as an indicator to assess drought conditions. CDDs play a crucial role in understanding water scarcity, agricultural stress, and ecosystem vulnerability. Globally, regions prone to dry spells are seeing an increase in the duration and frequency of these events due to climate change. </a:t>
            </a:r>
            <a:endParaRPr lang="en-US" dirty="0">
              <a:latin typeface="Arial" panose="020B0604020202020204" pitchFamily="34" charset="0"/>
              <a:cs typeface="Arial" panose="020B0604020202020204" pitchFamily="34" charset="0"/>
            </a:endParaRPr>
          </a:p>
          <a:p>
            <a:pPr marL="685800" indent="-457200" algn="just">
              <a:lnSpc>
                <a:spcPct val="100000"/>
              </a:lnSpc>
              <a:buFont typeface="+mj-lt"/>
              <a:buAutoNum type="arabicPeriod"/>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85756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vert="horz" lIns="91440" tIns="45720" rIns="91440" bIns="45720" rtlCol="0" anchor="ctr">
            <a:normAutofit/>
          </a:bodyPr>
          <a:lstStyle/>
          <a:p>
            <a:r>
              <a:rPr lang="en-US" sz="4000" b="1" dirty="0">
                <a:latin typeface="Arial" panose="020B0604020202020204" pitchFamily="34" charset="0"/>
                <a:cs typeface="Arial" panose="020B0604020202020204" pitchFamily="34" charset="0"/>
              </a:rPr>
              <a:t>Background of the study</a:t>
            </a:r>
            <a:endParaRPr lang="en-US" sz="40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sz="half" idx="1"/>
          </p:nvPr>
        </p:nvSpPr>
        <p:spPr>
          <a:xfrm>
            <a:off x="415926" y="2018806"/>
            <a:ext cx="10867770" cy="4532614"/>
          </a:xfrm>
        </p:spPr>
        <p:txBody>
          <a:bodyPr vert="horz" lIns="91440" tIns="45720" rIns="91440" bIns="45720" rtlCol="0">
            <a:noAutofit/>
          </a:bodyPr>
          <a:lstStyle/>
          <a:p>
            <a:pPr indent="0" algn="just">
              <a:lnSpc>
                <a:spcPct val="150000"/>
              </a:lnSpc>
              <a:buNone/>
            </a:pPr>
            <a:r>
              <a:rPr lang="en-GB" dirty="0">
                <a:latin typeface="Arial" panose="020B0604020202020204" pitchFamily="34" charset="0"/>
                <a:cs typeface="Arial" panose="020B0604020202020204" pitchFamily="34" charset="0"/>
              </a:rPr>
              <a:t>CDDs pose a serious challenge due to the region's dependence on rain-fed agriculture. Increasing frequencies of dry spells lead to reduced crop yields and heightened food insecurity. Many areas currently experience over 100 consecutive dry days annually, and climate change is projected to worsen this situation. This study aims to analyse CDD trends and provide insights for effective management strategies.</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0132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838195" y="676330"/>
            <a:ext cx="7933271" cy="1106424"/>
          </a:xfrm>
        </p:spPr>
        <p:txBody>
          <a:bodyPr vert="horz" lIns="91440" tIns="45720" rIns="91440" bIns="45720" rtlCol="0" anchor="ctr">
            <a:normAutofit/>
          </a:bodyPr>
          <a:lstStyle/>
          <a:p>
            <a:r>
              <a:rPr lang="en-US" b="1" dirty="0">
                <a:latin typeface="Arial" panose="020B0604020202020204" pitchFamily="34" charset="0"/>
                <a:cs typeface="Arial" panose="020B0604020202020204" pitchFamily="34" charset="0"/>
              </a:rPr>
              <a:t>Study area</a:t>
            </a:r>
            <a:endParaRPr lang="en-US"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 name="Content Placeholder 2"/>
          <p:cNvSpPr>
            <a:spLocks noGrp="1"/>
          </p:cNvSpPr>
          <p:nvPr>
            <p:ph sz="half" idx="1"/>
          </p:nvPr>
        </p:nvSpPr>
        <p:spPr>
          <a:xfrm>
            <a:off x="498834" y="2541706"/>
            <a:ext cx="11218103" cy="4549774"/>
          </a:xfrm>
        </p:spPr>
        <p:txBody>
          <a:bodyPr>
            <a:noAutofit/>
          </a:bodyPr>
          <a:lstStyle/>
          <a:p>
            <a:pPr marL="0" indent="0" algn="just">
              <a:lnSpc>
                <a:spcPct val="150000"/>
              </a:lnSpc>
              <a:buNone/>
            </a:pPr>
            <a:r>
              <a:rPr lang="en-GB" sz="3200" dirty="0">
                <a:latin typeface="Arial" panose="020B0604020202020204" pitchFamily="34" charset="0"/>
                <a:cs typeface="Arial" panose="020B0604020202020204" pitchFamily="34" charset="0"/>
              </a:rPr>
              <a:t>The study focuses on West Africa, which is characterized by its semi-arid climate and vulnerability to drought. The area’s reliance on seasonal rainfall makes it critical to understand CDD dynamics and their implications for local communities </a:t>
            </a:r>
            <a:endParaRPr lang="en-GH"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63466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vert="horz" lIns="91440" tIns="45720" rIns="91440" bIns="45720" rtlCol="0" anchor="ctr">
            <a:normAutofit/>
          </a:bodyPr>
          <a:lstStyle/>
          <a:p>
            <a:r>
              <a:rPr lang="en-US" sz="4000" b="1" dirty="0">
                <a:latin typeface="Arial" panose="020B0604020202020204" pitchFamily="34" charset="0"/>
                <a:cs typeface="Arial" panose="020B0604020202020204" pitchFamily="34" charset="0"/>
              </a:rPr>
              <a:t>Objectives</a:t>
            </a:r>
            <a:endParaRPr lang="en-US" sz="40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sz="half" idx="1"/>
          </p:nvPr>
        </p:nvSpPr>
        <p:spPr>
          <a:xfrm>
            <a:off x="566929" y="2088859"/>
            <a:ext cx="11155680" cy="4530055"/>
          </a:xfrm>
        </p:spPr>
        <p:txBody>
          <a:bodyPr vert="horz" lIns="91440" tIns="45720" rIns="91440" bIns="45720" rtlCol="0">
            <a:noAutofit/>
          </a:bodyPr>
          <a:lstStyle/>
          <a:p>
            <a:pPr marL="685800" indent="-457200" algn="just">
              <a:lnSpc>
                <a:spcPct val="150000"/>
              </a:lnSpc>
              <a:buFont typeface="+mj-lt"/>
              <a:buAutoNum type="arabicPeriod"/>
            </a:pPr>
            <a:r>
              <a:rPr lang="en-GB" sz="2400" dirty="0">
                <a:latin typeface="Arial" panose="020B0604020202020204" pitchFamily="34" charset="0"/>
                <a:cs typeface="Arial" panose="020B0604020202020204" pitchFamily="34" charset="0"/>
              </a:rPr>
              <a:t>To assess the performance of different climate models (ACCESS,  MIROC, and NorESM2-MM) in simulating historical CDD trends in West Africa.</a:t>
            </a:r>
          </a:p>
          <a:p>
            <a:pPr marL="685800" indent="-457200" algn="just">
              <a:lnSpc>
                <a:spcPct val="150000"/>
              </a:lnSpc>
              <a:buFont typeface="+mj-lt"/>
              <a:buAutoNum type="arabicPeriod"/>
            </a:pPr>
            <a:r>
              <a:rPr lang="en-GB" sz="2400" dirty="0">
                <a:latin typeface="Arial" panose="020B0604020202020204" pitchFamily="34" charset="0"/>
                <a:cs typeface="Arial" panose="020B0604020202020204" pitchFamily="34" charset="0"/>
              </a:rPr>
              <a:t>To project future CDD patterns under various climate scenarios (SSP126, SSP245, SSP585) for near-term (2021-2050) and far-term (2071-2100) periods. </a:t>
            </a:r>
          </a:p>
          <a:p>
            <a:pPr marL="685800" indent="-457200" algn="just">
              <a:lnSpc>
                <a:spcPct val="150000"/>
              </a:lnSpc>
              <a:buFont typeface="+mj-lt"/>
              <a:buAutoNum type="arabicPeriod"/>
            </a:pPr>
            <a:r>
              <a:rPr lang="en-GB" sz="2400" dirty="0">
                <a:latin typeface="Arial" panose="020B0604020202020204" pitchFamily="34" charset="0"/>
                <a:cs typeface="Arial" panose="020B0604020202020204" pitchFamily="34" charset="0"/>
              </a:rPr>
              <a:t>To analyse trends and anomalies in CDD by comparing historical data with future projections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316321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vert="horz" lIns="91440" tIns="45720" rIns="91440" bIns="45720" rtlCol="0" anchor="ctr">
            <a:normAutofit/>
          </a:bodyPr>
          <a:lstStyle/>
          <a:p>
            <a:r>
              <a:rPr lang="en-US" sz="4000" b="1" dirty="0">
                <a:latin typeface="Arial" panose="020B0604020202020204" pitchFamily="34" charset="0"/>
                <a:cs typeface="Arial" panose="020B0604020202020204" pitchFamily="34" charset="0"/>
              </a:rPr>
              <a:t>Data descriptions</a:t>
            </a:r>
            <a:endParaRPr lang="en-US" sz="40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1" name="Content Placeholder 2"/>
          <p:cNvSpPr>
            <a:spLocks noGrp="1"/>
          </p:cNvSpPr>
          <p:nvPr>
            <p:ph sz="half" idx="1"/>
          </p:nvPr>
        </p:nvSpPr>
        <p:spPr>
          <a:xfrm>
            <a:off x="566928" y="2390862"/>
            <a:ext cx="11155679" cy="4141824"/>
          </a:xfrm>
        </p:spPr>
        <p:txBody>
          <a:bodyPr>
            <a:noAutofit/>
          </a:bodyPr>
          <a:lstStyle/>
          <a:p>
            <a:pPr marL="0" indent="0" algn="just">
              <a:lnSpc>
                <a:spcPct val="150000"/>
              </a:lnSpc>
              <a:buNone/>
            </a:pPr>
            <a:r>
              <a:rPr lang="en-GB" dirty="0">
                <a:latin typeface="Arial" panose="020B0604020202020204" pitchFamily="34" charset="0"/>
                <a:cs typeface="Arial" panose="020B0604020202020204" pitchFamily="34" charset="0"/>
              </a:rPr>
              <a:t>The analysis utilizes data from CHIRPS (Climate Hazards Group InfraRed Precipitation with Station data) for historical CDD assessments and various climate models, including </a:t>
            </a:r>
            <a:r>
              <a:rPr lang="en-GB">
                <a:latin typeface="Arial" panose="020B0604020202020204" pitchFamily="34" charset="0"/>
                <a:cs typeface="Arial" panose="020B0604020202020204" pitchFamily="34" charset="0"/>
              </a:rPr>
              <a:t>ACCESS-CM2, MIROC6, MPI-ESM1-2-HR, NorESM2-MM</a:t>
            </a:r>
            <a:r>
              <a:rPr lang="en-GB" dirty="0">
                <a:latin typeface="Arial" panose="020B0604020202020204" pitchFamily="34" charset="0"/>
                <a:cs typeface="Arial" panose="020B0604020202020204" pitchFamily="34" charset="0"/>
              </a:rPr>
              <a:t>, MRI-ESM2-0, </a:t>
            </a:r>
            <a:r>
              <a:rPr lang="en-GB">
                <a:latin typeface="Arial" panose="020B0604020202020204" pitchFamily="34" charset="0"/>
                <a:cs typeface="Arial" panose="020B0604020202020204" pitchFamily="34" charset="0"/>
              </a:rPr>
              <a:t>NESM3, and </a:t>
            </a:r>
            <a:r>
              <a:rPr lang="en-GB" dirty="0">
                <a:latin typeface="Arial" panose="020B0604020202020204" pitchFamily="34" charset="0"/>
                <a:cs typeface="Arial" panose="020B0604020202020204" pitchFamily="34" charset="0"/>
              </a:rPr>
              <a:t>TaiESM1 for future projections.</a:t>
            </a:r>
            <a:endParaRPr lang="en-GH"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94948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0174"/>
            <a:ext cx="10168128" cy="1179576"/>
          </a:xfrm>
        </p:spPr>
        <p:txBody>
          <a:bodyPr vert="horz" lIns="91440" tIns="45720" rIns="91440" bIns="45720" rtlCol="0" anchor="ctr">
            <a:normAutofit/>
          </a:bodyPr>
          <a:lstStyle/>
          <a:p>
            <a:r>
              <a:rPr lang="en-US" sz="4000" b="1" dirty="0">
                <a:latin typeface="Arial" panose="020B0604020202020204" pitchFamily="34" charset="0"/>
                <a:cs typeface="Arial" panose="020B0604020202020204" pitchFamily="34" charset="0"/>
              </a:rPr>
              <a:t>Methodology</a:t>
            </a:r>
            <a:endParaRPr lang="en-US" sz="40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sz="half" idx="1"/>
          </p:nvPr>
        </p:nvSpPr>
        <p:spPr>
          <a:xfrm>
            <a:off x="237067" y="2082800"/>
            <a:ext cx="11485541" cy="4916932"/>
          </a:xfrm>
        </p:spPr>
        <p:txBody>
          <a:bodyPr vert="horz" lIns="91440" tIns="45720" rIns="91440" bIns="45720" rtlCol="0">
            <a:noAutofit/>
          </a:bodyPr>
          <a:lstStyle/>
          <a:p>
            <a:pPr marL="457200" lvl="1" indent="0" algn="just">
              <a:lnSpc>
                <a:spcPct val="150000"/>
              </a:lnSpc>
              <a:buNone/>
            </a:pPr>
            <a:r>
              <a:rPr lang="en-GB" dirty="0">
                <a:latin typeface="Arial" panose="020B0604020202020204" pitchFamily="34" charset="0"/>
                <a:cs typeface="Arial" panose="020B0604020202020204" pitchFamily="34" charset="0"/>
              </a:rPr>
              <a:t>We used the </a:t>
            </a:r>
            <a:r>
              <a:rPr lang="en-GB" b="1" i="1" dirty="0">
                <a:latin typeface="Arial" panose="020B0604020202020204" pitchFamily="34" charset="0"/>
                <a:cs typeface="Arial" panose="020B0604020202020204" pitchFamily="34" charset="0"/>
              </a:rPr>
              <a:t>eca_cdd,1 </a:t>
            </a:r>
            <a:r>
              <a:rPr lang="en-GB" dirty="0">
                <a:latin typeface="Arial" panose="020B0604020202020204" pitchFamily="34" charset="0"/>
                <a:cs typeface="Arial" panose="020B0604020202020204" pitchFamily="34" charset="0"/>
              </a:rPr>
              <a:t>command from Climate Data Operators (CDO) to calculate the Consecutive Dry Days (CDD) index.</a:t>
            </a:r>
          </a:p>
          <a:p>
            <a:pPr marL="457200" lvl="1" indent="0" algn="just">
              <a:lnSpc>
                <a:spcPct val="150000"/>
              </a:lnSpc>
              <a:buNone/>
            </a:pPr>
            <a:r>
              <a:rPr lang="en-GB" dirty="0">
                <a:latin typeface="Arial" panose="020B0604020202020204" pitchFamily="34" charset="0"/>
                <a:cs typeface="Arial" panose="020B0604020202020204" pitchFamily="34" charset="0"/>
              </a:rPr>
              <a:t>It will generates two indices (</a:t>
            </a:r>
            <a:r>
              <a:rPr lang="en-GB" sz="2000" b="1" dirty="0">
                <a:latin typeface="Arial" panose="020B0604020202020204" pitchFamily="34" charset="0"/>
                <a:cs typeface="Arial" panose="020B0604020202020204" pitchFamily="34" charset="0"/>
              </a:rPr>
              <a:t>CONSECUTIVE_DRY_DAYS_INDEX_PER_TIME_PERIOD </a:t>
            </a:r>
            <a:r>
              <a:rPr lang="en-GB" b="1" dirty="0">
                <a:latin typeface="Arial" panose="020B0604020202020204" pitchFamily="34" charset="0"/>
                <a:cs typeface="Arial" panose="020B0604020202020204" pitchFamily="34" charset="0"/>
              </a:rPr>
              <a:t>and </a:t>
            </a:r>
            <a:r>
              <a:rPr lang="en-GB" sz="2000" b="1" dirty="0">
                <a:latin typeface="Arial" panose="020B0604020202020204" pitchFamily="34" charset="0"/>
                <a:cs typeface="Arial" panose="020B0604020202020204" pitchFamily="34" charset="0"/>
              </a:rPr>
              <a:t>NUMBER_OF_CDD_PERIODS_WITH_MORE_THAN_5DAYS_PER_TIME_PERIOD </a:t>
            </a:r>
            <a:r>
              <a:rPr lang="en-GB" dirty="0">
                <a:latin typeface="Arial" panose="020B0604020202020204" pitchFamily="34" charset="0"/>
                <a:cs typeface="Arial" panose="020B0604020202020204" pitchFamily="34" charset="0"/>
              </a:rPr>
              <a:t>) but we will focus on one:</a:t>
            </a:r>
          </a:p>
          <a:p>
            <a:pPr marL="457200" lvl="1" indent="0" algn="just">
              <a:lnSpc>
                <a:spcPct val="150000"/>
              </a:lnSpc>
              <a:buNone/>
            </a:pPr>
            <a:r>
              <a:rPr lang="en-GB" b="1" dirty="0">
                <a:latin typeface="Arial" panose="020B0604020202020204" pitchFamily="34" charset="0"/>
                <a:cs typeface="Arial" panose="020B0604020202020204" pitchFamily="34" charset="0"/>
              </a:rPr>
              <a:t>Consecutive Dry Days Index per Time Period</a:t>
            </a:r>
            <a:r>
              <a:rPr lang="en-GB" dirty="0">
                <a:latin typeface="Arial" panose="020B0604020202020204" pitchFamily="34" charset="0"/>
                <a:cs typeface="Arial" panose="020B0604020202020204" pitchFamily="34" charset="0"/>
              </a:rPr>
              <a:t>: The maximum number of consecutive dry days each year from 1985 to 2014 (historical) and projections for 2030-2061 (near future) and 2071-2100 (far future).</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635661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051559" y="586822"/>
            <a:ext cx="3932646" cy="1645920"/>
          </a:xfrm>
        </p:spPr>
        <p:txBody>
          <a:bodyPr vert="horz" lIns="91440" tIns="45720" rIns="91440" bIns="45720" rtlCol="0" anchor="ctr">
            <a:normAutofit/>
          </a:bodyPr>
          <a:lstStyle/>
          <a:p>
            <a:r>
              <a:rPr lang="en-US" sz="3800" b="1" dirty="0">
                <a:latin typeface="Arial" panose="020B0604020202020204" pitchFamily="34" charset="0"/>
                <a:cs typeface="Arial" panose="020B0604020202020204" pitchFamily="34" charset="0"/>
              </a:rPr>
              <a:t>Model Evaluation</a:t>
            </a:r>
            <a:endParaRPr lang="en-US" sz="3800" dirty="0">
              <a:latin typeface="Arial" panose="020B0604020202020204" pitchFamily="34" charset="0"/>
              <a:cs typeface="Arial" panose="020B0604020202020204" pitchFamily="34" charset="0"/>
            </a:endParaRPr>
          </a:p>
        </p:txBody>
      </p:sp>
      <p:sp>
        <p:nvSpPr>
          <p:cNvPr id="23" name="Rectangle 22">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5" name="Rectangle 24">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Content Placeholder 3"/>
          <p:cNvSpPr txBox="1">
            <a:spLocks/>
          </p:cNvSpPr>
          <p:nvPr/>
        </p:nvSpPr>
        <p:spPr>
          <a:xfrm>
            <a:off x="4416546" y="2627217"/>
            <a:ext cx="3377626" cy="360951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H" dirty="0"/>
          </a:p>
        </p:txBody>
      </p:sp>
      <p:sp>
        <p:nvSpPr>
          <p:cNvPr id="20" name="Content Placeholder 2">
            <a:extLst>
              <a:ext uri="{FF2B5EF4-FFF2-40B4-BE49-F238E27FC236}">
                <a16:creationId xmlns:a16="http://schemas.microsoft.com/office/drawing/2014/main" id="{35B9CEFD-612F-4CB2-9120-67DCBEEFF655}"/>
              </a:ext>
            </a:extLst>
          </p:cNvPr>
          <p:cNvSpPr txBox="1">
            <a:spLocks/>
          </p:cNvSpPr>
          <p:nvPr/>
        </p:nvSpPr>
        <p:spPr>
          <a:xfrm>
            <a:off x="4965917" y="365121"/>
            <a:ext cx="6755946" cy="208931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0" algn="just">
              <a:lnSpc>
                <a:spcPct val="150000"/>
              </a:lnSpc>
              <a:buFont typeface="Arial" panose="020B0604020202020204" pitchFamily="34" charset="0"/>
              <a:buNone/>
            </a:pPr>
            <a:endParaRPr lang="en-US" sz="2400" dirty="0">
              <a:latin typeface="Arial" panose="020B0604020202020204" pitchFamily="34" charset="0"/>
              <a:cs typeface="Arial" panose="020B0604020202020204" pitchFamily="34" charset="0"/>
            </a:endParaRPr>
          </a:p>
          <a:p>
            <a:pPr marL="285750" indent="0" algn="just">
              <a:lnSpc>
                <a:spcPct val="150000"/>
              </a:lnSpc>
              <a:buFont typeface="Arial" panose="020B0604020202020204" pitchFamily="34" charset="0"/>
              <a:buNone/>
            </a:pPr>
            <a:r>
              <a:rPr lang="en-US" sz="2400" dirty="0">
                <a:latin typeface="Arial" panose="020B0604020202020204" pitchFamily="34" charset="0"/>
                <a:cs typeface="Arial" panose="020B0604020202020204" pitchFamily="34" charset="0"/>
              </a:rPr>
              <a:t>Bias = Ensemble Mean - Reference</a:t>
            </a:r>
          </a:p>
        </p:txBody>
      </p:sp>
      <p:pic>
        <p:nvPicPr>
          <p:cNvPr id="17" name="Content Placeholder 16">
            <a:extLst>
              <a:ext uri="{FF2B5EF4-FFF2-40B4-BE49-F238E27FC236}">
                <a16:creationId xmlns:a16="http://schemas.microsoft.com/office/drawing/2014/main" id="{6D53F3C9-7BD4-4F9E-8FE3-1DD2D1ADA7F4}"/>
              </a:ext>
            </a:extLst>
          </p:cNvPr>
          <p:cNvPicPr>
            <a:picLocks noGrp="1" noChangeAspect="1"/>
          </p:cNvPicPr>
          <p:nvPr>
            <p:ph sz="half" idx="1"/>
          </p:nvPr>
        </p:nvPicPr>
        <p:blipFill rotWithShape="1">
          <a:blip r:embed="rId2">
            <a:extLst>
              <a:ext uri="{28A0092B-C50C-407E-A947-70E740481C1C}">
                <a14:useLocalDpi xmlns:a14="http://schemas.microsoft.com/office/drawing/2010/main" val="0"/>
              </a:ext>
            </a:extLst>
          </a:blip>
          <a:srcRect t="6083" r="29303" b="62180"/>
          <a:stretch/>
        </p:blipFill>
        <p:spPr>
          <a:xfrm>
            <a:off x="1123929" y="2627217"/>
            <a:ext cx="9944142" cy="4093781"/>
          </a:xfrm>
        </p:spPr>
      </p:pic>
    </p:spTree>
    <p:extLst>
      <p:ext uri="{BB962C8B-B14F-4D97-AF65-F5344CB8AC3E}">
        <p14:creationId xmlns:p14="http://schemas.microsoft.com/office/powerpoint/2010/main" val="33937560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vert="horz" lIns="91440" tIns="45720" rIns="91440" bIns="45720" rtlCol="0" anchor="ctr">
            <a:normAutofit/>
          </a:bodyPr>
          <a:lstStyle/>
          <a:p>
            <a:r>
              <a:rPr lang="en-US" sz="4800" b="1" dirty="0">
                <a:latin typeface="Arial" panose="020B0604020202020204" pitchFamily="34" charset="0"/>
                <a:cs typeface="Arial" panose="020B0604020202020204" pitchFamily="34" charset="0"/>
              </a:rPr>
              <a:t>Model Projection </a:t>
            </a:r>
            <a:endParaRPr lang="en-US" sz="48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6" name="Content Placeholder 5">
            <a:extLst>
              <a:ext uri="{FF2B5EF4-FFF2-40B4-BE49-F238E27FC236}">
                <a16:creationId xmlns:a16="http://schemas.microsoft.com/office/drawing/2014/main" id="{E249A9FE-DD74-4727-B3C5-CDD8FBFBBFFF}"/>
              </a:ext>
            </a:extLst>
          </p:cNvPr>
          <p:cNvPicPr>
            <a:picLocks noGrp="1" noChangeAspect="1"/>
          </p:cNvPicPr>
          <p:nvPr>
            <p:ph sz="half" idx="1"/>
          </p:nvPr>
        </p:nvPicPr>
        <p:blipFill>
          <a:blip r:embed="rId2"/>
          <a:stretch>
            <a:fillRect/>
          </a:stretch>
        </p:blipFill>
        <p:spPr>
          <a:xfrm>
            <a:off x="1115568" y="2055494"/>
            <a:ext cx="9606094" cy="4429155"/>
          </a:xfrm>
        </p:spPr>
      </p:pic>
    </p:spTree>
    <p:extLst>
      <p:ext uri="{BB962C8B-B14F-4D97-AF65-F5344CB8AC3E}">
        <p14:creationId xmlns:p14="http://schemas.microsoft.com/office/powerpoint/2010/main" val="2783602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vert="horz" lIns="91440" tIns="45720" rIns="91440" bIns="45720" rtlCol="0" anchor="ctr">
            <a:normAutofit fontScale="90000"/>
          </a:bodyPr>
          <a:lstStyle/>
          <a:p>
            <a:r>
              <a:rPr lang="en-US" sz="4800" b="1" dirty="0">
                <a:latin typeface="Arial" panose="020B0604020202020204" pitchFamily="34" charset="0"/>
                <a:cs typeface="Arial" panose="020B0604020202020204" pitchFamily="34" charset="0"/>
              </a:rPr>
              <a:t>Evolution of Consecutives dry day </a:t>
            </a:r>
            <a:endParaRPr lang="en-US" sz="48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6" name="Content Placeholder 5">
            <a:extLst>
              <a:ext uri="{FF2B5EF4-FFF2-40B4-BE49-F238E27FC236}">
                <a16:creationId xmlns:a16="http://schemas.microsoft.com/office/drawing/2014/main" id="{720722A8-1142-4405-9C75-09515790DFC3}"/>
              </a:ext>
            </a:extLst>
          </p:cNvPr>
          <p:cNvPicPr>
            <a:picLocks noGrp="1" noChangeAspect="1"/>
          </p:cNvPicPr>
          <p:nvPr>
            <p:ph sz="half" idx="1"/>
          </p:nvPr>
        </p:nvPicPr>
        <p:blipFill>
          <a:blip r:embed="rId2"/>
          <a:stretch>
            <a:fillRect/>
          </a:stretch>
        </p:blipFill>
        <p:spPr>
          <a:xfrm>
            <a:off x="1232482" y="2072896"/>
            <a:ext cx="9530593" cy="4731014"/>
          </a:xfrm>
        </p:spPr>
      </p:pic>
    </p:spTree>
    <p:extLst>
      <p:ext uri="{BB962C8B-B14F-4D97-AF65-F5344CB8AC3E}">
        <p14:creationId xmlns:p14="http://schemas.microsoft.com/office/powerpoint/2010/main" val="603742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vert="horz" lIns="91440" tIns="45720" rIns="91440" bIns="45720" rtlCol="0" anchor="ctr">
            <a:normAutofit fontScale="90000"/>
          </a:bodyPr>
          <a:lstStyle/>
          <a:p>
            <a:r>
              <a:rPr lang="en-US" sz="4800" b="1" dirty="0">
                <a:latin typeface="Arial" panose="020B0604020202020204" pitchFamily="34" charset="0"/>
                <a:cs typeface="Arial" panose="020B0604020202020204" pitchFamily="34" charset="0"/>
              </a:rPr>
              <a:t>Consecutives dry day index anomaly</a:t>
            </a:r>
            <a:endParaRPr lang="en-US" sz="48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7" name="Content Placeholder 6">
            <a:extLst>
              <a:ext uri="{FF2B5EF4-FFF2-40B4-BE49-F238E27FC236}">
                <a16:creationId xmlns:a16="http://schemas.microsoft.com/office/drawing/2014/main" id="{1B5D6388-203B-4667-B6C5-2806F8DDF58B}"/>
              </a:ext>
            </a:extLst>
          </p:cNvPr>
          <p:cNvPicPr>
            <a:picLocks noGrp="1" noChangeAspect="1"/>
          </p:cNvPicPr>
          <p:nvPr>
            <p:ph sz="half" idx="1"/>
          </p:nvPr>
        </p:nvPicPr>
        <p:blipFill>
          <a:blip r:embed="rId2"/>
          <a:stretch>
            <a:fillRect/>
          </a:stretch>
        </p:blipFill>
        <p:spPr>
          <a:xfrm>
            <a:off x="1360065" y="2152456"/>
            <a:ext cx="9203422" cy="4571893"/>
          </a:xfrm>
        </p:spPr>
      </p:pic>
    </p:spTree>
    <p:extLst>
      <p:ext uri="{BB962C8B-B14F-4D97-AF65-F5344CB8AC3E}">
        <p14:creationId xmlns:p14="http://schemas.microsoft.com/office/powerpoint/2010/main" val="41790770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vert="horz" lIns="91440" tIns="45720" rIns="91440" bIns="45720" rtlCol="0" anchor="ctr">
            <a:normAutofit/>
          </a:bodyPr>
          <a:lstStyle/>
          <a:p>
            <a:r>
              <a:rPr lang="en-US" sz="4000" b="1" dirty="0">
                <a:latin typeface="Arial" panose="020B0604020202020204" pitchFamily="34" charset="0"/>
                <a:cs typeface="Arial" panose="020B0604020202020204" pitchFamily="34" charset="0"/>
              </a:rPr>
              <a:t>Conclusion</a:t>
            </a:r>
            <a:endParaRPr lang="en-US" sz="40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sz="half" idx="1"/>
          </p:nvPr>
        </p:nvSpPr>
        <p:spPr>
          <a:xfrm>
            <a:off x="767577" y="2352944"/>
            <a:ext cx="10656846" cy="3855426"/>
          </a:xfrm>
        </p:spPr>
        <p:txBody>
          <a:bodyPr vert="horz" lIns="91440" tIns="45720" rIns="91440" bIns="45720" rtlCol="0">
            <a:noAutofit/>
          </a:bodyPr>
          <a:lstStyle/>
          <a:p>
            <a:pPr marL="285750" indent="0" algn="just">
              <a:lnSpc>
                <a:spcPct val="150000"/>
              </a:lnSpc>
              <a:buNone/>
            </a:pPr>
            <a:r>
              <a:rPr lang="en-GB" sz="3200" dirty="0">
                <a:latin typeface="Arial" panose="020B0604020202020204" pitchFamily="34" charset="0"/>
                <a:cs typeface="Arial" panose="020B0604020202020204" pitchFamily="34" charset="0"/>
              </a:rPr>
              <a:t>Understanding CDD patterns is crucial for developing effective agricultural and water management strategies in West Africa. Findings will inform policymakers about risks and necessary adaptations to mitigate impacts from increasing dry spells.</a:t>
            </a:r>
            <a:endParaRPr lang="en-US"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9878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vert="horz" lIns="91440" tIns="45720" rIns="91440" bIns="45720" rtlCol="0" anchor="ctr">
            <a:normAutofit/>
          </a:bodyPr>
          <a:lstStyle/>
          <a:p>
            <a:r>
              <a:rPr lang="en-US" sz="4000" b="1" dirty="0">
                <a:latin typeface="Arial" panose="020B0604020202020204" pitchFamily="34" charset="0"/>
                <a:cs typeface="Arial" panose="020B0604020202020204" pitchFamily="34" charset="0"/>
              </a:rPr>
              <a:t>References</a:t>
            </a:r>
            <a:endParaRPr lang="en-US" sz="40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p:cNvSpPr>
            <a:spLocks noGrp="1"/>
          </p:cNvSpPr>
          <p:nvPr>
            <p:ph sz="half" idx="1"/>
          </p:nvPr>
        </p:nvSpPr>
        <p:spPr>
          <a:xfrm>
            <a:off x="1115568" y="2276857"/>
            <a:ext cx="10168128" cy="3900106"/>
          </a:xfrm>
        </p:spPr>
        <p:txBody>
          <a:bodyPr vert="horz" lIns="91440" tIns="45720" rIns="91440" bIns="45720" rtlCol="0">
            <a:noAutofit/>
          </a:bodyPr>
          <a:lstStyle/>
          <a:p>
            <a:pPr marL="742950" indent="-457200">
              <a:lnSpc>
                <a:spcPct val="150000"/>
              </a:lnSpc>
              <a:buFont typeface="+mj-lt"/>
              <a:buAutoNum type="arabicPeriod"/>
            </a:pPr>
            <a:r>
              <a:rPr lang="en-US" sz="2000" dirty="0">
                <a:latin typeface="Arial" panose="020B0604020202020204" pitchFamily="34" charset="0"/>
                <a:cs typeface="Arial" panose="020B0604020202020204" pitchFamily="34" charset="0"/>
              </a:rPr>
              <a:t>Iles, C., </a:t>
            </a:r>
            <a:r>
              <a:rPr lang="en-US" sz="2000" dirty="0" err="1">
                <a:latin typeface="Arial" panose="020B0604020202020204" pitchFamily="34" charset="0"/>
                <a:cs typeface="Arial" panose="020B0604020202020204" pitchFamily="34" charset="0"/>
              </a:rPr>
              <a:t>Sandstad</a:t>
            </a:r>
            <a:r>
              <a:rPr lang="en-US" sz="2000" dirty="0">
                <a:latin typeface="Arial" panose="020B0604020202020204" pitchFamily="34" charset="0"/>
                <a:cs typeface="Arial" panose="020B0604020202020204" pitchFamily="34" charset="0"/>
              </a:rPr>
              <a:t>, M., &amp; </a:t>
            </a:r>
            <a:r>
              <a:rPr lang="en-US" sz="2000" dirty="0" err="1">
                <a:latin typeface="Arial" panose="020B0604020202020204" pitchFamily="34" charset="0"/>
                <a:cs typeface="Arial" panose="020B0604020202020204" pitchFamily="34" charset="0"/>
              </a:rPr>
              <a:t>Schwingshackl</a:t>
            </a:r>
            <a:r>
              <a:rPr lang="en-US" sz="2000" dirty="0">
                <a:latin typeface="Arial" panose="020B0604020202020204" pitchFamily="34" charset="0"/>
                <a:cs typeface="Arial" panose="020B0604020202020204" pitchFamily="34" charset="0"/>
              </a:rPr>
              <a:t>, C. (2022). Climate extreme indices from CMIP6 projections. Copernicus Climate Change Service. DOI: 10.24381/cds.776e08bd.</a:t>
            </a:r>
          </a:p>
          <a:p>
            <a:pPr marL="742950" indent="-457200">
              <a:lnSpc>
                <a:spcPct val="150000"/>
              </a:lnSpc>
              <a:buFont typeface="+mj-lt"/>
              <a:buAutoNum type="arabicPeriod"/>
            </a:pPr>
            <a:r>
              <a:rPr lang="en-US" sz="2000" dirty="0">
                <a:latin typeface="Arial" panose="020B0604020202020204" pitchFamily="34" charset="0"/>
                <a:cs typeface="Arial" panose="020B0604020202020204" pitchFamily="34" charset="0"/>
              </a:rPr>
              <a:t>Abiodun, B.J., et al. (2018). Impact of 1.5°C and 2°C warming on consecutive dry and wet days in West Africa. Environ. Res. Lett., 13, 055013.</a:t>
            </a:r>
          </a:p>
          <a:p>
            <a:pPr marL="742950" indent="-457200">
              <a:lnSpc>
                <a:spcPct val="150000"/>
              </a:lnSpc>
              <a:buFont typeface="+mj-lt"/>
              <a:buAutoNum type="arabicPeriod"/>
            </a:pPr>
            <a:r>
              <a:rPr lang="en-US" sz="2000" dirty="0">
                <a:latin typeface="Arial" panose="020B0604020202020204" pitchFamily="34" charset="0"/>
                <a:cs typeface="Arial" panose="020B0604020202020204" pitchFamily="34" charset="0"/>
              </a:rPr>
              <a:t>ATLAS (2018). West Africa Climate Risk Profile. USAID. Retrieved from [link].</a:t>
            </a:r>
          </a:p>
          <a:p>
            <a:pPr marL="742950" indent="-457200">
              <a:lnSpc>
                <a:spcPct val="150000"/>
              </a:lnSpc>
              <a:buFont typeface="+mj-lt"/>
              <a:buAutoNum type="arabicPeriod"/>
            </a:pPr>
            <a:endParaRPr lang="en-US" sz="2000" dirty="0">
              <a:latin typeface="Arial" panose="020B0604020202020204" pitchFamily="34" charset="0"/>
              <a:cs typeface="Arial" panose="020B0604020202020204" pitchFamily="34" charset="0"/>
            </a:endParaRPr>
          </a:p>
          <a:p>
            <a:pPr marL="285750" indent="0">
              <a:lnSpc>
                <a:spcPct val="150000"/>
              </a:lnSpc>
              <a:buNone/>
            </a:pPr>
            <a:endParaRPr lang="en-US" sz="2000" dirty="0">
              <a:latin typeface="Arial" panose="020B0604020202020204" pitchFamily="34" charset="0"/>
              <a:cs typeface="Arial" panose="020B0604020202020204" pitchFamily="34" charset="0"/>
            </a:endParaRPr>
          </a:p>
          <a:p>
            <a:pPr marL="742950" indent="-457200">
              <a:lnSpc>
                <a:spcPct val="150000"/>
              </a:lnSpc>
              <a:buFont typeface="+mj-lt"/>
              <a:buAutoNum type="arabicPeriod"/>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40868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442E0EB40D7D744A08B8D865F4D9473" ma:contentTypeVersion="4" ma:contentTypeDescription="Create a new document." ma:contentTypeScope="" ma:versionID="aa06ca9b39d6c2800479cb6ffe310673">
  <xsd:schema xmlns:xsd="http://www.w3.org/2001/XMLSchema" xmlns:xs="http://www.w3.org/2001/XMLSchema" xmlns:p="http://schemas.microsoft.com/office/2006/metadata/properties" xmlns:ns3="79b09db7-7634-4bda-bc7e-9cc543e32119" targetNamespace="http://schemas.microsoft.com/office/2006/metadata/properties" ma:root="true" ma:fieldsID="0d3803812b51f58e20e038df7656f3a3" ns3:_="">
    <xsd:import namespace="79b09db7-7634-4bda-bc7e-9cc543e32119"/>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9b09db7-7634-4bda-bc7e-9cc543e321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372FE61-3F45-44C8-8734-8872A825EAA6}">
  <ds:schemaRefs>
    <ds:schemaRef ds:uri="http://schemas.microsoft.com/office/2006/documentManagement/types"/>
    <ds:schemaRef ds:uri="http://schemas.microsoft.com/office/infopath/2007/PartnerControls"/>
    <ds:schemaRef ds:uri="79b09db7-7634-4bda-bc7e-9cc543e32119"/>
    <ds:schemaRef ds:uri="http://purl.org/dc/elements/1.1/"/>
    <ds:schemaRef ds:uri="http://schemas.microsoft.com/office/2006/metadata/properties"/>
    <ds:schemaRef ds:uri="http://purl.org/dc/term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999534F2-BE75-4293-B61E-934BD3CBB2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9b09db7-7634-4bda-bc7e-9cc543e3211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5218A47-3678-4823-87E6-DD19578F374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3853</TotalTime>
  <Words>607</Words>
  <Application>Microsoft Office PowerPoint</Application>
  <PresentationFormat>Widescreen</PresentationFormat>
  <Paragraphs>47</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Assessment of Consecutive Dry Days (CDD) in West Africa:  Model Evaluation and Climate Projections</vt:lpstr>
      <vt:lpstr>Outline</vt:lpstr>
      <vt:lpstr>Introduction</vt:lpstr>
      <vt:lpstr>Background of the study</vt:lpstr>
      <vt:lpstr>Study area</vt:lpstr>
      <vt:lpstr>Objectives</vt:lpstr>
      <vt:lpstr>Data descriptions</vt:lpstr>
      <vt:lpstr>Methodology</vt:lpstr>
      <vt:lpstr>Model Evaluation</vt:lpstr>
      <vt:lpstr>Model Projection </vt:lpstr>
      <vt:lpstr>Evolution of Consecutives dry day </vt:lpstr>
      <vt:lpstr>Consecutives dry day index anomaly</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Abdoulaye DIOP</cp:lastModifiedBy>
  <cp:revision>100</cp:revision>
  <dcterms:created xsi:type="dcterms:W3CDTF">2024-07-17T22:49:03Z</dcterms:created>
  <dcterms:modified xsi:type="dcterms:W3CDTF">2026-03-12T20:22:33Z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0x010100B442E0EB40D7D744A08B8D865F4D9473</vt:lpwstr>
  </property>
</Properties>
</file>