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2">
  <p:sldMasterIdLst>
    <p:sldMasterId id="2147483648" r:id="rId1"/>
  </p:sldMasterIdLst>
  <p:notesMasterIdLst>
    <p:notesMasterId r:id="rId26"/>
  </p:notesMasterIdLst>
  <p:handoutMasterIdLst>
    <p:handoutMasterId r:id="rId27"/>
  </p:handoutMasterIdLst>
  <p:sldIdLst>
    <p:sldId id="256" r:id="rId2"/>
    <p:sldId id="352" r:id="rId3"/>
    <p:sldId id="365" r:id="rId4"/>
    <p:sldId id="366" r:id="rId5"/>
    <p:sldId id="367" r:id="rId6"/>
    <p:sldId id="371" r:id="rId7"/>
    <p:sldId id="370" r:id="rId8"/>
    <p:sldId id="369" r:id="rId9"/>
    <p:sldId id="368" r:id="rId10"/>
    <p:sldId id="374" r:id="rId11"/>
    <p:sldId id="375" r:id="rId12"/>
    <p:sldId id="373" r:id="rId13"/>
    <p:sldId id="372" r:id="rId14"/>
    <p:sldId id="379" r:id="rId15"/>
    <p:sldId id="378" r:id="rId16"/>
    <p:sldId id="380" r:id="rId17"/>
    <p:sldId id="381" r:id="rId18"/>
    <p:sldId id="386" r:id="rId19"/>
    <p:sldId id="382" r:id="rId20"/>
    <p:sldId id="384" r:id="rId21"/>
    <p:sldId id="385" r:id="rId22"/>
    <p:sldId id="383" r:id="rId23"/>
    <p:sldId id="362" r:id="rId24"/>
    <p:sldId id="345" r:id="rId25"/>
  </p:sldIdLst>
  <p:sldSz cx="9144000" cy="6858000" type="screen4x3"/>
  <p:notesSz cx="7010400" cy="9296400"/>
  <p:defaultTextStyle>
    <a:defPPr>
      <a:defRPr lang="fr-CA"/>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28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A6A6"/>
    <a:srgbClr val="F94C2F"/>
    <a:srgbClr val="006600"/>
    <a:srgbClr val="E2001A"/>
    <a:srgbClr val="777777"/>
    <a:srgbClr val="E3CDD0"/>
    <a:srgbClr val="FFFF99"/>
    <a:srgbClr val="FF6600"/>
    <a:srgbClr val="FF33CC"/>
    <a:srgbClr val="002C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D1C0D4-FE6C-4BBB-956B-AFAD78C86680}" v="908" dt="2026-05-11T10:02:21.84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86893" autoAdjust="0"/>
  </p:normalViewPr>
  <p:slideViewPr>
    <p:cSldViewPr showGuides="1">
      <p:cViewPr>
        <p:scale>
          <a:sx n="200" d="100"/>
          <a:sy n="200" d="100"/>
        </p:scale>
        <p:origin x="-2364" y="-2856"/>
      </p:cViewPr>
      <p:guideLst>
        <p:guide orient="horz" pos="2160"/>
        <p:guide pos="2857"/>
      </p:guideLst>
    </p:cSldViewPr>
  </p:slideViewPr>
  <p:outlineViewPr>
    <p:cViewPr>
      <p:scale>
        <a:sx n="33" d="100"/>
        <a:sy n="33" d="100"/>
      </p:scale>
      <p:origin x="0" y="19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540"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ba Jean Paul DJAMA" userId="f30d6993dbc66617" providerId="LiveId" clId="{70326D59-28A1-4693-BB6E-55222793C82C}"/>
    <pc:docChg chg="undo custSel addSld delSld modSld sldOrd">
      <pc:chgData name="Hoba Jean Paul DJAMA" userId="f30d6993dbc66617" providerId="LiveId" clId="{70326D59-28A1-4693-BB6E-55222793C82C}" dt="2026-05-11T10:05:14.245" v="3210" actId="478"/>
      <pc:docMkLst>
        <pc:docMk/>
      </pc:docMkLst>
      <pc:sldChg chg="addSp modSp mod">
        <pc:chgData name="Hoba Jean Paul DJAMA" userId="f30d6993dbc66617" providerId="LiveId" clId="{70326D59-28A1-4693-BB6E-55222793C82C}" dt="2026-05-11T10:03:54.653" v="3201" actId="207"/>
        <pc:sldMkLst>
          <pc:docMk/>
          <pc:sldMk cId="0" sldId="256"/>
        </pc:sldMkLst>
        <pc:spChg chg="mod">
          <ac:chgData name="Hoba Jean Paul DJAMA" userId="f30d6993dbc66617" providerId="LiveId" clId="{70326D59-28A1-4693-BB6E-55222793C82C}" dt="2026-04-28T17:19:56.279" v="871" actId="790"/>
          <ac:spMkLst>
            <pc:docMk/>
            <pc:sldMk cId="0" sldId="256"/>
            <ac:spMk id="2" creationId="{00000000-0000-0000-0000-000000000000}"/>
          </ac:spMkLst>
        </pc:spChg>
        <pc:spChg chg="mod">
          <ac:chgData name="Hoba Jean Paul DJAMA" userId="f30d6993dbc66617" providerId="LiveId" clId="{70326D59-28A1-4693-BB6E-55222793C82C}" dt="2026-05-11T10:03:54.653" v="3201" actId="207"/>
          <ac:spMkLst>
            <pc:docMk/>
            <pc:sldMk cId="0" sldId="256"/>
            <ac:spMk id="3" creationId="{00000000-0000-0000-0000-000000000000}"/>
          </ac:spMkLst>
        </pc:spChg>
        <pc:spChg chg="mod">
          <ac:chgData name="Hoba Jean Paul DJAMA" userId="f30d6993dbc66617" providerId="LiveId" clId="{70326D59-28A1-4693-BB6E-55222793C82C}" dt="2026-04-28T17:19:56.279" v="871" actId="790"/>
          <ac:spMkLst>
            <pc:docMk/>
            <pc:sldMk cId="0" sldId="256"/>
            <ac:spMk id="4" creationId="{00000000-0000-0000-0000-000000000000}"/>
          </ac:spMkLst>
        </pc:spChg>
        <pc:spChg chg="add mod">
          <ac:chgData name="Hoba Jean Paul DJAMA" userId="f30d6993dbc66617" providerId="LiveId" clId="{70326D59-28A1-4693-BB6E-55222793C82C}" dt="2026-05-11T09:56:40.981" v="3133" actId="207"/>
          <ac:spMkLst>
            <pc:docMk/>
            <pc:sldMk cId="0" sldId="256"/>
            <ac:spMk id="8" creationId="{25C89043-7204-6CF3-54E4-7EC7D2C2AD34}"/>
          </ac:spMkLst>
        </pc:spChg>
        <pc:picChg chg="mod">
          <ac:chgData name="Hoba Jean Paul DJAMA" userId="f30d6993dbc66617" providerId="LiveId" clId="{70326D59-28A1-4693-BB6E-55222793C82C}" dt="2026-05-11T10:00:33.193" v="3181" actId="1035"/>
          <ac:picMkLst>
            <pc:docMk/>
            <pc:sldMk cId="0" sldId="256"/>
            <ac:picMk id="5" creationId="{00000000-0000-0000-0000-000000000000}"/>
          </ac:picMkLst>
        </pc:picChg>
      </pc:sldChg>
      <pc:sldChg chg="addSp modSp add mod ord modAnim">
        <pc:chgData name="Hoba Jean Paul DJAMA" userId="f30d6993dbc66617" providerId="LiveId" clId="{70326D59-28A1-4693-BB6E-55222793C82C}" dt="2026-05-11T10:04:07.061" v="3202" actId="207"/>
        <pc:sldMkLst>
          <pc:docMk/>
          <pc:sldMk cId="0" sldId="257"/>
        </pc:sldMkLst>
        <pc:spChg chg="mod">
          <ac:chgData name="Hoba Jean Paul DJAMA" userId="f30d6993dbc66617" providerId="LiveId" clId="{70326D59-28A1-4693-BB6E-55222793C82C}" dt="2026-05-11T08:35:08.616" v="2511" actId="1035"/>
          <ac:spMkLst>
            <pc:docMk/>
            <pc:sldMk cId="0" sldId="257"/>
            <ac:spMk id="2" creationId="{D6E72FF3-3D62-0942-F239-D061AB939B41}"/>
          </ac:spMkLst>
        </pc:spChg>
        <pc:spChg chg="add mod">
          <ac:chgData name="Hoba Jean Paul DJAMA" userId="f30d6993dbc66617" providerId="LiveId" clId="{70326D59-28A1-4693-BB6E-55222793C82C}" dt="2026-05-11T10:01:07.866" v="3185" actId="208"/>
          <ac:spMkLst>
            <pc:docMk/>
            <pc:sldMk cId="0" sldId="257"/>
            <ac:spMk id="3" creationId="{C290416A-5356-181A-8905-9F05BA70F901}"/>
          </ac:spMkLst>
        </pc:spChg>
        <pc:spChg chg="add mod">
          <ac:chgData name="Hoba Jean Paul DJAMA" userId="f30d6993dbc66617" providerId="LiveId" clId="{70326D59-28A1-4693-BB6E-55222793C82C}" dt="2026-05-11T08:29:24.665" v="2485" actId="207"/>
          <ac:spMkLst>
            <pc:docMk/>
            <pc:sldMk cId="0" sldId="257"/>
            <ac:spMk id="5" creationId="{0F9816A8-48BA-88E6-DECD-A9F07CD17B7B}"/>
          </ac:spMkLst>
        </pc:spChg>
        <pc:spChg chg="mod">
          <ac:chgData name="Hoba Jean Paul DJAMA" userId="f30d6993dbc66617" providerId="LiveId" clId="{70326D59-28A1-4693-BB6E-55222793C82C}" dt="2026-05-11T10:04:07.061" v="3202" actId="207"/>
          <ac:spMkLst>
            <pc:docMk/>
            <pc:sldMk cId="0" sldId="257"/>
            <ac:spMk id="55" creationId="{00000000-0000-0000-0000-000000000000}"/>
          </ac:spMkLst>
        </pc:spChg>
        <pc:picChg chg="add mod">
          <ac:chgData name="Hoba Jean Paul DJAMA" userId="f30d6993dbc66617" providerId="LiveId" clId="{70326D59-28A1-4693-BB6E-55222793C82C}" dt="2026-05-11T10:02:21.847" v="3200"/>
          <ac:picMkLst>
            <pc:docMk/>
            <pc:sldMk cId="0" sldId="257"/>
            <ac:picMk id="6" creationId="{EAB11395-F775-40DE-F920-897A62905F84}"/>
          </ac:picMkLst>
        </pc:picChg>
      </pc:sldChg>
      <pc:sldChg chg="addSp modSp mod">
        <pc:chgData name="Hoba Jean Paul DJAMA" userId="f30d6993dbc66617" providerId="LiveId" clId="{70326D59-28A1-4693-BB6E-55222793C82C}" dt="2026-05-11T09:57:40.374" v="3139" actId="207"/>
        <pc:sldMkLst>
          <pc:docMk/>
          <pc:sldMk cId="0" sldId="345"/>
        </pc:sldMkLst>
        <pc:spChg chg="mod">
          <ac:chgData name="Hoba Jean Paul DJAMA" userId="f30d6993dbc66617" providerId="LiveId" clId="{70326D59-28A1-4693-BB6E-55222793C82C}" dt="2026-04-28T17:19:56.279" v="871" actId="790"/>
          <ac:spMkLst>
            <pc:docMk/>
            <pc:sldMk cId="0" sldId="345"/>
            <ac:spMk id="2" creationId="{00000000-0000-0000-0000-000000000000}"/>
          </ac:spMkLst>
        </pc:spChg>
        <pc:spChg chg="mod">
          <ac:chgData name="Hoba Jean Paul DJAMA" userId="f30d6993dbc66617" providerId="LiveId" clId="{70326D59-28A1-4693-BB6E-55222793C82C}" dt="2026-04-28T17:19:56.279" v="871" actId="790"/>
          <ac:spMkLst>
            <pc:docMk/>
            <pc:sldMk cId="0" sldId="345"/>
            <ac:spMk id="3" creationId="{00000000-0000-0000-0000-000000000000}"/>
          </ac:spMkLst>
        </pc:spChg>
        <pc:spChg chg="mod">
          <ac:chgData name="Hoba Jean Paul DJAMA" userId="f30d6993dbc66617" providerId="LiveId" clId="{70326D59-28A1-4693-BB6E-55222793C82C}" dt="2026-04-28T17:19:56.279" v="871" actId="790"/>
          <ac:spMkLst>
            <pc:docMk/>
            <pc:sldMk cId="0" sldId="345"/>
            <ac:spMk id="4" creationId="{00000000-0000-0000-0000-000000000000}"/>
          </ac:spMkLst>
        </pc:spChg>
        <pc:spChg chg="mod">
          <ac:chgData name="Hoba Jean Paul DJAMA" userId="f30d6993dbc66617" providerId="LiveId" clId="{70326D59-28A1-4693-BB6E-55222793C82C}" dt="2026-04-28T17:19:56.279" v="871" actId="790"/>
          <ac:spMkLst>
            <pc:docMk/>
            <pc:sldMk cId="0" sldId="345"/>
            <ac:spMk id="6" creationId="{00000000-0000-0000-0000-000000000000}"/>
          </ac:spMkLst>
        </pc:spChg>
        <pc:spChg chg="add mod">
          <ac:chgData name="Hoba Jean Paul DJAMA" userId="f30d6993dbc66617" providerId="LiveId" clId="{70326D59-28A1-4693-BB6E-55222793C82C}" dt="2026-05-11T09:57:40.374" v="3139" actId="207"/>
          <ac:spMkLst>
            <pc:docMk/>
            <pc:sldMk cId="0" sldId="345"/>
            <ac:spMk id="9" creationId="{A61C8F2A-5D0C-25B7-98D5-B04813D90A64}"/>
          </ac:spMkLst>
        </pc:spChg>
      </pc:sldChg>
      <pc:sldChg chg="addSp modSp add mod ord">
        <pc:chgData name="Hoba Jean Paul DJAMA" userId="f30d6993dbc66617" providerId="LiveId" clId="{70326D59-28A1-4693-BB6E-55222793C82C}" dt="2026-05-11T09:57:23.960" v="3137" actId="207"/>
        <pc:sldMkLst>
          <pc:docMk/>
          <pc:sldMk cId="2953525735" sldId="346"/>
        </pc:sldMkLst>
        <pc:spChg chg="add mod">
          <ac:chgData name="Hoba Jean Paul DJAMA" userId="f30d6993dbc66617" providerId="LiveId" clId="{70326D59-28A1-4693-BB6E-55222793C82C}" dt="2026-05-11T09:57:23.960" v="3137" actId="207"/>
          <ac:spMkLst>
            <pc:docMk/>
            <pc:sldMk cId="2953525735" sldId="346"/>
            <ac:spMk id="7" creationId="{52783409-E8D6-EFAE-9722-C97C3E184B04}"/>
          </ac:spMkLst>
        </pc:spChg>
      </pc:sldChg>
      <pc:sldChg chg="addSp modSp new mod ord modAnim">
        <pc:chgData name="Hoba Jean Paul DJAMA" userId="f30d6993dbc66617" providerId="LiveId" clId="{70326D59-28A1-4693-BB6E-55222793C82C}" dt="2026-05-11T10:04:12.739" v="3203" actId="207"/>
        <pc:sldMkLst>
          <pc:docMk/>
          <pc:sldMk cId="2104176619" sldId="347"/>
        </pc:sldMkLst>
        <pc:spChg chg="mod">
          <ac:chgData name="Hoba Jean Paul DJAMA" userId="f30d6993dbc66617" providerId="LiveId" clId="{70326D59-28A1-4693-BB6E-55222793C82C}" dt="2026-05-11T10:04:12.739" v="3203" actId="207"/>
          <ac:spMkLst>
            <pc:docMk/>
            <pc:sldMk cId="2104176619" sldId="347"/>
            <ac:spMk id="2" creationId="{BC7E5248-15F2-4293-788D-05E66BE7056B}"/>
          </ac:spMkLst>
        </pc:spChg>
        <pc:spChg chg="add mod">
          <ac:chgData name="Hoba Jean Paul DJAMA" userId="f30d6993dbc66617" providerId="LiveId" clId="{70326D59-28A1-4693-BB6E-55222793C82C}" dt="2026-05-11T10:01:29.119" v="3187"/>
          <ac:spMkLst>
            <pc:docMk/>
            <pc:sldMk cId="2104176619" sldId="347"/>
            <ac:spMk id="4" creationId="{F0E7D8FF-8EC9-8BB0-E151-673C45337CF9}"/>
          </ac:spMkLst>
        </pc:spChg>
        <pc:spChg chg="add mod">
          <ac:chgData name="Hoba Jean Paul DJAMA" userId="f30d6993dbc66617" providerId="LiveId" clId="{70326D59-28A1-4693-BB6E-55222793C82C}" dt="2026-05-11T08:33:31.240" v="2491" actId="207"/>
          <ac:spMkLst>
            <pc:docMk/>
            <pc:sldMk cId="2104176619" sldId="347"/>
            <ac:spMk id="5" creationId="{3E3017EC-3585-F61C-59D1-E25E2525BA5D}"/>
          </ac:spMkLst>
        </pc:spChg>
        <pc:spChg chg="add mod">
          <ac:chgData name="Hoba Jean Paul DJAMA" userId="f30d6993dbc66617" providerId="LiveId" clId="{70326D59-28A1-4693-BB6E-55222793C82C}" dt="2026-05-08T16:24:03.664" v="2478"/>
          <ac:spMkLst>
            <pc:docMk/>
            <pc:sldMk cId="2104176619" sldId="347"/>
            <ac:spMk id="6" creationId="{F005CBBC-72A6-1742-B917-AFF5B1B1577B}"/>
          </ac:spMkLst>
        </pc:spChg>
        <pc:graphicFrameChg chg="add mod modGraphic">
          <ac:chgData name="Hoba Jean Paul DJAMA" userId="f30d6993dbc66617" providerId="LiveId" clId="{70326D59-28A1-4693-BB6E-55222793C82C}" dt="2026-05-11T08:32:16.069" v="2490" actId="12269"/>
          <ac:graphicFrameMkLst>
            <pc:docMk/>
            <pc:sldMk cId="2104176619" sldId="347"/>
            <ac:graphicFrameMk id="3" creationId="{F8D22725-190C-85D2-C69B-F89F08A07F52}"/>
          </ac:graphicFrameMkLst>
        </pc:graphicFrameChg>
        <pc:picChg chg="add mod">
          <ac:chgData name="Hoba Jean Paul DJAMA" userId="f30d6993dbc66617" providerId="LiveId" clId="{70326D59-28A1-4693-BB6E-55222793C82C}" dt="2026-05-11T10:02:15.062" v="3198"/>
          <ac:picMkLst>
            <pc:docMk/>
            <pc:sldMk cId="2104176619" sldId="347"/>
            <ac:picMk id="7" creationId="{78D9FFAD-F3CF-61D7-8348-B3C2B89D4E1B}"/>
          </ac:picMkLst>
        </pc:picChg>
      </pc:sldChg>
      <pc:sldChg chg="addSp delSp modSp new del mod delAnim modAnim">
        <pc:chgData name="Hoba Jean Paul DJAMA" userId="f30d6993dbc66617" providerId="LiveId" clId="{70326D59-28A1-4693-BB6E-55222793C82C}" dt="2026-05-11T09:51:31.760" v="3128" actId="47"/>
        <pc:sldMkLst>
          <pc:docMk/>
          <pc:sldMk cId="2618894969" sldId="349"/>
        </pc:sldMkLst>
        <pc:spChg chg="mod">
          <ac:chgData name="Hoba Jean Paul DJAMA" userId="f30d6993dbc66617" providerId="LiveId" clId="{70326D59-28A1-4693-BB6E-55222793C82C}" dt="2026-05-11T09:48:34.631" v="3065" actId="21"/>
          <ac:spMkLst>
            <pc:docMk/>
            <pc:sldMk cId="2618894969" sldId="349"/>
            <ac:spMk id="2" creationId="{83AC4BC4-81EE-F317-6C09-9B4E97F0E062}"/>
          </ac:spMkLst>
        </pc:spChg>
        <pc:spChg chg="add mod">
          <ac:chgData name="Hoba Jean Paul DJAMA" userId="f30d6993dbc66617" providerId="LiveId" clId="{70326D59-28A1-4693-BB6E-55222793C82C}" dt="2026-05-11T08:33:46.890" v="2492" actId="207"/>
          <ac:spMkLst>
            <pc:docMk/>
            <pc:sldMk cId="2618894969" sldId="349"/>
            <ac:spMk id="5" creationId="{4211DD8C-7DDD-D8D0-2C8C-50DCF8D509C0}"/>
          </ac:spMkLst>
        </pc:spChg>
      </pc:sldChg>
      <pc:sldChg chg="addSp delSp modSp new mod ord">
        <pc:chgData name="Hoba Jean Paul DJAMA" userId="f30d6993dbc66617" providerId="LiveId" clId="{70326D59-28A1-4693-BB6E-55222793C82C}" dt="2026-05-11T10:04:55.606" v="3208" actId="207"/>
        <pc:sldMkLst>
          <pc:docMk/>
          <pc:sldMk cId="3576917714" sldId="351"/>
        </pc:sldMkLst>
        <pc:spChg chg="add mod">
          <ac:chgData name="Hoba Jean Paul DJAMA" userId="f30d6993dbc66617" providerId="LiveId" clId="{70326D59-28A1-4693-BB6E-55222793C82C}" dt="2026-05-11T08:34:14.553" v="2497" actId="207"/>
          <ac:spMkLst>
            <pc:docMk/>
            <pc:sldMk cId="3576917714" sldId="351"/>
            <ac:spMk id="2" creationId="{B20165D7-94A4-88B5-E2D7-87550B810EE9}"/>
          </ac:spMkLst>
        </pc:spChg>
        <pc:spChg chg="add mod">
          <ac:chgData name="Hoba Jean Paul DJAMA" userId="f30d6993dbc66617" providerId="LiveId" clId="{70326D59-28A1-4693-BB6E-55222793C82C}" dt="2026-05-08T16:23:53.082" v="2474"/>
          <ac:spMkLst>
            <pc:docMk/>
            <pc:sldMk cId="3576917714" sldId="351"/>
            <ac:spMk id="4" creationId="{82077C7C-602A-3876-BC73-A8344C61892F}"/>
          </ac:spMkLst>
        </pc:spChg>
        <pc:spChg chg="add mod">
          <ac:chgData name="Hoba Jean Paul DJAMA" userId="f30d6993dbc66617" providerId="LiveId" clId="{70326D59-28A1-4693-BB6E-55222793C82C}" dt="2026-05-11T10:04:55.606" v="3208" actId="207"/>
          <ac:spMkLst>
            <pc:docMk/>
            <pc:sldMk cId="3576917714" sldId="351"/>
            <ac:spMk id="5" creationId="{0AA8FC15-7D3C-B341-43CA-7D0640E83DCF}"/>
          </ac:spMkLst>
        </pc:spChg>
        <pc:spChg chg="add mod">
          <ac:chgData name="Hoba Jean Paul DJAMA" userId="f30d6993dbc66617" providerId="LiveId" clId="{70326D59-28A1-4693-BB6E-55222793C82C}" dt="2026-05-11T10:01:41.335" v="3191"/>
          <ac:spMkLst>
            <pc:docMk/>
            <pc:sldMk cId="3576917714" sldId="351"/>
            <ac:spMk id="6" creationId="{2CA3CD78-18A6-7170-97FC-99919994647D}"/>
          </ac:spMkLst>
        </pc:spChg>
        <pc:picChg chg="add mod">
          <ac:chgData name="Hoba Jean Paul DJAMA" userId="f30d6993dbc66617" providerId="LiveId" clId="{70326D59-28A1-4693-BB6E-55222793C82C}" dt="2026-05-07T20:34:41.875" v="2046" actId="1076"/>
          <ac:picMkLst>
            <pc:docMk/>
            <pc:sldMk cId="3576917714" sldId="351"/>
            <ac:picMk id="3" creationId="{B98E20DB-B969-6CEF-EF90-735FB41926CF}"/>
          </ac:picMkLst>
        </pc:picChg>
        <pc:picChg chg="add mod">
          <ac:chgData name="Hoba Jean Paul DJAMA" userId="f30d6993dbc66617" providerId="LiveId" clId="{70326D59-28A1-4693-BB6E-55222793C82C}" dt="2026-05-11T10:02:02.994" v="3194"/>
          <ac:picMkLst>
            <pc:docMk/>
            <pc:sldMk cId="3576917714" sldId="351"/>
            <ac:picMk id="7" creationId="{99594993-062A-AFB4-B0ED-349A59D63919}"/>
          </ac:picMkLst>
        </pc:picChg>
      </pc:sldChg>
      <pc:sldChg chg="addSp modSp new mod modAnim">
        <pc:chgData name="Hoba Jean Paul DJAMA" userId="f30d6993dbc66617" providerId="LiveId" clId="{70326D59-28A1-4693-BB6E-55222793C82C}" dt="2026-05-11T10:04:36.523" v="3206" actId="207"/>
        <pc:sldMkLst>
          <pc:docMk/>
          <pc:sldMk cId="2889344537" sldId="352"/>
        </pc:sldMkLst>
        <pc:spChg chg="mod">
          <ac:chgData name="Hoba Jean Paul DJAMA" userId="f30d6993dbc66617" providerId="LiveId" clId="{70326D59-28A1-4693-BB6E-55222793C82C}" dt="2026-05-11T10:04:36.523" v="3206" actId="207"/>
          <ac:spMkLst>
            <pc:docMk/>
            <pc:sldMk cId="2889344537" sldId="352"/>
            <ac:spMk id="2" creationId="{13FA66CD-D82F-4A6F-C343-030DD2ED4EAB}"/>
          </ac:spMkLst>
        </pc:spChg>
        <pc:spChg chg="add mod">
          <ac:chgData name="Hoba Jean Paul DJAMA" userId="f30d6993dbc66617" providerId="LiveId" clId="{70326D59-28A1-4693-BB6E-55222793C82C}" dt="2026-05-07T16:02:20.337" v="1752" actId="1076"/>
          <ac:spMkLst>
            <pc:docMk/>
            <pc:sldMk cId="2889344537" sldId="352"/>
            <ac:spMk id="3" creationId="{50473359-A7CA-B079-2C6C-10FE1341456C}"/>
          </ac:spMkLst>
        </pc:spChg>
        <pc:spChg chg="add mod">
          <ac:chgData name="Hoba Jean Paul DJAMA" userId="f30d6993dbc66617" providerId="LiveId" clId="{70326D59-28A1-4693-BB6E-55222793C82C}" dt="2026-05-07T16:03:49.365" v="1776" actId="1076"/>
          <ac:spMkLst>
            <pc:docMk/>
            <pc:sldMk cId="2889344537" sldId="352"/>
            <ac:spMk id="4" creationId="{BED0D320-6E0B-C48E-F35B-F71B474DC39F}"/>
          </ac:spMkLst>
        </pc:spChg>
        <pc:spChg chg="add mod">
          <ac:chgData name="Hoba Jean Paul DJAMA" userId="f30d6993dbc66617" providerId="LiveId" clId="{70326D59-28A1-4693-BB6E-55222793C82C}" dt="2026-05-11T10:01:38.644" v="3190"/>
          <ac:spMkLst>
            <pc:docMk/>
            <pc:sldMk cId="2889344537" sldId="352"/>
            <ac:spMk id="5" creationId="{967C8347-673A-CAFB-D05E-35DDB6238224}"/>
          </ac:spMkLst>
        </pc:spChg>
        <pc:spChg chg="add mod">
          <ac:chgData name="Hoba Jean Paul DJAMA" userId="f30d6993dbc66617" providerId="LiveId" clId="{70326D59-28A1-4693-BB6E-55222793C82C}" dt="2026-05-11T08:33:54.043" v="2493" actId="207"/>
          <ac:spMkLst>
            <pc:docMk/>
            <pc:sldMk cId="2889344537" sldId="352"/>
            <ac:spMk id="6" creationId="{D890A617-9D04-F58B-20AB-9E0D3A8C7FFB}"/>
          </ac:spMkLst>
        </pc:spChg>
        <pc:spChg chg="add mod">
          <ac:chgData name="Hoba Jean Paul DJAMA" userId="f30d6993dbc66617" providerId="LiveId" clId="{70326D59-28A1-4693-BB6E-55222793C82C}" dt="2026-05-08T16:23:57.492" v="2476"/>
          <ac:spMkLst>
            <pc:docMk/>
            <pc:sldMk cId="2889344537" sldId="352"/>
            <ac:spMk id="7" creationId="{5DFDE811-5B33-9D0C-BFD9-1213B0C222D7}"/>
          </ac:spMkLst>
        </pc:spChg>
        <pc:picChg chg="add mod">
          <ac:chgData name="Hoba Jean Paul DJAMA" userId="f30d6993dbc66617" providerId="LiveId" clId="{70326D59-28A1-4693-BB6E-55222793C82C}" dt="2026-05-11T10:02:05.747" v="3195"/>
          <ac:picMkLst>
            <pc:docMk/>
            <pc:sldMk cId="2889344537" sldId="352"/>
            <ac:picMk id="8" creationId="{9868D73D-7239-8EFB-8B7C-F3F1D92F8FAC}"/>
          </ac:picMkLst>
        </pc:picChg>
        <pc:picChg chg="add mod">
          <ac:chgData name="Hoba Jean Paul DJAMA" userId="f30d6993dbc66617" providerId="LiveId" clId="{70326D59-28A1-4693-BB6E-55222793C82C}" dt="2026-05-07T16:03:16.434" v="1770" actId="1038"/>
          <ac:picMkLst>
            <pc:docMk/>
            <pc:sldMk cId="2889344537" sldId="352"/>
            <ac:picMk id="2049" creationId="{2C1F44D6-A3C5-9F5F-63CC-510699E2690E}"/>
          </ac:picMkLst>
        </pc:picChg>
      </pc:sldChg>
      <pc:sldChg chg="addSp delSp modSp add mod">
        <pc:chgData name="Hoba Jean Paul DJAMA" userId="f30d6993dbc66617" providerId="LiveId" clId="{70326D59-28A1-4693-BB6E-55222793C82C}" dt="2026-05-11T10:02:18.652" v="3199"/>
        <pc:sldMkLst>
          <pc:docMk/>
          <pc:sldMk cId="0" sldId="353"/>
        </pc:sldMkLst>
        <pc:spChg chg="del mod">
          <ac:chgData name="Hoba Jean Paul DJAMA" userId="f30d6993dbc66617" providerId="LiveId" clId="{70326D59-28A1-4693-BB6E-55222793C82C}" dt="2026-05-11T09:52:00.424" v="3132" actId="478"/>
          <ac:spMkLst>
            <pc:docMk/>
            <pc:sldMk cId="0" sldId="353"/>
            <ac:spMk id="3" creationId="{00000000-0000-0000-0000-000000000000}"/>
          </ac:spMkLst>
        </pc:spChg>
        <pc:spChg chg="mod">
          <ac:chgData name="Hoba Jean Paul DJAMA" userId="f30d6993dbc66617" providerId="LiveId" clId="{70326D59-28A1-4693-BB6E-55222793C82C}" dt="2026-05-11T08:30:52.859" v="2486" actId="207"/>
          <ac:spMkLst>
            <pc:docMk/>
            <pc:sldMk cId="0" sldId="353"/>
            <ac:spMk id="4" creationId="{00000000-0000-0000-0000-000000000000}"/>
          </ac:spMkLst>
        </pc:spChg>
        <pc:spChg chg="add mod">
          <ac:chgData name="Hoba Jean Paul DJAMA" userId="f30d6993dbc66617" providerId="LiveId" clId="{70326D59-28A1-4693-BB6E-55222793C82C}" dt="2026-05-11T10:01:24.141" v="3186"/>
          <ac:spMkLst>
            <pc:docMk/>
            <pc:sldMk cId="0" sldId="353"/>
            <ac:spMk id="5" creationId="{098BF44A-A671-E52D-EE69-C1441284CB78}"/>
          </ac:spMkLst>
        </pc:spChg>
        <pc:spChg chg="add mod">
          <ac:chgData name="Hoba Jean Paul DJAMA" userId="f30d6993dbc66617" providerId="LiveId" clId="{70326D59-28A1-4693-BB6E-55222793C82C}" dt="2026-05-11T08:31:13.159" v="2487" actId="207"/>
          <ac:spMkLst>
            <pc:docMk/>
            <pc:sldMk cId="0" sldId="353"/>
            <ac:spMk id="7" creationId="{B91D5A3A-BE49-5D6C-7DA5-9F781AA49B47}"/>
          </ac:spMkLst>
        </pc:spChg>
        <pc:picChg chg="add mod">
          <ac:chgData name="Hoba Jean Paul DJAMA" userId="f30d6993dbc66617" providerId="LiveId" clId="{70326D59-28A1-4693-BB6E-55222793C82C}" dt="2026-05-11T10:02:18.652" v="3199"/>
          <ac:picMkLst>
            <pc:docMk/>
            <pc:sldMk cId="0" sldId="353"/>
            <ac:picMk id="8" creationId="{655CD770-BF98-6C7D-D60D-1972EBECB518}"/>
          </ac:picMkLst>
        </pc:picChg>
      </pc:sldChg>
      <pc:sldChg chg="addSp delSp modSp add mod delAnim">
        <pc:chgData name="Hoba Jean Paul DJAMA" userId="f30d6993dbc66617" providerId="LiveId" clId="{70326D59-28A1-4693-BB6E-55222793C82C}" dt="2026-05-11T10:01:59.396" v="3193"/>
        <pc:sldMkLst>
          <pc:docMk/>
          <pc:sldMk cId="0" sldId="357"/>
        </pc:sldMkLst>
        <pc:spChg chg="del">
          <ac:chgData name="Hoba Jean Paul DJAMA" userId="f30d6993dbc66617" providerId="LiveId" clId="{70326D59-28A1-4693-BB6E-55222793C82C}" dt="2026-05-11T09:57:17.143" v="3136" actId="478"/>
          <ac:spMkLst>
            <pc:docMk/>
            <pc:sldMk cId="0" sldId="357"/>
            <ac:spMk id="3" creationId="{00000000-0000-0000-0000-000000000000}"/>
          </ac:spMkLst>
        </pc:spChg>
        <pc:spChg chg="add mod">
          <ac:chgData name="Hoba Jean Paul DJAMA" userId="f30d6993dbc66617" providerId="LiveId" clId="{70326D59-28A1-4693-BB6E-55222793C82C}" dt="2026-05-11T09:57:13.329" v="3135" actId="207"/>
          <ac:spMkLst>
            <pc:docMk/>
            <pc:sldMk cId="0" sldId="357"/>
            <ac:spMk id="4" creationId="{EF354AF8-43A4-FBA4-B72D-E9FC08F8EAC1}"/>
          </ac:spMkLst>
        </pc:spChg>
        <pc:spChg chg="add mod">
          <ac:chgData name="Hoba Jean Paul DJAMA" userId="f30d6993dbc66617" providerId="LiveId" clId="{70326D59-28A1-4693-BB6E-55222793C82C}" dt="2026-05-11T10:01:49.052" v="3192"/>
          <ac:spMkLst>
            <pc:docMk/>
            <pc:sldMk cId="0" sldId="357"/>
            <ac:spMk id="5" creationId="{FD1128E4-A44E-6D52-D87A-14B14FCE22E0}"/>
          </ac:spMkLst>
        </pc:spChg>
        <pc:spChg chg="add mod">
          <ac:chgData name="Hoba Jean Paul DJAMA" userId="f30d6993dbc66617" providerId="LiveId" clId="{70326D59-28A1-4693-BB6E-55222793C82C}" dt="2026-05-08T16:23:43.802" v="2473" actId="207"/>
          <ac:spMkLst>
            <pc:docMk/>
            <pc:sldMk cId="0" sldId="357"/>
            <ac:spMk id="7" creationId="{1A039316-483C-8DB1-7332-2745A19859B0}"/>
          </ac:spMkLst>
        </pc:spChg>
        <pc:spChg chg="mod">
          <ac:chgData name="Hoba Jean Paul DJAMA" userId="f30d6993dbc66617" providerId="LiveId" clId="{70326D59-28A1-4693-BB6E-55222793C82C}" dt="2026-05-11T08:34:24.779" v="2498" actId="207"/>
          <ac:spMkLst>
            <pc:docMk/>
            <pc:sldMk cId="0" sldId="357"/>
            <ac:spMk id="9" creationId="{00000000-0000-0000-0000-000000000000}"/>
          </ac:spMkLst>
        </pc:spChg>
        <pc:picChg chg="add mod">
          <ac:chgData name="Hoba Jean Paul DJAMA" userId="f30d6993dbc66617" providerId="LiveId" clId="{70326D59-28A1-4693-BB6E-55222793C82C}" dt="2026-05-11T10:01:59.396" v="3193"/>
          <ac:picMkLst>
            <pc:docMk/>
            <pc:sldMk cId="0" sldId="357"/>
            <ac:picMk id="8" creationId="{98288FF0-EADD-14DB-5237-B693B23B9D10}"/>
          </ac:picMkLst>
        </pc:picChg>
      </pc:sldChg>
      <pc:sldChg chg="addSp delSp modSp add mod ord">
        <pc:chgData name="Hoba Jean Paul DJAMA" userId="f30d6993dbc66617" providerId="LiveId" clId="{70326D59-28A1-4693-BB6E-55222793C82C}" dt="2026-05-11T10:05:14.245" v="3210" actId="478"/>
        <pc:sldMkLst>
          <pc:docMk/>
          <pc:sldMk cId="3198725601" sldId="358"/>
        </pc:sldMkLst>
        <pc:spChg chg="add del mod">
          <ac:chgData name="Hoba Jean Paul DJAMA" userId="f30d6993dbc66617" providerId="LiveId" clId="{70326D59-28A1-4693-BB6E-55222793C82C}" dt="2026-05-11T10:05:14.245" v="3210" actId="478"/>
          <ac:spMkLst>
            <pc:docMk/>
            <pc:sldMk cId="3198725601" sldId="358"/>
            <ac:spMk id="2" creationId="{0D76C382-F24F-724B-0115-74D541973B61}"/>
          </ac:spMkLst>
        </pc:spChg>
        <pc:spChg chg="add mod">
          <ac:chgData name="Hoba Jean Paul DJAMA" userId="f30d6993dbc66617" providerId="LiveId" clId="{70326D59-28A1-4693-BB6E-55222793C82C}" dt="2026-05-08T10:19:08.471" v="2319" actId="208"/>
          <ac:spMkLst>
            <pc:docMk/>
            <pc:sldMk cId="3198725601" sldId="358"/>
            <ac:spMk id="3" creationId="{00F8FB01-AC02-1DB8-0635-B54C9E247E14}"/>
          </ac:spMkLst>
        </pc:spChg>
        <pc:spChg chg="add mod">
          <ac:chgData name="Hoba Jean Paul DJAMA" userId="f30d6993dbc66617" providerId="LiveId" clId="{70326D59-28A1-4693-BB6E-55222793C82C}" dt="2026-05-08T10:19:41.974" v="2324" actId="208"/>
          <ac:spMkLst>
            <pc:docMk/>
            <pc:sldMk cId="3198725601" sldId="358"/>
            <ac:spMk id="4" creationId="{EFF4DEFE-54F1-0096-814C-B9F3DD1D6DE6}"/>
          </ac:spMkLst>
        </pc:spChg>
        <pc:spChg chg="mod">
          <ac:chgData name="Hoba Jean Paul DJAMA" userId="f30d6993dbc66617" providerId="LiveId" clId="{70326D59-28A1-4693-BB6E-55222793C82C}" dt="2026-05-11T10:04:30.289" v="3205" actId="207"/>
          <ac:spMkLst>
            <pc:docMk/>
            <pc:sldMk cId="3198725601" sldId="358"/>
            <ac:spMk id="5" creationId="{D4F36627-C3CF-FD41-E61E-D392E24DBF26}"/>
          </ac:spMkLst>
        </pc:spChg>
        <pc:spChg chg="add mod">
          <ac:chgData name="Hoba Jean Paul DJAMA" userId="f30d6993dbc66617" providerId="LiveId" clId="{70326D59-28A1-4693-BB6E-55222793C82C}" dt="2026-05-11T08:34:04.368" v="2494" actId="207"/>
          <ac:spMkLst>
            <pc:docMk/>
            <pc:sldMk cId="3198725601" sldId="358"/>
            <ac:spMk id="6" creationId="{E390142A-9D0B-EC79-F216-2E1A19A244FB}"/>
          </ac:spMkLst>
        </pc:spChg>
        <pc:spChg chg="add mod">
          <ac:chgData name="Hoba Jean Paul DJAMA" userId="f30d6993dbc66617" providerId="LiveId" clId="{70326D59-28A1-4693-BB6E-55222793C82C}" dt="2026-05-08T16:23:55.265" v="2475"/>
          <ac:spMkLst>
            <pc:docMk/>
            <pc:sldMk cId="3198725601" sldId="358"/>
            <ac:spMk id="8" creationId="{FB0AE699-CB7A-2134-0B21-EB95337DE3DF}"/>
          </ac:spMkLst>
        </pc:spChg>
        <pc:spChg chg="add mod">
          <ac:chgData name="Hoba Jean Paul DJAMA" userId="f30d6993dbc66617" providerId="LiveId" clId="{70326D59-28A1-4693-BB6E-55222793C82C}" dt="2026-05-11T10:01:35.990" v="3189"/>
          <ac:spMkLst>
            <pc:docMk/>
            <pc:sldMk cId="3198725601" sldId="358"/>
            <ac:spMk id="9" creationId="{F83B069C-892A-1567-BB12-16E1C63F43D1}"/>
          </ac:spMkLst>
        </pc:spChg>
        <pc:spChg chg="add mod">
          <ac:chgData name="Hoba Jean Paul DJAMA" userId="f30d6993dbc66617" providerId="LiveId" clId="{70326D59-28A1-4693-BB6E-55222793C82C}" dt="2026-05-08T10:24:12.437" v="2361" actId="1037"/>
          <ac:spMkLst>
            <pc:docMk/>
            <pc:sldMk cId="3198725601" sldId="358"/>
            <ac:spMk id="12" creationId="{865C09B6-D765-31E2-CC86-568835BED2FD}"/>
          </ac:spMkLst>
        </pc:spChg>
        <pc:picChg chg="add mod">
          <ac:chgData name="Hoba Jean Paul DJAMA" userId="f30d6993dbc66617" providerId="LiveId" clId="{70326D59-28A1-4693-BB6E-55222793C82C}" dt="2026-05-11T10:02:08.695" v="3196"/>
          <ac:picMkLst>
            <pc:docMk/>
            <pc:sldMk cId="3198725601" sldId="358"/>
            <ac:picMk id="10" creationId="{107DD3A8-D8B6-25FF-BEC6-8ABBA205EFD2}"/>
          </ac:picMkLst>
        </pc:picChg>
      </pc:sldChg>
      <pc:sldChg chg="addSp modSp new mod addAnim delAnim modAnim">
        <pc:chgData name="Hoba Jean Paul DJAMA" userId="f30d6993dbc66617" providerId="LiveId" clId="{70326D59-28A1-4693-BB6E-55222793C82C}" dt="2026-05-11T10:04:21.489" v="3204" actId="207"/>
        <pc:sldMkLst>
          <pc:docMk/>
          <pc:sldMk cId="2584382701" sldId="359"/>
        </pc:sldMkLst>
        <pc:spChg chg="mod">
          <ac:chgData name="Hoba Jean Paul DJAMA" userId="f30d6993dbc66617" providerId="LiveId" clId="{70326D59-28A1-4693-BB6E-55222793C82C}" dt="2026-05-11T10:04:21.489" v="3204" actId="207"/>
          <ac:spMkLst>
            <pc:docMk/>
            <pc:sldMk cId="2584382701" sldId="359"/>
            <ac:spMk id="2" creationId="{4B59C4F1-C941-072E-99DA-86BC5AAFC836}"/>
          </ac:spMkLst>
        </pc:spChg>
        <pc:spChg chg="add mod">
          <ac:chgData name="Hoba Jean Paul DJAMA" userId="f30d6993dbc66617" providerId="LiveId" clId="{70326D59-28A1-4693-BB6E-55222793C82C}" dt="2026-05-11T09:46:42.091" v="3051" actId="1037"/>
          <ac:spMkLst>
            <pc:docMk/>
            <pc:sldMk cId="2584382701" sldId="359"/>
            <ac:spMk id="3" creationId="{B7383458-4A42-51D9-5AAA-4DC9E895A646}"/>
          </ac:spMkLst>
        </pc:spChg>
        <pc:spChg chg="add mod">
          <ac:chgData name="Hoba Jean Paul DJAMA" userId="f30d6993dbc66617" providerId="LiveId" clId="{70326D59-28A1-4693-BB6E-55222793C82C}" dt="2026-05-11T09:36:51.663" v="2910" actId="207"/>
          <ac:spMkLst>
            <pc:docMk/>
            <pc:sldMk cId="2584382701" sldId="359"/>
            <ac:spMk id="4" creationId="{5D1D9751-E017-0352-BC46-B5A06A9784D6}"/>
          </ac:spMkLst>
        </pc:spChg>
        <pc:spChg chg="add mod">
          <ac:chgData name="Hoba Jean Paul DJAMA" userId="f30d6993dbc66617" providerId="LiveId" clId="{70326D59-28A1-4693-BB6E-55222793C82C}" dt="2026-05-11T09:13:51.731" v="2901" actId="403"/>
          <ac:spMkLst>
            <pc:docMk/>
            <pc:sldMk cId="2584382701" sldId="359"/>
            <ac:spMk id="5" creationId="{B207F7F0-97B6-EDB8-AFA3-B9714A79DFB6}"/>
          </ac:spMkLst>
        </pc:spChg>
        <pc:spChg chg="add mod">
          <ac:chgData name="Hoba Jean Paul DJAMA" userId="f30d6993dbc66617" providerId="LiveId" clId="{70326D59-28A1-4693-BB6E-55222793C82C}" dt="2026-05-11T09:46:32.788" v="3041" actId="1038"/>
          <ac:spMkLst>
            <pc:docMk/>
            <pc:sldMk cId="2584382701" sldId="359"/>
            <ac:spMk id="6" creationId="{2A69D01C-5EF7-701C-3F1A-338902E99B47}"/>
          </ac:spMkLst>
        </pc:spChg>
        <pc:spChg chg="add mod">
          <ac:chgData name="Hoba Jean Paul DJAMA" userId="f30d6993dbc66617" providerId="LiveId" clId="{70326D59-28A1-4693-BB6E-55222793C82C}" dt="2026-05-11T09:49:43.323" v="3082" actId="1035"/>
          <ac:spMkLst>
            <pc:docMk/>
            <pc:sldMk cId="2584382701" sldId="359"/>
            <ac:spMk id="7" creationId="{7A863AE1-4F73-D674-91AF-154ED1166312}"/>
          </ac:spMkLst>
        </pc:spChg>
        <pc:spChg chg="add mod">
          <ac:chgData name="Hoba Jean Paul DJAMA" userId="f30d6993dbc66617" providerId="LiveId" clId="{70326D59-28A1-4693-BB6E-55222793C82C}" dt="2026-05-11T09:51:43.188" v="3130" actId="1076"/>
          <ac:spMkLst>
            <pc:docMk/>
            <pc:sldMk cId="2584382701" sldId="359"/>
            <ac:spMk id="8" creationId="{0566DC48-F5AF-BEC3-0D63-7D5653D63C59}"/>
          </ac:spMkLst>
        </pc:spChg>
        <pc:spChg chg="add mod">
          <ac:chgData name="Hoba Jean Paul DJAMA" userId="f30d6993dbc66617" providerId="LiveId" clId="{70326D59-28A1-4693-BB6E-55222793C82C}" dt="2026-05-11T10:01:33.231" v="3188"/>
          <ac:spMkLst>
            <pc:docMk/>
            <pc:sldMk cId="2584382701" sldId="359"/>
            <ac:spMk id="9" creationId="{F9528142-CE9C-DFEF-2151-5ECD1A8A125B}"/>
          </ac:spMkLst>
        </pc:spChg>
        <pc:picChg chg="add mod">
          <ac:chgData name="Hoba Jean Paul DJAMA" userId="f30d6993dbc66617" providerId="LiveId" clId="{70326D59-28A1-4693-BB6E-55222793C82C}" dt="2026-05-11T10:02:11.473" v="3197"/>
          <ac:picMkLst>
            <pc:docMk/>
            <pc:sldMk cId="2584382701" sldId="359"/>
            <ac:picMk id="10" creationId="{F67B8F60-C6BF-FC4F-DC22-DB47CFE99B6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a:latin typeface="Arial" panose="020B0604020202020204" pitchFamily="34" charset="0"/>
                <a:ea typeface="+mn-ea"/>
              </a:defRPr>
            </a:lvl1pPr>
          </a:lstStyle>
          <a:p>
            <a:pPr>
              <a:defRPr/>
            </a:pPr>
            <a:endParaRPr lang="fr-CA"/>
          </a:p>
        </p:txBody>
      </p:sp>
      <p:sp>
        <p:nvSpPr>
          <p:cNvPr id="3075" name="Rectangle 3"/>
          <p:cNvSpPr>
            <a:spLocks noGrp="1" noChangeArrowheads="1"/>
          </p:cNvSpPr>
          <p:nvPr>
            <p:ph type="dt" sz="quarter"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a:latin typeface="Arial" panose="020B0604020202020204" pitchFamily="34" charset="0"/>
                <a:ea typeface="+mn-ea"/>
              </a:defRPr>
            </a:lvl1pPr>
          </a:lstStyle>
          <a:p>
            <a:pPr>
              <a:defRPr/>
            </a:pPr>
            <a:endParaRPr lang="fr-CA"/>
          </a:p>
        </p:txBody>
      </p:sp>
      <p:sp>
        <p:nvSpPr>
          <p:cNvPr id="3076" name="Rectangle 4"/>
          <p:cNvSpPr>
            <a:spLocks noGrp="1" noChangeArrowheads="1"/>
          </p:cNvSpPr>
          <p:nvPr>
            <p:ph type="ftr" sz="quarter" idx="2"/>
          </p:nvPr>
        </p:nvSpPr>
        <p:spPr bwMode="auto">
          <a:xfrm>
            <a:off x="0" y="8829675"/>
            <a:ext cx="3038475" cy="465138"/>
          </a:xfrm>
          <a:prstGeom prst="rect">
            <a:avLst/>
          </a:prstGeom>
          <a:noFill/>
          <a:ln>
            <a:noFill/>
          </a:ln>
          <a:effectLst/>
        </p:spPr>
        <p:txBody>
          <a:bodyPr vert="horz" wrap="square" lIns="93177" tIns="46589" rIns="93177" bIns="46589" numCol="1" anchor="b" anchorCtr="0" compatLnSpc="1"/>
          <a:lstStyle>
            <a:lvl1pPr defTabSz="932180">
              <a:defRPr sz="1200">
                <a:latin typeface="Arial" panose="020B0604020202020204" pitchFamily="34" charset="0"/>
                <a:ea typeface="+mn-ea"/>
              </a:defRPr>
            </a:lvl1pPr>
          </a:lstStyle>
          <a:p>
            <a:pPr>
              <a:defRPr/>
            </a:pPr>
            <a:endParaRPr lang="fr-CA"/>
          </a:p>
        </p:txBody>
      </p:sp>
      <p:sp>
        <p:nvSpPr>
          <p:cNvPr id="3077" name="Rectangle 5"/>
          <p:cNvSpPr>
            <a:spLocks noGrp="1" noChangeArrowheads="1"/>
          </p:cNvSpPr>
          <p:nvPr>
            <p:ph type="sldNum" sz="quarter" idx="3"/>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lstStyle>
            <a:lvl1pPr algn="r" defTabSz="932180">
              <a:defRPr sz="1200">
                <a:latin typeface="Arial" panose="020B0604020202020204" pitchFamily="34" charset="0"/>
                <a:ea typeface="+mn-ea"/>
              </a:defRPr>
            </a:lvl1pPr>
          </a:lstStyle>
          <a:p>
            <a:pPr>
              <a:defRPr/>
            </a:pPr>
            <a:fld id="{EFB73F57-00A7-4824-AB68-DA8CEE9E7E80}" type="slidenum">
              <a:rPr lang="fr-CA"/>
              <a:t>‹#›</a:t>
            </a:fld>
            <a:endParaRPr lang="fr-CA"/>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a:latin typeface="Arial" panose="020B0604020202020204" pitchFamily="34" charset="0"/>
                <a:ea typeface="+mn-ea"/>
              </a:defRPr>
            </a:lvl1pPr>
          </a:lstStyle>
          <a:p>
            <a:pPr>
              <a:defRPr/>
            </a:pPr>
            <a:endParaRPr lang="fr-CA"/>
          </a:p>
        </p:txBody>
      </p:sp>
      <p:sp>
        <p:nvSpPr>
          <p:cNvPr id="11267" name="Rectangle 3"/>
          <p:cNvSpPr>
            <a:spLocks noGrp="1" noChangeArrowheads="1"/>
          </p:cNvSpPr>
          <p:nvPr>
            <p:ph type="dt"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a:latin typeface="Arial" panose="020B0604020202020204" pitchFamily="34" charset="0"/>
                <a:ea typeface="+mn-ea"/>
              </a:defRPr>
            </a:lvl1pPr>
          </a:lstStyle>
          <a:p>
            <a:pPr>
              <a:defRPr/>
            </a:pPr>
            <a:endParaRPr lang="fr-CA"/>
          </a:p>
        </p:txBody>
      </p:sp>
      <p:sp>
        <p:nvSpPr>
          <p:cNvPr id="1843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ln>
        </p:spPr>
        <p:txBody>
          <a:bodyPr/>
          <a:lstStyle/>
          <a:p>
            <a:endParaRPr lang="en-US"/>
          </a:p>
        </p:txBody>
      </p:sp>
      <p:sp>
        <p:nvSpPr>
          <p:cNvPr id="11269" name="Rectangle 5"/>
          <p:cNvSpPr>
            <a:spLocks noGrp="1" noChangeArrowheads="1"/>
          </p:cNvSpPr>
          <p:nvPr>
            <p:ph type="body" sz="quarter" idx="3"/>
          </p:nvPr>
        </p:nvSpPr>
        <p:spPr bwMode="auto">
          <a:xfrm>
            <a:off x="701675" y="4416425"/>
            <a:ext cx="5607050" cy="4183063"/>
          </a:xfrm>
          <a:prstGeom prst="rect">
            <a:avLst/>
          </a:prstGeom>
          <a:noFill/>
          <a:ln>
            <a:noFill/>
          </a:ln>
          <a:effectLst/>
        </p:spPr>
        <p:txBody>
          <a:bodyPr vert="horz" wrap="square" lIns="93177" tIns="46589" rIns="93177" bIns="46589" numCol="1" anchor="t" anchorCtr="0" compatLnSpc="1"/>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11270" name="Rectangle 6"/>
          <p:cNvSpPr>
            <a:spLocks noGrp="1" noChangeArrowheads="1"/>
          </p:cNvSpPr>
          <p:nvPr>
            <p:ph type="ftr" sz="quarter" idx="4"/>
          </p:nvPr>
        </p:nvSpPr>
        <p:spPr bwMode="auto">
          <a:xfrm>
            <a:off x="0" y="8829675"/>
            <a:ext cx="3038475" cy="465138"/>
          </a:xfrm>
          <a:prstGeom prst="rect">
            <a:avLst/>
          </a:prstGeom>
          <a:noFill/>
          <a:ln>
            <a:noFill/>
          </a:ln>
          <a:effectLst/>
        </p:spPr>
        <p:txBody>
          <a:bodyPr vert="horz" wrap="square" lIns="93177" tIns="46589" rIns="93177" bIns="46589" numCol="1" anchor="b" anchorCtr="0" compatLnSpc="1"/>
          <a:lstStyle>
            <a:lvl1pPr defTabSz="932180">
              <a:defRPr sz="1200">
                <a:latin typeface="Arial" panose="020B0604020202020204" pitchFamily="34" charset="0"/>
                <a:ea typeface="+mn-ea"/>
              </a:defRPr>
            </a:lvl1pPr>
          </a:lstStyle>
          <a:p>
            <a:pPr>
              <a:defRPr/>
            </a:pPr>
            <a:endParaRPr lang="fr-CA"/>
          </a:p>
        </p:txBody>
      </p:sp>
      <p:sp>
        <p:nvSpPr>
          <p:cNvPr id="11271" name="Rectangle 7"/>
          <p:cNvSpPr>
            <a:spLocks noGrp="1" noChangeArrowheads="1"/>
          </p:cNvSpPr>
          <p:nvPr>
            <p:ph type="sldNum" sz="quarter" idx="5"/>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lstStyle>
            <a:lvl1pPr algn="r" defTabSz="932180">
              <a:defRPr sz="1200">
                <a:latin typeface="Arial" panose="020B0604020202020204" pitchFamily="34" charset="0"/>
                <a:ea typeface="+mn-ea"/>
              </a:defRPr>
            </a:lvl1pPr>
          </a:lstStyle>
          <a:p>
            <a:pPr>
              <a:defRPr/>
            </a:pPr>
            <a:fld id="{4824BCD5-7DB3-4570-95FB-D6BD68920CD5}" type="slidenum">
              <a:rPr lang="fr-CA"/>
              <a:t>‹#›</a:t>
            </a:fld>
            <a:endParaRPr lang="fr-CA"/>
          </a:p>
        </p:txBody>
      </p:sp>
    </p:spTree>
    <p:extLst>
      <p:ext uri="{BB962C8B-B14F-4D97-AF65-F5344CB8AC3E}">
        <p14:creationId xmlns:p14="http://schemas.microsoft.com/office/powerpoint/2010/main" val="40027240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a:t>
            </a:fld>
            <a:endParaRPr lang="fr-CA"/>
          </a:p>
        </p:txBody>
      </p:sp>
    </p:spTree>
    <p:extLst>
      <p:ext uri="{BB962C8B-B14F-4D97-AF65-F5344CB8AC3E}">
        <p14:creationId xmlns:p14="http://schemas.microsoft.com/office/powerpoint/2010/main" val="3433891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2</a:t>
            </a:fld>
            <a:endParaRPr lang="fr-CA"/>
          </a:p>
        </p:txBody>
      </p:sp>
    </p:spTree>
    <p:extLst>
      <p:ext uri="{BB962C8B-B14F-4D97-AF65-F5344CB8AC3E}">
        <p14:creationId xmlns:p14="http://schemas.microsoft.com/office/powerpoint/2010/main" val="186780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3</a:t>
            </a:fld>
            <a:endParaRPr lang="fr-CA"/>
          </a:p>
        </p:txBody>
      </p:sp>
    </p:spTree>
    <p:extLst>
      <p:ext uri="{BB962C8B-B14F-4D97-AF65-F5344CB8AC3E}">
        <p14:creationId xmlns:p14="http://schemas.microsoft.com/office/powerpoint/2010/main" val="2289514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4</a:t>
            </a:fld>
            <a:endParaRPr lang="fr-CA"/>
          </a:p>
        </p:txBody>
      </p:sp>
    </p:spTree>
    <p:extLst>
      <p:ext uri="{BB962C8B-B14F-4D97-AF65-F5344CB8AC3E}">
        <p14:creationId xmlns:p14="http://schemas.microsoft.com/office/powerpoint/2010/main" val="1959475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5</a:t>
            </a:fld>
            <a:endParaRPr lang="fr-CA"/>
          </a:p>
        </p:txBody>
      </p:sp>
    </p:spTree>
    <p:extLst>
      <p:ext uri="{BB962C8B-B14F-4D97-AF65-F5344CB8AC3E}">
        <p14:creationId xmlns:p14="http://schemas.microsoft.com/office/powerpoint/2010/main" val="2902236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6</a:t>
            </a:fld>
            <a:endParaRPr lang="fr-CA"/>
          </a:p>
        </p:txBody>
      </p:sp>
    </p:spTree>
    <p:extLst>
      <p:ext uri="{BB962C8B-B14F-4D97-AF65-F5344CB8AC3E}">
        <p14:creationId xmlns:p14="http://schemas.microsoft.com/office/powerpoint/2010/main" val="141541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7</a:t>
            </a:fld>
            <a:endParaRPr lang="fr-CA"/>
          </a:p>
        </p:txBody>
      </p:sp>
    </p:spTree>
    <p:extLst>
      <p:ext uri="{BB962C8B-B14F-4D97-AF65-F5344CB8AC3E}">
        <p14:creationId xmlns:p14="http://schemas.microsoft.com/office/powerpoint/2010/main" val="1045354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8</a:t>
            </a:fld>
            <a:endParaRPr lang="fr-CA"/>
          </a:p>
        </p:txBody>
      </p:sp>
    </p:spTree>
    <p:extLst>
      <p:ext uri="{BB962C8B-B14F-4D97-AF65-F5344CB8AC3E}">
        <p14:creationId xmlns:p14="http://schemas.microsoft.com/office/powerpoint/2010/main" val="2392699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9</a:t>
            </a:fld>
            <a:endParaRPr lang="fr-CA"/>
          </a:p>
        </p:txBody>
      </p:sp>
    </p:spTree>
    <p:extLst>
      <p:ext uri="{BB962C8B-B14F-4D97-AF65-F5344CB8AC3E}">
        <p14:creationId xmlns:p14="http://schemas.microsoft.com/office/powerpoint/2010/main" val="201457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10</a:t>
            </a:fld>
            <a:endParaRPr lang="fr-CA"/>
          </a:p>
        </p:txBody>
      </p:sp>
    </p:spTree>
    <p:extLst>
      <p:ext uri="{BB962C8B-B14F-4D97-AF65-F5344CB8AC3E}">
        <p14:creationId xmlns:p14="http://schemas.microsoft.com/office/powerpoint/2010/main" val="727330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11</a:t>
            </a:fld>
            <a:endParaRPr lang="fr-CA"/>
          </a:p>
        </p:txBody>
      </p:sp>
    </p:spTree>
    <p:extLst>
      <p:ext uri="{BB962C8B-B14F-4D97-AF65-F5344CB8AC3E}">
        <p14:creationId xmlns:p14="http://schemas.microsoft.com/office/powerpoint/2010/main" val="679260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12</a:t>
            </a:fld>
            <a:endParaRPr lang="fr-CA"/>
          </a:p>
        </p:txBody>
      </p:sp>
    </p:spTree>
    <p:extLst>
      <p:ext uri="{BB962C8B-B14F-4D97-AF65-F5344CB8AC3E}">
        <p14:creationId xmlns:p14="http://schemas.microsoft.com/office/powerpoint/2010/main" val="1017722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13</a:t>
            </a:fld>
            <a:endParaRPr lang="fr-CA"/>
          </a:p>
        </p:txBody>
      </p:sp>
    </p:spTree>
    <p:extLst>
      <p:ext uri="{BB962C8B-B14F-4D97-AF65-F5344CB8AC3E}">
        <p14:creationId xmlns:p14="http://schemas.microsoft.com/office/powerpoint/2010/main" val="738497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14</a:t>
            </a:fld>
            <a:endParaRPr lang="fr-CA"/>
          </a:p>
        </p:txBody>
      </p:sp>
    </p:spTree>
    <p:extLst>
      <p:ext uri="{BB962C8B-B14F-4D97-AF65-F5344CB8AC3E}">
        <p14:creationId xmlns:p14="http://schemas.microsoft.com/office/powerpoint/2010/main" val="1039868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15</a:t>
            </a:fld>
            <a:endParaRPr lang="fr-CA"/>
          </a:p>
        </p:txBody>
      </p:sp>
    </p:spTree>
    <p:extLst>
      <p:ext uri="{BB962C8B-B14F-4D97-AF65-F5344CB8AC3E}">
        <p14:creationId xmlns:p14="http://schemas.microsoft.com/office/powerpoint/2010/main" val="2792121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16</a:t>
            </a:fld>
            <a:endParaRPr lang="fr-CA"/>
          </a:p>
        </p:txBody>
      </p:sp>
    </p:spTree>
    <p:extLst>
      <p:ext uri="{BB962C8B-B14F-4D97-AF65-F5344CB8AC3E}">
        <p14:creationId xmlns:p14="http://schemas.microsoft.com/office/powerpoint/2010/main" val="4040286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17</a:t>
            </a:fld>
            <a:endParaRPr lang="fr-CA"/>
          </a:p>
        </p:txBody>
      </p:sp>
    </p:spTree>
    <p:extLst>
      <p:ext uri="{BB962C8B-B14F-4D97-AF65-F5344CB8AC3E}">
        <p14:creationId xmlns:p14="http://schemas.microsoft.com/office/powerpoint/2010/main" val="3530245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18</a:t>
            </a:fld>
            <a:endParaRPr lang="fr-CA"/>
          </a:p>
        </p:txBody>
      </p:sp>
    </p:spTree>
    <p:extLst>
      <p:ext uri="{BB962C8B-B14F-4D97-AF65-F5344CB8AC3E}">
        <p14:creationId xmlns:p14="http://schemas.microsoft.com/office/powerpoint/2010/main" val="3098319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19</a:t>
            </a:fld>
            <a:endParaRPr lang="fr-CA"/>
          </a:p>
        </p:txBody>
      </p:sp>
    </p:spTree>
    <p:extLst>
      <p:ext uri="{BB962C8B-B14F-4D97-AF65-F5344CB8AC3E}">
        <p14:creationId xmlns:p14="http://schemas.microsoft.com/office/powerpoint/2010/main" val="2861326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20</a:t>
            </a:fld>
            <a:endParaRPr lang="fr-CA"/>
          </a:p>
        </p:txBody>
      </p:sp>
    </p:spTree>
    <p:extLst>
      <p:ext uri="{BB962C8B-B14F-4D97-AF65-F5344CB8AC3E}">
        <p14:creationId xmlns:p14="http://schemas.microsoft.com/office/powerpoint/2010/main" val="2941458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21</a:t>
            </a:fld>
            <a:endParaRPr lang="fr-CA"/>
          </a:p>
        </p:txBody>
      </p:sp>
    </p:spTree>
    <p:extLst>
      <p:ext uri="{BB962C8B-B14F-4D97-AF65-F5344CB8AC3E}">
        <p14:creationId xmlns:p14="http://schemas.microsoft.com/office/powerpoint/2010/main" val="1847734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22</a:t>
            </a:fld>
            <a:endParaRPr lang="fr-CA"/>
          </a:p>
        </p:txBody>
      </p:sp>
    </p:spTree>
    <p:extLst>
      <p:ext uri="{BB962C8B-B14F-4D97-AF65-F5344CB8AC3E}">
        <p14:creationId xmlns:p14="http://schemas.microsoft.com/office/powerpoint/2010/main" val="41206306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Rectangle 3"/>
          <p:cNvSpPr/>
          <p:nvPr userDrawn="1"/>
        </p:nvSpPr>
        <p:spPr>
          <a:xfrm>
            <a:off x="0" y="115888"/>
            <a:ext cx="9715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5" name="Rectangle 4"/>
          <p:cNvSpPr/>
          <p:nvPr userDrawn="1"/>
        </p:nvSpPr>
        <p:spPr>
          <a:xfrm>
            <a:off x="0" y="6237288"/>
            <a:ext cx="6876256" cy="620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6" name="Rectangle 5"/>
          <p:cNvSpPr/>
          <p:nvPr userDrawn="1"/>
        </p:nvSpPr>
        <p:spPr>
          <a:xfrm>
            <a:off x="0" y="549275"/>
            <a:ext cx="9144000" cy="620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23554" name="Rectangle 3"/>
          <p:cNvSpPr>
            <a:spLocks noGrp="1" noChangeArrowheads="1"/>
          </p:cNvSpPr>
          <p:nvPr>
            <p:ph type="ctrTitle" hasCustomPrompt="1"/>
          </p:nvPr>
        </p:nvSpPr>
        <p:spPr>
          <a:xfrm>
            <a:off x="1331640" y="1916832"/>
            <a:ext cx="6048672" cy="1519808"/>
          </a:xfrm>
        </p:spPr>
        <p:txBody>
          <a:bodyPr/>
          <a:lstStyle>
            <a:lvl1pPr algn="r">
              <a:defRPr sz="4000">
                <a:solidFill>
                  <a:srgbClr val="E2001A"/>
                </a:solidFill>
                <a:latin typeface="Calibri" panose="020F0502020204030204" pitchFamily="34" charset="0"/>
                <a:cs typeface="Calibri" panose="020F0502020204030204" pitchFamily="34" charset="0"/>
              </a:defRPr>
            </a:lvl1pPr>
          </a:lstStyle>
          <a:p>
            <a:pPr lvl="0"/>
            <a:r>
              <a:rPr lang="fr-CA" noProof="0" dirty="0"/>
              <a:t>Cliquez et modifiez le titre</a:t>
            </a:r>
          </a:p>
        </p:txBody>
      </p:sp>
      <p:sp>
        <p:nvSpPr>
          <p:cNvPr id="23555" name="Rectangle 4"/>
          <p:cNvSpPr>
            <a:spLocks noGrp="1" noChangeArrowheads="1"/>
          </p:cNvSpPr>
          <p:nvPr>
            <p:ph type="subTitle" idx="1" hasCustomPrompt="1"/>
          </p:nvPr>
        </p:nvSpPr>
        <p:spPr>
          <a:xfrm>
            <a:off x="2411760" y="3518712"/>
            <a:ext cx="6480720" cy="1278440"/>
          </a:xfrm>
        </p:spPr>
        <p:txBody>
          <a:bodyPr/>
          <a:lstStyle>
            <a:lvl1pPr marL="0" indent="0" algn="r">
              <a:buFontTx/>
              <a:buNone/>
              <a:defRPr sz="2600" i="1">
                <a:solidFill>
                  <a:schemeClr val="tx1"/>
                </a:solidFill>
                <a:latin typeface="Calibri" panose="020F0502020204030204" pitchFamily="34" charset="0"/>
                <a:cs typeface="Calibri" panose="020F0502020204030204" pitchFamily="34" charset="0"/>
              </a:defRPr>
            </a:lvl1pPr>
          </a:lstStyle>
          <a:p>
            <a:pPr lvl="0"/>
            <a:r>
              <a:rPr lang="fr-CA" noProof="0" dirty="0"/>
              <a:t>Cliquez pour modifier le style des sous-titres du masque</a:t>
            </a:r>
          </a:p>
        </p:txBody>
      </p:sp>
      <p:cxnSp>
        <p:nvCxnSpPr>
          <p:cNvPr id="19" name="Connecteur en angle 18"/>
          <p:cNvCxnSpPr/>
          <p:nvPr userDrawn="1"/>
        </p:nvCxnSpPr>
        <p:spPr>
          <a:xfrm>
            <a:off x="211138" y="1484784"/>
            <a:ext cx="8681342" cy="38698"/>
          </a:xfrm>
          <a:prstGeom prst="bentConnector3">
            <a:avLst/>
          </a:prstGeom>
        </p:spPr>
        <p:style>
          <a:lnRef idx="2">
            <a:schemeClr val="dk1"/>
          </a:lnRef>
          <a:fillRef idx="0">
            <a:schemeClr val="dk1"/>
          </a:fillRef>
          <a:effectRef idx="1">
            <a:schemeClr val="dk1"/>
          </a:effectRef>
          <a:fontRef idx="minor">
            <a:schemeClr val="tx1"/>
          </a:fontRef>
        </p:style>
      </p:cxnSp>
      <p:cxnSp>
        <p:nvCxnSpPr>
          <p:cNvPr id="24" name="Connecteur en angle 23"/>
          <p:cNvCxnSpPr/>
          <p:nvPr userDrawn="1"/>
        </p:nvCxnSpPr>
        <p:spPr>
          <a:xfrm flipV="1">
            <a:off x="210443" y="1440160"/>
            <a:ext cx="8682037" cy="123178"/>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7" name="Arrondir un rectangle avec un coin diagonal 26"/>
          <p:cNvSpPr/>
          <p:nvPr userDrawn="1"/>
        </p:nvSpPr>
        <p:spPr>
          <a:xfrm>
            <a:off x="35496" y="4899724"/>
            <a:ext cx="3960440" cy="292606"/>
          </a:xfrm>
          <a:prstGeom prst="round2Diag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56" y="5515793"/>
            <a:ext cx="452965" cy="145455"/>
          </a:xfrm>
          <a:prstGeom prst="rect">
            <a:avLst/>
          </a:prstGeom>
          <a:noFill/>
          <a:ln w="9525">
            <a:noFill/>
            <a:miter lim="800000"/>
            <a:headEnd/>
            <a:tailEnd/>
          </a:ln>
        </p:spPr>
      </p:pic>
      <p:sp>
        <p:nvSpPr>
          <p:cNvPr id="29" name="ZoneTexte 28"/>
          <p:cNvSpPr txBox="1"/>
          <p:nvPr userDrawn="1"/>
        </p:nvSpPr>
        <p:spPr>
          <a:xfrm>
            <a:off x="35496" y="4859868"/>
            <a:ext cx="3960440" cy="338554"/>
          </a:xfrm>
          <a:prstGeom prst="rect">
            <a:avLst/>
          </a:prstGeom>
          <a:noFill/>
        </p:spPr>
        <p:txBody>
          <a:bodyPr wrap="square" rtlCol="0">
            <a:spAutoFit/>
          </a:bodyPr>
          <a:lstStyle/>
          <a:p>
            <a:r>
              <a:rPr lang="fr-FR" sz="1600" b="1" i="1" dirty="0">
                <a:solidFill>
                  <a:schemeClr val="bg1"/>
                </a:solidFill>
                <a:latin typeface="Arial Narrow" panose="020B0606020202030204" pitchFamily="34" charset="0"/>
                <a:cs typeface="Times New Roman" panose="02020603050405020304" pitchFamily="18" charset="0"/>
              </a:rPr>
              <a:t>La Force de l’Engagement et de l’Expertise</a:t>
            </a:r>
          </a:p>
        </p:txBody>
      </p:sp>
      <p:pic>
        <p:nvPicPr>
          <p:cNvPr id="21"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5877272"/>
            <a:ext cx="452965" cy="145455"/>
          </a:xfrm>
          <a:prstGeom prst="rect">
            <a:avLst/>
          </a:prstGeom>
          <a:noFill/>
          <a:ln w="9525">
            <a:noFill/>
            <a:miter lim="800000"/>
            <a:headEnd/>
            <a:tailEnd/>
          </a:ln>
        </p:spPr>
      </p:pic>
      <p:pic>
        <p:nvPicPr>
          <p:cNvPr id="22"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6235873"/>
            <a:ext cx="452965" cy="145455"/>
          </a:xfrm>
          <a:prstGeom prst="rect">
            <a:avLst/>
          </a:prstGeom>
          <a:noFill/>
          <a:ln w="9525">
            <a:noFill/>
            <a:miter lim="800000"/>
            <a:headEnd/>
            <a:tailEnd/>
          </a:ln>
        </p:spPr>
      </p:pic>
      <p:pic>
        <p:nvPicPr>
          <p:cNvPr id="23"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6595913"/>
            <a:ext cx="452965" cy="145455"/>
          </a:xfrm>
          <a:prstGeom prst="rect">
            <a:avLst/>
          </a:prstGeom>
          <a:noFill/>
          <a:ln w="9525">
            <a:noFill/>
            <a:miter lim="800000"/>
            <a:headEnd/>
            <a:tailEnd/>
          </a:ln>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
        <p:nvSpPr>
          <p:cNvPr id="3" name="Espace réservé du contenu 2"/>
          <p:cNvSpPr>
            <a:spLocks noGrp="1"/>
          </p:cNvSpPr>
          <p:nvPr>
            <p:ph idx="1" hasCustomPrompt="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pic>
        <p:nvPicPr>
          <p:cNvPr id="4" name="Image 3"/>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1115616" y="2204864"/>
            <a:ext cx="7128792" cy="3816424"/>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hasCustomPrompt="1"/>
          </p:nvPr>
        </p:nvSpPr>
        <p:spPr>
          <a:xfrm>
            <a:off x="679450"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4" name="Espace réservé du contenu 3"/>
          <p:cNvSpPr>
            <a:spLocks noGrp="1"/>
          </p:cNvSpPr>
          <p:nvPr>
            <p:ph sz="half" idx="2" hasCustomPrompt="1"/>
          </p:nvPr>
        </p:nvSpPr>
        <p:spPr>
          <a:xfrm>
            <a:off x="4759325"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CA" noProof="0"/>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32588" y="-100013"/>
            <a:ext cx="2016125" cy="5976938"/>
          </a:xfrm>
        </p:spPr>
        <p:txBody>
          <a:bodyPr vert="eaVert"/>
          <a:lstStyle/>
          <a:p>
            <a:r>
              <a:rPr lang="fr-FR"/>
              <a:t>Modifiez le style du titre</a:t>
            </a:r>
            <a:endParaRPr lang="fr-CA"/>
          </a:p>
        </p:txBody>
      </p:sp>
      <p:sp>
        <p:nvSpPr>
          <p:cNvPr id="3" name="Espace réservé du texte vertical 2"/>
          <p:cNvSpPr>
            <a:spLocks noGrp="1"/>
          </p:cNvSpPr>
          <p:nvPr>
            <p:ph type="body" orient="vert" idx="1" hasCustomPrompt="1"/>
          </p:nvPr>
        </p:nvSpPr>
        <p:spPr>
          <a:xfrm>
            <a:off x="679450" y="-100013"/>
            <a:ext cx="5900738" cy="59769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bwMode="auto">
          <a:xfrm>
            <a:off x="684213" y="-188913"/>
            <a:ext cx="8208962" cy="1143001"/>
          </a:xfrm>
          <a:prstGeom prst="rect">
            <a:avLst/>
          </a:prstGeom>
          <a:noFill/>
          <a:ln>
            <a:noFill/>
          </a:ln>
        </p:spPr>
        <p:txBody>
          <a:bodyPr vert="horz" wrap="square" lIns="91440" tIns="45720" rIns="91440" bIns="45720" numCol="1" anchor="ctr" anchorCtr="0" compatLnSpc="1"/>
          <a:lstStyle/>
          <a:p>
            <a:pPr lvl="0"/>
            <a:r>
              <a:rPr lang="fr-CA" dirty="0"/>
              <a:t>Cliquez et modifiez le titre</a:t>
            </a:r>
          </a:p>
        </p:txBody>
      </p:sp>
      <p:sp>
        <p:nvSpPr>
          <p:cNvPr id="1027" name="Rectangle 4"/>
          <p:cNvSpPr>
            <a:spLocks noGrp="1" noChangeArrowheads="1"/>
          </p:cNvSpPr>
          <p:nvPr>
            <p:ph type="body" idx="1"/>
          </p:nvPr>
        </p:nvSpPr>
        <p:spPr bwMode="auto">
          <a:xfrm>
            <a:off x="679449" y="1125538"/>
            <a:ext cx="8213725" cy="4751387"/>
          </a:xfrm>
          <a:prstGeom prst="rect">
            <a:avLst/>
          </a:prstGeom>
          <a:noFill/>
          <a:ln w="9525">
            <a:noFill/>
            <a:miter lim="800000"/>
          </a:ln>
        </p:spPr>
        <p:txBody>
          <a:bodyPr vert="horz" wrap="square" lIns="91440" tIns="45720" rIns="91440" bIns="45720" numCol="1" anchor="t" anchorCtr="0" compatLnSpc="1"/>
          <a:lstStyle/>
          <a:p>
            <a:pPr lvl="0"/>
            <a:r>
              <a:rPr lang="fr-CA" dirty="0"/>
              <a:t>Cliquez pour modifier les styles du texte du masque</a:t>
            </a:r>
          </a:p>
          <a:p>
            <a:pPr lvl="1"/>
            <a:r>
              <a:rPr lang="fr-CA" dirty="0"/>
              <a:t>Deuxième niveau</a:t>
            </a:r>
          </a:p>
          <a:p>
            <a:pPr lvl="2"/>
            <a:r>
              <a:rPr lang="fr-CA" dirty="0"/>
              <a:t> Troisième niveau</a:t>
            </a:r>
          </a:p>
          <a:p>
            <a:pPr lvl="3"/>
            <a:r>
              <a:rPr lang="fr-CA" dirty="0"/>
              <a:t>Quatrième niveau</a:t>
            </a:r>
          </a:p>
          <a:p>
            <a:pPr lvl="4"/>
            <a:r>
              <a:rPr lang="fr-CA" dirty="0"/>
              <a:t>Cinquième niveau</a:t>
            </a:r>
          </a:p>
        </p:txBody>
      </p:sp>
      <p:cxnSp>
        <p:nvCxnSpPr>
          <p:cNvPr id="10" name="Connecteur en angle 9"/>
          <p:cNvCxnSpPr/>
          <p:nvPr userDrawn="1"/>
        </p:nvCxnSpPr>
        <p:spPr>
          <a:xfrm flipV="1">
            <a:off x="679450" y="764704"/>
            <a:ext cx="8213725" cy="72008"/>
          </a:xfrm>
          <a:prstGeom prst="bentConnector3">
            <a:avLst/>
          </a:prstGeom>
        </p:spPr>
        <p:style>
          <a:lnRef idx="2">
            <a:schemeClr val="dk1"/>
          </a:lnRef>
          <a:fillRef idx="0">
            <a:schemeClr val="dk1"/>
          </a:fillRef>
          <a:effectRef idx="1">
            <a:schemeClr val="dk1"/>
          </a:effectRef>
          <a:fontRef idx="minor">
            <a:schemeClr val="tx1"/>
          </a:fontRef>
        </p:style>
      </p:cxnSp>
      <p:cxnSp>
        <p:nvCxnSpPr>
          <p:cNvPr id="11" name="Connecteur en angle 10"/>
          <p:cNvCxnSpPr/>
          <p:nvPr userDrawn="1"/>
        </p:nvCxnSpPr>
        <p:spPr>
          <a:xfrm flipV="1">
            <a:off x="679450" y="686150"/>
            <a:ext cx="8213725" cy="78554"/>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3" name="Rectangle 2"/>
          <p:cNvSpPr/>
          <p:nvPr userDrawn="1"/>
        </p:nvSpPr>
        <p:spPr>
          <a:xfrm>
            <a:off x="0" y="296962"/>
            <a:ext cx="679450" cy="39573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ü"/>
        <a:defRPr sz="2400">
          <a:solidFill>
            <a:srgbClr val="001523"/>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ü"/>
        <a:defRPr sz="2000">
          <a:solidFill>
            <a:srgbClr val="001523"/>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ZoneTexte 1"/>
          <p:cNvSpPr txBox="1"/>
          <p:nvPr/>
        </p:nvSpPr>
        <p:spPr>
          <a:xfrm>
            <a:off x="0" y="5517232"/>
            <a:ext cx="683568" cy="971277"/>
          </a:xfrm>
          <a:prstGeom prst="rect">
            <a:avLst/>
          </a:prstGeom>
          <a:solidFill>
            <a:schemeClr val="bg1"/>
          </a:solidFill>
        </p:spPr>
        <p:txBody>
          <a:bodyPr wrap="square" rtlCol="0">
            <a:spAutoFit/>
          </a:bodyPr>
          <a:lstStyle/>
          <a:p>
            <a:endParaRPr lang="fr-CI" noProof="0" dirty="0"/>
          </a:p>
        </p:txBody>
      </p:sp>
      <p:pic>
        <p:nvPicPr>
          <p:cNvPr id="6" name="Image 5" descr="C:/Users/hjpdj/Downloads/osisg_sa (1).pngosisg_sa (1)"/>
          <p:cNvPicPr>
            <a:picLocks noChangeAspect="1"/>
          </p:cNvPicPr>
          <p:nvPr/>
        </p:nvPicPr>
        <p:blipFill>
          <a:blip r:embed="rId4"/>
          <a:srcRect t="1222" b="1222"/>
          <a:stretch>
            <a:fillRect/>
          </a:stretch>
        </p:blipFill>
        <p:spPr>
          <a:xfrm>
            <a:off x="3203848" y="112812"/>
            <a:ext cx="2743583" cy="1299964"/>
          </a:xfrm>
          <a:prstGeom prst="rect">
            <a:avLst/>
          </a:prstGeom>
        </p:spPr>
      </p:pic>
      <p:pic>
        <p:nvPicPr>
          <p:cNvPr id="7" name="Image 6"/>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9" name="Titre 8"/>
          <p:cNvSpPr>
            <a:spLocks noGrp="1"/>
          </p:cNvSpPr>
          <p:nvPr>
            <p:ph type="ctrTitle"/>
          </p:nvPr>
        </p:nvSpPr>
        <p:spPr>
          <a:xfrm>
            <a:off x="971600" y="1988840"/>
            <a:ext cx="6984776" cy="2448272"/>
          </a:xfrm>
        </p:spPr>
        <p:txBody>
          <a:bodyPr/>
          <a:lstStyle/>
          <a:p>
            <a:pPr algn="ctr"/>
            <a:r>
              <a:rPr lang="en-US" dirty="0" smtClean="0">
                <a:latin typeface="Times New Roman" panose="02020603050405020304" pitchFamily="18" charset="0"/>
                <a:cs typeface="Times New Roman" panose="02020603050405020304" pitchFamily="18" charset="0"/>
              </a:rPr>
              <a:t>PRESENTATION WEB</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OUTILS, FRAMEWORK UI ET WEB TEMPLATING </a:t>
            </a:r>
            <a:endParaRPr lang="fr-FR" dirty="0">
              <a:latin typeface="Times New Roman" panose="02020603050405020304" pitchFamily="18" charset="0"/>
              <a:cs typeface="Times New Roman" panose="02020603050405020304" pitchFamily="18" charset="0"/>
            </a:endParaRPr>
          </a:p>
        </p:txBody>
      </p:sp>
      <p:sp>
        <p:nvSpPr>
          <p:cNvPr id="3" name="ZoneTexte 2"/>
          <p:cNvSpPr txBox="1"/>
          <p:nvPr/>
        </p:nvSpPr>
        <p:spPr>
          <a:xfrm>
            <a:off x="4860032" y="5157192"/>
            <a:ext cx="3096344" cy="923330"/>
          </a:xfrm>
          <a:prstGeom prst="rect">
            <a:avLst/>
          </a:prstGeom>
          <a:noFill/>
        </p:spPr>
        <p:txBody>
          <a:bodyPr wrap="square" rtlCol="0">
            <a:spAutoFit/>
          </a:bodyPr>
          <a:lstStyle/>
          <a:p>
            <a:r>
              <a:rPr lang="fr-FR" dirty="0" smtClean="0"/>
              <a:t>Présenté par:</a:t>
            </a:r>
          </a:p>
          <a:p>
            <a:r>
              <a:rPr lang="fr-FR" dirty="0" smtClean="0"/>
              <a:t>KORA AMON </a:t>
            </a:r>
          </a:p>
          <a:p>
            <a:r>
              <a:rPr lang="fr-FR" dirty="0" smtClean="0"/>
              <a:t>SAVADOGO IBRAHIM</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noProof="0" dirty="0" smtClean="0">
                <a:solidFill>
                  <a:srgbClr val="FF0000"/>
                </a:solidFill>
              </a:rPr>
              <a:t>SOMMAIRE</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39552" y="1124744"/>
            <a:ext cx="8064896" cy="5078313"/>
          </a:xfrm>
          <a:prstGeom prst="rect">
            <a:avLst/>
          </a:prstGeom>
          <a:noFill/>
        </p:spPr>
        <p:txBody>
          <a:bodyPr wrap="square" rtlCol="0">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INTRODUCTION </a:t>
            </a:r>
          </a:p>
          <a:p>
            <a:pPr algn="just">
              <a:lnSpc>
                <a:spcPct val="150000"/>
              </a:lnSpc>
            </a:pPr>
            <a:endParaRPr lang="en-US" b="1" dirty="0" smtClean="0">
              <a:latin typeface="Times New Roman" panose="02020603050405020304" pitchFamily="18" charset="0"/>
              <a:cs typeface="Times New Roman" panose="02020603050405020304" pitchFamily="18" charset="0"/>
            </a:endParaRPr>
          </a:p>
          <a:p>
            <a:pPr marL="400050" indent="-400050" algn="just">
              <a:lnSpc>
                <a:spcPct val="150000"/>
              </a:lnSpc>
              <a:buFont typeface="+mj-lt"/>
              <a:buAutoNum type="romanUcPeriod"/>
            </a:pPr>
            <a:r>
              <a:rPr lang="en-US" b="1" dirty="0" smtClean="0">
                <a:latin typeface="Times New Roman" panose="02020603050405020304" pitchFamily="18" charset="0"/>
                <a:cs typeface="Times New Roman" panose="02020603050405020304" pitchFamily="18" charset="0"/>
              </a:rPr>
              <a:t>GENERALITES SUR LES OUTILS ET FRAMEWORK DE PRESENATATION (UI)</a:t>
            </a:r>
          </a:p>
          <a:p>
            <a:pPr marL="400050" indent="-400050" algn="just">
              <a:lnSpc>
                <a:spcPct val="150000"/>
              </a:lnSpc>
              <a:buFont typeface="+mj-lt"/>
              <a:buAutoNum type="romanUcPeriod"/>
            </a:pPr>
            <a:endParaRPr lang="en-US" b="1" dirty="0" smtClean="0">
              <a:latin typeface="Times New Roman" panose="02020603050405020304" pitchFamily="18" charset="0"/>
              <a:cs typeface="Times New Roman" panose="02020603050405020304" pitchFamily="18" charset="0"/>
            </a:endParaRPr>
          </a:p>
          <a:p>
            <a:pPr marL="400050" indent="-400050" algn="just">
              <a:lnSpc>
                <a:spcPct val="150000"/>
              </a:lnSpc>
              <a:buFont typeface="+mj-lt"/>
              <a:buAutoNum type="romanUcPeriod"/>
            </a:pPr>
            <a:r>
              <a:rPr lang="en-US" b="1" dirty="0" smtClean="0">
                <a:latin typeface="Times New Roman" panose="02020603050405020304" pitchFamily="18" charset="0"/>
                <a:cs typeface="Times New Roman" panose="02020603050405020304" pitchFamily="18" charset="0"/>
              </a:rPr>
              <a:t>CLIENT-SIDE VS SERVER-SIDE RENDERING </a:t>
            </a:r>
          </a:p>
          <a:p>
            <a:pPr marL="400050" indent="-400050" algn="just">
              <a:lnSpc>
                <a:spcPct val="150000"/>
              </a:lnSpc>
              <a:buFont typeface="+mj-lt"/>
              <a:buAutoNum type="romanUcPeriod"/>
            </a:pPr>
            <a:endParaRPr lang="en-US" b="1" dirty="0" smtClean="0">
              <a:latin typeface="Times New Roman" panose="02020603050405020304" pitchFamily="18" charset="0"/>
              <a:cs typeface="Times New Roman" panose="02020603050405020304" pitchFamily="18" charset="0"/>
            </a:endParaRPr>
          </a:p>
          <a:p>
            <a:pPr marL="400050" indent="-400050" algn="just">
              <a:lnSpc>
                <a:spcPct val="150000"/>
              </a:lnSpc>
              <a:buFont typeface="+mj-lt"/>
              <a:buAutoNum type="romanUcPeriod"/>
            </a:pPr>
            <a:r>
              <a:rPr lang="en-US" b="1" dirty="0" smtClean="0">
                <a:latin typeface="Times New Roman" panose="02020603050405020304" pitchFamily="18" charset="0"/>
                <a:cs typeface="Times New Roman" panose="02020603050405020304" pitchFamily="18" charset="0"/>
              </a:rPr>
              <a:t>INITIATION AUX OUTILS DE WEB TEMPLATING </a:t>
            </a:r>
          </a:p>
          <a:p>
            <a:pPr marL="400050" indent="-400050" algn="just">
              <a:lnSpc>
                <a:spcPct val="150000"/>
              </a:lnSpc>
              <a:buFont typeface="+mj-lt"/>
              <a:buAutoNum type="romanUcPeriod"/>
            </a:pPr>
            <a:endParaRPr lang="en-US" b="1" dirty="0" smtClean="0">
              <a:latin typeface="Times New Roman" panose="02020603050405020304" pitchFamily="18" charset="0"/>
              <a:cs typeface="Times New Roman" panose="02020603050405020304" pitchFamily="18" charset="0"/>
            </a:endParaRPr>
          </a:p>
          <a:p>
            <a:pPr marL="400050" indent="-400050" algn="just">
              <a:lnSpc>
                <a:spcPct val="150000"/>
              </a:lnSpc>
              <a:buFont typeface="+mj-lt"/>
              <a:buAutoNum type="romanUcPeriod"/>
            </a:pPr>
            <a:r>
              <a:rPr lang="en-US" b="1" dirty="0" smtClean="0">
                <a:latin typeface="Times New Roman" panose="02020603050405020304" pitchFamily="18" charset="0"/>
                <a:cs typeface="Times New Roman" panose="02020603050405020304" pitchFamily="18" charset="0"/>
              </a:rPr>
              <a:t>PAGE DE PRESENTATION UTILISANT LES TECHNOS</a:t>
            </a:r>
          </a:p>
          <a:p>
            <a:pPr algn="just">
              <a:lnSpc>
                <a:spcPct val="150000"/>
              </a:lnSpc>
            </a:pPr>
            <a:endParaRPr lang="en-US" b="1" dirty="0" smtClean="0">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9024109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dirty="0">
                <a:solidFill>
                  <a:srgbClr val="FF0000"/>
                </a:solidFill>
                <a:effectLst/>
              </a:rPr>
              <a:t>INTRODUCTION</a:t>
            </a:r>
            <a:endParaRPr lang="en-US" sz="2400" dirty="0">
              <a:solidFill>
                <a:srgbClr val="FF0000"/>
              </a:solidFill>
              <a:effectLst/>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
          <p:cNvSpPr>
            <a:spLocks noChangeArrowheads="1"/>
          </p:cNvSpPr>
          <p:nvPr/>
        </p:nvSpPr>
        <p:spPr bwMode="auto">
          <a:xfrm>
            <a:off x="467544" y="1116469"/>
            <a:ext cx="83529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Dans le développement web moderne, l'interface utilisateur (UI) joue un rôle essentiel dans l'expérience offerte aux utilisateurs.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Pour concevoir des applications web performantes et interactives, les développeurs s'appuient sur différents outils, frameworks et technologies permettant de générer et d'afficher les pages web de manière efficace.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Cette présentation introduit les concepts fondamentaux des outils et frameworks de présentation (UI), les différences entre le rendu côté client (Client-Side Rendering) et le rendu côté serveur (Server-Side Rendering), ainsi que les principes du web templating. </a:t>
            </a:r>
          </a:p>
        </p:txBody>
      </p:sp>
    </p:spTree>
    <p:extLst>
      <p:ext uri="{BB962C8B-B14F-4D97-AF65-F5344CB8AC3E}">
        <p14:creationId xmlns:p14="http://schemas.microsoft.com/office/powerpoint/2010/main" val="1339669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2" y="99119"/>
            <a:ext cx="9072363" cy="665585"/>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95536" y="1351870"/>
            <a:ext cx="1762021" cy="369332"/>
          </a:xfrm>
          <a:prstGeom prst="rect">
            <a:avLst/>
          </a:prstGeom>
        </p:spPr>
        <p:txBody>
          <a:bodyPr wrap="none">
            <a:spAutoFit/>
          </a:bodyPr>
          <a:lstStyle/>
          <a:p>
            <a:pPr algn="just"/>
            <a:r>
              <a:rPr lang="fr-CI" b="1" dirty="0">
                <a:solidFill>
                  <a:srgbClr val="1F4E79"/>
                </a:solidFill>
                <a:latin typeface="Times New Roman" panose="02020603050405020304" pitchFamily="18" charset="0"/>
                <a:ea typeface="Arial" panose="020B0604020202020204" pitchFamily="34" charset="0"/>
                <a:cs typeface="Times New Roman" panose="02020603050405020304" pitchFamily="18" charset="0"/>
              </a:rPr>
              <a:t> </a:t>
            </a:r>
            <a:r>
              <a:rPr lang="fr-CI" b="1" dirty="0">
                <a:latin typeface="Times New Roman" panose="02020603050405020304" pitchFamily="18" charset="0"/>
                <a:ea typeface="Arial" panose="020B0604020202020204" pitchFamily="34" charset="0"/>
                <a:cs typeface="Times New Roman" panose="02020603050405020304" pitchFamily="18" charset="0"/>
              </a:rPr>
              <a:t>Définition </a:t>
            </a:r>
            <a:r>
              <a:rPr lang="fr-CI" b="1" dirty="0" smtClean="0">
                <a:latin typeface="Times New Roman" panose="02020603050405020304" pitchFamily="18" charset="0"/>
                <a:ea typeface="Arial" panose="020B0604020202020204" pitchFamily="34" charset="0"/>
                <a:cs typeface="Times New Roman" panose="02020603050405020304" pitchFamily="18" charset="0"/>
              </a:rPr>
              <a:t>(</a:t>
            </a:r>
            <a:r>
              <a:rPr lang="fr-CI" b="1" dirty="0">
                <a:latin typeface="Times New Roman" panose="02020603050405020304" pitchFamily="18" charset="0"/>
                <a:ea typeface="Arial" panose="020B0604020202020204" pitchFamily="34" charset="0"/>
                <a:cs typeface="Times New Roman" panose="02020603050405020304" pitchFamily="18" charset="0"/>
              </a:rPr>
              <a:t>UI)</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95536" y="1988840"/>
            <a:ext cx="8352928" cy="1807161"/>
          </a:xfrm>
          <a:prstGeom prst="rect">
            <a:avLst/>
          </a:prstGeom>
        </p:spPr>
        <p:txBody>
          <a:bodyPr wrap="square">
            <a:spAutoFit/>
          </a:bodyPr>
          <a:lstStyle/>
          <a:p>
            <a:pPr algn="just">
              <a:lnSpc>
                <a:spcPct val="150000"/>
              </a:lnSpc>
              <a:spcBef>
                <a:spcPts val="400"/>
              </a:spcBef>
              <a:spcAft>
                <a:spcPts val="400"/>
              </a:spcAft>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L'interface utilisateur (UI — User Interface) désigne l'ensemble des éléments visuels et interactifs par lesquels un utilisateur communique avec une application ou un site web</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a:t>
            </a:r>
            <a:endPar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endParaRPr>
          </a:p>
          <a:p>
            <a:pPr algn="just">
              <a:lnSpc>
                <a:spcPct val="150000"/>
              </a:lnSpc>
              <a:spcBef>
                <a:spcPts val="400"/>
              </a:spcBef>
              <a:spcAft>
                <a:spcPts val="400"/>
              </a:spcAft>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Elle englobe les boutons, formulaires, menus, typographies, couleurs, icônes et animations qui constituent l'expérience visuelle du produit.</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550734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23528" y="903644"/>
            <a:ext cx="6102855" cy="369332"/>
          </a:xfrm>
          <a:prstGeom prst="rect">
            <a:avLst/>
          </a:prstGeom>
        </p:spPr>
        <p:txBody>
          <a:bodyPr wrap="square">
            <a:spAutoFit/>
          </a:bodyPr>
          <a:lstStyle/>
          <a:p>
            <a:pPr marL="342900" indent="-342900">
              <a:buFont typeface="+mj-lt"/>
              <a:buAutoNum type="arabicPeriod"/>
            </a:pPr>
            <a:r>
              <a:rPr lang="fr-CI"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Les outils de design et de maquettage UI</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304521" y="1250822"/>
            <a:ext cx="8568952" cy="1287532"/>
          </a:xfrm>
          <a:prstGeom prst="rect">
            <a:avLst/>
          </a:prstGeom>
        </p:spPr>
        <p:txBody>
          <a:bodyPr wrap="square">
            <a:spAutoFit/>
          </a:bodyPr>
          <a:lstStyle/>
          <a:p>
            <a:pPr algn="just">
              <a:lnSpc>
                <a:spcPct val="150000"/>
              </a:lnSpc>
              <a:spcBef>
                <a:spcPts val="400"/>
              </a:spcBef>
              <a:spcAft>
                <a:spcPts val="400"/>
              </a:spcAft>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design d'une interface commence toujours dans un logiciel de maquettage avant d'être développé. Ces outils permettent de définir l'apparence, la structure et les interactions de l'interface sans écrire de code.</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29" name="Shape 2"/>
          <p:cNvSpPr/>
          <p:nvPr/>
        </p:nvSpPr>
        <p:spPr>
          <a:xfrm>
            <a:off x="359414" y="3283696"/>
            <a:ext cx="2606040" cy="26655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sp>
      <p:sp>
        <p:nvSpPr>
          <p:cNvPr id="30" name="Shape 3"/>
          <p:cNvSpPr/>
          <p:nvPr/>
        </p:nvSpPr>
        <p:spPr>
          <a:xfrm>
            <a:off x="359414" y="2780928"/>
            <a:ext cx="2606040" cy="914249"/>
          </a:xfrm>
          <a:prstGeom prst="rect">
            <a:avLst/>
          </a:prstGeom>
          <a:solidFill>
            <a:srgbClr val="2D7DD2"/>
          </a:solidFill>
          <a:ln w="12700">
            <a:solidFill>
              <a:srgbClr val="2D7DD2"/>
            </a:solidFill>
            <a:prstDash val="solid"/>
          </a:ln>
        </p:spPr>
      </p:sp>
      <p:sp>
        <p:nvSpPr>
          <p:cNvPr id="31" name="Text 4"/>
          <p:cNvSpPr/>
          <p:nvPr/>
        </p:nvSpPr>
        <p:spPr>
          <a:xfrm>
            <a:off x="450854" y="3347705"/>
            <a:ext cx="2423160" cy="274320"/>
          </a:xfrm>
          <a:prstGeom prst="rect">
            <a:avLst/>
          </a:prstGeom>
          <a:noFill/>
          <a:ln/>
        </p:spPr>
        <p:txBody>
          <a:bodyPr wrap="square" lIns="0" tIns="0" rIns="0" bIns="0" rtlCol="0" anchor="ctr"/>
          <a:lstStyle/>
          <a:p>
            <a:pPr marL="0" indent="0">
              <a:buNone/>
            </a:pPr>
            <a:endParaRPr lang="en-US" sz="1300" dirty="0"/>
          </a:p>
        </p:txBody>
      </p:sp>
      <p:sp>
        <p:nvSpPr>
          <p:cNvPr id="32" name="Text 5"/>
          <p:cNvSpPr/>
          <p:nvPr/>
        </p:nvSpPr>
        <p:spPr>
          <a:xfrm>
            <a:off x="469142" y="3786617"/>
            <a:ext cx="2386584" cy="1353312"/>
          </a:xfrm>
          <a:prstGeom prst="rect">
            <a:avLst/>
          </a:prstGeom>
          <a:noFill/>
          <a:ln/>
        </p:spPr>
        <p:txBody>
          <a:bodyPr wrap="square" lIns="0" tIns="0" rIns="0" bIns="0" rtlCol="0" anchor="t"/>
          <a:lstStyle/>
          <a:p>
            <a:pPr marL="0" indent="0">
              <a:buNone/>
            </a:pPr>
            <a:r>
              <a:rPr lang="fr-CI" b="1" dirty="0" err="1">
                <a:latin typeface="Times New Roman" panose="02020603050405020304" pitchFamily="18" charset="0"/>
                <a:cs typeface="Times New Roman" panose="02020603050405020304" pitchFamily="18" charset="0"/>
              </a:rPr>
              <a:t>Figma</a:t>
            </a:r>
            <a:r>
              <a:rPr lang="fr-CI" dirty="0">
                <a:latin typeface="Times New Roman" panose="02020603050405020304" pitchFamily="18" charset="0"/>
                <a:cs typeface="Times New Roman" panose="02020603050405020304" pitchFamily="18" charset="0"/>
              </a:rPr>
              <a:t> est un outil de design UI/UX basé sur le cloud, créé en 2016. Il est aujourd'hui l'outil le plus utilisé par les équipes de design dans le monde entier</a:t>
            </a:r>
            <a:endParaRPr lang="en-US" sz="1100" dirty="0">
              <a:latin typeface="Times New Roman" panose="02020603050405020304" pitchFamily="18" charset="0"/>
              <a:cs typeface="Times New Roman" panose="02020603050405020304" pitchFamily="18" charset="0"/>
            </a:endParaRPr>
          </a:p>
        </p:txBody>
      </p:sp>
      <p:sp>
        <p:nvSpPr>
          <p:cNvPr id="33" name="Shape 6"/>
          <p:cNvSpPr/>
          <p:nvPr/>
        </p:nvSpPr>
        <p:spPr>
          <a:xfrm>
            <a:off x="3285494" y="3283696"/>
            <a:ext cx="2606040" cy="2953615"/>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sp>
      <p:sp>
        <p:nvSpPr>
          <p:cNvPr id="34" name="Shape 7"/>
          <p:cNvSpPr/>
          <p:nvPr/>
        </p:nvSpPr>
        <p:spPr>
          <a:xfrm>
            <a:off x="3285494" y="2641833"/>
            <a:ext cx="2606040" cy="914249"/>
          </a:xfrm>
          <a:prstGeom prst="rect">
            <a:avLst/>
          </a:prstGeom>
          <a:solidFill>
            <a:srgbClr val="7C3AED"/>
          </a:solidFill>
          <a:ln w="12700">
            <a:solidFill>
              <a:srgbClr val="7C3AED"/>
            </a:solidFill>
            <a:prstDash val="solid"/>
          </a:ln>
        </p:spPr>
      </p:sp>
      <p:sp>
        <p:nvSpPr>
          <p:cNvPr id="36" name="Text 9"/>
          <p:cNvSpPr/>
          <p:nvPr/>
        </p:nvSpPr>
        <p:spPr>
          <a:xfrm>
            <a:off x="3374955" y="3689097"/>
            <a:ext cx="2386584" cy="1353312"/>
          </a:xfrm>
          <a:prstGeom prst="rect">
            <a:avLst/>
          </a:prstGeom>
          <a:noFill/>
          <a:ln/>
        </p:spPr>
        <p:txBody>
          <a:bodyPr wrap="square" lIns="0" tIns="0" rIns="0" bIns="0" rtlCol="0" anchor="t"/>
          <a:lstStyle/>
          <a:p>
            <a:r>
              <a:rPr lang="fr-CI" b="1" dirty="0">
                <a:latin typeface="Times New Roman" panose="02020603050405020304" pitchFamily="18" charset="0"/>
                <a:cs typeface="Times New Roman" panose="02020603050405020304" pitchFamily="18" charset="0"/>
              </a:rPr>
              <a:t>Sketch</a:t>
            </a:r>
            <a:r>
              <a:rPr lang="fr-CI" dirty="0">
                <a:latin typeface="Times New Roman" panose="02020603050405020304" pitchFamily="18" charset="0"/>
                <a:cs typeface="Times New Roman" panose="02020603050405020304" pitchFamily="18" charset="0"/>
              </a:rPr>
              <a:t> est un logiciel de design UI/UX lancé en 2010, disponible uniquement sur </a:t>
            </a:r>
            <a:r>
              <a:rPr lang="fr-CI" dirty="0" err="1">
                <a:latin typeface="Times New Roman" panose="02020603050405020304" pitchFamily="18" charset="0"/>
                <a:cs typeface="Times New Roman" panose="02020603050405020304" pitchFamily="18" charset="0"/>
              </a:rPr>
              <a:t>macOS</a:t>
            </a:r>
            <a:r>
              <a:rPr lang="fr-CI" dirty="0">
                <a:latin typeface="Times New Roman" panose="02020603050405020304" pitchFamily="18" charset="0"/>
                <a:cs typeface="Times New Roman" panose="02020603050405020304" pitchFamily="18" charset="0"/>
              </a:rPr>
              <a:t>. </a:t>
            </a:r>
            <a:r>
              <a:rPr lang="fr-CI" dirty="0" smtClean="0">
                <a:latin typeface="Times New Roman" panose="02020603050405020304" pitchFamily="18" charset="0"/>
                <a:cs typeface="Times New Roman" panose="02020603050405020304" pitchFamily="18" charset="0"/>
              </a:rPr>
              <a:t>Avant </a:t>
            </a:r>
            <a:r>
              <a:rPr lang="fr-CI" dirty="0">
                <a:latin typeface="Times New Roman" panose="02020603050405020304" pitchFamily="18" charset="0"/>
                <a:cs typeface="Times New Roman" panose="02020603050405020304" pitchFamily="18" charset="0"/>
              </a:rPr>
              <a:t>l'arrivée de </a:t>
            </a:r>
            <a:r>
              <a:rPr lang="fr-CI" dirty="0" err="1">
                <a:latin typeface="Times New Roman" panose="02020603050405020304" pitchFamily="18" charset="0"/>
                <a:cs typeface="Times New Roman" panose="02020603050405020304" pitchFamily="18" charset="0"/>
              </a:rPr>
              <a:t>Figma</a:t>
            </a:r>
            <a:r>
              <a:rPr lang="fr-CI" dirty="0">
                <a:latin typeface="Times New Roman" panose="02020603050405020304" pitchFamily="18" charset="0"/>
                <a:cs typeface="Times New Roman" panose="02020603050405020304" pitchFamily="18" charset="0"/>
              </a:rPr>
              <a:t>, Sketch était l'outil dominant dans toute l'industrie du design.</a:t>
            </a:r>
            <a:endParaRPr lang="en-US" dirty="0">
              <a:latin typeface="Times New Roman" panose="02020603050405020304" pitchFamily="18" charset="0"/>
              <a:cs typeface="Times New Roman" panose="02020603050405020304" pitchFamily="18" charset="0"/>
            </a:endParaRPr>
          </a:p>
        </p:txBody>
      </p:sp>
      <p:sp>
        <p:nvSpPr>
          <p:cNvPr id="37" name="Shape 10"/>
          <p:cNvSpPr/>
          <p:nvPr/>
        </p:nvSpPr>
        <p:spPr>
          <a:xfrm>
            <a:off x="6211574" y="3283697"/>
            <a:ext cx="2606040" cy="19202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sp>
      <p:sp>
        <p:nvSpPr>
          <p:cNvPr id="38" name="Shape 11"/>
          <p:cNvSpPr/>
          <p:nvPr/>
        </p:nvSpPr>
        <p:spPr>
          <a:xfrm>
            <a:off x="6211574" y="2702946"/>
            <a:ext cx="2606040" cy="992231"/>
          </a:xfrm>
          <a:prstGeom prst="rect">
            <a:avLst/>
          </a:prstGeom>
          <a:solidFill>
            <a:srgbClr val="0D9488"/>
          </a:solidFill>
          <a:ln w="12700">
            <a:solidFill>
              <a:srgbClr val="0D9488"/>
            </a:solidFill>
            <a:prstDash val="solid"/>
          </a:ln>
        </p:spPr>
      </p:sp>
      <p:sp>
        <p:nvSpPr>
          <p:cNvPr id="40" name="Text 13"/>
          <p:cNvSpPr/>
          <p:nvPr/>
        </p:nvSpPr>
        <p:spPr>
          <a:xfrm>
            <a:off x="6321302" y="3786617"/>
            <a:ext cx="2386584" cy="1353312"/>
          </a:xfrm>
          <a:prstGeom prst="rect">
            <a:avLst/>
          </a:prstGeom>
          <a:noFill/>
          <a:ln/>
        </p:spPr>
        <p:txBody>
          <a:bodyPr wrap="square" lIns="0" tIns="0" rIns="0" bIns="0" rtlCol="0" anchor="t"/>
          <a:lstStyle/>
          <a:p>
            <a:pPr marL="0" indent="0">
              <a:buNone/>
            </a:pPr>
            <a:r>
              <a:rPr lang="fr-CI" b="1" dirty="0">
                <a:latin typeface="Times New Roman" panose="02020603050405020304" pitchFamily="18" charset="0"/>
                <a:cs typeface="Times New Roman" panose="02020603050405020304" pitchFamily="18" charset="0"/>
              </a:rPr>
              <a:t>Adobe XD </a:t>
            </a:r>
            <a:r>
              <a:rPr lang="fr-CI" dirty="0">
                <a:latin typeface="Times New Roman" panose="02020603050405020304" pitchFamily="18" charset="0"/>
                <a:cs typeface="Times New Roman" panose="02020603050405020304" pitchFamily="18" charset="0"/>
              </a:rPr>
              <a:t>(</a:t>
            </a:r>
            <a:r>
              <a:rPr lang="fr-CI" dirty="0" err="1">
                <a:latin typeface="Times New Roman" panose="02020603050405020304" pitchFamily="18" charset="0"/>
                <a:cs typeface="Times New Roman" panose="02020603050405020304" pitchFamily="18" charset="0"/>
              </a:rPr>
              <a:t>Experience</a:t>
            </a:r>
            <a:r>
              <a:rPr lang="fr-CI" dirty="0">
                <a:latin typeface="Times New Roman" panose="02020603050405020304" pitchFamily="18" charset="0"/>
                <a:cs typeface="Times New Roman" panose="02020603050405020304" pitchFamily="18" charset="0"/>
              </a:rPr>
              <a:t> Design) est l'outil de design UI/UX d'Adobe, lancé en 2016. Il s'intègre naturellement avec Photoshop, Illustrator et </a:t>
            </a:r>
            <a:r>
              <a:rPr lang="fr-CI" dirty="0" err="1">
                <a:latin typeface="Times New Roman" panose="02020603050405020304" pitchFamily="18" charset="0"/>
                <a:cs typeface="Times New Roman" panose="02020603050405020304" pitchFamily="18" charset="0"/>
              </a:rPr>
              <a:t>After</a:t>
            </a:r>
            <a:r>
              <a:rPr lang="fr-CI" dirty="0">
                <a:latin typeface="Times New Roman" panose="02020603050405020304" pitchFamily="18" charset="0"/>
                <a:cs typeface="Times New Roman" panose="02020603050405020304" pitchFamily="18" charset="0"/>
              </a:rPr>
              <a:t> </a:t>
            </a:r>
            <a:r>
              <a:rPr lang="fr-CI" dirty="0" err="1" smtClean="0">
                <a:latin typeface="Times New Roman" panose="02020603050405020304" pitchFamily="18" charset="0"/>
                <a:cs typeface="Times New Roman" panose="02020603050405020304" pitchFamily="18" charset="0"/>
              </a:rPr>
              <a:t>Effects</a:t>
            </a:r>
            <a:r>
              <a:rPr lang="fr-CI" dirty="0">
                <a:latin typeface="Times New Roman" panose="02020603050405020304" pitchFamily="18" charset="0"/>
                <a:cs typeface="Times New Roman" panose="02020603050405020304" pitchFamily="18" charset="0"/>
              </a:rPr>
              <a:t>.</a:t>
            </a:r>
            <a:endParaRPr lang="en-US" sz="1100" dirty="0">
              <a:latin typeface="Times New Roman" panose="02020603050405020304" pitchFamily="18" charset="0"/>
              <a:cs typeface="Times New Roman" panose="02020603050405020304" pitchFamily="18" charset="0"/>
            </a:endParaRPr>
          </a:p>
        </p:txBody>
      </p:sp>
      <p:pic>
        <p:nvPicPr>
          <p:cNvPr id="41" name="Picture 40"/>
          <p:cNvPicPr/>
          <p:nvPr/>
        </p:nvPicPr>
        <p:blipFill>
          <a:blip r:embed="rId5"/>
          <a:srcRect/>
          <a:stretch>
            <a:fillRect/>
          </a:stretch>
        </p:blipFill>
        <p:spPr bwMode="auto">
          <a:xfrm>
            <a:off x="450854" y="3014032"/>
            <a:ext cx="571500" cy="571500"/>
          </a:xfrm>
          <a:prstGeom prst="rect">
            <a:avLst/>
          </a:prstGeom>
        </p:spPr>
      </p:pic>
      <p:pic>
        <p:nvPicPr>
          <p:cNvPr id="43" name="Picture 42"/>
          <p:cNvPicPr/>
          <p:nvPr/>
        </p:nvPicPr>
        <p:blipFill>
          <a:blip r:embed="rId6"/>
          <a:srcRect/>
          <a:stretch>
            <a:fillRect/>
          </a:stretch>
        </p:blipFill>
        <p:spPr bwMode="auto">
          <a:xfrm>
            <a:off x="3388088" y="2952302"/>
            <a:ext cx="571500" cy="571500"/>
          </a:xfrm>
          <a:prstGeom prst="rect">
            <a:avLst/>
          </a:prstGeom>
        </p:spPr>
      </p:pic>
      <p:pic>
        <p:nvPicPr>
          <p:cNvPr id="44" name="Picture 43"/>
          <p:cNvPicPr/>
          <p:nvPr/>
        </p:nvPicPr>
        <p:blipFill>
          <a:blip r:embed="rId7"/>
          <a:srcRect/>
          <a:stretch>
            <a:fillRect/>
          </a:stretch>
        </p:blipFill>
        <p:spPr bwMode="auto">
          <a:xfrm>
            <a:off x="6286007" y="2869931"/>
            <a:ext cx="571500" cy="571500"/>
          </a:xfrm>
          <a:prstGeom prst="rect">
            <a:avLst/>
          </a:prstGeom>
        </p:spPr>
      </p:pic>
      <p:sp>
        <p:nvSpPr>
          <p:cNvPr id="22" name="Titre 3">
            <a:extLst>
              <a:ext uri="{FF2B5EF4-FFF2-40B4-BE49-F238E27FC236}">
                <a16:creationId xmlns:a16="http://schemas.microsoft.com/office/drawing/2014/main" id="{FD2745D9-D935-5DCC-A026-8C0361F73C9F}"/>
              </a:ext>
            </a:extLst>
          </p:cNvPr>
          <p:cNvSpPr>
            <a:spLocks noGrp="1"/>
          </p:cNvSpPr>
          <p:nvPr>
            <p:ph type="title"/>
          </p:nvPr>
        </p:nvSpPr>
        <p:spPr>
          <a:xfrm>
            <a:off x="684212" y="99119"/>
            <a:ext cx="9072363" cy="665585"/>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2229388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46218" y="980728"/>
            <a:ext cx="2307042" cy="369332"/>
          </a:xfrm>
          <a:prstGeom prst="rect">
            <a:avLst/>
          </a:prstGeom>
        </p:spPr>
        <p:txBody>
          <a:bodyPr wrap="none">
            <a:spAutoFit/>
          </a:bodyPr>
          <a:lstStyle/>
          <a:p>
            <a:pPr algn="just">
              <a:spcBef>
                <a:spcPts val="400"/>
              </a:spcBef>
              <a:spcAft>
                <a:spcPts val="400"/>
              </a:spcAft>
            </a:pPr>
            <a:r>
              <a:rPr lang="en-US"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Fonctionnalités clés : </a:t>
            </a:r>
            <a:endParaRPr lang="en-US"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p:txBody>
      </p:sp>
      <p:sp>
        <p:nvSpPr>
          <p:cNvPr id="6" name="Rectangle 5"/>
          <p:cNvSpPr/>
          <p:nvPr/>
        </p:nvSpPr>
        <p:spPr>
          <a:xfrm>
            <a:off x="91667" y="1789738"/>
            <a:ext cx="8660216" cy="1431161"/>
          </a:xfrm>
          <a:prstGeom prst="rect">
            <a:avLst/>
          </a:prstGeom>
        </p:spPr>
        <p:txBody>
          <a:bodyPr wrap="square">
            <a:spAutoFit/>
          </a:bodyPr>
          <a:lstStyle/>
          <a:p>
            <a:pPr marL="342900" lvl="0" indent="-342900" algn="just">
              <a:spcBef>
                <a:spcPts val="300"/>
              </a:spcBef>
              <a:spcAft>
                <a:spcPts val="300"/>
              </a:spcAft>
              <a:buFont typeface="Arial" panose="020B0604020202020204" pitchFamily="34" charset="0"/>
              <a:buChar char="•"/>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Système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de composants réutilisables (Design System) centralisé</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Collaboration en temps réel entre designers et développeurs</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Mode Dev : les développeurs voient les valeurs CSS exactes de chaque élément</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Plugins pour l'accessibilité, l'export d'</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assets</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l'animation</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50" name="TextBox 49"/>
          <p:cNvSpPr txBox="1"/>
          <p:nvPr/>
        </p:nvSpPr>
        <p:spPr>
          <a:xfrm>
            <a:off x="395536" y="1385233"/>
            <a:ext cx="2880320" cy="369332"/>
          </a:xfrm>
          <a:prstGeom prst="rect">
            <a:avLst/>
          </a:prstGeom>
          <a:noFill/>
        </p:spPr>
        <p:txBody>
          <a:bodyPr wrap="square" rtlCol="0">
            <a:spAutoFit/>
          </a:bodyPr>
          <a:lstStyle/>
          <a:p>
            <a:r>
              <a:rPr lang="en-US" b="1" dirty="0" err="1" smtClean="0"/>
              <a:t>Figma</a:t>
            </a:r>
            <a:endParaRPr lang="en-US" b="1" dirty="0"/>
          </a:p>
        </p:txBody>
      </p:sp>
      <p:sp>
        <p:nvSpPr>
          <p:cNvPr id="51" name="TextBox 50"/>
          <p:cNvSpPr txBox="1"/>
          <p:nvPr/>
        </p:nvSpPr>
        <p:spPr>
          <a:xfrm>
            <a:off x="395536" y="3631230"/>
            <a:ext cx="2880320" cy="369332"/>
          </a:xfrm>
          <a:prstGeom prst="rect">
            <a:avLst/>
          </a:prstGeom>
          <a:noFill/>
        </p:spPr>
        <p:txBody>
          <a:bodyPr wrap="square" rtlCol="0">
            <a:spAutoFit/>
          </a:bodyPr>
          <a:lstStyle/>
          <a:p>
            <a:r>
              <a:rPr lang="en-US" b="1" dirty="0" smtClean="0"/>
              <a:t>Sketch</a:t>
            </a:r>
            <a:endParaRPr lang="en-US" b="1" dirty="0"/>
          </a:p>
        </p:txBody>
      </p:sp>
      <p:sp>
        <p:nvSpPr>
          <p:cNvPr id="54" name="Rectangle 53"/>
          <p:cNvSpPr/>
          <p:nvPr/>
        </p:nvSpPr>
        <p:spPr>
          <a:xfrm>
            <a:off x="378267" y="4093292"/>
            <a:ext cx="8370446" cy="1431161"/>
          </a:xfrm>
          <a:prstGeom prst="rect">
            <a:avLst/>
          </a:prstGeom>
        </p:spPr>
        <p:txBody>
          <a:bodyPr wrap="square">
            <a:spAutoFit/>
          </a:bodyPr>
          <a:lstStyle/>
          <a:p>
            <a:pPr marL="342900" lvl="0" indent="-342900" algn="just">
              <a:spcBef>
                <a:spcPts val="300"/>
              </a:spcBef>
              <a:spcAft>
                <a:spcPts val="300"/>
              </a:spcAft>
              <a:buFont typeface="Arial" panose="020B0604020202020204" pitchFamily="34" charset="0"/>
              <a:buChar char="•"/>
            </a:pP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Symbols</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 composants UI réutilisables et synchronisés dans tous les écrans</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Bibliothèques partagées pour maintenir la cohérence d'un design system</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Plugins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puissants :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Zeplin</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Abstract,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Avocode</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pour le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handoff</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développeur</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Export optimisé d'</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assets</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(PNG, SVG, PDF) pour toutes les résolutions écran</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2" name="Titre 3">
            <a:extLst>
              <a:ext uri="{FF2B5EF4-FFF2-40B4-BE49-F238E27FC236}">
                <a16:creationId xmlns:a16="http://schemas.microsoft.com/office/drawing/2014/main" id="{FD2745D9-D935-5DCC-A026-8C0361F73C9F}"/>
              </a:ext>
            </a:extLst>
          </p:cNvPr>
          <p:cNvSpPr>
            <a:spLocks noGrp="1"/>
          </p:cNvSpPr>
          <p:nvPr>
            <p:ph type="title"/>
          </p:nvPr>
        </p:nvSpPr>
        <p:spPr>
          <a:xfrm>
            <a:off x="684212" y="99119"/>
            <a:ext cx="9072363" cy="665585"/>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1876728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95785" y="1969636"/>
            <a:ext cx="8352928" cy="1431161"/>
          </a:xfrm>
          <a:prstGeom prst="rect">
            <a:avLst/>
          </a:prstGeom>
        </p:spPr>
        <p:txBody>
          <a:bodyPr wrap="square">
            <a:spAutoFit/>
          </a:bodyPr>
          <a:lstStyle/>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Intégration native avec Photoshop et Illustrator pour importer des ressources</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Prototypage avancé avec animations automatiques (Auto-</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Animate</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Composants partagés et design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tokens</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pour les design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systems</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Plugins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et </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intégrations</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8" name="TextBox 7"/>
          <p:cNvSpPr txBox="1"/>
          <p:nvPr/>
        </p:nvSpPr>
        <p:spPr>
          <a:xfrm>
            <a:off x="395785" y="1277196"/>
            <a:ext cx="2880320" cy="369332"/>
          </a:xfrm>
          <a:prstGeom prst="rect">
            <a:avLst/>
          </a:prstGeom>
          <a:noFill/>
        </p:spPr>
        <p:txBody>
          <a:bodyPr wrap="square" rtlCol="0">
            <a:spAutoFit/>
          </a:bodyPr>
          <a:lstStyle/>
          <a:p>
            <a:pPr algn="just"/>
            <a:r>
              <a:rPr lang="fr-CI" b="1" dirty="0">
                <a:latin typeface="Times New Roman" panose="02020603050405020304" pitchFamily="18" charset="0"/>
                <a:cs typeface="Times New Roman" panose="02020603050405020304" pitchFamily="18" charset="0"/>
              </a:rPr>
              <a:t>Adobe XD </a:t>
            </a:r>
            <a:endParaRPr lang="en-US" b="1" dirty="0">
              <a:latin typeface="Times New Roman" panose="02020603050405020304" pitchFamily="18" charset="0"/>
              <a:cs typeface="Times New Roman" panose="02020603050405020304" pitchFamily="18" charset="0"/>
            </a:endParaRPr>
          </a:p>
        </p:txBody>
      </p:sp>
      <p:sp>
        <p:nvSpPr>
          <p:cNvPr id="12" name="Titre 3">
            <a:extLst>
              <a:ext uri="{FF2B5EF4-FFF2-40B4-BE49-F238E27FC236}">
                <a16:creationId xmlns:a16="http://schemas.microsoft.com/office/drawing/2014/main" id="{FD2745D9-D935-5DCC-A026-8C0361F73C9F}"/>
              </a:ext>
            </a:extLst>
          </p:cNvPr>
          <p:cNvSpPr>
            <a:spLocks noGrp="1"/>
          </p:cNvSpPr>
          <p:nvPr>
            <p:ph type="title"/>
          </p:nvPr>
        </p:nvSpPr>
        <p:spPr>
          <a:xfrm>
            <a:off x="684212" y="99119"/>
            <a:ext cx="9072363" cy="665585"/>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2373172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666091" y="1075147"/>
            <a:ext cx="1851789" cy="369332"/>
          </a:xfrm>
          <a:prstGeom prst="rect">
            <a:avLst/>
          </a:prstGeom>
        </p:spPr>
        <p:txBody>
          <a:bodyPr wrap="none">
            <a:spAutoFit/>
          </a:bodyPr>
          <a:lstStyle/>
          <a:p>
            <a:r>
              <a:rPr lang="fr-CI" b="1" dirty="0" smtClean="0">
                <a:ea typeface="Arial" panose="020B0604020202020204" pitchFamily="34" charset="0"/>
              </a:rPr>
              <a:t>framework UI?</a:t>
            </a:r>
            <a:endParaRPr lang="en-US" dirty="0"/>
          </a:p>
        </p:txBody>
      </p:sp>
      <p:sp>
        <p:nvSpPr>
          <p:cNvPr id="7" name="Rectangle 6"/>
          <p:cNvSpPr/>
          <p:nvPr/>
        </p:nvSpPr>
        <p:spPr>
          <a:xfrm>
            <a:off x="395536" y="1651076"/>
            <a:ext cx="8640960" cy="1338828"/>
          </a:xfrm>
          <a:prstGeom prst="rect">
            <a:avLst/>
          </a:prstGeom>
        </p:spPr>
        <p:txBody>
          <a:bodyPr wrap="square">
            <a:spAutoFit/>
          </a:bodyPr>
          <a:lstStyle/>
          <a:p>
            <a:pPr algn="just">
              <a:lnSpc>
                <a:spcPct val="150000"/>
              </a:lnSpc>
            </a:pPr>
            <a:r>
              <a:rPr lang="fr-FR" dirty="0" smtClean="0">
                <a:latin typeface="Times New Roman" panose="02020603050405020304" pitchFamily="18" charset="0"/>
                <a:cs typeface="Times New Roman" panose="02020603050405020304" pitchFamily="18" charset="0"/>
              </a:rPr>
              <a:t>framework </a:t>
            </a:r>
            <a:r>
              <a:rPr lang="fr-FR" dirty="0">
                <a:latin typeface="Times New Roman" panose="02020603050405020304" pitchFamily="18" charset="0"/>
                <a:cs typeface="Times New Roman" panose="02020603050405020304" pitchFamily="18" charset="0"/>
              </a:rPr>
              <a:t>est une boîte à outils et un cadre de travail. Il fournit une structure de base, des règles architecturales et du code pré-écrit (fonctions, modules) qui permettent aux développeurs de ne pas réinventer la roue à chaque projet et d'aller beaucoup plus vite</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2267744" y="3271941"/>
            <a:ext cx="3382336" cy="369332"/>
          </a:xfrm>
          <a:prstGeom prst="rect">
            <a:avLst/>
          </a:prstGeom>
        </p:spPr>
        <p:txBody>
          <a:bodyPr wrap="none">
            <a:spAutoFit/>
          </a:bodyPr>
          <a:lstStyle/>
          <a:p>
            <a:r>
              <a:rPr lang="fr-CI"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Pourquoi utiliser un framework </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395536" y="3456607"/>
            <a:ext cx="8136904" cy="2151871"/>
          </a:xfrm>
          <a:prstGeom prst="rect">
            <a:avLst/>
          </a:prstGeom>
        </p:spPr>
        <p:txBody>
          <a:bodyPr wrap="square">
            <a:spAutoFit/>
          </a:bodyPr>
          <a:lstStyle/>
          <a:p>
            <a:pPr algn="just">
              <a:spcBef>
                <a:spcPts val="400"/>
              </a:spcBef>
              <a:spcAft>
                <a:spcPts val="400"/>
              </a:spcAft>
            </a:pPr>
            <a:r>
              <a:rPr lang="en-US" dirty="0">
                <a:latin typeface="Times New Roman" panose="02020603050405020304" pitchFamily="18" charset="0"/>
                <a:ea typeface="Arial" panose="020B0604020202020204" pitchFamily="34" charset="0"/>
                <a:cs typeface="Times New Roman" panose="02020603050405020304" pitchFamily="18" charset="0"/>
              </a:rPr>
              <a:t> </a:t>
            </a: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Productivité : des composants réutilisables permettent de gagner du temps</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Cohérence visuelle : un système de design uniforme sur toutes les pages</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Performance : des </a:t>
            </a: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optimisations</a:t>
            </a: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intégrées</a:t>
            </a: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(lazy loading, </a:t>
            </a: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virtualisation</a:t>
            </a: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Maintenabilité : une organisation en composants facilite les mises à jour</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Arial" panose="020B0604020202020204" pitchFamily="34" charset="0"/>
              <a:buChar char="•"/>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Communauté : un vaste écosystème de bibliothèques et de ressources</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3" name="Titre 3">
            <a:extLst>
              <a:ext uri="{FF2B5EF4-FFF2-40B4-BE49-F238E27FC236}">
                <a16:creationId xmlns:a16="http://schemas.microsoft.com/office/drawing/2014/main" id="{FD2745D9-D935-5DCC-A026-8C0361F73C9F}"/>
              </a:ext>
            </a:extLst>
          </p:cNvPr>
          <p:cNvSpPr>
            <a:spLocks noGrp="1"/>
          </p:cNvSpPr>
          <p:nvPr>
            <p:ph type="title"/>
          </p:nvPr>
        </p:nvSpPr>
        <p:spPr>
          <a:xfrm>
            <a:off x="684212" y="99119"/>
            <a:ext cx="9072363" cy="665585"/>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29899454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67544" y="888078"/>
            <a:ext cx="4032448" cy="369332"/>
          </a:xfrm>
          <a:prstGeom prst="rect">
            <a:avLst/>
          </a:prstGeom>
        </p:spPr>
        <p:txBody>
          <a:bodyPr wrap="square">
            <a:spAutoFit/>
          </a:bodyPr>
          <a:lstStyle/>
          <a:p>
            <a:pPr algn="just"/>
            <a:r>
              <a:rPr lang="fr-CI"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Les </a:t>
            </a:r>
            <a:r>
              <a:rPr lang="fr-CI" dirty="0" err="1" smtClean="0">
                <a:solidFill>
                  <a:srgbClr val="FF0000"/>
                </a:solidFill>
                <a:latin typeface="Times New Roman" panose="02020603050405020304" pitchFamily="18" charset="0"/>
                <a:ea typeface="Arial" panose="020B0604020202020204" pitchFamily="34" charset="0"/>
                <a:cs typeface="Times New Roman" panose="02020603050405020304" pitchFamily="18" charset="0"/>
              </a:rPr>
              <a:t>frameworks</a:t>
            </a:r>
            <a:r>
              <a:rPr lang="fr-CI" dirty="0" smtClean="0">
                <a:solidFill>
                  <a:srgbClr val="FF0000"/>
                </a:solidFill>
                <a:latin typeface="Times New Roman" panose="02020603050405020304" pitchFamily="18" charset="0"/>
                <a:ea typeface="Arial" panose="020B0604020202020204" pitchFamily="34" charset="0"/>
                <a:cs typeface="Times New Roman" panose="02020603050405020304" pitchFamily="18" charset="0"/>
              </a:rPr>
              <a:t> front-end </a:t>
            </a:r>
            <a:r>
              <a:rPr lang="fr-CI"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majeurs</a:t>
            </a:r>
            <a:endParaRPr lang="en-US" dirty="0">
              <a:solidFill>
                <a:srgbClr val="FF0000"/>
              </a:solidFill>
              <a:latin typeface="Times New Roman" panose="02020603050405020304" pitchFamily="18" charset="0"/>
              <a:cs typeface="Times New Roman" panose="02020603050405020304" pitchFamily="18" charset="0"/>
            </a:endParaRPr>
          </a:p>
        </p:txBody>
      </p:sp>
      <p:pic>
        <p:nvPicPr>
          <p:cNvPr id="25" name="Picture 24"/>
          <p:cNvPicPr/>
          <p:nvPr/>
        </p:nvPicPr>
        <p:blipFill>
          <a:blip r:embed="rId5"/>
          <a:srcRect/>
          <a:stretch>
            <a:fillRect/>
          </a:stretch>
        </p:blipFill>
        <p:spPr bwMode="auto">
          <a:xfrm>
            <a:off x="1477192" y="1455284"/>
            <a:ext cx="1146620" cy="1236054"/>
          </a:xfrm>
          <a:prstGeom prst="rect">
            <a:avLst/>
          </a:prstGeom>
        </p:spPr>
      </p:pic>
      <p:sp>
        <p:nvSpPr>
          <p:cNvPr id="17" name="Rectangle 16"/>
          <p:cNvSpPr/>
          <p:nvPr/>
        </p:nvSpPr>
        <p:spPr>
          <a:xfrm>
            <a:off x="167962" y="2800910"/>
            <a:ext cx="4572000" cy="1754326"/>
          </a:xfrm>
          <a:prstGeom prst="rect">
            <a:avLst/>
          </a:prstGeom>
        </p:spPr>
        <p:txBody>
          <a:bodyPr>
            <a:spAutoFit/>
          </a:bodyPr>
          <a:lstStyle/>
          <a:p>
            <a:pPr algn="just">
              <a:spcBef>
                <a:spcPts val="400"/>
              </a:spcBef>
              <a:spcAft>
                <a:spcPts val="400"/>
              </a:spcAft>
            </a:pP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React</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est une bibliothèque JavaScript open-source créée par Facebook (Meta) en 2013. Elle est basée sur le concept de composants réutilisables et utilise un DOM virtuel (Virtual DOM) pour optimiser les mises à jour de l'interface.</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8" name="Rectangle 17"/>
          <p:cNvSpPr/>
          <p:nvPr/>
        </p:nvSpPr>
        <p:spPr>
          <a:xfrm>
            <a:off x="1616848" y="2506672"/>
            <a:ext cx="748923" cy="369332"/>
          </a:xfrm>
          <a:prstGeom prst="rect">
            <a:avLst/>
          </a:prstGeom>
        </p:spPr>
        <p:txBody>
          <a:bodyPr wrap="none">
            <a:spAutoFit/>
          </a:bodyPr>
          <a:lstStyle/>
          <a:p>
            <a:r>
              <a:rPr lang="en-US" b="1"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React</a:t>
            </a:r>
            <a:endParaRPr lang="en-US" dirty="0">
              <a:latin typeface="Times New Roman" panose="02020603050405020304" pitchFamily="18" charset="0"/>
              <a:cs typeface="Times New Roman" panose="02020603050405020304" pitchFamily="18" charset="0"/>
            </a:endParaRPr>
          </a:p>
        </p:txBody>
      </p:sp>
      <p:sp>
        <p:nvSpPr>
          <p:cNvPr id="19" name="Rectangle 18"/>
          <p:cNvSpPr/>
          <p:nvPr/>
        </p:nvSpPr>
        <p:spPr>
          <a:xfrm>
            <a:off x="6465576" y="4185904"/>
            <a:ext cx="785471" cy="369332"/>
          </a:xfrm>
          <a:prstGeom prst="rect">
            <a:avLst/>
          </a:prstGeom>
        </p:spPr>
        <p:txBody>
          <a:bodyPr wrap="none">
            <a:spAutoFit/>
          </a:bodyPr>
          <a:lstStyle/>
          <a:p>
            <a:pPr algn="just"/>
            <a:r>
              <a:rPr lang="en-US" b="1"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Vue.js</a:t>
            </a:r>
            <a:endParaRPr lang="en-US" dirty="0">
              <a:latin typeface="Times New Roman" panose="02020603050405020304" pitchFamily="18" charset="0"/>
              <a:cs typeface="Times New Roman" panose="02020603050405020304" pitchFamily="18" charset="0"/>
            </a:endParaRPr>
          </a:p>
        </p:txBody>
      </p:sp>
      <p:pic>
        <p:nvPicPr>
          <p:cNvPr id="37" name="Picture 36"/>
          <p:cNvPicPr/>
          <p:nvPr/>
        </p:nvPicPr>
        <p:blipFill>
          <a:blip r:embed="rId6"/>
          <a:srcRect/>
          <a:stretch>
            <a:fillRect/>
          </a:stretch>
        </p:blipFill>
        <p:spPr bwMode="auto">
          <a:xfrm>
            <a:off x="6444207" y="3273713"/>
            <a:ext cx="864096" cy="936104"/>
          </a:xfrm>
          <a:prstGeom prst="rect">
            <a:avLst/>
          </a:prstGeom>
        </p:spPr>
      </p:pic>
      <p:sp>
        <p:nvSpPr>
          <p:cNvPr id="20" name="Rectangle 19"/>
          <p:cNvSpPr/>
          <p:nvPr/>
        </p:nvSpPr>
        <p:spPr>
          <a:xfrm>
            <a:off x="4355976" y="4555236"/>
            <a:ext cx="4598605" cy="923330"/>
          </a:xfrm>
          <a:prstGeom prst="rect">
            <a:avLst/>
          </a:prstGeom>
        </p:spPr>
        <p:txBody>
          <a:bodyPr wrap="square">
            <a:spAutoFit/>
          </a:bodyPr>
          <a:lstStyle/>
          <a:p>
            <a:pPr algn="just">
              <a:spcBef>
                <a:spcPts val="400"/>
              </a:spcBef>
              <a:spcAft>
                <a:spcPts val="400"/>
              </a:spcAft>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Créé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par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Evan</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You en 2014. Il est particulièrement apprécié pour sa courbe d'apprentissage douce et sa flexibilité. </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JS</a:t>
            </a:r>
            <a:r>
              <a:rPr lang="fr-CI" dirty="0">
                <a:latin typeface="Times New Roman" panose="02020603050405020304" pitchFamily="18" charset="0"/>
                <a:ea typeface="Arial" panose="020B0604020202020204" pitchFamily="34" charset="0"/>
                <a:cs typeface="Times New Roman" panose="02020603050405020304" pitchFamily="18" charset="0"/>
              </a:rPr>
              <a:t> </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3" name="Titre 3">
            <a:extLst>
              <a:ext uri="{FF2B5EF4-FFF2-40B4-BE49-F238E27FC236}">
                <a16:creationId xmlns:a16="http://schemas.microsoft.com/office/drawing/2014/main" id="{FD2745D9-D935-5DCC-A026-8C0361F73C9F}"/>
              </a:ext>
            </a:extLst>
          </p:cNvPr>
          <p:cNvSpPr>
            <a:spLocks noGrp="1"/>
          </p:cNvSpPr>
          <p:nvPr>
            <p:ph type="title"/>
          </p:nvPr>
        </p:nvSpPr>
        <p:spPr>
          <a:xfrm>
            <a:off x="611560" y="116632"/>
            <a:ext cx="9145015" cy="648072"/>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3797776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80236" y="2126352"/>
            <a:ext cx="1005403" cy="369332"/>
          </a:xfrm>
          <a:prstGeom prst="rect">
            <a:avLst/>
          </a:prstGeom>
        </p:spPr>
        <p:txBody>
          <a:bodyPr wrap="none">
            <a:spAutoFit/>
          </a:bodyPr>
          <a:lstStyle/>
          <a:p>
            <a:r>
              <a:rPr lang="en-US" b="1" dirty="0" smtClean="0">
                <a:solidFill>
                  <a:srgbClr val="1F2937"/>
                </a:solidFill>
                <a:latin typeface="Times New Roman" panose="02020603050405020304" pitchFamily="18" charset="0"/>
                <a:cs typeface="Times New Roman" panose="02020603050405020304" pitchFamily="18" charset="0"/>
              </a:rPr>
              <a:t>Angular</a:t>
            </a:r>
            <a:endParaRPr lang="en-US"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5"/>
          <a:srcRect/>
          <a:stretch>
            <a:fillRect/>
          </a:stretch>
        </p:blipFill>
        <p:spPr bwMode="auto">
          <a:xfrm>
            <a:off x="702248" y="978696"/>
            <a:ext cx="1012676" cy="1142836"/>
          </a:xfrm>
          <a:prstGeom prst="rect">
            <a:avLst/>
          </a:prstGeom>
        </p:spPr>
      </p:pic>
      <p:sp>
        <p:nvSpPr>
          <p:cNvPr id="7" name="Rectangle 6"/>
          <p:cNvSpPr/>
          <p:nvPr/>
        </p:nvSpPr>
        <p:spPr>
          <a:xfrm>
            <a:off x="107504" y="2584066"/>
            <a:ext cx="4860032" cy="1477328"/>
          </a:xfrm>
          <a:prstGeom prst="rect">
            <a:avLst/>
          </a:prstGeom>
        </p:spPr>
        <p:txBody>
          <a:bodyPr wrap="square">
            <a:spAutoFit/>
          </a:bodyPr>
          <a:lstStyle/>
          <a:p>
            <a:pPr algn="just">
              <a:spcBef>
                <a:spcPts val="400"/>
              </a:spcBef>
              <a:spcAft>
                <a:spcPts val="400"/>
              </a:spcAft>
            </a:pP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Angular</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est un framework complet </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développé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par Google, publié en 2016. Contrairement à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React</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ou Vue,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Angular</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impose une architecture stricte basée sur les composants, services, modules et l'injection de dépendances. Il utilise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TypeScript</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par défaut.</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pic>
        <p:nvPicPr>
          <p:cNvPr id="11" name="Picture 10"/>
          <p:cNvPicPr/>
          <p:nvPr/>
        </p:nvPicPr>
        <p:blipFill>
          <a:blip r:embed="rId6"/>
          <a:srcRect/>
          <a:stretch>
            <a:fillRect/>
          </a:stretch>
        </p:blipFill>
        <p:spPr bwMode="auto">
          <a:xfrm>
            <a:off x="6300192" y="3025138"/>
            <a:ext cx="791642" cy="864096"/>
          </a:xfrm>
          <a:prstGeom prst="rect">
            <a:avLst/>
          </a:prstGeom>
        </p:spPr>
      </p:pic>
      <p:sp>
        <p:nvSpPr>
          <p:cNvPr id="12" name="Rectangle 11"/>
          <p:cNvSpPr/>
          <p:nvPr/>
        </p:nvSpPr>
        <p:spPr>
          <a:xfrm>
            <a:off x="6156176" y="3969060"/>
            <a:ext cx="1159292" cy="369332"/>
          </a:xfrm>
          <a:prstGeom prst="rect">
            <a:avLst/>
          </a:prstGeom>
        </p:spPr>
        <p:txBody>
          <a:bodyPr wrap="none">
            <a:spAutoFit/>
          </a:bodyPr>
          <a:lstStyle/>
          <a:p>
            <a:r>
              <a:rPr lang="en-US" b="1" dirty="0" smtClean="0">
                <a:solidFill>
                  <a:srgbClr val="1F2937"/>
                </a:solidFill>
                <a:latin typeface="Times New Roman" panose="02020603050405020304" pitchFamily="18" charset="0"/>
                <a:cs typeface="Times New Roman" panose="02020603050405020304" pitchFamily="18" charset="0"/>
              </a:rPr>
              <a:t>Bootstrap</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4070634" y="4621196"/>
            <a:ext cx="4865413" cy="1477328"/>
          </a:xfrm>
          <a:prstGeom prst="rect">
            <a:avLst/>
          </a:prstGeom>
        </p:spPr>
        <p:txBody>
          <a:bodyPr wrap="square">
            <a:spAutoFit/>
          </a:bodyPr>
          <a:lstStyle/>
          <a:p>
            <a:pPr algn="just">
              <a:spcBef>
                <a:spcPts val="400"/>
              </a:spcBef>
              <a:spcAft>
                <a:spcPts val="400"/>
              </a:spcAft>
            </a:pP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Bootstrap</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est un framework CSS open-source créé par Twitter en 2011. Il fournit un système de grille responsive, des composants préconçus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navbar</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cartes, modales, boutons) et des utilitaires CSS prêts à l'emploi.</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3" name="Titre 3">
            <a:extLst>
              <a:ext uri="{FF2B5EF4-FFF2-40B4-BE49-F238E27FC236}">
                <a16:creationId xmlns:a16="http://schemas.microsoft.com/office/drawing/2014/main" id="{FD2745D9-D935-5DCC-A026-8C0361F73C9F}"/>
              </a:ext>
            </a:extLst>
          </p:cNvPr>
          <p:cNvSpPr>
            <a:spLocks noGrp="1"/>
          </p:cNvSpPr>
          <p:nvPr>
            <p:ph type="title"/>
          </p:nvPr>
        </p:nvSpPr>
        <p:spPr>
          <a:xfrm>
            <a:off x="611560" y="116632"/>
            <a:ext cx="9145015" cy="648072"/>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34166541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p:nvPr/>
        </p:nvPicPr>
        <p:blipFill>
          <a:blip r:embed="rId5"/>
          <a:srcRect/>
          <a:stretch>
            <a:fillRect/>
          </a:stretch>
        </p:blipFill>
        <p:spPr bwMode="auto">
          <a:xfrm>
            <a:off x="1313312" y="1058582"/>
            <a:ext cx="1277888" cy="1440160"/>
          </a:xfrm>
          <a:prstGeom prst="rect">
            <a:avLst/>
          </a:prstGeom>
        </p:spPr>
      </p:pic>
      <p:sp>
        <p:nvSpPr>
          <p:cNvPr id="5" name="Rectangle 4"/>
          <p:cNvSpPr/>
          <p:nvPr/>
        </p:nvSpPr>
        <p:spPr>
          <a:xfrm>
            <a:off x="1187624" y="2271395"/>
            <a:ext cx="1529265" cy="369332"/>
          </a:xfrm>
          <a:prstGeom prst="rect">
            <a:avLst/>
          </a:prstGeom>
        </p:spPr>
        <p:txBody>
          <a:bodyPr wrap="none">
            <a:spAutoFit/>
          </a:bodyPr>
          <a:lstStyle/>
          <a:p>
            <a:r>
              <a:rPr lang="en-US" b="1"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Tailwind CSS</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539552" y="3005107"/>
            <a:ext cx="6408711" cy="923330"/>
          </a:xfrm>
          <a:prstGeom prst="rect">
            <a:avLst/>
          </a:prstGeom>
        </p:spPr>
        <p:txBody>
          <a:bodyPr wrap="square">
            <a:spAutoFit/>
          </a:bodyPr>
          <a:lstStyle/>
          <a:p>
            <a:pPr algn="just">
              <a:spcBef>
                <a:spcPts val="400"/>
              </a:spcBef>
              <a:spcAft>
                <a:spcPts val="400"/>
              </a:spcAft>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framework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CSS </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au </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lieu de composants préfabriqués, il propose des centaines de petites classes CSS (ex. :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flex</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p-4,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text</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-center) que l'on combine directement dans le HTML pour styliser les éléments.</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2" name="Titre 3">
            <a:extLst>
              <a:ext uri="{FF2B5EF4-FFF2-40B4-BE49-F238E27FC236}">
                <a16:creationId xmlns:a16="http://schemas.microsoft.com/office/drawing/2014/main" id="{FD2745D9-D935-5DCC-A026-8C0361F73C9F}"/>
              </a:ext>
            </a:extLst>
          </p:cNvPr>
          <p:cNvSpPr>
            <a:spLocks noGrp="1"/>
          </p:cNvSpPr>
          <p:nvPr>
            <p:ph type="title"/>
          </p:nvPr>
        </p:nvSpPr>
        <p:spPr>
          <a:xfrm>
            <a:off x="611560" y="116632"/>
            <a:ext cx="9145015" cy="648072"/>
          </a:xfrm>
        </p:spPr>
        <p:txBody>
          <a:bodyPr/>
          <a:lstStyle/>
          <a:p>
            <a:pPr marL="285750" indent="-285750">
              <a:buFont typeface="+mj-lt"/>
              <a:buAutoNum type="romanUcPeriod"/>
            </a:pPr>
            <a:r>
              <a:rPr lang="fr-CI" sz="2400" noProof="0" dirty="0" smtClean="0">
                <a:solidFill>
                  <a:srgbClr val="FF0000"/>
                </a:solidFill>
                <a:effectLst/>
              </a:rPr>
              <a:t>GENERALITES SUR LES OUTILS ET FRAMEWORK DE PRESENTATION (UI)</a:t>
            </a:r>
            <a:endParaRPr lang="fr-CI" sz="2400" noProof="0" dirty="0">
              <a:solidFill>
                <a:srgbClr val="FF0000"/>
              </a:solidFill>
            </a:endParaRPr>
          </a:p>
        </p:txBody>
      </p:sp>
    </p:spTree>
    <p:extLst>
      <p:ext uri="{BB962C8B-B14F-4D97-AF65-F5344CB8AC3E}">
        <p14:creationId xmlns:p14="http://schemas.microsoft.com/office/powerpoint/2010/main" val="1465638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400050" indent="-400050">
              <a:buFont typeface="+mj-lt"/>
              <a:buAutoNum type="romanUcPeriod" startAt="2"/>
            </a:pPr>
            <a:r>
              <a:rPr lang="en-US" sz="2400" dirty="0" smtClean="0">
                <a:solidFill>
                  <a:srgbClr val="FF0000"/>
                </a:solidFill>
                <a:effectLst/>
              </a:rPr>
              <a:t>CLIENT SIDE VS SERVER SIDE RENDERING</a:t>
            </a:r>
            <a:endParaRPr lang="en-US" sz="2400" dirty="0">
              <a:solidFill>
                <a:srgbClr val="FF0000"/>
              </a:solidFill>
              <a:effectLst/>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39552" y="980728"/>
            <a:ext cx="3102131" cy="369332"/>
          </a:xfrm>
          <a:prstGeom prst="rect">
            <a:avLst/>
          </a:prstGeom>
        </p:spPr>
        <p:txBody>
          <a:bodyPr wrap="none">
            <a:spAutoFit/>
          </a:bodyPr>
          <a:lstStyle/>
          <a:p>
            <a:pPr marL="342900" indent="-342900">
              <a:buFont typeface="+mj-lt"/>
              <a:buAutoNum type="arabicPeriod"/>
            </a:pPr>
            <a:r>
              <a:rPr lang="en-US"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Définitions fondamentales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179512" y="1452685"/>
            <a:ext cx="8893435" cy="3608680"/>
          </a:xfrm>
          <a:prstGeom prst="rect">
            <a:avLst/>
          </a:prstGeom>
        </p:spPr>
        <p:txBody>
          <a:bodyPr wrap="square">
            <a:spAutoFit/>
          </a:bodyPr>
          <a:lstStyle/>
          <a:p>
            <a:pPr algn="just">
              <a:spcBef>
                <a:spcPts val="1200"/>
              </a:spcBef>
              <a:spcAft>
                <a:spcPts val="600"/>
              </a:spcAft>
            </a:pPr>
            <a:r>
              <a:rPr lang="fr-CI" b="1" dirty="0" smtClean="0">
                <a:solidFill>
                  <a:srgbClr val="2E75B6"/>
                </a:solidFill>
                <a:latin typeface="Times New Roman" panose="02020603050405020304" pitchFamily="18" charset="0"/>
                <a:ea typeface="Arial" panose="020B0604020202020204" pitchFamily="34" charset="0"/>
                <a:cs typeface="Times New Roman" panose="02020603050405020304" pitchFamily="18" charset="0"/>
              </a:rPr>
              <a:t> </a:t>
            </a:r>
            <a:r>
              <a:rPr lang="fr-CI" b="1" dirty="0">
                <a:latin typeface="Times New Roman" panose="02020603050405020304" pitchFamily="18" charset="0"/>
                <a:ea typeface="Arial" panose="020B0604020202020204" pitchFamily="34" charset="0"/>
                <a:cs typeface="Times New Roman" panose="02020603050405020304" pitchFamily="18" charset="0"/>
              </a:rPr>
              <a:t>Le rendu côté serveur (SSR </a:t>
            </a:r>
            <a:r>
              <a:rPr lang="fr-CI" b="1" dirty="0" smtClean="0">
                <a:latin typeface="Times New Roman" panose="02020603050405020304" pitchFamily="18" charset="0"/>
                <a:ea typeface="Arial" panose="020B0604020202020204" pitchFamily="34" charset="0"/>
                <a:cs typeface="Times New Roman" panose="02020603050405020304" pitchFamily="18" charset="0"/>
              </a:rPr>
              <a:t> </a:t>
            </a:r>
            <a:r>
              <a:rPr lang="fr-CI" b="1" dirty="0">
                <a:latin typeface="Times New Roman" panose="02020603050405020304" pitchFamily="18" charset="0"/>
                <a:ea typeface="Arial" panose="020B0604020202020204" pitchFamily="34" charset="0"/>
                <a:cs typeface="Times New Roman" panose="02020603050405020304" pitchFamily="18" charset="0"/>
              </a:rPr>
              <a:t>Server-</a:t>
            </a:r>
            <a:r>
              <a:rPr lang="fr-CI" b="1" dirty="0" err="1">
                <a:latin typeface="Times New Roman" panose="02020603050405020304" pitchFamily="18" charset="0"/>
                <a:ea typeface="Arial" panose="020B0604020202020204" pitchFamily="34" charset="0"/>
                <a:cs typeface="Times New Roman" panose="02020603050405020304" pitchFamily="18" charset="0"/>
              </a:rPr>
              <a:t>Side</a:t>
            </a:r>
            <a:r>
              <a:rPr lang="fr-CI" b="1" dirty="0">
                <a:latin typeface="Times New Roman" panose="02020603050405020304" pitchFamily="18" charset="0"/>
                <a:ea typeface="Arial" panose="020B0604020202020204" pitchFamily="34" charset="0"/>
                <a:cs typeface="Times New Roman" panose="02020603050405020304" pitchFamily="18" charset="0"/>
              </a:rPr>
              <a:t> </a:t>
            </a:r>
            <a:r>
              <a:rPr lang="fr-CI" b="1" dirty="0" err="1">
                <a:latin typeface="Times New Roman" panose="02020603050405020304" pitchFamily="18" charset="0"/>
                <a:ea typeface="Arial" panose="020B0604020202020204" pitchFamily="34" charset="0"/>
                <a:cs typeface="Times New Roman" panose="02020603050405020304" pitchFamily="18" charset="0"/>
              </a:rPr>
              <a:t>Rendering</a:t>
            </a:r>
            <a:r>
              <a:rPr lang="fr-CI" b="1" dirty="0">
                <a:latin typeface="Times New Roman" panose="02020603050405020304" pitchFamily="18" charset="0"/>
                <a:ea typeface="Arial" panose="020B0604020202020204" pitchFamily="34" charset="0"/>
                <a:cs typeface="Times New Roman" panose="02020603050405020304" pitchFamily="18" charset="0"/>
              </a:rPr>
              <a: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algn="just">
              <a:spcBef>
                <a:spcPts val="400"/>
              </a:spcBef>
              <a:spcAft>
                <a:spcPts val="400"/>
              </a:spcAft>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Server-</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Side</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Rendering</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est un mode de rendu où le serveur génère le HTML complet de chaque page avant de l'envoyer au navigateur. L'utilisateur reçoit une page déjà rendue, lisible immédiatement.</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algn="just">
              <a:spcBef>
                <a:spcPts val="400"/>
              </a:spcBef>
              <a:spcAft>
                <a:spcPts val="400"/>
              </a:spcAft>
            </a:pPr>
            <a:r>
              <a:rPr lang="fr-CI" dirty="0">
                <a:latin typeface="Times New Roman" panose="02020603050405020304" pitchFamily="18" charset="0"/>
                <a:ea typeface="Arial" panose="020B0604020202020204" pitchFamily="34" charset="0"/>
                <a:cs typeface="Times New Roman" panose="02020603050405020304" pitchFamily="18" charset="0"/>
              </a:rPr>
              <a:t> </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algn="just">
              <a:spcBef>
                <a:spcPts val="400"/>
              </a:spcBef>
              <a:spcAft>
                <a:spcPts val="400"/>
              </a:spcAft>
            </a:pPr>
            <a:r>
              <a:rPr lang="fr-CI" b="1"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Comment ça fonctionne : </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L'utilisateur demande une page (ex. : /produit/123)</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serveur exécute le code (PHP, </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Python) </a:t>
            </a:r>
            <a:r>
              <a:rPr lang="en-US"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et </a:t>
            </a: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génère</a:t>
            </a: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le HTML </a:t>
            </a: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complet</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serveur envoie ce HTML au navigateur</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navigateur affiche la page immédiatement — le contenu est déjà là</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2760023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51520" y="1659395"/>
            <a:ext cx="8712968" cy="3388107"/>
          </a:xfrm>
          <a:prstGeom prst="rect">
            <a:avLst/>
          </a:prstGeom>
        </p:spPr>
        <p:txBody>
          <a:bodyPr wrap="square">
            <a:spAutoFit/>
          </a:bodyPr>
          <a:lstStyle/>
          <a:p>
            <a:pPr algn="just">
              <a:spcBef>
                <a:spcPts val="400"/>
              </a:spcBef>
              <a:spcAft>
                <a:spcPts val="400"/>
              </a:spcAft>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Client-</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Side</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Rendering</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est un mode de rendu où le navigateur de l'utilisateur est responsable de la construction et de l'affichage de l'interface. Le serveur envoie un fichier HTML minimal (souvent un simple &lt;div id="</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app</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"&gt;), et c'est JavaScript qui construit dynamiquement tout le contenu dans le navigateur.</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algn="just">
              <a:spcBef>
                <a:spcPts val="400"/>
              </a:spcBef>
              <a:spcAft>
                <a:spcPts val="400"/>
              </a:spcAft>
            </a:pPr>
            <a:r>
              <a:rPr lang="fr-CI" dirty="0">
                <a:latin typeface="Times New Roman" panose="02020603050405020304" pitchFamily="18" charset="0"/>
                <a:ea typeface="Arial" panose="020B0604020202020204" pitchFamily="34" charset="0"/>
                <a:cs typeface="Times New Roman" panose="02020603050405020304" pitchFamily="18" charset="0"/>
              </a:rPr>
              <a:t> </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algn="just">
              <a:spcBef>
                <a:spcPts val="400"/>
              </a:spcBef>
              <a:spcAft>
                <a:spcPts val="400"/>
              </a:spcAft>
            </a:pPr>
            <a:r>
              <a:rPr lang="en-US" b="1"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Comment </a:t>
            </a:r>
            <a:r>
              <a:rPr lang="en-US" b="1"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ça</a:t>
            </a:r>
            <a:r>
              <a:rPr lang="en-US" b="1"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en-US" b="1"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fonctionne</a:t>
            </a:r>
            <a:r>
              <a:rPr lang="en-US" b="1"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 </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navigateur télécharge le fichier HTML (presque vide)</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navigateur télécharge le bundle JavaScript (souvent plusieurs Mo)</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JavaScript s'exécute et construit le DOM (l'interface visible)</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Bef>
                <a:spcPts val="300"/>
              </a:spcBef>
              <a:spcAft>
                <a:spcPts val="300"/>
              </a:spcAft>
              <a:buFont typeface="+mj-lt"/>
              <a:buAutoNum type="arabicPeriod"/>
            </a:pP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L'application</a:t>
            </a: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a:t>
            </a:r>
            <a:r>
              <a:rPr lang="en-US"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est</a:t>
            </a:r>
            <a:r>
              <a:rPr lang="en-US"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interactive</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9" name="Rectangle 8"/>
          <p:cNvSpPr/>
          <p:nvPr/>
        </p:nvSpPr>
        <p:spPr>
          <a:xfrm>
            <a:off x="395536" y="1038299"/>
            <a:ext cx="7128792" cy="369332"/>
          </a:xfrm>
          <a:prstGeom prst="rect">
            <a:avLst/>
          </a:prstGeom>
        </p:spPr>
        <p:txBody>
          <a:bodyPr wrap="square">
            <a:spAutoFit/>
          </a:bodyPr>
          <a:lstStyle/>
          <a:p>
            <a:r>
              <a:rPr lang="fr-CI" b="1" dirty="0">
                <a:latin typeface="Times New Roman" panose="02020603050405020304" pitchFamily="18" charset="0"/>
                <a:ea typeface="Arial" panose="020B0604020202020204" pitchFamily="34" charset="0"/>
                <a:cs typeface="Times New Roman" panose="02020603050405020304" pitchFamily="18" charset="0"/>
              </a:rPr>
              <a:t>Le rendu côté client (CSR </a:t>
            </a:r>
            <a:r>
              <a:rPr lang="fr-CI" b="1" dirty="0" smtClean="0">
                <a:latin typeface="Times New Roman" panose="02020603050405020304" pitchFamily="18" charset="0"/>
                <a:ea typeface="Arial" panose="020B0604020202020204" pitchFamily="34" charset="0"/>
                <a:cs typeface="Times New Roman" panose="02020603050405020304" pitchFamily="18" charset="0"/>
              </a:rPr>
              <a:t>Client-</a:t>
            </a:r>
            <a:r>
              <a:rPr lang="fr-CI" b="1" dirty="0" err="1" smtClean="0">
                <a:latin typeface="Times New Roman" panose="02020603050405020304" pitchFamily="18" charset="0"/>
                <a:ea typeface="Arial" panose="020B0604020202020204" pitchFamily="34" charset="0"/>
                <a:cs typeface="Times New Roman" panose="02020603050405020304" pitchFamily="18" charset="0"/>
              </a:rPr>
              <a:t>Side</a:t>
            </a:r>
            <a:r>
              <a:rPr lang="fr-CI" b="1" dirty="0" smtClean="0">
                <a:latin typeface="Times New Roman" panose="02020603050405020304" pitchFamily="18" charset="0"/>
                <a:ea typeface="Arial" panose="020B0604020202020204" pitchFamily="34" charset="0"/>
                <a:cs typeface="Times New Roman" panose="02020603050405020304" pitchFamily="18" charset="0"/>
              </a:rPr>
              <a:t> </a:t>
            </a:r>
            <a:r>
              <a:rPr lang="fr-CI" b="1" dirty="0" err="1">
                <a:latin typeface="Times New Roman" panose="02020603050405020304" pitchFamily="18" charset="0"/>
                <a:ea typeface="Arial" panose="020B0604020202020204" pitchFamily="34" charset="0"/>
                <a:cs typeface="Times New Roman" panose="02020603050405020304" pitchFamily="18" charset="0"/>
              </a:rPr>
              <a:t>Rendering</a:t>
            </a:r>
            <a:r>
              <a:rPr lang="fr-CI" b="1" dirty="0">
                <a:latin typeface="Times New Roman" panose="02020603050405020304" pitchFamily="18" charset="0"/>
                <a:ea typeface="Arial" panose="020B0604020202020204" pitchFamily="34"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400050" indent="-400050">
              <a:buFont typeface="+mj-lt"/>
              <a:buAutoNum type="romanUcPeriod" startAt="2"/>
            </a:pPr>
            <a:r>
              <a:rPr lang="en-US" sz="2400" dirty="0" smtClean="0">
                <a:solidFill>
                  <a:srgbClr val="FF0000"/>
                </a:solidFill>
                <a:effectLst/>
              </a:rPr>
              <a:t>CLIENT SIDE VS SERVER SIDE RENDERING</a:t>
            </a:r>
            <a:endParaRPr lang="en-US" sz="2400" dirty="0">
              <a:solidFill>
                <a:srgbClr val="FF0000"/>
              </a:solidFill>
              <a:effectLst/>
            </a:endParaRPr>
          </a:p>
        </p:txBody>
      </p:sp>
    </p:spTree>
    <p:extLst>
      <p:ext uri="{BB962C8B-B14F-4D97-AF65-F5344CB8AC3E}">
        <p14:creationId xmlns:p14="http://schemas.microsoft.com/office/powerpoint/2010/main" val="2413838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467544" y="962260"/>
            <a:ext cx="4470006" cy="369332"/>
          </a:xfrm>
          <a:prstGeom prst="rect">
            <a:avLst/>
          </a:prstGeom>
        </p:spPr>
        <p:txBody>
          <a:bodyPr wrap="none">
            <a:spAutoFit/>
          </a:bodyPr>
          <a:lstStyle/>
          <a:p>
            <a:pPr marL="342900" indent="-342900">
              <a:buFont typeface="+mj-lt"/>
              <a:buAutoNum type="arabicPeriod" startAt="2"/>
            </a:pPr>
            <a:r>
              <a:rPr lang="en-US" b="1" dirty="0" err="1" smtClean="0">
                <a:solidFill>
                  <a:srgbClr val="FF0000"/>
                </a:solidFill>
                <a:latin typeface="Times New Roman" panose="02020603050405020304" pitchFamily="18" charset="0"/>
                <a:ea typeface="Arial" panose="020B0604020202020204" pitchFamily="34" charset="0"/>
                <a:cs typeface="Times New Roman" panose="02020603050405020304" pitchFamily="18" charset="0"/>
              </a:rPr>
              <a:t>Avantages</a:t>
            </a:r>
            <a:r>
              <a:rPr lang="en-US" b="1" dirty="0" smtClean="0">
                <a:solidFill>
                  <a:srgbClr val="FF0000"/>
                </a:solidFill>
                <a:latin typeface="Times New Roman" panose="02020603050405020304" pitchFamily="18" charset="0"/>
                <a:ea typeface="Arial" panose="020B0604020202020204" pitchFamily="34" charset="0"/>
                <a:cs typeface="Times New Roman" panose="02020603050405020304" pitchFamily="18" charset="0"/>
              </a:rPr>
              <a:t> et </a:t>
            </a:r>
            <a:r>
              <a:rPr lang="en-US" b="1" dirty="0" err="1" smtClean="0">
                <a:solidFill>
                  <a:srgbClr val="FF0000"/>
                </a:solidFill>
                <a:latin typeface="Times New Roman" panose="02020603050405020304" pitchFamily="18" charset="0"/>
                <a:ea typeface="Arial" panose="020B0604020202020204" pitchFamily="34" charset="0"/>
                <a:cs typeface="Times New Roman" panose="02020603050405020304" pitchFamily="18" charset="0"/>
              </a:rPr>
              <a:t>Inconvenients</a:t>
            </a:r>
            <a:r>
              <a:rPr lang="en-US" b="1" dirty="0" smtClean="0">
                <a:solidFill>
                  <a:srgbClr val="FF0000"/>
                </a:solidFill>
                <a:latin typeface="Times New Roman" panose="02020603050405020304" pitchFamily="18" charset="0"/>
                <a:ea typeface="Arial" panose="020B0604020202020204" pitchFamily="34" charset="0"/>
                <a:cs typeface="Times New Roman" panose="02020603050405020304" pitchFamily="18" charset="0"/>
              </a:rPr>
              <a:t> CSR </a:t>
            </a:r>
            <a:r>
              <a:rPr lang="en-US"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vs SSR</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82505" rIns="0" bIns="182505" numCol="1" anchor="ctr" anchorCtr="0" compatLnSpc="1">
            <a:prstTxWarp prst="textNoShape">
              <a:avLst/>
            </a:prstTxWarp>
            <a:spAutoFit/>
          </a:bodyPr>
          <a:lstStyle/>
          <a:p>
            <a:endParaRPr lang="en-US"/>
          </a:p>
        </p:txBody>
      </p:sp>
      <p:sp>
        <p:nvSpPr>
          <p:cNvPr id="8" name="Rectangle 3"/>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2578123345"/>
              </p:ext>
            </p:extLst>
          </p:nvPr>
        </p:nvGraphicFramePr>
        <p:xfrm>
          <a:off x="395536" y="1454994"/>
          <a:ext cx="8064894" cy="4310197"/>
        </p:xfrm>
        <a:graphic>
          <a:graphicData uri="http://schemas.openxmlformats.org/drawingml/2006/table">
            <a:tbl>
              <a:tblPr/>
              <a:tblGrid>
                <a:gridCol w="2688298">
                  <a:extLst>
                    <a:ext uri="{9D8B030D-6E8A-4147-A177-3AD203B41FA5}">
                      <a16:colId xmlns:a16="http://schemas.microsoft.com/office/drawing/2014/main" val="2878208331"/>
                    </a:ext>
                  </a:extLst>
                </a:gridCol>
                <a:gridCol w="2688298">
                  <a:extLst>
                    <a:ext uri="{9D8B030D-6E8A-4147-A177-3AD203B41FA5}">
                      <a16:colId xmlns:a16="http://schemas.microsoft.com/office/drawing/2014/main" val="1576090739"/>
                    </a:ext>
                  </a:extLst>
                </a:gridCol>
                <a:gridCol w="2688298">
                  <a:extLst>
                    <a:ext uri="{9D8B030D-6E8A-4147-A177-3AD203B41FA5}">
                      <a16:colId xmlns:a16="http://schemas.microsoft.com/office/drawing/2014/main" val="2980899743"/>
                    </a:ext>
                  </a:extLst>
                </a:gridCol>
              </a:tblGrid>
              <a:tr h="405883">
                <a:tc>
                  <a:txBody>
                    <a:bodyPr/>
                    <a:lstStyle/>
                    <a:p>
                      <a:r>
                        <a:rPr lang="en-US" sz="1400" b="1">
                          <a:latin typeface="Times New Roman" panose="02020603050405020304" pitchFamily="18" charset="0"/>
                          <a:cs typeface="Times New Roman" panose="02020603050405020304" pitchFamily="18" charset="0"/>
                        </a:rPr>
                        <a:t>Critère</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SSR (Server-Side Rendering)</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CSR (Client-Side Rendering)</a:t>
                      </a:r>
                    </a:p>
                  </a:txBody>
                  <a:tcPr marL="65991" marR="65991" marT="32996" marB="32996" anchor="ctr">
                    <a:lnL>
                      <a:noFill/>
                    </a:lnL>
                    <a:lnR>
                      <a:noFill/>
                    </a:lnR>
                    <a:lnT>
                      <a:noFill/>
                    </a:lnT>
                    <a:lnB>
                      <a:noFill/>
                    </a:lnB>
                  </a:tcPr>
                </a:tc>
                <a:extLst>
                  <a:ext uri="{0D108BD9-81ED-4DB2-BD59-A6C34878D82A}">
                    <a16:rowId xmlns:a16="http://schemas.microsoft.com/office/drawing/2014/main" val="2465563122"/>
                  </a:ext>
                </a:extLst>
              </a:tr>
              <a:tr h="406139">
                <a:tc>
                  <a:txBody>
                    <a:bodyPr/>
                    <a:lstStyle/>
                    <a:p>
                      <a:r>
                        <a:rPr lang="en-US" sz="1400" b="1">
                          <a:latin typeface="Times New Roman" panose="02020603050405020304" pitchFamily="18" charset="0"/>
                          <a:cs typeface="Times New Roman" panose="02020603050405020304" pitchFamily="18" charset="0"/>
                        </a:rPr>
                        <a:t>SEO / Référencement</a:t>
                      </a:r>
                    </a:p>
                  </a:txBody>
                  <a:tcPr marL="65991" marR="65991" marT="32996" marB="32996" anchor="ctr">
                    <a:lnL>
                      <a:noFill/>
                    </a:lnL>
                    <a:lnR>
                      <a:noFill/>
                    </a:lnR>
                    <a:lnT>
                      <a:noFill/>
                    </a:lnT>
                    <a:lnB>
                      <a:noFill/>
                    </a:lnB>
                  </a:tcPr>
                </a:tc>
                <a:tc>
                  <a:txBody>
                    <a:bodyPr/>
                    <a:lstStyle/>
                    <a:p>
                      <a:r>
                        <a:rPr lang="en-US" sz="1400" b="1" dirty="0">
                          <a:latin typeface="Times New Roman" panose="02020603050405020304" pitchFamily="18" charset="0"/>
                          <a:cs typeface="Times New Roman" panose="02020603050405020304" pitchFamily="18" charset="0"/>
                        </a:rPr>
                        <a:t>🟢 Excellent</a:t>
                      </a:r>
                    </a:p>
                  </a:txBody>
                  <a:tcPr marL="65991" marR="65991" marT="32996" marB="32996" anchor="ctr">
                    <a:lnL>
                      <a:noFill/>
                    </a:lnL>
                    <a:lnR>
                      <a:noFill/>
                    </a:lnR>
                    <a:lnT>
                      <a:noFill/>
                    </a:lnT>
                    <a:lnB>
                      <a:noFill/>
                    </a:lnB>
                  </a:tcPr>
                </a:tc>
                <a:tc>
                  <a:txBody>
                    <a:bodyPr/>
                    <a:lstStyle/>
                    <a:p>
                      <a:r>
                        <a:rPr lang="fr-FR" sz="1400" b="1">
                          <a:latin typeface="Times New Roman" panose="02020603050405020304" pitchFamily="18" charset="0"/>
                          <a:cs typeface="Times New Roman" panose="02020603050405020304" pitchFamily="18" charset="0"/>
                        </a:rPr>
                        <a:t>🔴 Faible / Plus difficile à optimiser</a:t>
                      </a:r>
                    </a:p>
                  </a:txBody>
                  <a:tcPr marL="65991" marR="65991" marT="32996" marB="32996" anchor="ctr">
                    <a:lnL>
                      <a:noFill/>
                    </a:lnL>
                    <a:lnR>
                      <a:noFill/>
                    </a:lnR>
                    <a:lnT>
                      <a:noFill/>
                    </a:lnT>
                    <a:lnB>
                      <a:noFill/>
                    </a:lnB>
                  </a:tcPr>
                </a:tc>
                <a:extLst>
                  <a:ext uri="{0D108BD9-81ED-4DB2-BD59-A6C34878D82A}">
                    <a16:rowId xmlns:a16="http://schemas.microsoft.com/office/drawing/2014/main" val="4127047775"/>
                  </a:ext>
                </a:extLst>
              </a:tr>
              <a:tr h="406139">
                <a:tc>
                  <a:txBody>
                    <a:bodyPr/>
                    <a:lstStyle/>
                    <a:p>
                      <a:r>
                        <a:rPr lang="en-US" sz="1400" b="1">
                          <a:latin typeface="Times New Roman" panose="02020603050405020304" pitchFamily="18" charset="0"/>
                          <a:cs typeface="Times New Roman" panose="02020603050405020304" pitchFamily="18" charset="0"/>
                        </a:rPr>
                        <a:t>Vitesse de chargement initiale</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Rapide</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Plus lente</a:t>
                      </a:r>
                    </a:p>
                  </a:txBody>
                  <a:tcPr marL="65991" marR="65991" marT="32996" marB="32996" anchor="ctr">
                    <a:lnL>
                      <a:noFill/>
                    </a:lnL>
                    <a:lnR>
                      <a:noFill/>
                    </a:lnR>
                    <a:lnT>
                      <a:noFill/>
                    </a:lnT>
                    <a:lnB>
                      <a:noFill/>
                    </a:lnB>
                  </a:tcPr>
                </a:tc>
                <a:extLst>
                  <a:ext uri="{0D108BD9-81ED-4DB2-BD59-A6C34878D82A}">
                    <a16:rowId xmlns:a16="http://schemas.microsoft.com/office/drawing/2014/main" val="1521979055"/>
                  </a:ext>
                </a:extLst>
              </a:tr>
              <a:tr h="579833">
                <a:tc>
                  <a:txBody>
                    <a:bodyPr/>
                    <a:lstStyle/>
                    <a:p>
                      <a:r>
                        <a:rPr lang="en-US" sz="1400" b="1">
                          <a:latin typeface="Times New Roman" panose="02020603050405020304" pitchFamily="18" charset="0"/>
                          <a:cs typeface="Times New Roman" panose="02020603050405020304" pitchFamily="18" charset="0"/>
                        </a:rPr>
                        <a:t>Navigation interne</a:t>
                      </a:r>
                    </a:p>
                  </a:txBody>
                  <a:tcPr marL="65991" marR="65991" marT="32996" marB="32996" anchor="ctr">
                    <a:lnL>
                      <a:noFill/>
                    </a:lnL>
                    <a:lnR>
                      <a:noFill/>
                    </a:lnR>
                    <a:lnT>
                      <a:noFill/>
                    </a:lnT>
                    <a:lnB>
                      <a:noFill/>
                    </a:lnB>
                  </a:tcPr>
                </a:tc>
                <a:tc>
                  <a:txBody>
                    <a:bodyPr/>
                    <a:lstStyle/>
                    <a:p>
                      <a:r>
                        <a:rPr lang="fr-FR" sz="1400" b="1">
                          <a:latin typeface="Times New Roman" panose="02020603050405020304" pitchFamily="18" charset="0"/>
                          <a:cs typeface="Times New Roman" panose="02020603050405020304" pitchFamily="18" charset="0"/>
                        </a:rPr>
                        <a:t>🟡 Moyenne (rechargement ou rendu côté serveur)</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Très rapide</a:t>
                      </a:r>
                    </a:p>
                  </a:txBody>
                  <a:tcPr marL="65991" marR="65991" marT="32996" marB="32996" anchor="ctr">
                    <a:lnL>
                      <a:noFill/>
                    </a:lnL>
                    <a:lnR>
                      <a:noFill/>
                    </a:lnR>
                    <a:lnT>
                      <a:noFill/>
                    </a:lnT>
                    <a:lnB>
                      <a:noFill/>
                    </a:lnB>
                  </a:tcPr>
                </a:tc>
                <a:extLst>
                  <a:ext uri="{0D108BD9-81ED-4DB2-BD59-A6C34878D82A}">
                    <a16:rowId xmlns:a16="http://schemas.microsoft.com/office/drawing/2014/main" val="1871055212"/>
                  </a:ext>
                </a:extLst>
              </a:tr>
              <a:tr h="580217">
                <a:tc>
                  <a:txBody>
                    <a:bodyPr/>
                    <a:lstStyle/>
                    <a:p>
                      <a:r>
                        <a:rPr lang="en-US" sz="1400" b="1">
                          <a:latin typeface="Times New Roman" panose="02020603050405020304" pitchFamily="18" charset="0"/>
                          <a:cs typeface="Times New Roman" panose="02020603050405020304" pitchFamily="18" charset="0"/>
                        </a:rPr>
                        <a:t>Applications dynamiques</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Moins adapté</a:t>
                      </a:r>
                    </a:p>
                  </a:txBody>
                  <a:tcPr marL="65991" marR="65991" marT="32996" marB="32996" anchor="ctr">
                    <a:lnL>
                      <a:noFill/>
                    </a:lnL>
                    <a:lnR>
                      <a:noFill/>
                    </a:lnR>
                    <a:lnT>
                      <a:noFill/>
                    </a:lnT>
                    <a:lnB>
                      <a:noFill/>
                    </a:lnB>
                  </a:tcPr>
                </a:tc>
                <a:tc>
                  <a:txBody>
                    <a:bodyPr/>
                    <a:lstStyle/>
                    <a:p>
                      <a:r>
                        <a:rPr lang="fr-FR" sz="1400" b="1">
                          <a:latin typeface="Times New Roman" panose="02020603050405020304" pitchFamily="18" charset="0"/>
                          <a:cs typeface="Times New Roman" panose="02020603050405020304" pitchFamily="18" charset="0"/>
                        </a:rPr>
                        <a:t>🟢 Idéal (tableaux de bord, SaaS, applications interactives)</a:t>
                      </a:r>
                    </a:p>
                  </a:txBody>
                  <a:tcPr marL="65991" marR="65991" marT="32996" marB="32996" anchor="ctr">
                    <a:lnL>
                      <a:noFill/>
                    </a:lnL>
                    <a:lnR>
                      <a:noFill/>
                    </a:lnR>
                    <a:lnT>
                      <a:noFill/>
                    </a:lnT>
                    <a:lnB>
                      <a:noFill/>
                    </a:lnB>
                  </a:tcPr>
                </a:tc>
                <a:extLst>
                  <a:ext uri="{0D108BD9-81ED-4DB2-BD59-A6C34878D82A}">
                    <a16:rowId xmlns:a16="http://schemas.microsoft.com/office/drawing/2014/main" val="4163919272"/>
                  </a:ext>
                </a:extLst>
              </a:tr>
              <a:tr h="232062">
                <a:tc>
                  <a:txBody>
                    <a:bodyPr/>
                    <a:lstStyle/>
                    <a:p>
                      <a:r>
                        <a:rPr lang="en-US" sz="1400" b="1" dirty="0">
                          <a:latin typeface="Times New Roman" panose="02020603050405020304" pitchFamily="18" charset="0"/>
                          <a:cs typeface="Times New Roman" panose="02020603050405020304" pitchFamily="18" charset="0"/>
                        </a:rPr>
                        <a:t>Charge serveur</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Plus élevée</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Plus faible</a:t>
                      </a:r>
                    </a:p>
                  </a:txBody>
                  <a:tcPr marL="65991" marR="65991" marT="32996" marB="32996" anchor="ctr">
                    <a:lnL>
                      <a:noFill/>
                    </a:lnL>
                    <a:lnR>
                      <a:noFill/>
                    </a:lnR>
                    <a:lnT>
                      <a:noFill/>
                    </a:lnT>
                    <a:lnB>
                      <a:noFill/>
                    </a:lnB>
                  </a:tcPr>
                </a:tc>
                <a:extLst>
                  <a:ext uri="{0D108BD9-81ED-4DB2-BD59-A6C34878D82A}">
                    <a16:rowId xmlns:a16="http://schemas.microsoft.com/office/drawing/2014/main" val="1375845402"/>
                  </a:ext>
                </a:extLst>
              </a:tr>
              <a:tr h="406139">
                <a:tc>
                  <a:txBody>
                    <a:bodyPr/>
                    <a:lstStyle/>
                    <a:p>
                      <a:r>
                        <a:rPr lang="en-US" sz="1400" b="1" dirty="0" err="1">
                          <a:latin typeface="Times New Roman" panose="02020603050405020304" pitchFamily="18" charset="0"/>
                          <a:cs typeface="Times New Roman" panose="02020603050405020304" pitchFamily="18" charset="0"/>
                        </a:rPr>
                        <a:t>Expérience</a:t>
                      </a:r>
                      <a:r>
                        <a:rPr lang="en-US" sz="1400" b="1" dirty="0">
                          <a:latin typeface="Times New Roman" panose="02020603050405020304" pitchFamily="18" charset="0"/>
                          <a:cs typeface="Times New Roman" panose="02020603050405020304" pitchFamily="18" charset="0"/>
                        </a:rPr>
                        <a:t> utilisateur</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Bonne</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Excellente après chargement</a:t>
                      </a:r>
                    </a:p>
                  </a:txBody>
                  <a:tcPr marL="65991" marR="65991" marT="32996" marB="32996" anchor="ctr">
                    <a:lnL>
                      <a:noFill/>
                    </a:lnL>
                    <a:lnR>
                      <a:noFill/>
                    </a:lnR>
                    <a:lnT>
                      <a:noFill/>
                    </a:lnT>
                    <a:lnB>
                      <a:noFill/>
                    </a:lnB>
                  </a:tcPr>
                </a:tc>
                <a:extLst>
                  <a:ext uri="{0D108BD9-81ED-4DB2-BD59-A6C34878D82A}">
                    <a16:rowId xmlns:a16="http://schemas.microsoft.com/office/drawing/2014/main" val="1162977969"/>
                  </a:ext>
                </a:extLst>
              </a:tr>
              <a:tr h="406139">
                <a:tc>
                  <a:txBody>
                    <a:bodyPr/>
                    <a:lstStyle/>
                    <a:p>
                      <a:r>
                        <a:rPr lang="en-US" sz="1400" b="1" dirty="0" err="1">
                          <a:latin typeface="Times New Roman" panose="02020603050405020304" pitchFamily="18" charset="0"/>
                          <a:cs typeface="Times New Roman" panose="02020603050405020304" pitchFamily="18" charset="0"/>
                        </a:rPr>
                        <a:t>Complexité</a:t>
                      </a:r>
                      <a:r>
                        <a:rPr lang="en-US" sz="1400" b="1" dirty="0">
                          <a:latin typeface="Times New Roman" panose="02020603050405020304" pitchFamily="18" charset="0"/>
                          <a:cs typeface="Times New Roman" panose="02020603050405020304" pitchFamily="18" charset="0"/>
                        </a:rPr>
                        <a:t> de développement</a:t>
                      </a:r>
                    </a:p>
                  </a:txBody>
                  <a:tcPr marL="65991" marR="65991" marT="32996" marB="32996" anchor="ctr">
                    <a:lnL>
                      <a:noFill/>
                    </a:lnL>
                    <a:lnR>
                      <a:noFill/>
                    </a:lnR>
                    <a:lnT>
                      <a:noFill/>
                    </a:lnT>
                    <a:lnB>
                      <a:noFill/>
                    </a:lnB>
                  </a:tcPr>
                </a:tc>
                <a:tc>
                  <a:txBody>
                    <a:bodyPr/>
                    <a:lstStyle/>
                    <a:p>
                      <a:r>
                        <a:rPr lang="en-US" sz="1400" b="1">
                          <a:latin typeface="Times New Roman" panose="02020603050405020304" pitchFamily="18" charset="0"/>
                          <a:cs typeface="Times New Roman" panose="02020603050405020304" pitchFamily="18" charset="0"/>
                        </a:rPr>
                        <a:t>🟡 Moyenne à élevée</a:t>
                      </a:r>
                    </a:p>
                  </a:txBody>
                  <a:tcPr marL="65991" marR="65991" marT="32996" marB="32996" anchor="ctr">
                    <a:lnL>
                      <a:noFill/>
                    </a:lnL>
                    <a:lnR>
                      <a:noFill/>
                    </a:lnR>
                    <a:lnT>
                      <a:noFill/>
                    </a:lnT>
                    <a:lnB>
                      <a:noFill/>
                    </a:lnB>
                  </a:tcPr>
                </a:tc>
                <a:tc>
                  <a:txBody>
                    <a:bodyPr/>
                    <a:lstStyle/>
                    <a:p>
                      <a:r>
                        <a:rPr lang="fr-FR" sz="1400" b="1">
                          <a:latin typeface="Times New Roman" panose="02020603050405020304" pitchFamily="18" charset="0"/>
                          <a:cs typeface="Times New Roman" panose="02020603050405020304" pitchFamily="18" charset="0"/>
                        </a:rPr>
                        <a:t>🟢 Plus simple à mettre en place</a:t>
                      </a:r>
                    </a:p>
                  </a:txBody>
                  <a:tcPr marL="65991" marR="65991" marT="32996" marB="32996" anchor="ctr">
                    <a:lnL>
                      <a:noFill/>
                    </a:lnL>
                    <a:lnR>
                      <a:noFill/>
                    </a:lnR>
                    <a:lnT>
                      <a:noFill/>
                    </a:lnT>
                    <a:lnB>
                      <a:noFill/>
                    </a:lnB>
                  </a:tcPr>
                </a:tc>
                <a:extLst>
                  <a:ext uri="{0D108BD9-81ED-4DB2-BD59-A6C34878D82A}">
                    <a16:rowId xmlns:a16="http://schemas.microsoft.com/office/drawing/2014/main" val="236104791"/>
                  </a:ext>
                </a:extLst>
              </a:tr>
              <a:tr h="753783">
                <a:tc>
                  <a:txBody>
                    <a:bodyPr/>
                    <a:lstStyle/>
                    <a:p>
                      <a:r>
                        <a:rPr lang="en-US" sz="1400" b="1" dirty="0" err="1">
                          <a:latin typeface="Times New Roman" panose="02020603050405020304" pitchFamily="18" charset="0"/>
                          <a:cs typeface="Times New Roman" panose="02020603050405020304" pitchFamily="18" charset="0"/>
                        </a:rPr>
                        <a:t>Exemples</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d'utilisation</a:t>
                      </a:r>
                      <a:endParaRPr lang="en-US" sz="1400" b="1" dirty="0">
                        <a:latin typeface="Times New Roman" panose="02020603050405020304" pitchFamily="18" charset="0"/>
                        <a:cs typeface="Times New Roman" panose="02020603050405020304" pitchFamily="18" charset="0"/>
                      </a:endParaRPr>
                    </a:p>
                  </a:txBody>
                  <a:tcPr marL="65991" marR="65991" marT="32996" marB="32996" anchor="ctr">
                    <a:lnL>
                      <a:noFill/>
                    </a:lnL>
                    <a:lnR>
                      <a:noFill/>
                    </a:lnR>
                    <a:lnT>
                      <a:noFill/>
                    </a:lnT>
                    <a:lnB>
                      <a:noFill/>
                    </a:lnB>
                  </a:tcPr>
                </a:tc>
                <a:tc>
                  <a:txBody>
                    <a:bodyPr/>
                    <a:lstStyle/>
                    <a:p>
                      <a:r>
                        <a:rPr lang="fr-FR" sz="1400" b="1" dirty="0">
                          <a:latin typeface="Times New Roman" panose="02020603050405020304" pitchFamily="18" charset="0"/>
                          <a:cs typeface="Times New Roman" panose="02020603050405020304" pitchFamily="18" charset="0"/>
                        </a:rPr>
                        <a:t>Sites vitrines, blogs, e-commerce, sites institutionnels</a:t>
                      </a:r>
                    </a:p>
                  </a:txBody>
                  <a:tcPr marL="65991" marR="65991" marT="32996" marB="32996" anchor="ctr">
                    <a:lnL>
                      <a:noFill/>
                    </a:lnL>
                    <a:lnR>
                      <a:noFill/>
                    </a:lnR>
                    <a:lnT>
                      <a:noFill/>
                    </a:lnT>
                    <a:lnB>
                      <a:noFill/>
                    </a:lnB>
                  </a:tcPr>
                </a:tc>
                <a:tc>
                  <a:txBody>
                    <a:bodyPr/>
                    <a:lstStyle/>
                    <a:p>
                      <a:r>
                        <a:rPr lang="fr-FR" sz="1400" b="1" dirty="0">
                          <a:latin typeface="Times New Roman" panose="02020603050405020304" pitchFamily="18" charset="0"/>
                          <a:cs typeface="Times New Roman" panose="02020603050405020304" pitchFamily="18" charset="0"/>
                        </a:rPr>
                        <a:t>Réseaux sociaux, tableaux de bord, applications métier, </a:t>
                      </a:r>
                      <a:r>
                        <a:rPr lang="fr-FR" sz="1400" b="1" dirty="0" err="1">
                          <a:latin typeface="Times New Roman" panose="02020603050405020304" pitchFamily="18" charset="0"/>
                          <a:cs typeface="Times New Roman" panose="02020603050405020304" pitchFamily="18" charset="0"/>
                        </a:rPr>
                        <a:t>SaaS</a:t>
                      </a:r>
                      <a:endParaRPr lang="fr-FR" sz="1400" b="1" dirty="0">
                        <a:latin typeface="Times New Roman" panose="02020603050405020304" pitchFamily="18" charset="0"/>
                        <a:cs typeface="Times New Roman" panose="02020603050405020304" pitchFamily="18" charset="0"/>
                      </a:endParaRPr>
                    </a:p>
                  </a:txBody>
                  <a:tcPr marL="65991" marR="65991" marT="32996" marB="32996" anchor="ctr">
                    <a:lnL>
                      <a:noFill/>
                    </a:lnL>
                    <a:lnR>
                      <a:noFill/>
                    </a:lnR>
                    <a:lnT>
                      <a:noFill/>
                    </a:lnT>
                    <a:lnB>
                      <a:noFill/>
                    </a:lnB>
                  </a:tcPr>
                </a:tc>
                <a:extLst>
                  <a:ext uri="{0D108BD9-81ED-4DB2-BD59-A6C34878D82A}">
                    <a16:rowId xmlns:a16="http://schemas.microsoft.com/office/drawing/2014/main" val="578814945"/>
                  </a:ext>
                </a:extLst>
              </a:tr>
            </a:tbl>
          </a:graphicData>
        </a:graphic>
      </p:graphicFrame>
      <p:sp>
        <p:nvSpPr>
          <p:cNvPr id="12"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400050" indent="-400050">
              <a:buFont typeface="+mj-lt"/>
              <a:buAutoNum type="romanUcPeriod" startAt="2"/>
            </a:pPr>
            <a:r>
              <a:rPr lang="en-US" sz="2400" dirty="0" smtClean="0">
                <a:solidFill>
                  <a:srgbClr val="FF0000"/>
                </a:solidFill>
                <a:effectLst/>
              </a:rPr>
              <a:t>CLIENT SIDE VS SERVER SIDE RENDERING</a:t>
            </a:r>
            <a:endParaRPr lang="en-US" sz="2400" dirty="0">
              <a:solidFill>
                <a:srgbClr val="FF0000"/>
              </a:solidFill>
              <a:effectLst/>
            </a:endParaRPr>
          </a:p>
        </p:txBody>
      </p:sp>
    </p:spTree>
    <p:extLst>
      <p:ext uri="{BB962C8B-B14F-4D97-AF65-F5344CB8AC3E}">
        <p14:creationId xmlns:p14="http://schemas.microsoft.com/office/powerpoint/2010/main" val="3509060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re 3">
            <a:extLst>
              <a:ext uri="{FF2B5EF4-FFF2-40B4-BE49-F238E27FC236}">
                <a16:creationId xmlns:a16="http://schemas.microsoft.com/office/drawing/2014/main" id="{FD2745D9-D935-5DCC-A026-8C0361F73C9F}"/>
              </a:ext>
            </a:extLst>
          </p:cNvPr>
          <p:cNvSpPr>
            <a:spLocks noGrp="1"/>
          </p:cNvSpPr>
          <p:nvPr>
            <p:ph type="title"/>
          </p:nvPr>
        </p:nvSpPr>
        <p:spPr>
          <a:xfrm>
            <a:off x="684213" y="98425"/>
            <a:ext cx="8064500" cy="666750"/>
          </a:xfrm>
        </p:spPr>
        <p:txBody>
          <a:bodyPr/>
          <a:lstStyle/>
          <a:p>
            <a:pPr marL="285750" indent="-285750">
              <a:buFont typeface="+mj-lt"/>
              <a:buAutoNum type="romanUcPeriod" startAt="3"/>
            </a:pPr>
            <a:r>
              <a:rPr lang="en-US" sz="2400" dirty="0" smtClean="0">
                <a:solidFill>
                  <a:srgbClr val="FF0000"/>
                </a:solidFill>
                <a:effectLst/>
                <a:cs typeface="Times New Roman" panose="02020603050405020304" pitchFamily="18" charset="0"/>
              </a:rPr>
              <a:t>INITIATION AUX OUTILS DE WEB TEMPLATING</a:t>
            </a:r>
            <a:endParaRPr lang="en-US" sz="2400" dirty="0">
              <a:solidFill>
                <a:srgbClr val="FF0000"/>
              </a:solidFill>
              <a:effectLst/>
              <a:cs typeface="Times New Roman" panose="02020603050405020304" pitchFamily="18" charset="0"/>
            </a:endParaRPr>
          </a:p>
        </p:txBody>
      </p:sp>
      <p:sp>
        <p:nvSpPr>
          <p:cNvPr id="8" name="Rectangle 7"/>
          <p:cNvSpPr/>
          <p:nvPr/>
        </p:nvSpPr>
        <p:spPr>
          <a:xfrm>
            <a:off x="179834" y="1035311"/>
            <a:ext cx="3944734" cy="369332"/>
          </a:xfrm>
          <a:prstGeom prst="rect">
            <a:avLst/>
          </a:prstGeom>
        </p:spPr>
        <p:txBody>
          <a:bodyPr wrap="none">
            <a:spAutoFit/>
          </a:bodyPr>
          <a:lstStyle/>
          <a:p>
            <a:pPr marL="342900" indent="-342900">
              <a:buFont typeface="+mj-lt"/>
              <a:buAutoNum type="arabicPeriod"/>
            </a:pPr>
            <a:r>
              <a:rPr lang="fr-CI"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Qu'est-ce que le Web </a:t>
            </a:r>
            <a:r>
              <a:rPr lang="fr-CI" b="1" dirty="0" err="1">
                <a:solidFill>
                  <a:srgbClr val="FF0000"/>
                </a:solidFill>
                <a:latin typeface="Times New Roman" panose="02020603050405020304" pitchFamily="18" charset="0"/>
                <a:ea typeface="Arial" panose="020B0604020202020204" pitchFamily="34" charset="0"/>
                <a:cs typeface="Times New Roman" panose="02020603050405020304" pitchFamily="18" charset="0"/>
              </a:rPr>
              <a:t>Templating</a:t>
            </a:r>
            <a:r>
              <a:rPr lang="fr-CI"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rPr>
              <a:t> ?</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107504" y="1691704"/>
            <a:ext cx="8784976" cy="923330"/>
          </a:xfrm>
          <a:prstGeom prst="rect">
            <a:avLst/>
          </a:prstGeom>
        </p:spPr>
        <p:txBody>
          <a:bodyPr wrap="square">
            <a:spAutoFit/>
          </a:bodyPr>
          <a:lstStyle/>
          <a:p>
            <a:pPr algn="just">
              <a:spcBef>
                <a:spcPts val="400"/>
              </a:spcBef>
              <a:spcAft>
                <a:spcPts val="400"/>
              </a:spcAft>
            </a:pP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Le web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templating</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est une technique qui consiste à séparer la logique (code) de la présentation (HTML). Un moteur de </a:t>
            </a:r>
            <a:r>
              <a:rPr lang="fr-CI" dirty="0" err="1">
                <a:solidFill>
                  <a:srgbClr val="1F2937"/>
                </a:solidFill>
                <a:latin typeface="Times New Roman" panose="02020603050405020304" pitchFamily="18" charset="0"/>
                <a:ea typeface="Arial" panose="020B0604020202020204" pitchFamily="34" charset="0"/>
                <a:cs typeface="Times New Roman" panose="02020603050405020304" pitchFamily="18" charset="0"/>
              </a:rPr>
              <a:t>templates</a:t>
            </a:r>
            <a:r>
              <a:rPr lang="fr-CI" dirty="0">
                <a:solidFill>
                  <a:srgbClr val="1F2937"/>
                </a:solidFill>
                <a:latin typeface="Times New Roman" panose="02020603050405020304" pitchFamily="18" charset="0"/>
                <a:ea typeface="Arial" panose="020B0604020202020204" pitchFamily="34" charset="0"/>
                <a:cs typeface="Times New Roman" panose="02020603050405020304" pitchFamily="18" charset="0"/>
              </a:rPr>
              <a:t> permet d'écrire des fichiers HTML dynamiques en y intégrant des variables, des boucles et des conditions.</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1" name="Rectangle 10"/>
          <p:cNvSpPr/>
          <p:nvPr/>
        </p:nvSpPr>
        <p:spPr>
          <a:xfrm>
            <a:off x="179834" y="3071143"/>
            <a:ext cx="8640315" cy="1477328"/>
          </a:xfrm>
          <a:prstGeom prst="rect">
            <a:avLst/>
          </a:prstGeom>
        </p:spPr>
        <p:txBody>
          <a:bodyPr wrap="square">
            <a:spAutoFit/>
          </a:bodyPr>
          <a:lstStyle/>
          <a:p>
            <a:pPr marL="342900" indent="-342900" algn="just">
              <a:buFont typeface="+mj-lt"/>
              <a:buAutoNum type="arabicPeriod" startAt="2"/>
            </a:pPr>
            <a:r>
              <a:rPr lang="fr-FR" b="1" dirty="0" smtClean="0">
                <a:solidFill>
                  <a:srgbClr val="FF0000"/>
                </a:solidFill>
                <a:latin typeface="Times New Roman" panose="02020603050405020304" pitchFamily="18" charset="0"/>
                <a:cs typeface="Times New Roman" panose="02020603050405020304" pitchFamily="18" charset="0"/>
              </a:rPr>
              <a:t>Moteurs </a:t>
            </a:r>
            <a:r>
              <a:rPr lang="fr-FR" b="1" dirty="0">
                <a:solidFill>
                  <a:srgbClr val="FF0000"/>
                </a:solidFill>
                <a:latin typeface="Times New Roman" panose="02020603050405020304" pitchFamily="18" charset="0"/>
                <a:cs typeface="Times New Roman" panose="02020603050405020304" pitchFamily="18" charset="0"/>
              </a:rPr>
              <a:t>de </a:t>
            </a:r>
            <a:r>
              <a:rPr lang="fr-FR" b="1" dirty="0" err="1">
                <a:solidFill>
                  <a:srgbClr val="FF0000"/>
                </a:solidFill>
                <a:latin typeface="Times New Roman" panose="02020603050405020304" pitchFamily="18" charset="0"/>
                <a:cs typeface="Times New Roman" panose="02020603050405020304" pitchFamily="18" charset="0"/>
              </a:rPr>
              <a:t>templates</a:t>
            </a:r>
            <a:r>
              <a:rPr lang="fr-FR" b="1" dirty="0">
                <a:solidFill>
                  <a:srgbClr val="FF0000"/>
                </a:solidFill>
                <a:latin typeface="Times New Roman" panose="02020603050405020304" pitchFamily="18" charset="0"/>
                <a:cs typeface="Times New Roman" panose="02020603050405020304" pitchFamily="18" charset="0"/>
              </a:rPr>
              <a:t> populaires </a:t>
            </a:r>
            <a:endParaRPr lang="fr-FR" b="1" dirty="0" smtClean="0">
              <a:solidFill>
                <a:srgbClr val="FF0000"/>
              </a:solidFill>
              <a:latin typeface="Times New Roman" panose="02020603050405020304" pitchFamily="18" charset="0"/>
              <a:cs typeface="Times New Roman" panose="02020603050405020304" pitchFamily="18" charset="0"/>
            </a:endParaRPr>
          </a:p>
          <a:p>
            <a:pPr algn="just"/>
            <a:endParaRPr lang="fr-FR" b="1"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Les moteurs de </a:t>
            </a:r>
            <a:r>
              <a:rPr lang="fr-FR" dirty="0" err="1">
                <a:latin typeface="Times New Roman" panose="02020603050405020304" pitchFamily="18" charset="0"/>
                <a:cs typeface="Times New Roman" panose="02020603050405020304" pitchFamily="18" charset="0"/>
              </a:rPr>
              <a:t>templates</a:t>
            </a:r>
            <a:r>
              <a:rPr lang="fr-FR" dirty="0">
                <a:latin typeface="Times New Roman" panose="02020603050405020304" pitchFamily="18" charset="0"/>
                <a:cs typeface="Times New Roman" panose="02020603050405020304" pitchFamily="18" charset="0"/>
              </a:rPr>
              <a:t> permettent de générer dynamiquement des pages HTML côté serveur en combinant des données provenant de l'application avec des modèles de pages web. Ils sont largement utilisés dans les architectures </a:t>
            </a:r>
            <a:r>
              <a:rPr lang="fr-FR" b="1" dirty="0">
                <a:latin typeface="Times New Roman" panose="02020603050405020304" pitchFamily="18" charset="0"/>
                <a:cs typeface="Times New Roman" panose="02020603050405020304" pitchFamily="18" charset="0"/>
              </a:rPr>
              <a:t>Server-</a:t>
            </a:r>
            <a:r>
              <a:rPr lang="fr-FR" b="1" dirty="0" err="1">
                <a:latin typeface="Times New Roman" panose="02020603050405020304" pitchFamily="18" charset="0"/>
                <a:cs typeface="Times New Roman" panose="02020603050405020304" pitchFamily="18" charset="0"/>
              </a:rPr>
              <a:t>Side</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Rendering</a:t>
            </a:r>
            <a:r>
              <a:rPr lang="fr-FR" b="1" dirty="0">
                <a:latin typeface="Times New Roman" panose="02020603050405020304" pitchFamily="18" charset="0"/>
                <a:cs typeface="Times New Roman" panose="02020603050405020304" pitchFamily="18" charset="0"/>
              </a:rPr>
              <a:t> (SSR)</a:t>
            </a:r>
            <a:r>
              <a:rPr lang="fr-FR"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53664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Shape 2"/>
          <p:cNvSpPr/>
          <p:nvPr/>
        </p:nvSpPr>
        <p:spPr>
          <a:xfrm>
            <a:off x="307496" y="141277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69" name="Shape 3"/>
          <p:cNvSpPr/>
          <p:nvPr/>
        </p:nvSpPr>
        <p:spPr>
          <a:xfrm>
            <a:off x="307496" y="1412776"/>
            <a:ext cx="2057400" cy="384048"/>
          </a:xfrm>
          <a:prstGeom prst="rect">
            <a:avLst/>
          </a:prstGeom>
          <a:solidFill>
            <a:srgbClr val="2D7DD2"/>
          </a:solidFill>
          <a:ln w="12700">
            <a:solidFill>
              <a:srgbClr val="2D7DD2"/>
            </a:solidFill>
            <a:prstDash val="solid"/>
          </a:ln>
        </p:spPr>
      </p:sp>
      <p:sp>
        <p:nvSpPr>
          <p:cNvPr id="70" name="Text 4"/>
          <p:cNvSpPr/>
          <p:nvPr/>
        </p:nvSpPr>
        <p:spPr>
          <a:xfrm>
            <a:off x="398936" y="145849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Jinja2</a:t>
            </a:r>
            <a:endParaRPr lang="en-US" sz="1400" dirty="0"/>
          </a:p>
        </p:txBody>
      </p:sp>
      <p:sp>
        <p:nvSpPr>
          <p:cNvPr id="71" name="Text 5"/>
          <p:cNvSpPr/>
          <p:nvPr/>
        </p:nvSpPr>
        <p:spPr>
          <a:xfrm>
            <a:off x="398936" y="166880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Python</a:t>
            </a:r>
            <a:endParaRPr lang="en-US" sz="1400" dirty="0"/>
          </a:p>
        </p:txBody>
      </p:sp>
      <p:sp>
        <p:nvSpPr>
          <p:cNvPr id="72" name="Shape 6"/>
          <p:cNvSpPr/>
          <p:nvPr/>
        </p:nvSpPr>
        <p:spPr>
          <a:xfrm>
            <a:off x="398936" y="1888264"/>
            <a:ext cx="1874520" cy="475488"/>
          </a:xfrm>
          <a:prstGeom prst="rect">
            <a:avLst/>
          </a:prstGeom>
          <a:solidFill>
            <a:srgbClr val="2D7DD2">
              <a:alpha val="12000"/>
            </a:srgbClr>
          </a:solidFill>
          <a:ln w="12700">
            <a:solidFill>
              <a:srgbClr val="2D7DD2">
                <a:alpha val="30000"/>
              </a:srgbClr>
            </a:solidFill>
            <a:prstDash val="solid"/>
          </a:ln>
        </p:spPr>
      </p:sp>
      <p:sp>
        <p:nvSpPr>
          <p:cNvPr id="73" name="Text 7"/>
          <p:cNvSpPr/>
          <p:nvPr/>
        </p:nvSpPr>
        <p:spPr>
          <a:xfrm>
            <a:off x="435512" y="1897408"/>
            <a:ext cx="1801368" cy="457200"/>
          </a:xfrm>
          <a:prstGeom prst="rect">
            <a:avLst/>
          </a:prstGeom>
          <a:noFill/>
          <a:ln/>
        </p:spPr>
        <p:txBody>
          <a:bodyPr wrap="square" lIns="0" tIns="0" rIns="0" bIns="0" rtlCol="0" anchor="ctr"/>
          <a:lstStyle/>
          <a:p>
            <a:pPr marL="0" indent="0">
              <a:buNone/>
            </a:pPr>
            <a:r>
              <a:rPr lang="en-US" sz="1400" dirty="0">
                <a:solidFill>
                  <a:srgbClr val="2D7DD2"/>
                </a:solidFill>
                <a:latin typeface="Courier New" pitchFamily="34" charset="0"/>
                <a:ea typeface="Courier New" pitchFamily="34" charset="-122"/>
                <a:cs typeface="Courier New" pitchFamily="34" charset="-120"/>
              </a:rPr>
              <a:t>{{ var }}</a:t>
            </a:r>
            <a:endParaRPr lang="en-US" sz="1400" dirty="0"/>
          </a:p>
          <a:p>
            <a:pPr marL="0" indent="0">
              <a:buNone/>
            </a:pPr>
            <a:r>
              <a:rPr lang="en-US" sz="1400" dirty="0">
                <a:solidFill>
                  <a:srgbClr val="2D7DD2"/>
                </a:solidFill>
                <a:latin typeface="Courier New" pitchFamily="34" charset="0"/>
                <a:ea typeface="Courier New" pitchFamily="34" charset="-122"/>
                <a:cs typeface="Courier New" pitchFamily="34" charset="-120"/>
              </a:rPr>
              <a:t>{% if %}</a:t>
            </a:r>
            <a:endParaRPr lang="en-US" sz="1400" dirty="0"/>
          </a:p>
        </p:txBody>
      </p:sp>
      <p:sp>
        <p:nvSpPr>
          <p:cNvPr id="74" name="Text 8"/>
          <p:cNvSpPr/>
          <p:nvPr/>
        </p:nvSpPr>
        <p:spPr>
          <a:xfrm>
            <a:off x="398936" y="2436904"/>
            <a:ext cx="1874520" cy="822960"/>
          </a:xfrm>
          <a:prstGeom prst="rect">
            <a:avLst/>
          </a:prstGeom>
          <a:noFill/>
          <a:ln/>
        </p:spPr>
        <p:txBody>
          <a:bodyPr wrap="square" lIns="0" tIns="0" rIns="0" bIns="0" rtlCol="0" anchor="t"/>
          <a:lstStyle/>
          <a:p>
            <a:pPr marL="0" indent="0">
              <a:buNone/>
            </a:pPr>
            <a:r>
              <a:rPr lang="en-US" sz="1400" dirty="0">
                <a:solidFill>
                  <a:srgbClr val="1E293B"/>
                </a:solidFill>
              </a:rPr>
              <a:t>Flask/Django. Héritage, macros, filtres.</a:t>
            </a:r>
            <a:endParaRPr lang="en-US" sz="1400" dirty="0"/>
          </a:p>
        </p:txBody>
      </p:sp>
      <p:sp>
        <p:nvSpPr>
          <p:cNvPr id="75" name="Shape 9"/>
          <p:cNvSpPr/>
          <p:nvPr/>
        </p:nvSpPr>
        <p:spPr>
          <a:xfrm>
            <a:off x="2483768" y="141277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76" name="Shape 10"/>
          <p:cNvSpPr/>
          <p:nvPr/>
        </p:nvSpPr>
        <p:spPr>
          <a:xfrm>
            <a:off x="2483768" y="1412776"/>
            <a:ext cx="2057400" cy="384048"/>
          </a:xfrm>
          <a:prstGeom prst="rect">
            <a:avLst/>
          </a:prstGeom>
          <a:solidFill>
            <a:srgbClr val="0D9488"/>
          </a:solidFill>
          <a:ln w="12700">
            <a:solidFill>
              <a:srgbClr val="0D9488"/>
            </a:solidFill>
            <a:prstDash val="solid"/>
          </a:ln>
        </p:spPr>
      </p:sp>
      <p:sp>
        <p:nvSpPr>
          <p:cNvPr id="77" name="Text 11"/>
          <p:cNvSpPr/>
          <p:nvPr/>
        </p:nvSpPr>
        <p:spPr>
          <a:xfrm>
            <a:off x="2575208" y="145849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EJS</a:t>
            </a:r>
            <a:endParaRPr lang="en-US" sz="1400" dirty="0"/>
          </a:p>
        </p:txBody>
      </p:sp>
      <p:sp>
        <p:nvSpPr>
          <p:cNvPr id="78" name="Text 12"/>
          <p:cNvSpPr/>
          <p:nvPr/>
        </p:nvSpPr>
        <p:spPr>
          <a:xfrm>
            <a:off x="2575208" y="166880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Node.js</a:t>
            </a:r>
            <a:endParaRPr lang="en-US" sz="1400" dirty="0"/>
          </a:p>
        </p:txBody>
      </p:sp>
      <p:sp>
        <p:nvSpPr>
          <p:cNvPr id="79" name="Shape 13"/>
          <p:cNvSpPr/>
          <p:nvPr/>
        </p:nvSpPr>
        <p:spPr>
          <a:xfrm>
            <a:off x="2575208" y="1888264"/>
            <a:ext cx="1874520" cy="475488"/>
          </a:xfrm>
          <a:prstGeom prst="rect">
            <a:avLst/>
          </a:prstGeom>
          <a:solidFill>
            <a:srgbClr val="0D9488">
              <a:alpha val="12000"/>
            </a:srgbClr>
          </a:solidFill>
          <a:ln w="12700">
            <a:solidFill>
              <a:srgbClr val="0D9488">
                <a:alpha val="30000"/>
              </a:srgbClr>
            </a:solidFill>
            <a:prstDash val="solid"/>
          </a:ln>
        </p:spPr>
      </p:sp>
      <p:sp>
        <p:nvSpPr>
          <p:cNvPr id="80" name="Text 14"/>
          <p:cNvSpPr/>
          <p:nvPr/>
        </p:nvSpPr>
        <p:spPr>
          <a:xfrm>
            <a:off x="2611784" y="1897408"/>
            <a:ext cx="1801368" cy="457200"/>
          </a:xfrm>
          <a:prstGeom prst="rect">
            <a:avLst/>
          </a:prstGeom>
          <a:noFill/>
          <a:ln/>
        </p:spPr>
        <p:txBody>
          <a:bodyPr wrap="square" lIns="0" tIns="0" rIns="0" bIns="0" rtlCol="0" anchor="ctr"/>
          <a:lstStyle/>
          <a:p>
            <a:pPr marL="0" indent="0">
              <a:buNone/>
            </a:pPr>
            <a:r>
              <a:rPr lang="en-US" sz="1400" dirty="0">
                <a:solidFill>
                  <a:srgbClr val="0D9488"/>
                </a:solidFill>
                <a:latin typeface="Courier New" pitchFamily="34" charset="0"/>
                <a:ea typeface="Courier New" pitchFamily="34" charset="-122"/>
                <a:cs typeface="Courier New" pitchFamily="34" charset="-120"/>
              </a:rPr>
              <a:t>&lt;%= var %&gt;</a:t>
            </a:r>
            <a:endParaRPr lang="en-US" sz="1400" dirty="0"/>
          </a:p>
          <a:p>
            <a:pPr marL="0" indent="0">
              <a:buNone/>
            </a:pPr>
            <a:r>
              <a:rPr lang="en-US" sz="1400" dirty="0">
                <a:solidFill>
                  <a:srgbClr val="0D9488"/>
                </a:solidFill>
                <a:latin typeface="Courier New" pitchFamily="34" charset="0"/>
                <a:ea typeface="Courier New" pitchFamily="34" charset="-122"/>
                <a:cs typeface="Courier New" pitchFamily="34" charset="-120"/>
              </a:rPr>
              <a:t>&lt;% code %&gt;</a:t>
            </a:r>
            <a:endParaRPr lang="en-US" sz="1400" dirty="0"/>
          </a:p>
        </p:txBody>
      </p:sp>
      <p:sp>
        <p:nvSpPr>
          <p:cNvPr id="81" name="Text 15"/>
          <p:cNvSpPr/>
          <p:nvPr/>
        </p:nvSpPr>
        <p:spPr>
          <a:xfrm>
            <a:off x="2575208" y="2436904"/>
            <a:ext cx="1874520" cy="822960"/>
          </a:xfrm>
          <a:prstGeom prst="rect">
            <a:avLst/>
          </a:prstGeom>
          <a:noFill/>
          <a:ln/>
        </p:spPr>
        <p:txBody>
          <a:bodyPr wrap="square" lIns="0" tIns="0" rIns="0" bIns="0" rtlCol="0" anchor="t"/>
          <a:lstStyle/>
          <a:p>
            <a:pPr marL="0" indent="0">
              <a:buNone/>
            </a:pPr>
            <a:r>
              <a:rPr lang="en-US" sz="1400" dirty="0">
                <a:solidFill>
                  <a:srgbClr val="1E293B"/>
                </a:solidFill>
              </a:rPr>
              <a:t>Syntaxe JS native. Express.</a:t>
            </a:r>
            <a:endParaRPr lang="en-US" sz="1400" dirty="0"/>
          </a:p>
        </p:txBody>
      </p:sp>
      <p:sp>
        <p:nvSpPr>
          <p:cNvPr id="82" name="Shape 16"/>
          <p:cNvSpPr/>
          <p:nvPr/>
        </p:nvSpPr>
        <p:spPr>
          <a:xfrm>
            <a:off x="4660040" y="141277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83" name="Shape 17"/>
          <p:cNvSpPr/>
          <p:nvPr/>
        </p:nvSpPr>
        <p:spPr>
          <a:xfrm>
            <a:off x="4660040" y="1412776"/>
            <a:ext cx="2057400" cy="384048"/>
          </a:xfrm>
          <a:prstGeom prst="rect">
            <a:avLst/>
          </a:prstGeom>
          <a:solidFill>
            <a:srgbClr val="7C3AED"/>
          </a:solidFill>
          <a:ln w="12700">
            <a:solidFill>
              <a:srgbClr val="7C3AED"/>
            </a:solidFill>
            <a:prstDash val="solid"/>
          </a:ln>
        </p:spPr>
      </p:sp>
      <p:sp>
        <p:nvSpPr>
          <p:cNvPr id="84" name="Text 18"/>
          <p:cNvSpPr/>
          <p:nvPr/>
        </p:nvSpPr>
        <p:spPr>
          <a:xfrm>
            <a:off x="4751480" y="145849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Handlebars</a:t>
            </a:r>
            <a:endParaRPr lang="en-US" sz="1400" dirty="0"/>
          </a:p>
        </p:txBody>
      </p:sp>
      <p:sp>
        <p:nvSpPr>
          <p:cNvPr id="85" name="Text 19"/>
          <p:cNvSpPr/>
          <p:nvPr/>
        </p:nvSpPr>
        <p:spPr>
          <a:xfrm>
            <a:off x="4751480" y="166880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JS / Node</a:t>
            </a:r>
            <a:endParaRPr lang="en-US" sz="1400" dirty="0"/>
          </a:p>
        </p:txBody>
      </p:sp>
      <p:sp>
        <p:nvSpPr>
          <p:cNvPr id="86" name="Shape 20"/>
          <p:cNvSpPr/>
          <p:nvPr/>
        </p:nvSpPr>
        <p:spPr>
          <a:xfrm>
            <a:off x="4751480" y="1888264"/>
            <a:ext cx="1874520" cy="475488"/>
          </a:xfrm>
          <a:prstGeom prst="rect">
            <a:avLst/>
          </a:prstGeom>
          <a:solidFill>
            <a:srgbClr val="7C3AED">
              <a:alpha val="12000"/>
            </a:srgbClr>
          </a:solidFill>
          <a:ln w="12700">
            <a:solidFill>
              <a:srgbClr val="7C3AED">
                <a:alpha val="30000"/>
              </a:srgbClr>
            </a:solidFill>
            <a:prstDash val="solid"/>
          </a:ln>
        </p:spPr>
      </p:sp>
      <p:sp>
        <p:nvSpPr>
          <p:cNvPr id="87" name="Text 21"/>
          <p:cNvSpPr/>
          <p:nvPr/>
        </p:nvSpPr>
        <p:spPr>
          <a:xfrm>
            <a:off x="4788056" y="1897408"/>
            <a:ext cx="1801368" cy="457200"/>
          </a:xfrm>
          <a:prstGeom prst="rect">
            <a:avLst/>
          </a:prstGeom>
          <a:noFill/>
          <a:ln/>
        </p:spPr>
        <p:txBody>
          <a:bodyPr wrap="square" lIns="0" tIns="0" rIns="0" bIns="0" rtlCol="0" anchor="ctr"/>
          <a:lstStyle/>
          <a:p>
            <a:pPr marL="0" indent="0">
              <a:buNone/>
            </a:pPr>
            <a:r>
              <a:rPr lang="en-US" sz="1400" dirty="0">
                <a:solidFill>
                  <a:srgbClr val="7C3AED"/>
                </a:solidFill>
                <a:latin typeface="Courier New" pitchFamily="34" charset="0"/>
                <a:ea typeface="Courier New" pitchFamily="34" charset="-122"/>
                <a:cs typeface="Courier New" pitchFamily="34" charset="-120"/>
              </a:rPr>
              <a:t>{{var}}</a:t>
            </a:r>
            <a:endParaRPr lang="en-US" sz="1400" dirty="0"/>
          </a:p>
          <a:p>
            <a:pPr marL="0" indent="0">
              <a:buNone/>
            </a:pPr>
            <a:r>
              <a:rPr lang="en-US" sz="1400" dirty="0">
                <a:solidFill>
                  <a:srgbClr val="7C3AED"/>
                </a:solidFill>
                <a:latin typeface="Courier New" pitchFamily="34" charset="0"/>
                <a:ea typeface="Courier New" pitchFamily="34" charset="-122"/>
                <a:cs typeface="Courier New" pitchFamily="34" charset="-120"/>
              </a:rPr>
              <a:t>{{#if cond}}</a:t>
            </a:r>
            <a:endParaRPr lang="en-US" sz="1400" dirty="0"/>
          </a:p>
        </p:txBody>
      </p:sp>
      <p:sp>
        <p:nvSpPr>
          <p:cNvPr id="88" name="Text 22"/>
          <p:cNvSpPr/>
          <p:nvPr/>
        </p:nvSpPr>
        <p:spPr>
          <a:xfrm>
            <a:off x="4751480" y="2436904"/>
            <a:ext cx="1874520" cy="822960"/>
          </a:xfrm>
          <a:prstGeom prst="rect">
            <a:avLst/>
          </a:prstGeom>
          <a:noFill/>
          <a:ln/>
        </p:spPr>
        <p:txBody>
          <a:bodyPr wrap="square" lIns="0" tIns="0" rIns="0" bIns="0" rtlCol="0" anchor="t"/>
          <a:lstStyle/>
          <a:p>
            <a:pPr marL="0" indent="0">
              <a:buNone/>
            </a:pPr>
            <a:r>
              <a:rPr lang="en-US" sz="1400" dirty="0">
                <a:solidFill>
                  <a:srgbClr val="1E293B"/>
                </a:solidFill>
              </a:rPr>
              <a:t>Logic-less. Partials, helpers.</a:t>
            </a:r>
            <a:endParaRPr lang="en-US" sz="1400" dirty="0"/>
          </a:p>
        </p:txBody>
      </p:sp>
      <p:sp>
        <p:nvSpPr>
          <p:cNvPr id="89" name="Shape 23"/>
          <p:cNvSpPr/>
          <p:nvPr/>
        </p:nvSpPr>
        <p:spPr>
          <a:xfrm>
            <a:off x="6836312" y="141277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90" name="Shape 24"/>
          <p:cNvSpPr/>
          <p:nvPr/>
        </p:nvSpPr>
        <p:spPr>
          <a:xfrm>
            <a:off x="6836312" y="1412776"/>
            <a:ext cx="2057400" cy="384048"/>
          </a:xfrm>
          <a:prstGeom prst="rect">
            <a:avLst/>
          </a:prstGeom>
          <a:solidFill>
            <a:srgbClr val="FB923C"/>
          </a:solidFill>
          <a:ln w="12700">
            <a:solidFill>
              <a:srgbClr val="FB923C"/>
            </a:solidFill>
            <a:prstDash val="solid"/>
          </a:ln>
        </p:spPr>
      </p:sp>
      <p:sp>
        <p:nvSpPr>
          <p:cNvPr id="91" name="Text 25"/>
          <p:cNvSpPr/>
          <p:nvPr/>
        </p:nvSpPr>
        <p:spPr>
          <a:xfrm>
            <a:off x="6927752" y="145849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Blade</a:t>
            </a:r>
            <a:endParaRPr lang="en-US" sz="1400" dirty="0"/>
          </a:p>
        </p:txBody>
      </p:sp>
      <p:sp>
        <p:nvSpPr>
          <p:cNvPr id="92" name="Text 26"/>
          <p:cNvSpPr/>
          <p:nvPr/>
        </p:nvSpPr>
        <p:spPr>
          <a:xfrm>
            <a:off x="6927752" y="166880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PHP/Laravel</a:t>
            </a:r>
            <a:endParaRPr lang="en-US" sz="1400" dirty="0"/>
          </a:p>
        </p:txBody>
      </p:sp>
      <p:sp>
        <p:nvSpPr>
          <p:cNvPr id="93" name="Shape 27"/>
          <p:cNvSpPr/>
          <p:nvPr/>
        </p:nvSpPr>
        <p:spPr>
          <a:xfrm>
            <a:off x="6927752" y="1888264"/>
            <a:ext cx="1874520" cy="475488"/>
          </a:xfrm>
          <a:prstGeom prst="rect">
            <a:avLst/>
          </a:prstGeom>
          <a:solidFill>
            <a:srgbClr val="FB923C">
              <a:alpha val="12000"/>
            </a:srgbClr>
          </a:solidFill>
          <a:ln w="12700">
            <a:solidFill>
              <a:srgbClr val="FB923C">
                <a:alpha val="30000"/>
              </a:srgbClr>
            </a:solidFill>
            <a:prstDash val="solid"/>
          </a:ln>
        </p:spPr>
      </p:sp>
      <p:sp>
        <p:nvSpPr>
          <p:cNvPr id="94" name="Text 28"/>
          <p:cNvSpPr/>
          <p:nvPr/>
        </p:nvSpPr>
        <p:spPr>
          <a:xfrm>
            <a:off x="6964328" y="1897408"/>
            <a:ext cx="1801368" cy="457200"/>
          </a:xfrm>
          <a:prstGeom prst="rect">
            <a:avLst/>
          </a:prstGeom>
          <a:noFill/>
          <a:ln/>
        </p:spPr>
        <p:txBody>
          <a:bodyPr wrap="square" lIns="0" tIns="0" rIns="0" bIns="0" rtlCol="0" anchor="ctr"/>
          <a:lstStyle/>
          <a:p>
            <a:pPr marL="0" indent="0">
              <a:buNone/>
            </a:pPr>
            <a:r>
              <a:rPr lang="en-US" sz="1400" dirty="0">
                <a:solidFill>
                  <a:srgbClr val="FB923C"/>
                </a:solidFill>
                <a:latin typeface="Courier New" pitchFamily="34" charset="0"/>
                <a:ea typeface="Courier New" pitchFamily="34" charset="-122"/>
                <a:cs typeface="Courier New" pitchFamily="34" charset="-120"/>
              </a:rPr>
              <a:t>{{ $var }}</a:t>
            </a:r>
            <a:endParaRPr lang="en-US" sz="1400" dirty="0"/>
          </a:p>
          <a:p>
            <a:pPr marL="0" indent="0">
              <a:buNone/>
            </a:pPr>
            <a:r>
              <a:rPr lang="en-US" sz="1400" dirty="0">
                <a:solidFill>
                  <a:srgbClr val="FB923C"/>
                </a:solidFill>
                <a:latin typeface="Courier New" pitchFamily="34" charset="0"/>
                <a:ea typeface="Courier New" pitchFamily="34" charset="-122"/>
                <a:cs typeface="Courier New" pitchFamily="34" charset="-120"/>
              </a:rPr>
              <a:t>@if (@foreach)</a:t>
            </a:r>
            <a:endParaRPr lang="en-US" sz="1400" dirty="0"/>
          </a:p>
        </p:txBody>
      </p:sp>
      <p:sp>
        <p:nvSpPr>
          <p:cNvPr id="95" name="Text 29"/>
          <p:cNvSpPr/>
          <p:nvPr/>
        </p:nvSpPr>
        <p:spPr>
          <a:xfrm>
            <a:off x="6927752" y="2436904"/>
            <a:ext cx="1874520" cy="822960"/>
          </a:xfrm>
          <a:prstGeom prst="rect">
            <a:avLst/>
          </a:prstGeom>
          <a:noFill/>
          <a:ln/>
        </p:spPr>
        <p:txBody>
          <a:bodyPr wrap="square" lIns="0" tIns="0" rIns="0" bIns="0" rtlCol="0" anchor="t"/>
          <a:lstStyle/>
          <a:p>
            <a:pPr marL="0" indent="0">
              <a:buNone/>
            </a:pPr>
            <a:r>
              <a:rPr lang="en-US" sz="1400" dirty="0">
                <a:solidFill>
                  <a:srgbClr val="1E293B"/>
                </a:solidFill>
              </a:rPr>
              <a:t>Composants, slots, directives.</a:t>
            </a:r>
            <a:endParaRPr lang="en-US" sz="1400" dirty="0"/>
          </a:p>
        </p:txBody>
      </p:sp>
      <p:sp>
        <p:nvSpPr>
          <p:cNvPr id="96" name="Shape 30"/>
          <p:cNvSpPr/>
          <p:nvPr/>
        </p:nvSpPr>
        <p:spPr>
          <a:xfrm>
            <a:off x="307496" y="356161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97" name="Shape 31"/>
          <p:cNvSpPr/>
          <p:nvPr/>
        </p:nvSpPr>
        <p:spPr>
          <a:xfrm>
            <a:off x="307496" y="3561616"/>
            <a:ext cx="2057400" cy="384048"/>
          </a:xfrm>
          <a:prstGeom prst="rect">
            <a:avLst/>
          </a:prstGeom>
          <a:solidFill>
            <a:srgbClr val="059669"/>
          </a:solidFill>
          <a:ln w="12700">
            <a:solidFill>
              <a:srgbClr val="059669"/>
            </a:solidFill>
            <a:prstDash val="solid"/>
          </a:ln>
        </p:spPr>
      </p:sp>
      <p:sp>
        <p:nvSpPr>
          <p:cNvPr id="98" name="Text 32"/>
          <p:cNvSpPr/>
          <p:nvPr/>
        </p:nvSpPr>
        <p:spPr>
          <a:xfrm>
            <a:off x="398936" y="360733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Twig</a:t>
            </a:r>
            <a:endParaRPr lang="en-US" sz="1400" dirty="0"/>
          </a:p>
        </p:txBody>
      </p:sp>
      <p:sp>
        <p:nvSpPr>
          <p:cNvPr id="99" name="Text 33"/>
          <p:cNvSpPr/>
          <p:nvPr/>
        </p:nvSpPr>
        <p:spPr>
          <a:xfrm>
            <a:off x="398936" y="381764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PHP</a:t>
            </a:r>
            <a:endParaRPr lang="en-US" sz="1400" dirty="0"/>
          </a:p>
        </p:txBody>
      </p:sp>
      <p:sp>
        <p:nvSpPr>
          <p:cNvPr id="100" name="Shape 34"/>
          <p:cNvSpPr/>
          <p:nvPr/>
        </p:nvSpPr>
        <p:spPr>
          <a:xfrm>
            <a:off x="398936" y="4037104"/>
            <a:ext cx="1874520" cy="475488"/>
          </a:xfrm>
          <a:prstGeom prst="rect">
            <a:avLst/>
          </a:prstGeom>
          <a:solidFill>
            <a:srgbClr val="059669">
              <a:alpha val="12000"/>
            </a:srgbClr>
          </a:solidFill>
          <a:ln w="12700">
            <a:solidFill>
              <a:srgbClr val="059669">
                <a:alpha val="30000"/>
              </a:srgbClr>
            </a:solidFill>
            <a:prstDash val="solid"/>
          </a:ln>
        </p:spPr>
      </p:sp>
      <p:sp>
        <p:nvSpPr>
          <p:cNvPr id="101" name="Text 35"/>
          <p:cNvSpPr/>
          <p:nvPr/>
        </p:nvSpPr>
        <p:spPr>
          <a:xfrm>
            <a:off x="435512" y="4046248"/>
            <a:ext cx="1801368" cy="457200"/>
          </a:xfrm>
          <a:prstGeom prst="rect">
            <a:avLst/>
          </a:prstGeom>
          <a:noFill/>
          <a:ln/>
        </p:spPr>
        <p:txBody>
          <a:bodyPr wrap="square" lIns="0" tIns="0" rIns="0" bIns="0" rtlCol="0" anchor="ctr"/>
          <a:lstStyle/>
          <a:p>
            <a:pPr marL="0" indent="0">
              <a:buNone/>
            </a:pPr>
            <a:r>
              <a:rPr lang="en-US" sz="1400" dirty="0">
                <a:solidFill>
                  <a:srgbClr val="059669"/>
                </a:solidFill>
                <a:latin typeface="Courier New" pitchFamily="34" charset="0"/>
                <a:ea typeface="Courier New" pitchFamily="34" charset="-122"/>
                <a:cs typeface="Courier New" pitchFamily="34" charset="-120"/>
              </a:rPr>
              <a:t>{{ var }}</a:t>
            </a:r>
            <a:endParaRPr lang="en-US" sz="1400" dirty="0"/>
          </a:p>
          <a:p>
            <a:pPr marL="0" indent="0">
              <a:buNone/>
            </a:pPr>
            <a:r>
              <a:rPr lang="en-US" sz="1400" dirty="0">
                <a:solidFill>
                  <a:srgbClr val="059669"/>
                </a:solidFill>
                <a:latin typeface="Courier New" pitchFamily="34" charset="0"/>
                <a:ea typeface="Courier New" pitchFamily="34" charset="-122"/>
                <a:cs typeface="Courier New" pitchFamily="34" charset="-120"/>
              </a:rPr>
              <a:t>{% if %}</a:t>
            </a:r>
            <a:endParaRPr lang="en-US" sz="1400" dirty="0"/>
          </a:p>
        </p:txBody>
      </p:sp>
      <p:sp>
        <p:nvSpPr>
          <p:cNvPr id="102" name="Text 36"/>
          <p:cNvSpPr/>
          <p:nvPr/>
        </p:nvSpPr>
        <p:spPr>
          <a:xfrm>
            <a:off x="398936" y="4585744"/>
            <a:ext cx="1874520" cy="822960"/>
          </a:xfrm>
          <a:prstGeom prst="rect">
            <a:avLst/>
          </a:prstGeom>
          <a:noFill/>
          <a:ln/>
        </p:spPr>
        <p:txBody>
          <a:bodyPr wrap="square" lIns="0" tIns="0" rIns="0" bIns="0" rtlCol="0" anchor="t"/>
          <a:lstStyle/>
          <a:p>
            <a:pPr marL="0" indent="0">
              <a:buNone/>
            </a:pPr>
            <a:r>
              <a:rPr lang="en-US" sz="1400" dirty="0">
                <a:solidFill>
                  <a:srgbClr val="1E293B"/>
                </a:solidFill>
              </a:rPr>
              <a:t>Standard Symfony. Filtres puissants.</a:t>
            </a:r>
            <a:endParaRPr lang="en-US" sz="1400" dirty="0"/>
          </a:p>
        </p:txBody>
      </p:sp>
      <p:sp>
        <p:nvSpPr>
          <p:cNvPr id="103" name="Shape 37"/>
          <p:cNvSpPr/>
          <p:nvPr/>
        </p:nvSpPr>
        <p:spPr>
          <a:xfrm>
            <a:off x="2483768" y="356161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104" name="Shape 38"/>
          <p:cNvSpPr/>
          <p:nvPr/>
        </p:nvSpPr>
        <p:spPr>
          <a:xfrm>
            <a:off x="2483768" y="3561616"/>
            <a:ext cx="2057400" cy="384048"/>
          </a:xfrm>
          <a:prstGeom prst="rect">
            <a:avLst/>
          </a:prstGeom>
          <a:solidFill>
            <a:srgbClr val="DC2626"/>
          </a:solidFill>
          <a:ln w="12700">
            <a:solidFill>
              <a:srgbClr val="DC2626"/>
            </a:solidFill>
            <a:prstDash val="solid"/>
          </a:ln>
        </p:spPr>
      </p:sp>
      <p:sp>
        <p:nvSpPr>
          <p:cNvPr id="105" name="Text 39"/>
          <p:cNvSpPr/>
          <p:nvPr/>
        </p:nvSpPr>
        <p:spPr>
          <a:xfrm>
            <a:off x="2575208" y="360733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Pug (Jade)</a:t>
            </a:r>
            <a:endParaRPr lang="en-US" sz="1400" dirty="0"/>
          </a:p>
        </p:txBody>
      </p:sp>
      <p:sp>
        <p:nvSpPr>
          <p:cNvPr id="106" name="Text 40"/>
          <p:cNvSpPr/>
          <p:nvPr/>
        </p:nvSpPr>
        <p:spPr>
          <a:xfrm>
            <a:off x="2575208" y="381764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Node.js</a:t>
            </a:r>
            <a:endParaRPr lang="en-US" sz="1400" dirty="0"/>
          </a:p>
        </p:txBody>
      </p:sp>
      <p:sp>
        <p:nvSpPr>
          <p:cNvPr id="107" name="Shape 41"/>
          <p:cNvSpPr/>
          <p:nvPr/>
        </p:nvSpPr>
        <p:spPr>
          <a:xfrm>
            <a:off x="2575208" y="4037104"/>
            <a:ext cx="1874520" cy="475488"/>
          </a:xfrm>
          <a:prstGeom prst="rect">
            <a:avLst/>
          </a:prstGeom>
          <a:solidFill>
            <a:srgbClr val="DC2626">
              <a:alpha val="12000"/>
            </a:srgbClr>
          </a:solidFill>
          <a:ln w="12700">
            <a:solidFill>
              <a:srgbClr val="DC2626">
                <a:alpha val="30000"/>
              </a:srgbClr>
            </a:solidFill>
            <a:prstDash val="solid"/>
          </a:ln>
        </p:spPr>
      </p:sp>
      <p:sp>
        <p:nvSpPr>
          <p:cNvPr id="108" name="Text 42"/>
          <p:cNvSpPr/>
          <p:nvPr/>
        </p:nvSpPr>
        <p:spPr>
          <a:xfrm>
            <a:off x="2611784" y="4046248"/>
            <a:ext cx="1801368" cy="457200"/>
          </a:xfrm>
          <a:prstGeom prst="rect">
            <a:avLst/>
          </a:prstGeom>
          <a:noFill/>
          <a:ln/>
        </p:spPr>
        <p:txBody>
          <a:bodyPr wrap="square" lIns="0" tIns="0" rIns="0" bIns="0" rtlCol="0" anchor="ctr"/>
          <a:lstStyle/>
          <a:p>
            <a:pPr marL="0" indent="0">
              <a:buNone/>
            </a:pPr>
            <a:r>
              <a:rPr lang="en-US" sz="1400" dirty="0">
                <a:solidFill>
                  <a:srgbClr val="DC2626"/>
                </a:solidFill>
                <a:latin typeface="Courier New" pitchFamily="34" charset="0"/>
                <a:ea typeface="Courier New" pitchFamily="34" charset="-122"/>
                <a:cs typeface="Courier New" pitchFamily="34" charset="-120"/>
              </a:rPr>
              <a:t>p= title</a:t>
            </a:r>
            <a:endParaRPr lang="en-US" sz="1400" dirty="0"/>
          </a:p>
          <a:p>
            <a:pPr marL="0" indent="0">
              <a:buNone/>
            </a:pPr>
            <a:r>
              <a:rPr lang="en-US" sz="1400" dirty="0">
                <a:solidFill>
                  <a:srgbClr val="DC2626"/>
                </a:solidFill>
                <a:latin typeface="Courier New" pitchFamily="34" charset="0"/>
                <a:ea typeface="Courier New" pitchFamily="34" charset="-122"/>
                <a:cs typeface="Courier New" pitchFamily="34" charset="-120"/>
              </a:rPr>
              <a:t>if user</a:t>
            </a:r>
            <a:endParaRPr lang="en-US" sz="1400" dirty="0"/>
          </a:p>
        </p:txBody>
      </p:sp>
      <p:sp>
        <p:nvSpPr>
          <p:cNvPr id="109" name="Text 43"/>
          <p:cNvSpPr/>
          <p:nvPr/>
        </p:nvSpPr>
        <p:spPr>
          <a:xfrm>
            <a:off x="2575208" y="4585744"/>
            <a:ext cx="1874520" cy="822960"/>
          </a:xfrm>
          <a:prstGeom prst="rect">
            <a:avLst/>
          </a:prstGeom>
          <a:noFill/>
          <a:ln/>
        </p:spPr>
        <p:txBody>
          <a:bodyPr wrap="square" lIns="0" tIns="0" rIns="0" bIns="0" rtlCol="0" anchor="t"/>
          <a:lstStyle/>
          <a:p>
            <a:pPr marL="0" indent="0">
              <a:buNone/>
            </a:pPr>
            <a:r>
              <a:rPr lang="en-US" sz="1400" dirty="0">
                <a:solidFill>
                  <a:srgbClr val="1E293B"/>
                </a:solidFill>
              </a:rPr>
              <a:t>Syntaxe indentée sans balises HTML.</a:t>
            </a:r>
            <a:endParaRPr lang="en-US" sz="1400" dirty="0"/>
          </a:p>
        </p:txBody>
      </p:sp>
      <p:sp>
        <p:nvSpPr>
          <p:cNvPr id="110" name="Shape 44"/>
          <p:cNvSpPr/>
          <p:nvPr/>
        </p:nvSpPr>
        <p:spPr>
          <a:xfrm>
            <a:off x="4660040" y="356161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111" name="Shape 45"/>
          <p:cNvSpPr/>
          <p:nvPr/>
        </p:nvSpPr>
        <p:spPr>
          <a:xfrm>
            <a:off x="4660040" y="3561616"/>
            <a:ext cx="2057400" cy="384048"/>
          </a:xfrm>
          <a:prstGeom prst="rect">
            <a:avLst/>
          </a:prstGeom>
          <a:solidFill>
            <a:srgbClr val="7C3AED"/>
          </a:solidFill>
          <a:ln w="12700">
            <a:solidFill>
              <a:srgbClr val="7C3AED"/>
            </a:solidFill>
            <a:prstDash val="solid"/>
          </a:ln>
        </p:spPr>
      </p:sp>
      <p:sp>
        <p:nvSpPr>
          <p:cNvPr id="112" name="Text 46"/>
          <p:cNvSpPr/>
          <p:nvPr/>
        </p:nvSpPr>
        <p:spPr>
          <a:xfrm>
            <a:off x="4751480" y="360733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Nunjucks</a:t>
            </a:r>
            <a:endParaRPr lang="en-US" sz="1400" dirty="0"/>
          </a:p>
        </p:txBody>
      </p:sp>
      <p:sp>
        <p:nvSpPr>
          <p:cNvPr id="113" name="Text 47"/>
          <p:cNvSpPr/>
          <p:nvPr/>
        </p:nvSpPr>
        <p:spPr>
          <a:xfrm>
            <a:off x="4751480" y="381764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Node.js</a:t>
            </a:r>
            <a:endParaRPr lang="en-US" sz="1400" dirty="0"/>
          </a:p>
        </p:txBody>
      </p:sp>
      <p:sp>
        <p:nvSpPr>
          <p:cNvPr id="114" name="Shape 48"/>
          <p:cNvSpPr/>
          <p:nvPr/>
        </p:nvSpPr>
        <p:spPr>
          <a:xfrm>
            <a:off x="4751480" y="4037104"/>
            <a:ext cx="1874520" cy="475488"/>
          </a:xfrm>
          <a:prstGeom prst="rect">
            <a:avLst/>
          </a:prstGeom>
          <a:solidFill>
            <a:srgbClr val="7C3AED">
              <a:alpha val="12000"/>
            </a:srgbClr>
          </a:solidFill>
          <a:ln w="12700">
            <a:solidFill>
              <a:srgbClr val="7C3AED">
                <a:alpha val="30000"/>
              </a:srgbClr>
            </a:solidFill>
            <a:prstDash val="solid"/>
          </a:ln>
        </p:spPr>
      </p:sp>
      <p:sp>
        <p:nvSpPr>
          <p:cNvPr id="115" name="Text 49"/>
          <p:cNvSpPr/>
          <p:nvPr/>
        </p:nvSpPr>
        <p:spPr>
          <a:xfrm>
            <a:off x="4788056" y="4046248"/>
            <a:ext cx="1801368" cy="457200"/>
          </a:xfrm>
          <a:prstGeom prst="rect">
            <a:avLst/>
          </a:prstGeom>
          <a:noFill/>
          <a:ln/>
        </p:spPr>
        <p:txBody>
          <a:bodyPr wrap="square" lIns="0" tIns="0" rIns="0" bIns="0" rtlCol="0" anchor="ctr"/>
          <a:lstStyle/>
          <a:p>
            <a:pPr marL="0" indent="0">
              <a:buNone/>
            </a:pPr>
            <a:r>
              <a:rPr lang="en-US" sz="1400" dirty="0">
                <a:solidFill>
                  <a:srgbClr val="7C3AED"/>
                </a:solidFill>
                <a:latin typeface="Courier New" pitchFamily="34" charset="0"/>
                <a:ea typeface="Courier New" pitchFamily="34" charset="-122"/>
                <a:cs typeface="Courier New" pitchFamily="34" charset="-120"/>
              </a:rPr>
              <a:t>{{ var }}</a:t>
            </a:r>
            <a:endParaRPr lang="en-US" sz="1400" dirty="0"/>
          </a:p>
          <a:p>
            <a:pPr marL="0" indent="0">
              <a:buNone/>
            </a:pPr>
            <a:r>
              <a:rPr lang="en-US" sz="1400" dirty="0">
                <a:solidFill>
                  <a:srgbClr val="7C3AED"/>
                </a:solidFill>
                <a:latin typeface="Courier New" pitchFamily="34" charset="0"/>
                <a:ea typeface="Courier New" pitchFamily="34" charset="-122"/>
                <a:cs typeface="Courier New" pitchFamily="34" charset="-120"/>
              </a:rPr>
              <a:t>{% for %}</a:t>
            </a:r>
            <a:endParaRPr lang="en-US" sz="1400" dirty="0"/>
          </a:p>
        </p:txBody>
      </p:sp>
      <p:sp>
        <p:nvSpPr>
          <p:cNvPr id="116" name="Text 50"/>
          <p:cNvSpPr/>
          <p:nvPr/>
        </p:nvSpPr>
        <p:spPr>
          <a:xfrm>
            <a:off x="4751480" y="4585744"/>
            <a:ext cx="1874520" cy="822960"/>
          </a:xfrm>
          <a:prstGeom prst="rect">
            <a:avLst/>
          </a:prstGeom>
          <a:noFill/>
          <a:ln/>
        </p:spPr>
        <p:txBody>
          <a:bodyPr wrap="square" lIns="0" tIns="0" rIns="0" bIns="0" rtlCol="0" anchor="t"/>
          <a:lstStyle/>
          <a:p>
            <a:pPr marL="0" indent="0">
              <a:buNone/>
            </a:pPr>
            <a:r>
              <a:rPr lang="en-US" sz="1400" dirty="0">
                <a:solidFill>
                  <a:srgbClr val="1E293B"/>
                </a:solidFill>
              </a:rPr>
              <a:t>Inspiré Jinja2. Async templates.</a:t>
            </a:r>
            <a:endParaRPr lang="en-US" sz="1400" dirty="0"/>
          </a:p>
        </p:txBody>
      </p:sp>
      <p:sp>
        <p:nvSpPr>
          <p:cNvPr id="117" name="Shape 51"/>
          <p:cNvSpPr/>
          <p:nvPr/>
        </p:nvSpPr>
        <p:spPr>
          <a:xfrm>
            <a:off x="6836312" y="3561616"/>
            <a:ext cx="2057400" cy="1965960"/>
          </a:xfrm>
          <a:prstGeom prst="rect">
            <a:avLst/>
          </a:prstGeom>
          <a:solidFill>
            <a:srgbClr val="FFFFFF"/>
          </a:solidFill>
          <a:ln w="12700">
            <a:solidFill>
              <a:srgbClr val="E2E8F0"/>
            </a:solidFill>
            <a:prstDash val="solid"/>
          </a:ln>
          <a:effectLst>
            <a:outerShdw blurRad="63500" dist="25400" dir="8100000" algn="bl" rotWithShape="0">
              <a:srgbClr val="000000">
                <a:alpha val="6000"/>
              </a:srgbClr>
            </a:outerShdw>
          </a:effectLst>
        </p:spPr>
      </p:sp>
      <p:sp>
        <p:nvSpPr>
          <p:cNvPr id="118" name="Shape 52"/>
          <p:cNvSpPr/>
          <p:nvPr/>
        </p:nvSpPr>
        <p:spPr>
          <a:xfrm>
            <a:off x="6836312" y="3561616"/>
            <a:ext cx="2057400" cy="384048"/>
          </a:xfrm>
          <a:prstGeom prst="rect">
            <a:avLst/>
          </a:prstGeom>
          <a:solidFill>
            <a:srgbClr val="0891B2"/>
          </a:solidFill>
          <a:ln w="12700">
            <a:solidFill>
              <a:srgbClr val="0891B2"/>
            </a:solidFill>
            <a:prstDash val="solid"/>
          </a:ln>
        </p:spPr>
      </p:sp>
      <p:sp>
        <p:nvSpPr>
          <p:cNvPr id="119" name="Text 53"/>
          <p:cNvSpPr/>
          <p:nvPr/>
        </p:nvSpPr>
        <p:spPr>
          <a:xfrm>
            <a:off x="6927752" y="3607336"/>
            <a:ext cx="1371600" cy="219456"/>
          </a:xfrm>
          <a:prstGeom prst="rect">
            <a:avLst/>
          </a:prstGeom>
          <a:noFill/>
          <a:ln/>
        </p:spPr>
        <p:txBody>
          <a:bodyPr wrap="square" lIns="0" tIns="0" rIns="0" bIns="0" rtlCol="0" anchor="ctr"/>
          <a:lstStyle/>
          <a:p>
            <a:pPr marL="0" indent="0">
              <a:buNone/>
            </a:pPr>
            <a:r>
              <a:rPr lang="en-US" sz="1400" b="1" dirty="0">
                <a:solidFill>
                  <a:srgbClr val="FFFFFF"/>
                </a:solidFill>
              </a:rPr>
              <a:t>Mustache</a:t>
            </a:r>
            <a:endParaRPr lang="en-US" sz="1400" dirty="0"/>
          </a:p>
        </p:txBody>
      </p:sp>
      <p:sp>
        <p:nvSpPr>
          <p:cNvPr id="120" name="Text 54"/>
          <p:cNvSpPr/>
          <p:nvPr/>
        </p:nvSpPr>
        <p:spPr>
          <a:xfrm>
            <a:off x="6927752" y="3817648"/>
            <a:ext cx="1280160" cy="128016"/>
          </a:xfrm>
          <a:prstGeom prst="rect">
            <a:avLst/>
          </a:prstGeom>
          <a:noFill/>
          <a:ln/>
        </p:spPr>
        <p:txBody>
          <a:bodyPr wrap="square" lIns="0" tIns="0" rIns="0" bIns="0" rtlCol="0" anchor="ctr"/>
          <a:lstStyle/>
          <a:p>
            <a:pPr marL="0" indent="0">
              <a:buNone/>
            </a:pPr>
            <a:r>
              <a:rPr lang="en-US" sz="1400" i="1" dirty="0">
                <a:solidFill>
                  <a:srgbClr val="FFFFFF"/>
                </a:solidFill>
              </a:rPr>
              <a:t>Multi</a:t>
            </a:r>
            <a:endParaRPr lang="en-US" sz="1400" dirty="0"/>
          </a:p>
        </p:txBody>
      </p:sp>
      <p:sp>
        <p:nvSpPr>
          <p:cNvPr id="121" name="Shape 55"/>
          <p:cNvSpPr/>
          <p:nvPr/>
        </p:nvSpPr>
        <p:spPr>
          <a:xfrm>
            <a:off x="6927752" y="4037104"/>
            <a:ext cx="1874520" cy="475488"/>
          </a:xfrm>
          <a:prstGeom prst="rect">
            <a:avLst/>
          </a:prstGeom>
          <a:solidFill>
            <a:srgbClr val="0891B2">
              <a:alpha val="12000"/>
            </a:srgbClr>
          </a:solidFill>
          <a:ln w="12700">
            <a:solidFill>
              <a:srgbClr val="0891B2">
                <a:alpha val="30000"/>
              </a:srgbClr>
            </a:solidFill>
            <a:prstDash val="solid"/>
          </a:ln>
        </p:spPr>
      </p:sp>
      <p:sp>
        <p:nvSpPr>
          <p:cNvPr id="122" name="Text 56"/>
          <p:cNvSpPr/>
          <p:nvPr/>
        </p:nvSpPr>
        <p:spPr>
          <a:xfrm>
            <a:off x="6964328" y="4046248"/>
            <a:ext cx="1801368" cy="457200"/>
          </a:xfrm>
          <a:prstGeom prst="rect">
            <a:avLst/>
          </a:prstGeom>
          <a:noFill/>
          <a:ln/>
        </p:spPr>
        <p:txBody>
          <a:bodyPr wrap="square" lIns="0" tIns="0" rIns="0" bIns="0" rtlCol="0" anchor="ctr"/>
          <a:lstStyle/>
          <a:p>
            <a:pPr marL="0" indent="0">
              <a:buNone/>
            </a:pPr>
            <a:r>
              <a:rPr lang="en-US" sz="1400" dirty="0">
                <a:solidFill>
                  <a:srgbClr val="0891B2"/>
                </a:solidFill>
                <a:latin typeface="Courier New" pitchFamily="34" charset="0"/>
                <a:ea typeface="Courier New" pitchFamily="34" charset="-122"/>
                <a:cs typeface="Courier New" pitchFamily="34" charset="-120"/>
              </a:rPr>
              <a:t>{{var}}</a:t>
            </a:r>
            <a:endParaRPr lang="en-US" sz="1400" dirty="0"/>
          </a:p>
          <a:p>
            <a:pPr marL="0" indent="0">
              <a:buNone/>
            </a:pPr>
            <a:r>
              <a:rPr lang="en-US" sz="1400" dirty="0">
                <a:solidFill>
                  <a:srgbClr val="0891B2"/>
                </a:solidFill>
                <a:latin typeface="Courier New" pitchFamily="34" charset="0"/>
                <a:ea typeface="Courier New" pitchFamily="34" charset="-122"/>
                <a:cs typeface="Courier New" pitchFamily="34" charset="-120"/>
              </a:rPr>
              <a:t>{{#section}}</a:t>
            </a:r>
            <a:endParaRPr lang="en-US" sz="1400" dirty="0"/>
          </a:p>
        </p:txBody>
      </p:sp>
      <p:sp>
        <p:nvSpPr>
          <p:cNvPr id="123" name="Text 57"/>
          <p:cNvSpPr/>
          <p:nvPr/>
        </p:nvSpPr>
        <p:spPr>
          <a:xfrm>
            <a:off x="6927752" y="4585744"/>
            <a:ext cx="1874520" cy="822960"/>
          </a:xfrm>
          <a:prstGeom prst="rect">
            <a:avLst/>
          </a:prstGeom>
          <a:noFill/>
          <a:ln/>
        </p:spPr>
        <p:txBody>
          <a:bodyPr wrap="square" lIns="0" tIns="0" rIns="0" bIns="0" rtlCol="0" anchor="t"/>
          <a:lstStyle/>
          <a:p>
            <a:pPr marL="0" indent="0">
              <a:buNone/>
            </a:pPr>
            <a:r>
              <a:rPr lang="en-US" sz="1400" dirty="0">
                <a:solidFill>
                  <a:srgbClr val="1E293B"/>
                </a:solidFill>
              </a:rPr>
              <a:t>Logic-less universel. Multi-langages.</a:t>
            </a:r>
            <a:endParaRPr lang="en-US" sz="1400" dirty="0"/>
          </a:p>
        </p:txBody>
      </p:sp>
      <p:sp>
        <p:nvSpPr>
          <p:cNvPr id="4" name="Rectangle 3"/>
          <p:cNvSpPr/>
          <p:nvPr/>
        </p:nvSpPr>
        <p:spPr>
          <a:xfrm>
            <a:off x="420787" y="899926"/>
            <a:ext cx="6034760" cy="369332"/>
          </a:xfrm>
          <a:prstGeom prst="rect">
            <a:avLst/>
          </a:prstGeom>
        </p:spPr>
        <p:txBody>
          <a:bodyPr wrap="square">
            <a:spAutoFit/>
          </a:bodyPr>
          <a:lstStyle/>
          <a:p>
            <a:pPr marL="342900" indent="-342900">
              <a:buFont typeface="+mj-lt"/>
              <a:buAutoNum type="arabicPeriod"/>
            </a:pPr>
            <a:r>
              <a:rPr lang="fr-FR" b="1" dirty="0" err="1" smtClean="0">
                <a:solidFill>
                  <a:srgbClr val="FF0000"/>
                </a:solidFill>
                <a:latin typeface="Times New Roman" panose="02020603050405020304" pitchFamily="18" charset="0"/>
                <a:cs typeface="Times New Roman" panose="02020603050405020304" pitchFamily="18" charset="0"/>
              </a:rPr>
              <a:t>Differents</a:t>
            </a:r>
            <a:r>
              <a:rPr lang="fr-FR" b="1" dirty="0" smtClean="0">
                <a:solidFill>
                  <a:srgbClr val="FF0000"/>
                </a:solidFill>
                <a:latin typeface="Times New Roman" panose="02020603050405020304" pitchFamily="18" charset="0"/>
                <a:cs typeface="Times New Roman" panose="02020603050405020304" pitchFamily="18" charset="0"/>
              </a:rPr>
              <a:t> moteurs </a:t>
            </a:r>
            <a:r>
              <a:rPr lang="fr-FR" b="1" dirty="0">
                <a:solidFill>
                  <a:srgbClr val="FF0000"/>
                </a:solidFill>
                <a:latin typeface="Times New Roman" panose="02020603050405020304" pitchFamily="18" charset="0"/>
                <a:cs typeface="Times New Roman" panose="02020603050405020304" pitchFamily="18" charset="0"/>
              </a:rPr>
              <a:t>de </a:t>
            </a:r>
            <a:r>
              <a:rPr lang="fr-FR" b="1" dirty="0" err="1">
                <a:solidFill>
                  <a:srgbClr val="FF0000"/>
                </a:solidFill>
                <a:latin typeface="Times New Roman" panose="02020603050405020304" pitchFamily="18" charset="0"/>
                <a:cs typeface="Times New Roman" panose="02020603050405020304" pitchFamily="18" charset="0"/>
              </a:rPr>
              <a:t>templates</a:t>
            </a:r>
            <a:r>
              <a:rPr lang="fr-FR" b="1" dirty="0">
                <a:solidFill>
                  <a:srgbClr val="FF0000"/>
                </a:solidFill>
                <a:latin typeface="Times New Roman" panose="02020603050405020304" pitchFamily="18" charset="0"/>
                <a:cs typeface="Times New Roman" panose="02020603050405020304" pitchFamily="18" charset="0"/>
              </a:rPr>
              <a:t> populaires en Java</a:t>
            </a:r>
          </a:p>
        </p:txBody>
      </p:sp>
      <p:sp>
        <p:nvSpPr>
          <p:cNvPr id="6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8425"/>
            <a:ext cx="8064500" cy="666750"/>
          </a:xfrm>
        </p:spPr>
        <p:txBody>
          <a:bodyPr/>
          <a:lstStyle/>
          <a:p>
            <a:pPr marL="285750" indent="-285750">
              <a:buFont typeface="+mj-lt"/>
              <a:buAutoNum type="romanUcPeriod" startAt="3"/>
            </a:pPr>
            <a:r>
              <a:rPr lang="en-US" sz="2400" dirty="0" smtClean="0">
                <a:solidFill>
                  <a:srgbClr val="FF0000"/>
                </a:solidFill>
                <a:effectLst/>
                <a:cs typeface="Times New Roman" panose="02020603050405020304" pitchFamily="18" charset="0"/>
              </a:rPr>
              <a:t>INITIATION AUX OUTILS DE WEB TEMPLATING</a:t>
            </a:r>
            <a:endParaRPr lang="en-US" sz="2400" dirty="0">
              <a:solidFill>
                <a:srgbClr val="FF0000"/>
              </a:solidFill>
              <a:effectLst/>
              <a:cs typeface="Times New Roman" panose="02020603050405020304" pitchFamily="18" charset="0"/>
            </a:endParaRPr>
          </a:p>
        </p:txBody>
      </p:sp>
    </p:spTree>
    <p:extLst>
      <p:ext uri="{BB962C8B-B14F-4D97-AF65-F5344CB8AC3E}">
        <p14:creationId xmlns:p14="http://schemas.microsoft.com/office/powerpoint/2010/main" val="3200857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79512" y="1052736"/>
            <a:ext cx="8784976" cy="1477328"/>
          </a:xfrm>
          <a:prstGeom prst="rect">
            <a:avLst/>
          </a:prstGeom>
        </p:spPr>
        <p:txBody>
          <a:bodyPr wrap="square">
            <a:spAutoFit/>
          </a:bodyPr>
          <a:lstStyle/>
          <a:p>
            <a:pPr algn="just"/>
            <a:r>
              <a:rPr lang="fr-FR" b="1" dirty="0" err="1">
                <a:latin typeface="Times New Roman" panose="02020603050405020304" pitchFamily="18" charset="0"/>
                <a:cs typeface="Times New Roman" panose="02020603050405020304" pitchFamily="18" charset="0"/>
              </a:rPr>
              <a:t>Thymeleaf</a:t>
            </a:r>
            <a:r>
              <a:rPr lang="fr-FR" b="1" dirty="0">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 Le </a:t>
            </a:r>
            <a:r>
              <a:rPr lang="fr-FR" b="1" dirty="0">
                <a:latin typeface="Times New Roman" panose="02020603050405020304" pitchFamily="18" charset="0"/>
                <a:cs typeface="Times New Roman" panose="02020603050405020304" pitchFamily="18" charset="0"/>
              </a:rPr>
              <a:t>standard de </a:t>
            </a:r>
            <a:r>
              <a:rPr lang="fr-FR" b="1" dirty="0" err="1">
                <a:latin typeface="Times New Roman" panose="02020603050405020304" pitchFamily="18" charset="0"/>
                <a:cs typeface="Times New Roman" panose="02020603050405020304" pitchFamily="18" charset="0"/>
              </a:rPr>
              <a:t>Spring</a:t>
            </a:r>
            <a:r>
              <a:rPr lang="fr-FR" b="1" dirty="0">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Boot</a:t>
            </a:r>
          </a:p>
          <a:p>
            <a:pPr algn="just"/>
            <a:endParaRPr lang="fr-FR" b="1" dirty="0">
              <a:latin typeface="Times New Roman" panose="02020603050405020304" pitchFamily="18" charset="0"/>
              <a:cs typeface="Times New Roman" panose="02020603050405020304" pitchFamily="18" charset="0"/>
            </a:endParaRPr>
          </a:p>
          <a:p>
            <a:pPr algn="just"/>
            <a:r>
              <a:rPr lang="fr-FR" dirty="0" err="1">
                <a:latin typeface="Times New Roman" panose="02020603050405020304" pitchFamily="18" charset="0"/>
                <a:cs typeface="Times New Roman" panose="02020603050405020304" pitchFamily="18" charset="0"/>
              </a:rPr>
              <a:t>Thymeleaf</a:t>
            </a:r>
            <a:r>
              <a:rPr lang="fr-FR" dirty="0">
                <a:latin typeface="Times New Roman" panose="02020603050405020304" pitchFamily="18" charset="0"/>
                <a:cs typeface="Times New Roman" panose="02020603050405020304" pitchFamily="18" charset="0"/>
              </a:rPr>
              <a:t> est le moteur de </a:t>
            </a:r>
            <a:r>
              <a:rPr lang="fr-FR" dirty="0" err="1">
                <a:latin typeface="Times New Roman" panose="02020603050405020304" pitchFamily="18" charset="0"/>
                <a:cs typeface="Times New Roman" panose="02020603050405020304" pitchFamily="18" charset="0"/>
              </a:rPr>
              <a:t>templates</a:t>
            </a:r>
            <a:r>
              <a:rPr lang="fr-FR" dirty="0">
                <a:latin typeface="Times New Roman" panose="02020603050405020304" pitchFamily="18" charset="0"/>
                <a:cs typeface="Times New Roman" panose="02020603050405020304" pitchFamily="18" charset="0"/>
              </a:rPr>
              <a:t> recommandé pour les applications </a:t>
            </a:r>
            <a:r>
              <a:rPr lang="fr-FR" dirty="0" err="1">
                <a:latin typeface="Times New Roman" panose="02020603050405020304" pitchFamily="18" charset="0"/>
                <a:cs typeface="Times New Roman" panose="02020603050405020304" pitchFamily="18" charset="0"/>
              </a:rPr>
              <a:t>Spring</a:t>
            </a:r>
            <a:r>
              <a:rPr lang="fr-FR" dirty="0">
                <a:latin typeface="Times New Roman" panose="02020603050405020304" pitchFamily="18" charset="0"/>
                <a:cs typeface="Times New Roman" panose="02020603050405020304" pitchFamily="18" charset="0"/>
              </a:rPr>
              <a:t> Boot. Il permet de créer des pages HTML dynamiques tout en conservant un code HTML lisible et facile à maintenir.</a:t>
            </a:r>
          </a:p>
        </p:txBody>
      </p:sp>
      <p:sp>
        <p:nvSpPr>
          <p:cNvPr id="5" name="Rectangle 1"/>
          <p:cNvSpPr>
            <a:spLocks noChangeArrowheads="1"/>
          </p:cNvSpPr>
          <p:nvPr/>
        </p:nvSpPr>
        <p:spPr bwMode="auto">
          <a:xfrm>
            <a:off x="179511" y="2476231"/>
            <a:ext cx="856920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Syntaxe</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base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th:text</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="${variable}"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Affiche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variable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th:if</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="${condition}"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Condition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2"/>
                </a:solidFill>
                <a:effectLst/>
                <a:latin typeface="Times New Roman" panose="02020603050405020304" pitchFamily="18" charset="0"/>
                <a:cs typeface="Times New Roman" panose="02020603050405020304" pitchFamily="18" charset="0"/>
              </a:rPr>
              <a:t>th:each</a:t>
            </a:r>
            <a:r>
              <a:rPr kumimoji="0" lang="en-US" altLang="en-US" b="1" i="0" u="none" strike="noStrike" cap="none" normalizeH="0" baseline="0" dirty="0" smtClean="0">
                <a:ln>
                  <a:noFill/>
                </a:ln>
                <a:solidFill>
                  <a:schemeClr val="tx2"/>
                </a:solidFill>
                <a:effectLst/>
                <a:latin typeface="Times New Roman" panose="02020603050405020304" pitchFamily="18" charset="0"/>
                <a:cs typeface="Times New Roman" panose="02020603050405020304" pitchFamily="18" charset="0"/>
              </a:rPr>
              <a:t>="item : ${</a:t>
            </a:r>
            <a:r>
              <a:rPr kumimoji="0" lang="en-US" altLang="en-US" b="1" i="0" u="none" strike="noStrike" cap="none" normalizeH="0" baseline="0" dirty="0" err="1" smtClean="0">
                <a:ln>
                  <a:noFill/>
                </a:ln>
                <a:solidFill>
                  <a:schemeClr val="tx2"/>
                </a:solidFill>
                <a:effectLst/>
                <a:latin typeface="Times New Roman" panose="02020603050405020304" pitchFamily="18" charset="0"/>
                <a:cs typeface="Times New Roman" panose="02020603050405020304" pitchFamily="18" charset="0"/>
              </a:rPr>
              <a:t>liste</a:t>
            </a:r>
            <a:r>
              <a:rPr kumimoji="0" lang="en-US" altLang="en-US" b="1" i="0" u="none" strike="noStrike" cap="none" normalizeH="0" baseline="0" dirty="0" smtClean="0">
                <a:ln>
                  <a:noFill/>
                </a:ln>
                <a:solidFill>
                  <a:schemeClr val="tx2"/>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Boucle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th:href</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url</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Création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liens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th:replace</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fragment :: nom" : Inclusion de composants réutilisables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Exemple</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&lt;div </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th:each</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produit</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produits</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}"&gt;</a:t>
            </a:r>
            <a:b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&lt;span </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th:text</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produit.nom</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}"&gt;&lt;/span&gt;</a:t>
            </a:r>
            <a:b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&lt;span </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th:text</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err="1" smtClean="0">
                <a:ln>
                  <a:noFill/>
                </a:ln>
                <a:solidFill>
                  <a:srgbClr val="FF0000"/>
                </a:solidFill>
                <a:effectLst/>
                <a:latin typeface="Times New Roman" panose="02020603050405020304" pitchFamily="18" charset="0"/>
                <a:cs typeface="Times New Roman" panose="02020603050405020304" pitchFamily="18" charset="0"/>
              </a:rPr>
              <a:t>produit.prix</a:t>
            </a:r>
            <a:r>
              <a:rPr kumimoji="0" lang="en-US"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}"&gt;&lt;/span&gt; FCFA</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b="1"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&lt;/div&gt;</a:t>
            </a:r>
          </a:p>
        </p:txBody>
      </p:sp>
      <p:sp>
        <p:nvSpPr>
          <p:cNvPr id="9" name="Titre 3">
            <a:extLst>
              <a:ext uri="{FF2B5EF4-FFF2-40B4-BE49-F238E27FC236}">
                <a16:creationId xmlns:a16="http://schemas.microsoft.com/office/drawing/2014/main" id="{FD2745D9-D935-5DCC-A026-8C0361F73C9F}"/>
              </a:ext>
            </a:extLst>
          </p:cNvPr>
          <p:cNvSpPr>
            <a:spLocks noGrp="1"/>
          </p:cNvSpPr>
          <p:nvPr>
            <p:ph type="title"/>
          </p:nvPr>
        </p:nvSpPr>
        <p:spPr>
          <a:xfrm>
            <a:off x="684213" y="98425"/>
            <a:ext cx="8064500" cy="666750"/>
          </a:xfrm>
        </p:spPr>
        <p:txBody>
          <a:bodyPr/>
          <a:lstStyle/>
          <a:p>
            <a:pPr marL="285750" indent="-285750">
              <a:buFont typeface="+mj-lt"/>
              <a:buAutoNum type="romanUcPeriod" startAt="3"/>
            </a:pPr>
            <a:r>
              <a:rPr lang="en-US" sz="2400" dirty="0" smtClean="0">
                <a:solidFill>
                  <a:srgbClr val="FF0000"/>
                </a:solidFill>
                <a:effectLst/>
                <a:cs typeface="Times New Roman" panose="02020603050405020304" pitchFamily="18" charset="0"/>
              </a:rPr>
              <a:t>INITIATION AUX OUTILS DE WEB TEMPLATING</a:t>
            </a:r>
            <a:endParaRPr lang="en-US" sz="2400" dirty="0">
              <a:solidFill>
                <a:srgbClr val="FF0000"/>
              </a:solidFill>
              <a:effectLst/>
              <a:cs typeface="Times New Roman" panose="02020603050405020304" pitchFamily="18" charset="0"/>
            </a:endParaRPr>
          </a:p>
        </p:txBody>
      </p:sp>
    </p:spTree>
    <p:extLst>
      <p:ext uri="{BB962C8B-B14F-4D97-AF65-F5344CB8AC3E}">
        <p14:creationId xmlns:p14="http://schemas.microsoft.com/office/powerpoint/2010/main" val="1042883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79512" y="1052736"/>
            <a:ext cx="8784976" cy="646331"/>
          </a:xfrm>
          <a:prstGeom prst="rect">
            <a:avLst/>
          </a:prstGeom>
        </p:spPr>
        <p:txBody>
          <a:bodyPr wrap="square">
            <a:spAutoFit/>
          </a:bodyPr>
          <a:lstStyle/>
          <a:p>
            <a:pPr algn="just"/>
            <a:r>
              <a:rPr lang="fr-FR" b="1" dirty="0" err="1" smtClean="0">
                <a:latin typeface="Times New Roman" panose="02020603050405020304" pitchFamily="18" charset="0"/>
                <a:cs typeface="Times New Roman" panose="02020603050405020304" pitchFamily="18" charset="0"/>
              </a:rPr>
              <a:t>Thymeleaf</a:t>
            </a:r>
            <a:r>
              <a:rPr lang="fr-FR" b="1" dirty="0" smtClean="0">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Le </a:t>
            </a:r>
            <a:r>
              <a:rPr lang="fr-FR" b="1" dirty="0">
                <a:latin typeface="Times New Roman" panose="02020603050405020304" pitchFamily="18" charset="0"/>
                <a:cs typeface="Times New Roman" panose="02020603050405020304" pitchFamily="18" charset="0"/>
              </a:rPr>
              <a:t>standard de </a:t>
            </a:r>
            <a:r>
              <a:rPr lang="fr-FR" b="1" dirty="0" err="1">
                <a:latin typeface="Times New Roman" panose="02020603050405020304" pitchFamily="18" charset="0"/>
                <a:cs typeface="Times New Roman" panose="02020603050405020304" pitchFamily="18" charset="0"/>
              </a:rPr>
              <a:t>Spring</a:t>
            </a:r>
            <a:r>
              <a:rPr lang="fr-FR" b="1" dirty="0">
                <a:latin typeface="Times New Roman" panose="02020603050405020304" pitchFamily="18" charset="0"/>
                <a:cs typeface="Times New Roman" panose="02020603050405020304" pitchFamily="18" charset="0"/>
              </a:rPr>
              <a:t> </a:t>
            </a:r>
            <a:r>
              <a:rPr lang="fr-FR" b="1" dirty="0" smtClean="0">
                <a:latin typeface="Times New Roman" panose="02020603050405020304" pitchFamily="18" charset="0"/>
                <a:cs typeface="Times New Roman" panose="02020603050405020304" pitchFamily="18" charset="0"/>
              </a:rPr>
              <a:t>Boot</a:t>
            </a:r>
          </a:p>
          <a:p>
            <a:pPr algn="just"/>
            <a:endParaRPr lang="fr-FR" b="1" dirty="0">
              <a:latin typeface="Times New Roman" panose="02020603050405020304" pitchFamily="18" charset="0"/>
              <a:cs typeface="Times New Roman" panose="02020603050405020304" pitchFamily="18" charset="0"/>
            </a:endParaRPr>
          </a:p>
        </p:txBody>
      </p:sp>
      <p:sp>
        <p:nvSpPr>
          <p:cNvPr id="9" name="Titre 3">
            <a:extLst>
              <a:ext uri="{FF2B5EF4-FFF2-40B4-BE49-F238E27FC236}">
                <a16:creationId xmlns:a16="http://schemas.microsoft.com/office/drawing/2014/main" id="{FD2745D9-D935-5DCC-A026-8C0361F73C9F}"/>
              </a:ext>
            </a:extLst>
          </p:cNvPr>
          <p:cNvSpPr>
            <a:spLocks noGrp="1"/>
          </p:cNvSpPr>
          <p:nvPr>
            <p:ph type="title"/>
          </p:nvPr>
        </p:nvSpPr>
        <p:spPr>
          <a:xfrm>
            <a:off x="684213" y="98425"/>
            <a:ext cx="8064500" cy="666750"/>
          </a:xfrm>
        </p:spPr>
        <p:txBody>
          <a:bodyPr/>
          <a:lstStyle/>
          <a:p>
            <a:pPr marL="285750" indent="-285750">
              <a:buFont typeface="+mj-lt"/>
              <a:buAutoNum type="romanUcPeriod" startAt="3"/>
            </a:pPr>
            <a:r>
              <a:rPr lang="en-US" sz="2400" dirty="0" smtClean="0">
                <a:solidFill>
                  <a:srgbClr val="FF0000"/>
                </a:solidFill>
                <a:effectLst/>
                <a:cs typeface="Times New Roman" panose="02020603050405020304" pitchFamily="18" charset="0"/>
              </a:rPr>
              <a:t>INITIATION AUX OUTILS DE WEB TEMPLATING</a:t>
            </a:r>
            <a:endParaRPr lang="en-US" sz="2400" dirty="0">
              <a:solidFill>
                <a:srgbClr val="FF0000"/>
              </a:solidFill>
              <a:effectLst/>
              <a:cs typeface="Times New Roman" panose="02020603050405020304" pitchFamily="18" charset="0"/>
            </a:endParaRPr>
          </a:p>
        </p:txBody>
      </p:sp>
      <p:pic>
        <p:nvPicPr>
          <p:cNvPr id="6" name="Picture 5"/>
          <p:cNvPicPr>
            <a:picLocks noChangeAspect="1"/>
          </p:cNvPicPr>
          <p:nvPr/>
        </p:nvPicPr>
        <p:blipFill>
          <a:blip r:embed="rId5"/>
          <a:stretch>
            <a:fillRect/>
          </a:stretch>
        </p:blipFill>
        <p:spPr>
          <a:xfrm>
            <a:off x="611560" y="1556792"/>
            <a:ext cx="7560840" cy="4608512"/>
          </a:xfrm>
          <a:prstGeom prst="rect">
            <a:avLst/>
          </a:prstGeom>
        </p:spPr>
      </p:pic>
    </p:spTree>
    <p:extLst>
      <p:ext uri="{BB962C8B-B14F-4D97-AF65-F5344CB8AC3E}">
        <p14:creationId xmlns:p14="http://schemas.microsoft.com/office/powerpoint/2010/main" val="3717498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re 3">
            <a:extLst>
              <a:ext uri="{FF2B5EF4-FFF2-40B4-BE49-F238E27FC236}">
                <a16:creationId xmlns:a16="http://schemas.microsoft.com/office/drawing/2014/main" id="{FD2745D9-D935-5DCC-A026-8C0361F73C9F}"/>
              </a:ext>
            </a:extLst>
          </p:cNvPr>
          <p:cNvSpPr>
            <a:spLocks noGrp="1"/>
          </p:cNvSpPr>
          <p:nvPr>
            <p:ph type="title"/>
          </p:nvPr>
        </p:nvSpPr>
        <p:spPr>
          <a:xfrm>
            <a:off x="684212" y="98425"/>
            <a:ext cx="8928348" cy="666750"/>
          </a:xfrm>
        </p:spPr>
        <p:txBody>
          <a:bodyPr/>
          <a:lstStyle/>
          <a:p>
            <a:pPr marL="514350" indent="-514350">
              <a:lnSpc>
                <a:spcPct val="150000"/>
              </a:lnSpc>
              <a:buFont typeface="+mj-lt"/>
              <a:buAutoNum type="romanUcPeriod" startAt="4"/>
            </a:pPr>
            <a:r>
              <a:rPr lang="fr-FR" sz="2400" dirty="0" smtClean="0">
                <a:solidFill>
                  <a:srgbClr val="FF0000"/>
                </a:solidFill>
              </a:rPr>
              <a:t>PAGE DE PRESENTATION UTILISANT LES TECHNOS</a:t>
            </a:r>
            <a:endParaRPr lang="fr-FR" sz="2400" dirty="0">
              <a:solidFill>
                <a:srgbClr val="FF0000"/>
              </a:solidFill>
            </a:endParaRPr>
          </a:p>
        </p:txBody>
      </p:sp>
      <p:sp>
        <p:nvSpPr>
          <p:cNvPr id="6" name="Rectangle 5"/>
          <p:cNvSpPr/>
          <p:nvPr/>
        </p:nvSpPr>
        <p:spPr>
          <a:xfrm>
            <a:off x="356690" y="831583"/>
            <a:ext cx="8640959" cy="1508105"/>
          </a:xfrm>
          <a:prstGeom prst="rect">
            <a:avLst/>
          </a:prstGeom>
        </p:spPr>
        <p:txBody>
          <a:bodyPr wrap="square">
            <a:spAutoFit/>
          </a:bodyPr>
          <a:lstStyle/>
          <a:p>
            <a:pPr>
              <a:spcBef>
                <a:spcPts val="1600"/>
              </a:spcBef>
              <a:spcAft>
                <a:spcPts val="800"/>
              </a:spcAft>
            </a:pPr>
            <a:r>
              <a:rPr lang="fr-CI" sz="2800" b="1" dirty="0"/>
              <a:t>Structure d'une page web moderne</a:t>
            </a:r>
            <a:endParaRPr lang="en-US" sz="2800" b="1" dirty="0"/>
          </a:p>
          <a:p>
            <a:pPr algn="just">
              <a:spcBef>
                <a:spcPts val="400"/>
              </a:spcBef>
              <a:spcAft>
                <a:spcPts val="400"/>
              </a:spcAft>
            </a:pPr>
            <a:r>
              <a:rPr lang="fr-CI" dirty="0">
                <a:solidFill>
                  <a:srgbClr val="1F2937"/>
                </a:solidFill>
                <a:ea typeface="Arial" panose="020B0604020202020204" pitchFamily="34" charset="0"/>
              </a:rPr>
              <a:t>Une page de présentation professionnelle suit une structure standard composée de plusieurs sections, chacune ayant un rôle précis dans la communication avec l'utilisateur</a:t>
            </a:r>
            <a:r>
              <a:rPr lang="fr-CI" dirty="0" smtClean="0">
                <a:solidFill>
                  <a:srgbClr val="1F2937"/>
                </a:solidFill>
                <a:ea typeface="Arial" panose="020B0604020202020204" pitchFamily="34" charset="0"/>
              </a:rPr>
              <a:t>.</a:t>
            </a:r>
            <a:endParaRPr lang="fr-CI" dirty="0" smtClean="0">
              <a:solidFill>
                <a:srgbClr val="1F2937"/>
              </a:solidFill>
              <a:ea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281478229"/>
              </p:ext>
            </p:extLst>
          </p:nvPr>
        </p:nvGraphicFramePr>
        <p:xfrm>
          <a:off x="506389" y="2339688"/>
          <a:ext cx="8131221" cy="3733527"/>
        </p:xfrm>
        <a:graphic>
          <a:graphicData uri="http://schemas.openxmlformats.org/drawingml/2006/table">
            <a:tbl>
              <a:tblPr firstRow="1" bandRow="1">
                <a:tableStyleId>{5C22544A-7EE6-4342-B048-85BDC9FD1C3A}</a:tableStyleId>
              </a:tblPr>
              <a:tblGrid>
                <a:gridCol w="2710407">
                  <a:extLst>
                    <a:ext uri="{9D8B030D-6E8A-4147-A177-3AD203B41FA5}">
                      <a16:colId xmlns:a16="http://schemas.microsoft.com/office/drawing/2014/main" val="20000"/>
                    </a:ext>
                  </a:extLst>
                </a:gridCol>
                <a:gridCol w="2710407">
                  <a:extLst>
                    <a:ext uri="{9D8B030D-6E8A-4147-A177-3AD203B41FA5}">
                      <a16:colId xmlns:a16="http://schemas.microsoft.com/office/drawing/2014/main" val="20001"/>
                    </a:ext>
                  </a:extLst>
                </a:gridCol>
                <a:gridCol w="2710407">
                  <a:extLst>
                    <a:ext uri="{9D8B030D-6E8A-4147-A177-3AD203B41FA5}">
                      <a16:colId xmlns:a16="http://schemas.microsoft.com/office/drawing/2014/main" val="20002"/>
                    </a:ext>
                  </a:extLst>
                </a:gridCol>
              </a:tblGrid>
              <a:tr h="530871">
                <a:tc>
                  <a:txBody>
                    <a:bodyPr/>
                    <a:lstStyle/>
                    <a:p>
                      <a:r>
                        <a:rPr sz="1400" dirty="0">
                          <a:solidFill>
                            <a:schemeClr val="tx2"/>
                          </a:solidFill>
                          <a:latin typeface="Times New Roman" panose="02020603050405020304" pitchFamily="18" charset="0"/>
                          <a:cs typeface="Times New Roman" panose="02020603050405020304" pitchFamily="18" charset="0"/>
                        </a:rPr>
                        <a:t>Section</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Rôle</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Technologies courantes</a:t>
                      </a:r>
                    </a:p>
                  </a:txBody>
                  <a:tcPr/>
                </a:tc>
                <a:extLst>
                  <a:ext uri="{0D108BD9-81ED-4DB2-BD59-A6C34878D82A}">
                    <a16:rowId xmlns:a16="http://schemas.microsoft.com/office/drawing/2014/main" val="10000"/>
                  </a:ext>
                </a:extLst>
              </a:tr>
              <a:tr h="533776">
                <a:tc>
                  <a:txBody>
                    <a:bodyPr/>
                    <a:lstStyle/>
                    <a:p>
                      <a:r>
                        <a:rPr sz="1400">
                          <a:solidFill>
                            <a:schemeClr val="tx2"/>
                          </a:solidFill>
                          <a:latin typeface="Times New Roman" panose="02020603050405020304" pitchFamily="18" charset="0"/>
                          <a:cs typeface="Times New Roman" panose="02020603050405020304" pitchFamily="18" charset="0"/>
                        </a:rPr>
                        <a:t>&lt;header&gt;</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Identité, navigation principale</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Bootstrap Navbar, React Header Component</a:t>
                      </a:r>
                    </a:p>
                  </a:txBody>
                  <a:tcPr/>
                </a:tc>
                <a:extLst>
                  <a:ext uri="{0D108BD9-81ED-4DB2-BD59-A6C34878D82A}">
                    <a16:rowId xmlns:a16="http://schemas.microsoft.com/office/drawing/2014/main" val="10001"/>
                  </a:ext>
                </a:extLst>
              </a:tr>
              <a:tr h="533776">
                <a:tc>
                  <a:txBody>
                    <a:bodyPr/>
                    <a:lstStyle/>
                    <a:p>
                      <a:r>
                        <a:rPr sz="1400">
                          <a:solidFill>
                            <a:schemeClr val="tx2"/>
                          </a:solidFill>
                          <a:latin typeface="Times New Roman" panose="02020603050405020304" pitchFamily="18" charset="0"/>
                          <a:cs typeface="Times New Roman" panose="02020603050405020304" pitchFamily="18" charset="0"/>
                        </a:rPr>
                        <a:t>&lt;hero&gt;</a:t>
                      </a:r>
                    </a:p>
                  </a:txBody>
                  <a:tcPr/>
                </a:tc>
                <a:tc>
                  <a:txBody>
                    <a:bodyPr/>
                    <a:lstStyle/>
                    <a:p>
                      <a:r>
                        <a:rPr sz="1400" dirty="0">
                          <a:solidFill>
                            <a:schemeClr val="tx2"/>
                          </a:solidFill>
                          <a:latin typeface="Times New Roman" panose="02020603050405020304" pitchFamily="18" charset="0"/>
                          <a:cs typeface="Times New Roman" panose="02020603050405020304" pitchFamily="18" charset="0"/>
                        </a:rPr>
                        <a:t>Message principal, </a:t>
                      </a:r>
                      <a:r>
                        <a:rPr sz="1400" dirty="0" err="1">
                          <a:solidFill>
                            <a:schemeClr val="tx2"/>
                          </a:solidFill>
                          <a:latin typeface="Times New Roman" panose="02020603050405020304" pitchFamily="18" charset="0"/>
                          <a:cs typeface="Times New Roman" panose="02020603050405020304" pitchFamily="18" charset="0"/>
                        </a:rPr>
                        <a:t>appel</a:t>
                      </a:r>
                      <a:r>
                        <a:rPr sz="1400" dirty="0">
                          <a:solidFill>
                            <a:schemeClr val="tx2"/>
                          </a:solidFill>
                          <a:latin typeface="Times New Roman" panose="02020603050405020304" pitchFamily="18" charset="0"/>
                          <a:cs typeface="Times New Roman" panose="02020603050405020304" pitchFamily="18" charset="0"/>
                        </a:rPr>
                        <a:t> à </a:t>
                      </a:r>
                      <a:r>
                        <a:rPr sz="1400" dirty="0" err="1">
                          <a:solidFill>
                            <a:schemeClr val="tx2"/>
                          </a:solidFill>
                          <a:latin typeface="Times New Roman" panose="02020603050405020304" pitchFamily="18" charset="0"/>
                          <a:cs typeface="Times New Roman" panose="02020603050405020304" pitchFamily="18" charset="0"/>
                        </a:rPr>
                        <a:t>l'action</a:t>
                      </a:r>
                      <a:endParaRPr sz="1400" dirty="0">
                        <a:solidFill>
                          <a:schemeClr val="tx2"/>
                        </a:solidFill>
                        <a:latin typeface="Times New Roman" panose="02020603050405020304" pitchFamily="18" charset="0"/>
                        <a:cs typeface="Times New Roman" panose="02020603050405020304" pitchFamily="18" charset="0"/>
                      </a:endParaRPr>
                    </a:p>
                  </a:txBody>
                  <a:tcPr/>
                </a:tc>
                <a:tc>
                  <a:txBody>
                    <a:bodyPr/>
                    <a:lstStyle/>
                    <a:p>
                      <a:r>
                        <a:rPr sz="1400">
                          <a:solidFill>
                            <a:schemeClr val="tx2"/>
                          </a:solidFill>
                          <a:latin typeface="Times New Roman" panose="02020603050405020304" pitchFamily="18" charset="0"/>
                          <a:cs typeface="Times New Roman" panose="02020603050405020304" pitchFamily="18" charset="0"/>
                        </a:rPr>
                        <a:t>CSS Flexbox, animations JavaScript</a:t>
                      </a:r>
                    </a:p>
                  </a:txBody>
                  <a:tcPr/>
                </a:tc>
                <a:extLst>
                  <a:ext uri="{0D108BD9-81ED-4DB2-BD59-A6C34878D82A}">
                    <a16:rowId xmlns:a16="http://schemas.microsoft.com/office/drawing/2014/main" val="10002"/>
                  </a:ext>
                </a:extLst>
              </a:tr>
              <a:tr h="533776">
                <a:tc>
                  <a:txBody>
                    <a:bodyPr/>
                    <a:lstStyle/>
                    <a:p>
                      <a:r>
                        <a:rPr sz="1400">
                          <a:solidFill>
                            <a:schemeClr val="tx2"/>
                          </a:solidFill>
                          <a:latin typeface="Times New Roman" panose="02020603050405020304" pitchFamily="18" charset="0"/>
                          <a:cs typeface="Times New Roman" panose="02020603050405020304" pitchFamily="18" charset="0"/>
                        </a:rPr>
                        <a:t>&lt;features&gt;</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Présentation des fonctionnalités</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Grid CSS, cartes Bootstrap / Tailwind</a:t>
                      </a:r>
                    </a:p>
                  </a:txBody>
                  <a:tcPr/>
                </a:tc>
                <a:extLst>
                  <a:ext uri="{0D108BD9-81ED-4DB2-BD59-A6C34878D82A}">
                    <a16:rowId xmlns:a16="http://schemas.microsoft.com/office/drawing/2014/main" val="10003"/>
                  </a:ext>
                </a:extLst>
              </a:tr>
              <a:tr h="533776">
                <a:tc>
                  <a:txBody>
                    <a:bodyPr/>
                    <a:lstStyle/>
                    <a:p>
                      <a:r>
                        <a:rPr sz="1400">
                          <a:solidFill>
                            <a:schemeClr val="tx2"/>
                          </a:solidFill>
                          <a:latin typeface="Times New Roman" panose="02020603050405020304" pitchFamily="18" charset="0"/>
                          <a:cs typeface="Times New Roman" panose="02020603050405020304" pitchFamily="18" charset="0"/>
                        </a:rPr>
                        <a:t>&lt;testimonials&gt;</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Témoignages, preuves sociales</a:t>
                      </a:r>
                    </a:p>
                  </a:txBody>
                  <a:tcPr/>
                </a:tc>
                <a:tc>
                  <a:txBody>
                    <a:bodyPr/>
                    <a:lstStyle/>
                    <a:p>
                      <a:r>
                        <a:rPr sz="1400" dirty="0">
                          <a:solidFill>
                            <a:schemeClr val="tx2"/>
                          </a:solidFill>
                          <a:latin typeface="Times New Roman" panose="02020603050405020304" pitchFamily="18" charset="0"/>
                          <a:cs typeface="Times New Roman" panose="02020603050405020304" pitchFamily="18" charset="0"/>
                        </a:rPr>
                        <a:t>Carousel Bootstrap, Slick Slider</a:t>
                      </a:r>
                    </a:p>
                  </a:txBody>
                  <a:tcPr/>
                </a:tc>
                <a:extLst>
                  <a:ext uri="{0D108BD9-81ED-4DB2-BD59-A6C34878D82A}">
                    <a16:rowId xmlns:a16="http://schemas.microsoft.com/office/drawing/2014/main" val="10004"/>
                  </a:ext>
                </a:extLst>
              </a:tr>
              <a:tr h="533776">
                <a:tc>
                  <a:txBody>
                    <a:bodyPr/>
                    <a:lstStyle/>
                    <a:p>
                      <a:r>
                        <a:rPr sz="1400">
                          <a:solidFill>
                            <a:schemeClr val="tx2"/>
                          </a:solidFill>
                          <a:latin typeface="Times New Roman" panose="02020603050405020304" pitchFamily="18" charset="0"/>
                          <a:cs typeface="Times New Roman" panose="02020603050405020304" pitchFamily="18" charset="0"/>
                        </a:rPr>
                        <a:t>&lt;cta&gt;</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Appel à l'action final</a:t>
                      </a:r>
                    </a:p>
                  </a:txBody>
                  <a:tcPr/>
                </a:tc>
                <a:tc>
                  <a:txBody>
                    <a:bodyPr/>
                    <a:lstStyle/>
                    <a:p>
                      <a:r>
                        <a:rPr sz="1400" dirty="0" err="1">
                          <a:solidFill>
                            <a:schemeClr val="tx2"/>
                          </a:solidFill>
                          <a:latin typeface="Times New Roman" panose="02020603050405020304" pitchFamily="18" charset="0"/>
                          <a:cs typeface="Times New Roman" panose="02020603050405020304" pitchFamily="18" charset="0"/>
                        </a:rPr>
                        <a:t>Bouton</a:t>
                      </a:r>
                      <a:r>
                        <a:rPr sz="1400" dirty="0">
                          <a:solidFill>
                            <a:schemeClr val="tx2"/>
                          </a:solidFill>
                          <a:latin typeface="Times New Roman" panose="02020603050405020304" pitchFamily="18" charset="0"/>
                          <a:cs typeface="Times New Roman" panose="02020603050405020304" pitchFamily="18" charset="0"/>
                        </a:rPr>
                        <a:t> </a:t>
                      </a:r>
                      <a:r>
                        <a:rPr sz="1400" dirty="0" err="1">
                          <a:solidFill>
                            <a:schemeClr val="tx2"/>
                          </a:solidFill>
                          <a:latin typeface="Times New Roman" panose="02020603050405020304" pitchFamily="18" charset="0"/>
                          <a:cs typeface="Times New Roman" panose="02020603050405020304" pitchFamily="18" charset="0"/>
                        </a:rPr>
                        <a:t>stylisé</a:t>
                      </a:r>
                      <a:r>
                        <a:rPr sz="1400" dirty="0">
                          <a:solidFill>
                            <a:schemeClr val="tx2"/>
                          </a:solidFill>
                          <a:latin typeface="Times New Roman" panose="02020603050405020304" pitchFamily="18" charset="0"/>
                          <a:cs typeface="Times New Roman" panose="02020603050405020304" pitchFamily="18" charset="0"/>
                        </a:rPr>
                        <a:t>, </a:t>
                      </a:r>
                      <a:r>
                        <a:rPr sz="1400" dirty="0" err="1">
                          <a:solidFill>
                            <a:schemeClr val="tx2"/>
                          </a:solidFill>
                          <a:latin typeface="Times New Roman" panose="02020603050405020304" pitchFamily="18" charset="0"/>
                          <a:cs typeface="Times New Roman" panose="02020603050405020304" pitchFamily="18" charset="0"/>
                        </a:rPr>
                        <a:t>formulaire</a:t>
                      </a:r>
                      <a:r>
                        <a:rPr sz="1400" dirty="0">
                          <a:solidFill>
                            <a:schemeClr val="tx2"/>
                          </a:solidFill>
                          <a:latin typeface="Times New Roman" panose="02020603050405020304" pitchFamily="18" charset="0"/>
                          <a:cs typeface="Times New Roman" panose="02020603050405020304" pitchFamily="18" charset="0"/>
                        </a:rPr>
                        <a:t> </a:t>
                      </a:r>
                      <a:r>
                        <a:rPr sz="1400" dirty="0" err="1">
                          <a:solidFill>
                            <a:schemeClr val="tx2"/>
                          </a:solidFill>
                          <a:latin typeface="Times New Roman" panose="02020603050405020304" pitchFamily="18" charset="0"/>
                          <a:cs typeface="Times New Roman" panose="02020603050405020304" pitchFamily="18" charset="0"/>
                        </a:rPr>
                        <a:t>d'inscription</a:t>
                      </a:r>
                      <a:endParaRPr sz="1400" dirty="0">
                        <a:solidFill>
                          <a:schemeClr val="tx2"/>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533776">
                <a:tc>
                  <a:txBody>
                    <a:bodyPr/>
                    <a:lstStyle/>
                    <a:p>
                      <a:r>
                        <a:rPr sz="1400">
                          <a:solidFill>
                            <a:schemeClr val="tx2"/>
                          </a:solidFill>
                          <a:latin typeface="Times New Roman" panose="02020603050405020304" pitchFamily="18" charset="0"/>
                          <a:cs typeface="Times New Roman" panose="02020603050405020304" pitchFamily="18" charset="0"/>
                        </a:rPr>
                        <a:t>&lt;footer&gt;</a:t>
                      </a:r>
                    </a:p>
                  </a:txBody>
                  <a:tcPr/>
                </a:tc>
                <a:tc>
                  <a:txBody>
                    <a:bodyPr/>
                    <a:lstStyle/>
                    <a:p>
                      <a:r>
                        <a:rPr sz="1400">
                          <a:solidFill>
                            <a:schemeClr val="tx2"/>
                          </a:solidFill>
                          <a:latin typeface="Times New Roman" panose="02020603050405020304" pitchFamily="18" charset="0"/>
                          <a:cs typeface="Times New Roman" panose="02020603050405020304" pitchFamily="18" charset="0"/>
                        </a:rPr>
                        <a:t>Liens, contact, légal</a:t>
                      </a:r>
                    </a:p>
                  </a:txBody>
                  <a:tcPr/>
                </a:tc>
                <a:tc>
                  <a:txBody>
                    <a:bodyPr/>
                    <a:lstStyle/>
                    <a:p>
                      <a:r>
                        <a:rPr sz="1400" dirty="0">
                          <a:solidFill>
                            <a:schemeClr val="tx2"/>
                          </a:solidFill>
                          <a:latin typeface="Times New Roman" panose="02020603050405020304" pitchFamily="18" charset="0"/>
                          <a:cs typeface="Times New Roman" panose="02020603050405020304" pitchFamily="18" charset="0"/>
                        </a:rPr>
                        <a:t>Grid CSS, </a:t>
                      </a:r>
                      <a:r>
                        <a:rPr sz="1400" dirty="0" err="1">
                          <a:solidFill>
                            <a:schemeClr val="tx2"/>
                          </a:solidFill>
                          <a:latin typeface="Times New Roman" panose="02020603050405020304" pitchFamily="18" charset="0"/>
                          <a:cs typeface="Times New Roman" panose="02020603050405020304" pitchFamily="18" charset="0"/>
                        </a:rPr>
                        <a:t>icônes</a:t>
                      </a:r>
                      <a:r>
                        <a:rPr sz="1400" dirty="0">
                          <a:solidFill>
                            <a:schemeClr val="tx2"/>
                          </a:solidFill>
                          <a:latin typeface="Times New Roman" panose="02020603050405020304" pitchFamily="18" charset="0"/>
                          <a:cs typeface="Times New Roman" panose="02020603050405020304" pitchFamily="18" charset="0"/>
                        </a:rPr>
                        <a:t> Font Awesome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37218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re 3">
            <a:extLst>
              <a:ext uri="{FF2B5EF4-FFF2-40B4-BE49-F238E27FC236}">
                <a16:creationId xmlns:a16="http://schemas.microsoft.com/office/drawing/2014/main" id="{FD2745D9-D935-5DCC-A026-8C0361F73C9F}"/>
              </a:ext>
            </a:extLst>
          </p:cNvPr>
          <p:cNvSpPr>
            <a:spLocks noGrp="1"/>
          </p:cNvSpPr>
          <p:nvPr>
            <p:ph type="title"/>
          </p:nvPr>
        </p:nvSpPr>
        <p:spPr>
          <a:xfrm>
            <a:off x="684212" y="98425"/>
            <a:ext cx="8928348" cy="666750"/>
          </a:xfrm>
        </p:spPr>
        <p:txBody>
          <a:bodyPr/>
          <a:lstStyle/>
          <a:p>
            <a:pPr marL="514350" indent="-514350">
              <a:lnSpc>
                <a:spcPct val="150000"/>
              </a:lnSpc>
              <a:buFont typeface="+mj-lt"/>
              <a:buAutoNum type="romanUcPeriod" startAt="4"/>
            </a:pPr>
            <a:r>
              <a:rPr lang="fr-FR" sz="2400" dirty="0" smtClean="0">
                <a:solidFill>
                  <a:srgbClr val="FF0000"/>
                </a:solidFill>
              </a:rPr>
              <a:t>PAGE DE PRESENTATION UTILISANT LES TECHNOS</a:t>
            </a:r>
            <a:endParaRPr lang="fr-FR" sz="2400" dirty="0">
              <a:solidFill>
                <a:srgbClr val="FF0000"/>
              </a:solidFill>
            </a:endParaRPr>
          </a:p>
        </p:txBody>
      </p:sp>
      <p:sp>
        <p:nvSpPr>
          <p:cNvPr id="4" name="Rectangle 3"/>
          <p:cNvSpPr/>
          <p:nvPr/>
        </p:nvSpPr>
        <p:spPr>
          <a:xfrm>
            <a:off x="539552" y="1052736"/>
            <a:ext cx="7953502" cy="369332"/>
          </a:xfrm>
          <a:prstGeom prst="rect">
            <a:avLst/>
          </a:prstGeom>
        </p:spPr>
        <p:txBody>
          <a:bodyPr wrap="square">
            <a:spAutoFit/>
          </a:bodyPr>
          <a:lstStyle/>
          <a:p>
            <a:r>
              <a:rPr lang="fr-CI" b="1" dirty="0">
                <a:ea typeface="Arial" panose="020B0604020202020204" pitchFamily="34" charset="0"/>
              </a:rPr>
              <a:t>Exemple : Page de présentation avec </a:t>
            </a:r>
            <a:r>
              <a:rPr lang="fr-CI" b="1" dirty="0" err="1">
                <a:ea typeface="Arial" panose="020B0604020202020204" pitchFamily="34" charset="0"/>
              </a:rPr>
              <a:t>React</a:t>
            </a:r>
            <a:r>
              <a:rPr lang="fr-CI" b="1" dirty="0">
                <a:ea typeface="Arial" panose="020B0604020202020204" pitchFamily="34" charset="0"/>
              </a:rPr>
              <a:t> et </a:t>
            </a:r>
            <a:r>
              <a:rPr lang="fr-CI" b="1" dirty="0" err="1">
                <a:ea typeface="Arial" panose="020B0604020202020204" pitchFamily="34" charset="0"/>
              </a:rPr>
              <a:t>Tailwind</a:t>
            </a:r>
            <a:r>
              <a:rPr lang="fr-CI" b="1" dirty="0">
                <a:ea typeface="Arial" panose="020B0604020202020204" pitchFamily="34" charset="0"/>
              </a:rPr>
              <a:t> CSS </a:t>
            </a:r>
            <a:endParaRPr lang="en-US" b="1" dirty="0"/>
          </a:p>
        </p:txBody>
      </p:sp>
      <p:sp>
        <p:nvSpPr>
          <p:cNvPr id="13" name="Rectangle 12"/>
          <p:cNvSpPr/>
          <p:nvPr/>
        </p:nvSpPr>
        <p:spPr>
          <a:xfrm>
            <a:off x="159819" y="1643786"/>
            <a:ext cx="8712968" cy="646331"/>
          </a:xfrm>
          <a:prstGeom prst="rect">
            <a:avLst/>
          </a:prstGeom>
        </p:spPr>
        <p:txBody>
          <a:bodyPr wrap="square">
            <a:spAutoFit/>
          </a:bodyPr>
          <a:lstStyle/>
          <a:p>
            <a:pPr algn="just">
              <a:spcBef>
                <a:spcPts val="400"/>
              </a:spcBef>
              <a:spcAft>
                <a:spcPts val="400"/>
              </a:spcAft>
            </a:pPr>
            <a:r>
              <a:rPr lang="fr-CI" dirty="0">
                <a:solidFill>
                  <a:srgbClr val="1F2937"/>
                </a:solidFill>
                <a:ea typeface="Arial" panose="020B0604020202020204" pitchFamily="34" charset="0"/>
              </a:rPr>
              <a:t>Voici un exemple concret d'une page de présentation pour une application de livraison de repas (style </a:t>
            </a:r>
            <a:r>
              <a:rPr lang="fr-CI" dirty="0" err="1">
                <a:solidFill>
                  <a:srgbClr val="1F2937"/>
                </a:solidFill>
                <a:ea typeface="Arial" panose="020B0604020202020204" pitchFamily="34" charset="0"/>
              </a:rPr>
              <a:t>Glovo</a:t>
            </a:r>
            <a:r>
              <a:rPr lang="fr-CI" dirty="0">
                <a:solidFill>
                  <a:srgbClr val="1F2937"/>
                </a:solidFill>
                <a:ea typeface="Arial" panose="020B0604020202020204" pitchFamily="34" charset="0"/>
              </a:rPr>
              <a:t> / </a:t>
            </a:r>
            <a:r>
              <a:rPr lang="fr-CI" dirty="0" err="1">
                <a:solidFill>
                  <a:srgbClr val="1F2937"/>
                </a:solidFill>
                <a:ea typeface="Arial" panose="020B0604020202020204" pitchFamily="34" charset="0"/>
              </a:rPr>
              <a:t>Jumia</a:t>
            </a:r>
            <a:r>
              <a:rPr lang="fr-CI" dirty="0">
                <a:solidFill>
                  <a:srgbClr val="1F2937"/>
                </a:solidFill>
                <a:ea typeface="Arial" panose="020B0604020202020204" pitchFamily="34" charset="0"/>
              </a:rPr>
              <a:t> Food) construite avec </a:t>
            </a:r>
            <a:r>
              <a:rPr lang="fr-CI" dirty="0" err="1">
                <a:solidFill>
                  <a:srgbClr val="1F2937"/>
                </a:solidFill>
                <a:ea typeface="Arial" panose="020B0604020202020204" pitchFamily="34" charset="0"/>
              </a:rPr>
              <a:t>React</a:t>
            </a:r>
            <a:r>
              <a:rPr lang="fr-CI" dirty="0">
                <a:solidFill>
                  <a:srgbClr val="1F2937"/>
                </a:solidFill>
                <a:ea typeface="Arial" panose="020B0604020202020204" pitchFamily="34" charset="0"/>
              </a:rPr>
              <a:t> et </a:t>
            </a:r>
            <a:r>
              <a:rPr lang="fr-CI" dirty="0" err="1">
                <a:solidFill>
                  <a:srgbClr val="1F2937"/>
                </a:solidFill>
                <a:ea typeface="Arial" panose="020B0604020202020204" pitchFamily="34" charset="0"/>
              </a:rPr>
              <a:t>Tailwind</a:t>
            </a:r>
            <a:r>
              <a:rPr lang="fr-CI" dirty="0">
                <a:solidFill>
                  <a:srgbClr val="1F2937"/>
                </a:solidFill>
                <a:ea typeface="Arial" panose="020B0604020202020204" pitchFamily="34" charset="0"/>
              </a:rPr>
              <a:t> CSS </a:t>
            </a:r>
            <a:endParaRPr lang="en-US" dirty="0">
              <a:ea typeface="Arial" panose="020B0604020202020204" pitchFamily="34" charset="0"/>
            </a:endParaRPr>
          </a:p>
        </p:txBody>
      </p:sp>
      <p:sp>
        <p:nvSpPr>
          <p:cNvPr id="14" name="Rectangle 13"/>
          <p:cNvSpPr/>
          <p:nvPr/>
        </p:nvSpPr>
        <p:spPr>
          <a:xfrm>
            <a:off x="323528" y="2072074"/>
            <a:ext cx="11089232" cy="4785926"/>
          </a:xfrm>
          <a:prstGeom prst="rect">
            <a:avLst/>
          </a:prstGeom>
        </p:spPr>
        <p:txBody>
          <a:bodyPr wrap="square">
            <a:spAutoFit/>
          </a:bodyPr>
          <a:lstStyle/>
          <a:p>
            <a:pPr>
              <a:lnSpc>
                <a:spcPct val="150000"/>
              </a:lnSpc>
              <a:spcBef>
                <a:spcPts val="1200"/>
              </a:spcBef>
              <a:spcAft>
                <a:spcPts val="600"/>
              </a:spcAft>
            </a:pPr>
            <a:endParaRPr lang="en-US" sz="1200"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 </a:t>
            </a:r>
            <a:r>
              <a:rPr lang="en-US" sz="1400" b="1" dirty="0" err="1">
                <a:latin typeface="Courier New" panose="02070309020205020404" pitchFamily="49" charset="0"/>
                <a:ea typeface="Courier New" panose="02070309020205020404" pitchFamily="49" charset="0"/>
              </a:rPr>
              <a:t>HeroSection.jsx</a:t>
            </a:r>
            <a:r>
              <a:rPr lang="en-US" sz="1400" b="1" dirty="0">
                <a:latin typeface="Courier New" panose="02070309020205020404" pitchFamily="49" charset="0"/>
                <a:ea typeface="Courier New" panose="02070309020205020404" pitchFamily="49" charset="0"/>
              </a:rPr>
              <a:t> — React + Tailwind CSS</a:t>
            </a:r>
            <a:endParaRPr lang="en-US" b="1"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function </a:t>
            </a:r>
            <a:r>
              <a:rPr lang="en-US" sz="1400" b="1" dirty="0" err="1">
                <a:latin typeface="Courier New" panose="02070309020205020404" pitchFamily="49" charset="0"/>
                <a:ea typeface="Courier New" panose="02070309020205020404" pitchFamily="49" charset="0"/>
              </a:rPr>
              <a:t>HeroSection</a:t>
            </a:r>
            <a:r>
              <a:rPr lang="en-US" sz="1400" b="1" dirty="0">
                <a:latin typeface="Courier New" panose="02070309020205020404" pitchFamily="49" charset="0"/>
                <a:ea typeface="Courier New" panose="02070309020205020404" pitchFamily="49" charset="0"/>
              </a:rPr>
              <a:t>() {</a:t>
            </a:r>
            <a:endParaRPr lang="en-US" b="1"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  return (</a:t>
            </a:r>
            <a:endParaRPr lang="en-US" b="1"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    &lt;section </a:t>
            </a:r>
            <a:r>
              <a:rPr lang="en-US" sz="1400" b="1" dirty="0" err="1">
                <a:latin typeface="Courier New" panose="02070309020205020404" pitchFamily="49" charset="0"/>
                <a:ea typeface="Courier New" panose="02070309020205020404" pitchFamily="49" charset="0"/>
              </a:rPr>
              <a:t>className</a:t>
            </a:r>
            <a:r>
              <a:rPr lang="en-US" sz="1400" b="1" dirty="0">
                <a:latin typeface="Courier New" panose="02070309020205020404" pitchFamily="49" charset="0"/>
                <a:ea typeface="Courier New" panose="02070309020205020404" pitchFamily="49" charset="0"/>
              </a:rPr>
              <a:t>="bg-orange-500 text-white py-20 px-8"&gt;</a:t>
            </a:r>
            <a:endParaRPr lang="en-US" b="1"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      </a:t>
            </a:r>
            <a:r>
              <a:rPr lang="fr-CI" sz="1400" b="1" dirty="0">
                <a:latin typeface="Courier New" panose="02070309020205020404" pitchFamily="49" charset="0"/>
                <a:ea typeface="Courier New" panose="02070309020205020404" pitchFamily="49" charset="0"/>
              </a:rPr>
              <a:t>&lt;h1 </a:t>
            </a:r>
            <a:r>
              <a:rPr lang="fr-CI" sz="1400" b="1" dirty="0" err="1">
                <a:latin typeface="Courier New" panose="02070309020205020404" pitchFamily="49" charset="0"/>
                <a:ea typeface="Courier New" panose="02070309020205020404" pitchFamily="49" charset="0"/>
              </a:rPr>
              <a:t>className</a:t>
            </a:r>
            <a:r>
              <a:rPr lang="fr-CI" sz="1400" b="1" dirty="0">
                <a:latin typeface="Courier New" panose="02070309020205020404" pitchFamily="49" charset="0"/>
                <a:ea typeface="Courier New" panose="02070309020205020404" pitchFamily="49" charset="0"/>
              </a:rPr>
              <a:t>="text-5xl font-</a:t>
            </a:r>
            <a:r>
              <a:rPr lang="fr-CI" sz="1400" b="1" dirty="0" err="1">
                <a:latin typeface="Courier New" panose="02070309020205020404" pitchFamily="49" charset="0"/>
                <a:ea typeface="Courier New" panose="02070309020205020404" pitchFamily="49" charset="0"/>
              </a:rPr>
              <a:t>bold</a:t>
            </a:r>
            <a:r>
              <a:rPr lang="fr-CI" sz="1400" b="1" dirty="0">
                <a:latin typeface="Courier New" panose="02070309020205020404" pitchFamily="49" charset="0"/>
                <a:ea typeface="Courier New" panose="02070309020205020404" pitchFamily="49" charset="0"/>
              </a:rPr>
              <a:t>"&gt;</a:t>
            </a:r>
            <a:endParaRPr lang="en-US" b="1" dirty="0">
              <a:ea typeface="Arial" panose="020B0604020202020204" pitchFamily="34" charset="0"/>
            </a:endParaRPr>
          </a:p>
          <a:p>
            <a:pPr marL="228600">
              <a:lnSpc>
                <a:spcPct val="150000"/>
              </a:lnSpc>
              <a:spcAft>
                <a:spcPts val="0"/>
              </a:spcAft>
            </a:pPr>
            <a:r>
              <a:rPr lang="fr-CI" sz="1400" b="1" dirty="0">
                <a:latin typeface="Courier New" panose="02070309020205020404" pitchFamily="49" charset="0"/>
                <a:ea typeface="Courier New" panose="02070309020205020404" pitchFamily="49" charset="0"/>
              </a:rPr>
              <a:t>        Livraison rapide à Abidjan </a:t>
            </a:r>
            <a:r>
              <a:rPr lang="en-US" sz="1400" b="1" dirty="0">
                <a:latin typeface="Courier New" panose="02070309020205020404" pitchFamily="49" charset="0"/>
                <a:ea typeface="Courier New" panose="02070309020205020404" pitchFamily="49" charset="0"/>
              </a:rPr>
              <a:t>🍔</a:t>
            </a:r>
            <a:endParaRPr lang="en-US" b="1" dirty="0">
              <a:ea typeface="Arial" panose="020B0604020202020204" pitchFamily="34" charset="0"/>
            </a:endParaRPr>
          </a:p>
          <a:p>
            <a:pPr marL="228600">
              <a:lnSpc>
                <a:spcPct val="150000"/>
              </a:lnSpc>
              <a:spcAft>
                <a:spcPts val="0"/>
              </a:spcAft>
            </a:pPr>
            <a:r>
              <a:rPr lang="fr-CI" sz="1400" b="1" dirty="0">
                <a:latin typeface="Courier New" panose="02070309020205020404" pitchFamily="49" charset="0"/>
                <a:ea typeface="Courier New" panose="02070309020205020404" pitchFamily="49" charset="0"/>
              </a:rPr>
              <a:t>      </a:t>
            </a:r>
            <a:r>
              <a:rPr lang="en-US" sz="1400" b="1" dirty="0">
                <a:latin typeface="Courier New" panose="02070309020205020404" pitchFamily="49" charset="0"/>
                <a:ea typeface="Courier New" panose="02070309020205020404" pitchFamily="49" charset="0"/>
              </a:rPr>
              <a:t>&lt;/h1&gt;</a:t>
            </a:r>
            <a:endParaRPr lang="en-US" b="1"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      &lt;button </a:t>
            </a:r>
            <a:r>
              <a:rPr lang="en-US" sz="1400" b="1" dirty="0" err="1">
                <a:latin typeface="Courier New" panose="02070309020205020404" pitchFamily="49" charset="0"/>
                <a:ea typeface="Courier New" panose="02070309020205020404" pitchFamily="49" charset="0"/>
              </a:rPr>
              <a:t>className</a:t>
            </a:r>
            <a:r>
              <a:rPr lang="en-US" sz="1400" b="1" dirty="0">
                <a:latin typeface="Courier New" panose="02070309020205020404" pitchFamily="49" charset="0"/>
                <a:ea typeface="Courier New" panose="02070309020205020404" pitchFamily="49" charset="0"/>
              </a:rPr>
              <a:t>="mt-6 </a:t>
            </a:r>
            <a:r>
              <a:rPr lang="en-US" sz="1400" b="1" dirty="0" err="1">
                <a:latin typeface="Courier New" panose="02070309020205020404" pitchFamily="49" charset="0"/>
                <a:ea typeface="Courier New" panose="02070309020205020404" pitchFamily="49" charset="0"/>
              </a:rPr>
              <a:t>bg</a:t>
            </a:r>
            <a:r>
              <a:rPr lang="en-US" sz="1400" b="1" dirty="0">
                <a:latin typeface="Courier New" panose="02070309020205020404" pitchFamily="49" charset="0"/>
                <a:ea typeface="Courier New" panose="02070309020205020404" pitchFamily="49" charset="0"/>
              </a:rPr>
              <a:t>-white text-orange-500 px-8 py-3 rounded-full"&gt;</a:t>
            </a:r>
            <a:endParaRPr lang="en-US" b="1" dirty="0">
              <a:ea typeface="Arial" panose="020B0604020202020204" pitchFamily="34" charset="0"/>
            </a:endParaRPr>
          </a:p>
          <a:p>
            <a:pPr marL="228600">
              <a:lnSpc>
                <a:spcPct val="150000"/>
              </a:lnSpc>
              <a:spcAft>
                <a:spcPts val="0"/>
              </a:spcAft>
            </a:pPr>
            <a:r>
              <a:rPr lang="en-US" sz="1400" b="1" dirty="0">
                <a:latin typeface="Courier New" panose="02070309020205020404" pitchFamily="49" charset="0"/>
                <a:ea typeface="Courier New" panose="02070309020205020404" pitchFamily="49" charset="0"/>
              </a:rPr>
              <a:t>        </a:t>
            </a:r>
            <a:r>
              <a:rPr lang="fr-CI" sz="1400" b="1" dirty="0">
                <a:latin typeface="Courier New" panose="02070309020205020404" pitchFamily="49" charset="0"/>
                <a:ea typeface="Courier New" panose="02070309020205020404" pitchFamily="49" charset="0"/>
              </a:rPr>
              <a:t>Commander maintenant</a:t>
            </a:r>
            <a:endParaRPr lang="en-US" b="1" dirty="0">
              <a:ea typeface="Arial" panose="020B0604020202020204" pitchFamily="34" charset="0"/>
            </a:endParaRPr>
          </a:p>
          <a:p>
            <a:pPr marL="228600">
              <a:lnSpc>
                <a:spcPct val="150000"/>
              </a:lnSpc>
              <a:spcAft>
                <a:spcPts val="0"/>
              </a:spcAft>
            </a:pPr>
            <a:r>
              <a:rPr lang="fr-CI" sz="1400" b="1" dirty="0">
                <a:latin typeface="Courier New" panose="02070309020205020404" pitchFamily="49" charset="0"/>
                <a:ea typeface="Courier New" panose="02070309020205020404" pitchFamily="49" charset="0"/>
              </a:rPr>
              <a:t>      &lt;/</a:t>
            </a:r>
            <a:r>
              <a:rPr lang="fr-CI" sz="1400" b="1" dirty="0" err="1">
                <a:latin typeface="Courier New" panose="02070309020205020404" pitchFamily="49" charset="0"/>
                <a:ea typeface="Courier New" panose="02070309020205020404" pitchFamily="49" charset="0"/>
              </a:rPr>
              <a:t>button</a:t>
            </a:r>
            <a:r>
              <a:rPr lang="fr-CI" sz="1400" b="1" dirty="0">
                <a:latin typeface="Courier New" panose="02070309020205020404" pitchFamily="49" charset="0"/>
                <a:ea typeface="Courier New" panose="02070309020205020404" pitchFamily="49" charset="0"/>
              </a:rPr>
              <a:t>&gt;</a:t>
            </a:r>
            <a:endParaRPr lang="en-US" b="1" dirty="0">
              <a:ea typeface="Arial" panose="020B0604020202020204" pitchFamily="34" charset="0"/>
            </a:endParaRPr>
          </a:p>
          <a:p>
            <a:pPr marL="228600">
              <a:lnSpc>
                <a:spcPct val="150000"/>
              </a:lnSpc>
              <a:spcAft>
                <a:spcPts val="0"/>
              </a:spcAft>
            </a:pPr>
            <a:r>
              <a:rPr lang="fr-CI" sz="1400" b="1" dirty="0">
                <a:latin typeface="Courier New" panose="02070309020205020404" pitchFamily="49" charset="0"/>
                <a:ea typeface="Courier New" panose="02070309020205020404" pitchFamily="49" charset="0"/>
              </a:rPr>
              <a:t>    &lt;/section&gt;</a:t>
            </a:r>
            <a:endParaRPr lang="en-US" b="1" dirty="0">
              <a:ea typeface="Arial" panose="020B0604020202020204" pitchFamily="34" charset="0"/>
            </a:endParaRPr>
          </a:p>
          <a:p>
            <a:pPr marL="228600">
              <a:lnSpc>
                <a:spcPct val="150000"/>
              </a:lnSpc>
              <a:spcAft>
                <a:spcPts val="0"/>
              </a:spcAft>
            </a:pPr>
            <a:r>
              <a:rPr lang="fr-CI" sz="1400" b="1" dirty="0">
                <a:latin typeface="Courier New" panose="02070309020205020404" pitchFamily="49" charset="0"/>
                <a:ea typeface="Courier New" panose="02070309020205020404" pitchFamily="49" charset="0"/>
              </a:rPr>
              <a:t>  );</a:t>
            </a:r>
            <a:endParaRPr lang="en-US" b="1" dirty="0">
              <a:ea typeface="Arial" panose="020B0604020202020204" pitchFamily="34" charset="0"/>
            </a:endParaRPr>
          </a:p>
          <a:p>
            <a:pPr marL="228600">
              <a:lnSpc>
                <a:spcPct val="150000"/>
              </a:lnSpc>
              <a:spcAft>
                <a:spcPts val="0"/>
              </a:spcAft>
            </a:pPr>
            <a:r>
              <a:rPr lang="fr-CI" sz="1400" b="1" dirty="0">
                <a:latin typeface="Courier New" panose="02070309020205020404" pitchFamily="49" charset="0"/>
                <a:ea typeface="Courier New" panose="02070309020205020404" pitchFamily="49" charset="0"/>
              </a:rPr>
              <a:t>}</a:t>
            </a:r>
            <a:endParaRPr lang="en-US" b="1" dirty="0">
              <a:ea typeface="Arial" panose="020B0604020202020204" pitchFamily="34" charset="0"/>
            </a:endParaRPr>
          </a:p>
        </p:txBody>
      </p:sp>
    </p:spTree>
    <p:extLst>
      <p:ext uri="{BB962C8B-B14F-4D97-AF65-F5344CB8AC3E}">
        <p14:creationId xmlns:p14="http://schemas.microsoft.com/office/powerpoint/2010/main" val="42310066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re 3">
            <a:extLst>
              <a:ext uri="{FF2B5EF4-FFF2-40B4-BE49-F238E27FC236}">
                <a16:creationId xmlns:a16="http://schemas.microsoft.com/office/drawing/2014/main" id="{FD2745D9-D935-5DCC-A026-8C0361F73C9F}"/>
              </a:ext>
            </a:extLst>
          </p:cNvPr>
          <p:cNvSpPr>
            <a:spLocks noGrp="1"/>
          </p:cNvSpPr>
          <p:nvPr>
            <p:ph type="title"/>
          </p:nvPr>
        </p:nvSpPr>
        <p:spPr>
          <a:xfrm>
            <a:off x="684212" y="98425"/>
            <a:ext cx="8928348" cy="666750"/>
          </a:xfrm>
        </p:spPr>
        <p:txBody>
          <a:bodyPr/>
          <a:lstStyle/>
          <a:p>
            <a:pPr marL="514350" indent="-514350">
              <a:lnSpc>
                <a:spcPct val="150000"/>
              </a:lnSpc>
              <a:buFont typeface="+mj-lt"/>
              <a:buAutoNum type="romanUcPeriod" startAt="4"/>
            </a:pPr>
            <a:r>
              <a:rPr lang="fr-FR" sz="2400" dirty="0" smtClean="0">
                <a:solidFill>
                  <a:srgbClr val="FF0000"/>
                </a:solidFill>
              </a:rPr>
              <a:t>PAGE DE PRESENTATION UTILISANT LES TECHNOS</a:t>
            </a:r>
            <a:endParaRPr lang="fr-FR" sz="2400" dirty="0">
              <a:solidFill>
                <a:srgbClr val="FF0000"/>
              </a:solidFill>
            </a:endParaRPr>
          </a:p>
        </p:txBody>
      </p:sp>
      <p:sp>
        <p:nvSpPr>
          <p:cNvPr id="4" name="Rectangle 3"/>
          <p:cNvSpPr/>
          <p:nvPr/>
        </p:nvSpPr>
        <p:spPr>
          <a:xfrm>
            <a:off x="539552" y="1052736"/>
            <a:ext cx="7953502" cy="369332"/>
          </a:xfrm>
          <a:prstGeom prst="rect">
            <a:avLst/>
          </a:prstGeom>
        </p:spPr>
        <p:txBody>
          <a:bodyPr wrap="square">
            <a:spAutoFit/>
          </a:bodyPr>
          <a:lstStyle/>
          <a:p>
            <a:r>
              <a:rPr lang="fr-CI" b="1" dirty="0">
                <a:ea typeface="Arial" panose="020B0604020202020204" pitchFamily="34" charset="0"/>
              </a:rPr>
              <a:t>Exemple : Page de présentation avec </a:t>
            </a:r>
            <a:r>
              <a:rPr lang="fr-CI" b="1" dirty="0" err="1">
                <a:ea typeface="Arial" panose="020B0604020202020204" pitchFamily="34" charset="0"/>
              </a:rPr>
              <a:t>Bootstrap</a:t>
            </a:r>
            <a:r>
              <a:rPr lang="fr-CI" b="1" dirty="0">
                <a:ea typeface="Arial" panose="020B0604020202020204" pitchFamily="34" charset="0"/>
              </a:rPr>
              <a:t> 5</a:t>
            </a:r>
            <a:endParaRPr lang="en-US" b="1" dirty="0"/>
          </a:p>
        </p:txBody>
      </p:sp>
      <p:sp>
        <p:nvSpPr>
          <p:cNvPr id="5" name="Rectangle 4"/>
          <p:cNvSpPr/>
          <p:nvPr/>
        </p:nvSpPr>
        <p:spPr>
          <a:xfrm>
            <a:off x="241940" y="1422068"/>
            <a:ext cx="8892480" cy="646331"/>
          </a:xfrm>
          <a:prstGeom prst="rect">
            <a:avLst/>
          </a:prstGeom>
        </p:spPr>
        <p:txBody>
          <a:bodyPr wrap="square">
            <a:spAutoFit/>
          </a:bodyPr>
          <a:lstStyle/>
          <a:p>
            <a:pPr algn="just">
              <a:spcBef>
                <a:spcPts val="400"/>
              </a:spcBef>
              <a:spcAft>
                <a:spcPts val="400"/>
              </a:spcAft>
            </a:pP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Pour des projets nécessitant un développement rapide, </a:t>
            </a:r>
            <a:r>
              <a:rPr lang="fr-CI" dirty="0" err="1"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Bootstrap</a:t>
            </a:r>
            <a:r>
              <a:rPr lang="fr-CI" dirty="0" smtClean="0">
                <a:solidFill>
                  <a:srgbClr val="1F2937"/>
                </a:solidFill>
                <a:latin typeface="Times New Roman" panose="02020603050405020304" pitchFamily="18" charset="0"/>
                <a:ea typeface="Arial" panose="020B0604020202020204" pitchFamily="34" charset="0"/>
                <a:cs typeface="Times New Roman" panose="02020603050405020304" pitchFamily="18" charset="0"/>
              </a:rPr>
              <a:t> reste incontournable. Voici la structure d'une page de présentation pour un cabinet médical .</a:t>
            </a:r>
            <a:endParaRPr lang="en-US" dirty="0">
              <a:latin typeface="Times New Roman" panose="02020603050405020304" pitchFamily="18" charset="0"/>
              <a:ea typeface="Arial" panose="020B0604020202020204" pitchFamily="34" charset="0"/>
              <a:cs typeface="Times New Roman" panose="02020603050405020304" pitchFamily="18" charset="0"/>
            </a:endParaRPr>
          </a:p>
        </p:txBody>
      </p:sp>
      <p:sp>
        <p:nvSpPr>
          <p:cNvPr id="11" name="Rectangle 10"/>
          <p:cNvSpPr/>
          <p:nvPr/>
        </p:nvSpPr>
        <p:spPr>
          <a:xfrm>
            <a:off x="107504" y="1791400"/>
            <a:ext cx="8568952" cy="3716915"/>
          </a:xfrm>
          <a:prstGeom prst="rect">
            <a:avLst/>
          </a:prstGeom>
        </p:spPr>
        <p:txBody>
          <a:bodyPr wrap="square">
            <a:spAutoFit/>
          </a:bodyPr>
          <a:lstStyle/>
          <a:p>
            <a:pPr>
              <a:spcBef>
                <a:spcPts val="400"/>
              </a:spcBef>
              <a:spcAft>
                <a:spcPts val="400"/>
              </a:spcAft>
            </a:pPr>
            <a:endParaRPr lang="en-US" sz="2400" dirty="0">
              <a:ea typeface="Arial" panose="020B0604020202020204" pitchFamily="34" charset="0"/>
            </a:endParaRPr>
          </a:p>
          <a:p>
            <a:pPr marL="228600">
              <a:lnSpc>
                <a:spcPct val="150000"/>
              </a:lnSpc>
              <a:spcAft>
                <a:spcPts val="0"/>
              </a:spcAft>
            </a:pP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&lt;!-- </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navbar</a:t>
            </a: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 Bootstrap 5 --&gt;</a:t>
            </a:r>
            <a:endParaRPr lang="en-US"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&lt;</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nav</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 class="</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navbar</a:t>
            </a: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 </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navbar</a:t>
            </a: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-expand-</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lg</a:t>
            </a: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 </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navbar</a:t>
            </a: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-dark </a:t>
            </a:r>
            <a:r>
              <a:rPr lang="en-US"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bg</a:t>
            </a:r>
            <a:r>
              <a:rPr lang="en-US"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-primary</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latin typeface="Times New Roman" panose="02020603050405020304" pitchFamily="18" charset="0"/>
                <a:ea typeface="Courier New" panose="02070309020205020404" pitchFamily="49" charset="0"/>
                <a:cs typeface="Times New Roman" panose="02020603050405020304" pitchFamily="18" charset="0"/>
              </a:rPr>
              <a:t>  &lt;a class="</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navbar</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-brand" </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href</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="#"&gt;</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ClinicCI</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&lt;/a&gt;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latin typeface="Times New Roman" panose="02020603050405020304" pitchFamily="18" charset="0"/>
                <a:ea typeface="Courier New" panose="02070309020205020404" pitchFamily="49" charset="0"/>
                <a:cs typeface="Times New Roman" panose="02020603050405020304" pitchFamily="18" charset="0"/>
              </a:rPr>
              <a:t>  &lt;div class="collapse </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navbar</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-collapse"&gt;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latin typeface="Times New Roman" panose="02020603050405020304" pitchFamily="18" charset="0"/>
                <a:ea typeface="Courier New" panose="02070309020205020404" pitchFamily="49" charset="0"/>
                <a:cs typeface="Times New Roman" panose="02020603050405020304" pitchFamily="18" charset="0"/>
              </a:rPr>
              <a:t>    &lt;</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ul</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 class="</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navbar-nav</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 </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ms</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-auto"&gt;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latin typeface="Times New Roman" panose="02020603050405020304" pitchFamily="18" charset="0"/>
                <a:ea typeface="Courier New" panose="02070309020205020404" pitchFamily="49" charset="0"/>
                <a:cs typeface="Times New Roman" panose="02020603050405020304" pitchFamily="18" charset="0"/>
              </a:rPr>
              <a:t>      &lt;li class="</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-item"&gt;&lt;a class="</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-link" </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href</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="#"&gt;</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Accueil</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&lt;/a&gt;&lt;/li&gt;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latin typeface="Times New Roman" panose="02020603050405020304" pitchFamily="18" charset="0"/>
                <a:ea typeface="Courier New" panose="02070309020205020404" pitchFamily="49" charset="0"/>
                <a:cs typeface="Times New Roman" panose="02020603050405020304" pitchFamily="18" charset="0"/>
              </a:rPr>
              <a:t>      &lt;li class="</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-item"&gt;&lt;a class="</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nav</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-link" </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href</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="#"&gt;</a:t>
            </a:r>
            <a:r>
              <a:rPr lang="en-US" sz="1400" b="1" dirty="0" err="1">
                <a:latin typeface="Times New Roman" panose="02020603050405020304" pitchFamily="18" charset="0"/>
                <a:ea typeface="Courier New" panose="02070309020205020404" pitchFamily="49" charset="0"/>
                <a:cs typeface="Times New Roman" panose="02020603050405020304" pitchFamily="18" charset="0"/>
              </a:rPr>
              <a:t>Prendre</a:t>
            </a:r>
            <a:r>
              <a:rPr lang="en-US" sz="1400" b="1" dirty="0">
                <a:latin typeface="Times New Roman" panose="02020603050405020304" pitchFamily="18" charset="0"/>
                <a:ea typeface="Courier New" panose="02070309020205020404" pitchFamily="49" charset="0"/>
                <a:cs typeface="Times New Roman" panose="02020603050405020304" pitchFamily="18" charset="0"/>
              </a:rPr>
              <a:t> RDV&lt;/a&gt;&lt;/li&gt;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en-US" sz="1400" b="1" dirty="0">
                <a:latin typeface="Times New Roman" panose="02020603050405020304" pitchFamily="18" charset="0"/>
                <a:ea typeface="Courier New" panose="02070309020205020404" pitchFamily="49" charset="0"/>
                <a:cs typeface="Times New Roman" panose="02020603050405020304" pitchFamily="18" charset="0"/>
              </a:rPr>
              <a:t>    </a:t>
            </a:r>
            <a:r>
              <a:rPr lang="fr-CI" sz="1400" b="1" dirty="0">
                <a:latin typeface="Times New Roman" panose="02020603050405020304" pitchFamily="18" charset="0"/>
                <a:ea typeface="Courier New" panose="02070309020205020404" pitchFamily="49" charset="0"/>
                <a:cs typeface="Times New Roman" panose="02020603050405020304" pitchFamily="18" charset="0"/>
              </a:rPr>
              <a:t>&lt;/</a:t>
            </a:r>
            <a:r>
              <a:rPr lang="fr-CI" sz="1400" b="1" dirty="0" err="1">
                <a:latin typeface="Times New Roman" panose="02020603050405020304" pitchFamily="18" charset="0"/>
                <a:ea typeface="Courier New" panose="02070309020205020404" pitchFamily="49" charset="0"/>
                <a:cs typeface="Times New Roman" panose="02020603050405020304" pitchFamily="18" charset="0"/>
              </a:rPr>
              <a:t>ul</a:t>
            </a:r>
            <a:r>
              <a:rPr lang="fr-CI" sz="1400" b="1" dirty="0">
                <a:latin typeface="Times New Roman" panose="02020603050405020304" pitchFamily="18" charset="0"/>
                <a:ea typeface="Courier New" panose="02070309020205020404" pitchFamily="49" charset="0"/>
                <a:cs typeface="Times New Roman" panose="02020603050405020304" pitchFamily="18" charset="0"/>
              </a:rPr>
              <a:t>&gt;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fr-CI" sz="1400" b="1" dirty="0">
                <a:latin typeface="Times New Roman" panose="02020603050405020304" pitchFamily="18" charset="0"/>
                <a:ea typeface="Courier New" panose="02070309020205020404" pitchFamily="49" charset="0"/>
                <a:cs typeface="Times New Roman" panose="02020603050405020304" pitchFamily="18" charset="0"/>
              </a:rPr>
              <a:t>  &lt;/div&gt;</a:t>
            </a:r>
            <a:endParaRPr lang="en-US" b="1" dirty="0">
              <a:latin typeface="Times New Roman" panose="02020603050405020304" pitchFamily="18" charset="0"/>
              <a:ea typeface="Arial" panose="020B0604020202020204" pitchFamily="34" charset="0"/>
              <a:cs typeface="Times New Roman" panose="02020603050405020304" pitchFamily="18" charset="0"/>
            </a:endParaRPr>
          </a:p>
          <a:p>
            <a:pPr marL="228600">
              <a:lnSpc>
                <a:spcPct val="150000"/>
              </a:lnSpc>
              <a:spcAft>
                <a:spcPts val="0"/>
              </a:spcAft>
            </a:pPr>
            <a:r>
              <a:rPr lang="fr-CI"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&lt;/</a:t>
            </a:r>
            <a:r>
              <a:rPr lang="fr-CI" sz="1400" b="1" dirty="0" err="1">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nav</a:t>
            </a:r>
            <a:r>
              <a:rPr lang="fr-CI" sz="1400" b="1" dirty="0">
                <a:solidFill>
                  <a:srgbClr val="FF0000"/>
                </a:solidFill>
                <a:latin typeface="Times New Roman" panose="02020603050405020304" pitchFamily="18" charset="0"/>
                <a:ea typeface="Courier New" panose="02070309020205020404" pitchFamily="49" charset="0"/>
                <a:cs typeface="Times New Roman" panose="02020603050405020304" pitchFamily="18" charset="0"/>
              </a:rPr>
              <a:t>&gt;</a:t>
            </a:r>
            <a:endParaRPr lang="en-US" b="1" dirty="0">
              <a:solidFill>
                <a:srgbClr val="FF0000"/>
              </a:solidFill>
              <a:latin typeface="Times New Roman" panose="02020603050405020304" pitchFamily="18"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229805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re 3">
            <a:extLst>
              <a:ext uri="{FF2B5EF4-FFF2-40B4-BE49-F238E27FC236}">
                <a16:creationId xmlns:a16="http://schemas.microsoft.com/office/drawing/2014/main" id="{FD2745D9-D935-5DCC-A026-8C0361F73C9F}"/>
              </a:ext>
            </a:extLst>
          </p:cNvPr>
          <p:cNvSpPr>
            <a:spLocks noGrp="1"/>
          </p:cNvSpPr>
          <p:nvPr>
            <p:ph type="title"/>
          </p:nvPr>
        </p:nvSpPr>
        <p:spPr>
          <a:xfrm>
            <a:off x="684213" y="98425"/>
            <a:ext cx="8064500" cy="666750"/>
          </a:xfrm>
        </p:spPr>
        <p:txBody>
          <a:bodyPr/>
          <a:lstStyle/>
          <a:p>
            <a:pPr algn="just">
              <a:lnSpc>
                <a:spcPct val="150000"/>
              </a:lnSpc>
            </a:pPr>
            <a:r>
              <a:rPr lang="en-US" sz="2400" dirty="0" smtClean="0">
                <a:solidFill>
                  <a:srgbClr val="FF0000"/>
                </a:solidFill>
                <a:effectLst/>
              </a:rPr>
              <a:t>CONCLUSION</a:t>
            </a:r>
            <a:endParaRPr lang="fr-FR" sz="2400" dirty="0">
              <a:solidFill>
                <a:srgbClr val="FF0000"/>
              </a:solidFill>
            </a:endParaRPr>
          </a:p>
        </p:txBody>
      </p:sp>
      <p:sp>
        <p:nvSpPr>
          <p:cNvPr id="5" name="Rectangle 4"/>
          <p:cNvSpPr/>
          <p:nvPr/>
        </p:nvSpPr>
        <p:spPr>
          <a:xfrm>
            <a:off x="539552" y="768129"/>
            <a:ext cx="8496944" cy="5678478"/>
          </a:xfrm>
          <a:prstGeom prst="rect">
            <a:avLst/>
          </a:prstGeom>
        </p:spPr>
        <p:txBody>
          <a:bodyPr wrap="square">
            <a:spAutoFit/>
          </a:bodyPr>
          <a:lstStyle/>
          <a:p>
            <a:pPr>
              <a:lnSpc>
                <a:spcPct val="150000"/>
              </a:lnSpc>
            </a:pPr>
            <a:r>
              <a:rPr lang="fr-CI" dirty="0" smtClean="0">
                <a:latin typeface="Times New Roman" panose="02020603050405020304" pitchFamily="18" charset="0"/>
                <a:ea typeface="Arial" panose="020B0604020202020204" pitchFamily="34" charset="0"/>
                <a:cs typeface="Times New Roman" panose="02020603050405020304" pitchFamily="18" charset="0"/>
              </a:rPr>
              <a:t>Nous pouvons dire les outils </a:t>
            </a:r>
            <a:r>
              <a:rPr lang="fr-CI" dirty="0">
                <a:latin typeface="Times New Roman" panose="02020603050405020304" pitchFamily="18" charset="0"/>
                <a:ea typeface="Arial" panose="020B0604020202020204" pitchFamily="34" charset="0"/>
                <a:cs typeface="Times New Roman" panose="02020603050405020304" pitchFamily="18" charset="0"/>
              </a:rPr>
              <a:t>et </a:t>
            </a:r>
            <a:r>
              <a:rPr lang="fr-CI" dirty="0" err="1" smtClean="0">
                <a:latin typeface="Times New Roman" panose="02020603050405020304" pitchFamily="18" charset="0"/>
                <a:ea typeface="Arial" panose="020B0604020202020204" pitchFamily="34" charset="0"/>
                <a:cs typeface="Times New Roman" panose="02020603050405020304" pitchFamily="18" charset="0"/>
              </a:rPr>
              <a:t>frameworks</a:t>
            </a:r>
            <a:r>
              <a:rPr lang="fr-CI" dirty="0" smtClean="0">
                <a:latin typeface="Times New Roman" panose="02020603050405020304" pitchFamily="18" charset="0"/>
                <a:ea typeface="Arial" panose="020B0604020202020204" pitchFamily="34" charset="0"/>
                <a:cs typeface="Times New Roman" panose="02020603050405020304" pitchFamily="18" charset="0"/>
              </a:rPr>
              <a:t> jouent un rôle  essentiel </a:t>
            </a:r>
            <a:r>
              <a:rPr lang="fr-CI" dirty="0">
                <a:latin typeface="Times New Roman" panose="02020603050405020304" pitchFamily="18" charset="0"/>
                <a:ea typeface="Arial" panose="020B0604020202020204" pitchFamily="34" charset="0"/>
                <a:cs typeface="Times New Roman" panose="02020603050405020304" pitchFamily="18" charset="0"/>
              </a:rPr>
              <a:t>au développement d'interfaces web </a:t>
            </a:r>
            <a:r>
              <a:rPr lang="fr-CI" dirty="0" smtClean="0">
                <a:latin typeface="Times New Roman" panose="02020603050405020304" pitchFamily="18" charset="0"/>
                <a:ea typeface="Arial" panose="020B0604020202020204" pitchFamily="34" charset="0"/>
                <a:cs typeface="Times New Roman" panose="02020603050405020304" pitchFamily="18" charset="0"/>
              </a:rPr>
              <a:t>modernes et des applications mobiles car </a:t>
            </a:r>
          </a:p>
          <a:p>
            <a:pPr>
              <a:lnSpc>
                <a:spcPct val="150000"/>
              </a:lnSpc>
            </a:pPr>
            <a:endParaRPr lang="fr-CI" dirty="0">
              <a:latin typeface="Times New Roman" panose="02020603050405020304" pitchFamily="18" charset="0"/>
              <a:cs typeface="Times New Roman" panose="02020603050405020304" pitchFamily="18" charset="0"/>
            </a:endParaRPr>
          </a:p>
          <a:p>
            <a:pPr>
              <a:lnSpc>
                <a:spcPct val="150000"/>
              </a:lnSpc>
            </a:pPr>
            <a:r>
              <a:rPr lang="fr-CI" dirty="0">
                <a:latin typeface="Times New Roman" panose="02020603050405020304" pitchFamily="18" charset="0"/>
                <a:cs typeface="Times New Roman" panose="02020603050405020304" pitchFamily="18" charset="0"/>
              </a:rPr>
              <a:t>Ils permettent de créer des applications complexes, maintenables et performantes grâce au concept de composants </a:t>
            </a:r>
            <a:r>
              <a:rPr lang="fr-CI" dirty="0" smtClean="0">
                <a:latin typeface="Times New Roman" panose="02020603050405020304" pitchFamily="18" charset="0"/>
                <a:cs typeface="Times New Roman" panose="02020603050405020304" pitchFamily="18" charset="0"/>
              </a:rPr>
              <a:t>réutilisables.</a:t>
            </a:r>
            <a:endParaRPr lang="fr-CI" dirty="0">
              <a:latin typeface="Times New Roman" panose="02020603050405020304" pitchFamily="18" charset="0"/>
              <a:cs typeface="Times New Roman" panose="02020603050405020304" pitchFamily="18" charset="0"/>
            </a:endParaRPr>
          </a:p>
          <a:p>
            <a:pPr algn="just">
              <a:lnSpc>
                <a:spcPct val="150000"/>
              </a:lnSpc>
            </a:pPr>
            <a:r>
              <a:rPr lang="fr-CI" dirty="0" smtClean="0">
                <a:latin typeface="Times New Roman" panose="02020603050405020304" pitchFamily="18" charset="0"/>
                <a:cs typeface="Times New Roman" panose="02020603050405020304" pitchFamily="18" charset="0"/>
              </a:rPr>
              <a:t>Aussi, la </a:t>
            </a:r>
            <a:r>
              <a:rPr lang="fr-CI" dirty="0">
                <a:latin typeface="Times New Roman" panose="02020603050405020304" pitchFamily="18" charset="0"/>
                <a:cs typeface="Times New Roman" panose="02020603050405020304" pitchFamily="18" charset="0"/>
              </a:rPr>
              <a:t>distinction entre le rendu côté client (CSR) et le rendu côté serveur (SSR) est </a:t>
            </a:r>
            <a:r>
              <a:rPr lang="fr-CI" dirty="0" smtClean="0">
                <a:latin typeface="Times New Roman" panose="02020603050405020304" pitchFamily="18" charset="0"/>
                <a:cs typeface="Times New Roman" panose="02020603050405020304" pitchFamily="18" charset="0"/>
              </a:rPr>
              <a:t>capitale, car le </a:t>
            </a:r>
            <a:r>
              <a:rPr lang="fr-CI" dirty="0">
                <a:latin typeface="Times New Roman" panose="02020603050405020304" pitchFamily="18" charset="0"/>
                <a:cs typeface="Times New Roman" panose="02020603050405020304" pitchFamily="18" charset="0"/>
              </a:rPr>
              <a:t>choix de l'une ou l'autre approche </a:t>
            </a:r>
            <a:r>
              <a:rPr lang="fr-CI" dirty="0" smtClean="0">
                <a:latin typeface="Times New Roman" panose="02020603050405020304" pitchFamily="18" charset="0"/>
                <a:cs typeface="Times New Roman" panose="02020603050405020304" pitchFamily="18" charset="0"/>
              </a:rPr>
              <a:t> </a:t>
            </a:r>
            <a:r>
              <a:rPr lang="fr-CI" dirty="0">
                <a:latin typeface="Times New Roman" panose="02020603050405020304" pitchFamily="18" charset="0"/>
                <a:cs typeface="Times New Roman" panose="02020603050405020304" pitchFamily="18" charset="0"/>
              </a:rPr>
              <a:t>ou de leur combinaison via des </a:t>
            </a:r>
            <a:r>
              <a:rPr lang="fr-CI" dirty="0" err="1">
                <a:latin typeface="Times New Roman" panose="02020603050405020304" pitchFamily="18" charset="0"/>
                <a:cs typeface="Times New Roman" panose="02020603050405020304" pitchFamily="18" charset="0"/>
              </a:rPr>
              <a:t>meta-frameworks</a:t>
            </a:r>
            <a:r>
              <a:rPr lang="fr-CI" dirty="0">
                <a:latin typeface="Times New Roman" panose="02020603050405020304" pitchFamily="18" charset="0"/>
                <a:cs typeface="Times New Roman" panose="02020603050405020304" pitchFamily="18" charset="0"/>
              </a:rPr>
              <a:t> comme </a:t>
            </a:r>
            <a:r>
              <a:rPr lang="fr-CI" dirty="0" smtClean="0">
                <a:latin typeface="Times New Roman" panose="02020603050405020304" pitchFamily="18" charset="0"/>
                <a:cs typeface="Times New Roman" panose="02020603050405020304" pitchFamily="18" charset="0"/>
              </a:rPr>
              <a:t>Next.js </a:t>
            </a:r>
            <a:r>
              <a:rPr lang="fr-CI" dirty="0">
                <a:latin typeface="Times New Roman" panose="02020603050405020304" pitchFamily="18" charset="0"/>
                <a:cs typeface="Times New Roman" panose="02020603050405020304" pitchFamily="18" charset="0"/>
              </a:rPr>
              <a:t>dépend directement des besoins du projet : performance perçue, référencement SEO, charge serveur et interactivité</a:t>
            </a:r>
            <a:r>
              <a:rPr lang="fr-CI" dirty="0" smtClean="0">
                <a:latin typeface="Times New Roman" panose="02020603050405020304" pitchFamily="18" charset="0"/>
                <a:cs typeface="Times New Roman" panose="02020603050405020304" pitchFamily="18" charset="0"/>
              </a:rPr>
              <a:t>.</a:t>
            </a:r>
          </a:p>
          <a:p>
            <a:pPr algn="just">
              <a:lnSpc>
                <a:spcPct val="150000"/>
              </a:lnSpc>
            </a:pPr>
            <a:endParaRPr lang="fr-CI" sz="2000" dirty="0">
              <a:latin typeface="Times New Roman" panose="02020603050405020304" pitchFamily="18" charset="0"/>
              <a:cs typeface="Times New Roman" panose="02020603050405020304" pitchFamily="18" charset="0"/>
            </a:endParaRPr>
          </a:p>
          <a:p>
            <a:pPr algn="just">
              <a:lnSpc>
                <a:spcPct val="150000"/>
              </a:lnSpc>
            </a:pPr>
            <a:r>
              <a:rPr lang="fr-CI" sz="1600" dirty="0">
                <a:latin typeface="Times New Roman" panose="02020603050405020304" pitchFamily="18" charset="0"/>
                <a:cs typeface="Times New Roman" panose="02020603050405020304" pitchFamily="18" charset="0"/>
              </a:rPr>
              <a:t>Le web </a:t>
            </a:r>
            <a:r>
              <a:rPr lang="fr-CI" sz="1600" dirty="0" err="1">
                <a:latin typeface="Times New Roman" panose="02020603050405020304" pitchFamily="18" charset="0"/>
                <a:cs typeface="Times New Roman" panose="02020603050405020304" pitchFamily="18" charset="0"/>
              </a:rPr>
              <a:t>templating</a:t>
            </a:r>
            <a:r>
              <a:rPr lang="fr-CI" sz="1600" dirty="0">
                <a:latin typeface="Times New Roman" panose="02020603050405020304" pitchFamily="18" charset="0"/>
                <a:cs typeface="Times New Roman" panose="02020603050405020304" pitchFamily="18" charset="0"/>
              </a:rPr>
              <a:t> reste une technique fondamentale, aussi bien côté serveur </a:t>
            </a:r>
            <a:r>
              <a:rPr lang="fr-CI" sz="1600" dirty="0" smtClean="0">
                <a:latin typeface="Times New Roman" panose="02020603050405020304" pitchFamily="18" charset="0"/>
                <a:cs typeface="Times New Roman" panose="02020603050405020304" pitchFamily="18" charset="0"/>
              </a:rPr>
              <a:t>que </a:t>
            </a:r>
            <a:r>
              <a:rPr lang="fr-CI" sz="1600" dirty="0">
                <a:latin typeface="Times New Roman" panose="02020603050405020304" pitchFamily="18" charset="0"/>
                <a:cs typeface="Times New Roman" panose="02020603050405020304" pitchFamily="18" charset="0"/>
              </a:rPr>
              <a:t>côté client. Il permet de séparer la logique de présentation du code métier, produisant un code plus lisible et plus maintenable. Cette approche est la base de millions de sites web en production aujourd'hui.</a:t>
            </a:r>
            <a:endParaRPr lang="en-US" sz="1600" dirty="0">
              <a:latin typeface="Times New Roman" panose="02020603050405020304" pitchFamily="18"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1976594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noProof="0" dirty="0" smtClean="0">
                <a:solidFill>
                  <a:srgbClr val="FF0000"/>
                </a:solidFill>
              </a:rPr>
              <a:t>FIN DE LA PRESENTATION</a:t>
            </a:r>
            <a:endParaRPr lang="fr-CI" noProof="0" dirty="0">
              <a:solidFill>
                <a:srgbClr val="FF0000"/>
              </a:solidFill>
            </a:endParaRPr>
          </a:p>
        </p:txBody>
      </p:sp>
      <p:sp>
        <p:nvSpPr>
          <p:cNvPr id="6" name="ZoneTexte 5">
            <a:extLst>
              <a:ext uri="{FF2B5EF4-FFF2-40B4-BE49-F238E27FC236}">
                <a16:creationId xmlns:a16="http://schemas.microsoft.com/office/drawing/2014/main" id="{CD8178E0-C84B-72AA-FB7C-06BA3752FF8A}"/>
              </a:ext>
            </a:extLst>
          </p:cNvPr>
          <p:cNvSpPr txBox="1"/>
          <p:nvPr/>
        </p:nvSpPr>
        <p:spPr>
          <a:xfrm>
            <a:off x="2310710" y="2780928"/>
            <a:ext cx="4493538" cy="1569660"/>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fr-CI" sz="9600" b="1" noProof="0" dirty="0">
                <a:ln w="11430"/>
                <a:effectLst>
                  <a:outerShdw blurRad="80000" dist="40000" dir="5040000" algn="tl">
                    <a:srgbClr val="000000">
                      <a:alpha val="30000"/>
                    </a:srgbClr>
                  </a:outerShdw>
                </a:effectLst>
              </a:rPr>
              <a:t>Merci !</a:t>
            </a:r>
            <a:r>
              <a:rPr lang="fr-CI" sz="9600" b="1" noProof="0" dirty="0">
                <a:ln w="11430"/>
                <a:solidFill>
                  <a:schemeClr val="bg1">
                    <a:lumMod val="50000"/>
                  </a:schemeClr>
                </a:solidFill>
                <a:effectLst>
                  <a:outerShdw blurRad="80000" dist="40000" dir="5040000" algn="tl">
                    <a:srgbClr val="000000">
                      <a:alpha val="30000"/>
                    </a:srgbClr>
                  </a:outerShdw>
                </a:effectLst>
              </a:rPr>
              <a:t> </a:t>
            </a:r>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481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4213" y="44624"/>
            <a:ext cx="8208962" cy="837456"/>
          </a:xfrm>
        </p:spPr>
        <p:txBody>
          <a:bodyPr/>
          <a:lstStyle/>
          <a:p>
            <a:r>
              <a:rPr lang="fr-CI" noProof="0" dirty="0">
                <a:solidFill>
                  <a:srgbClr val="C00000"/>
                </a:solidFill>
              </a:rPr>
              <a:t>Questions …</a:t>
            </a:r>
            <a:endParaRPr lang="fr-CI" noProof="0" dirty="0"/>
          </a:p>
        </p:txBody>
      </p:sp>
      <p:sp>
        <p:nvSpPr>
          <p:cNvPr id="6" name="ZoneTexte 5"/>
          <p:cNvSpPr txBox="1"/>
          <p:nvPr/>
        </p:nvSpPr>
        <p:spPr>
          <a:xfrm>
            <a:off x="2627784" y="2708920"/>
            <a:ext cx="3456384" cy="1292662"/>
          </a:xfrm>
          <a:prstGeom prst="rect">
            <a:avLst/>
          </a:prstGeom>
          <a:noFill/>
        </p:spPr>
        <p:txBody>
          <a:bodyPr wrap="square" rtlCol="0">
            <a:spAutoFit/>
          </a:bodyPr>
          <a:lstStyle/>
          <a:p>
            <a:pPr algn="ctr"/>
            <a:r>
              <a:rPr lang="fr-CI" sz="6000" b="1" noProof="0" dirty="0">
                <a:solidFill>
                  <a:schemeClr val="bg1"/>
                </a:solidFill>
              </a:rPr>
              <a:t>Q&amp;A</a:t>
            </a:r>
          </a:p>
          <a:p>
            <a:pPr algn="ctr"/>
            <a:r>
              <a:rPr lang="fr-CI" b="1" noProof="0" dirty="0">
                <a:solidFill>
                  <a:schemeClr val="bg1"/>
                </a:solidFill>
              </a:rPr>
              <a:t>www.osositechnologies.com</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2119313"/>
            <a:ext cx="8963025" cy="261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ZoneTexte 1"/>
          <p:cNvSpPr txBox="1"/>
          <p:nvPr/>
        </p:nvSpPr>
        <p:spPr>
          <a:xfrm>
            <a:off x="744949" y="2691713"/>
            <a:ext cx="7416824" cy="1446550"/>
          </a:xfrm>
          <a:prstGeom prst="rect">
            <a:avLst/>
          </a:prstGeom>
          <a:noFill/>
        </p:spPr>
        <p:txBody>
          <a:bodyPr wrap="square" rtlCol="0">
            <a:spAutoFit/>
          </a:bodyPr>
          <a:lstStyle/>
          <a:p>
            <a:pPr algn="ctr"/>
            <a:r>
              <a:rPr lang="fr-CI" sz="6000" b="1" noProof="0" dirty="0">
                <a:solidFill>
                  <a:schemeClr val="bg1"/>
                </a:solidFill>
              </a:rPr>
              <a:t>Q&amp;A</a:t>
            </a:r>
          </a:p>
          <a:p>
            <a:pPr algn="ctr"/>
            <a:r>
              <a:rPr lang="fr-CI" sz="2800" b="1" noProof="0" dirty="0">
                <a:solidFill>
                  <a:schemeClr val="bg1"/>
                </a:solidFill>
              </a:rPr>
              <a:t>www.osistechnologies.com</a:t>
            </a:r>
          </a:p>
        </p:txBody>
      </p:sp>
      <p:sp>
        <p:nvSpPr>
          <p:cNvPr id="3" name="ZoneTexte 2"/>
          <p:cNvSpPr txBox="1"/>
          <p:nvPr/>
        </p:nvSpPr>
        <p:spPr>
          <a:xfrm>
            <a:off x="0" y="6381328"/>
            <a:ext cx="1691680" cy="476672"/>
          </a:xfrm>
          <a:prstGeom prst="rect">
            <a:avLst/>
          </a:prstGeom>
          <a:solidFill>
            <a:schemeClr val="bg1"/>
          </a:solidFill>
        </p:spPr>
        <p:txBody>
          <a:bodyPr wrap="square" rtlCol="0">
            <a:spAutoFit/>
          </a:bodyPr>
          <a:lstStyle/>
          <a:p>
            <a:endParaRPr lang="fr-CI" noProof="0" dirty="0"/>
          </a:p>
        </p:txBody>
      </p:sp>
      <p:pic>
        <p:nvPicPr>
          <p:cNvPr id="8" name="Image 7"/>
          <p:cNvPicPr>
            <a:picLocks noChangeAspect="1"/>
          </p:cNvPicPr>
          <p:nvPr/>
        </p:nvPicPr>
        <p:blipFill>
          <a:blip r:embed="rId3"/>
          <a:stretch>
            <a:fillRect/>
          </a:stretch>
        </p:blipFill>
        <p:spPr>
          <a:xfrm>
            <a:off x="7694557" y="6119753"/>
            <a:ext cx="1357595" cy="730650"/>
          </a:xfrm>
          <a:prstGeom prst="rect">
            <a:avLst/>
          </a:prstGeom>
        </p:spPr>
      </p:pic>
      <p:pic>
        <p:nvPicPr>
          <p:cNvPr id="5" name="Image 4"/>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2" name="Imag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ection OIM">
  <a:themeElements>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ection OIM">
      <a:majorFont>
        <a:latin typeface="Arial"/>
        <a:ea typeface="ＭＳ Ｐゴシック"/>
        <a:cs typeface=""/>
      </a:majorFont>
      <a:minorFont>
        <a:latin typeface="Trebuchet M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OI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OI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OI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OI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OI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OI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OI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OI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OI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OI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OI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4449</TotalTime>
  <Words>2103</Words>
  <Application>Microsoft Office PowerPoint</Application>
  <PresentationFormat>On-screen Show (4:3)</PresentationFormat>
  <Paragraphs>276</Paragraphs>
  <Slides>24</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MS PGothic</vt:lpstr>
      <vt:lpstr>MS PGothic</vt:lpstr>
      <vt:lpstr>Arial</vt:lpstr>
      <vt:lpstr>Arial Narrow</vt:lpstr>
      <vt:lpstr>Calibri</vt:lpstr>
      <vt:lpstr>Courier New</vt:lpstr>
      <vt:lpstr>Times New Roman</vt:lpstr>
      <vt:lpstr>Trebuchet MS</vt:lpstr>
      <vt:lpstr>Wingdings</vt:lpstr>
      <vt:lpstr>Section OIM</vt:lpstr>
      <vt:lpstr>PRESENTATION WEB  OUTILS, FRAMEWORK UI ET WEB TEMPLATING </vt:lpstr>
      <vt:lpstr>SOMMAIRE</vt:lpstr>
      <vt:lpstr>INTRODUCTION</vt:lpstr>
      <vt:lpstr>GENERALITES SUR LES OUTILS ET FRAMEWORK DE PRESENTATION (UI)</vt:lpstr>
      <vt:lpstr>GENERALITES SUR LES OUTILS ET FRAMEWORK DE PRESENTATION (UI)</vt:lpstr>
      <vt:lpstr>GENERALITES SUR LES OUTILS ET FRAMEWORK DE PRESENTATION (UI)</vt:lpstr>
      <vt:lpstr>GENERALITES SUR LES OUTILS ET FRAMEWORK DE PRESENTATION (UI)</vt:lpstr>
      <vt:lpstr>GENERALITES SUR LES OUTILS ET FRAMEWORK DE PRESENTATION (UI)</vt:lpstr>
      <vt:lpstr>GENERALITES SUR LES OUTILS ET FRAMEWORK DE PRESENTATION (UI)</vt:lpstr>
      <vt:lpstr>GENERALITES SUR LES OUTILS ET FRAMEWORK DE PRESENTATION (UI)</vt:lpstr>
      <vt:lpstr>GENERALITES SUR LES OUTILS ET FRAMEWORK DE PRESENTATION (UI)</vt:lpstr>
      <vt:lpstr>CLIENT SIDE VS SERVER SIDE RENDERING</vt:lpstr>
      <vt:lpstr>CLIENT SIDE VS SERVER SIDE RENDERING</vt:lpstr>
      <vt:lpstr>CLIENT SIDE VS SERVER SIDE RENDERING</vt:lpstr>
      <vt:lpstr>INITIATION AUX OUTILS DE WEB TEMPLATING</vt:lpstr>
      <vt:lpstr>INITIATION AUX OUTILS DE WEB TEMPLATING</vt:lpstr>
      <vt:lpstr>INITIATION AUX OUTILS DE WEB TEMPLATING</vt:lpstr>
      <vt:lpstr>INITIATION AUX OUTILS DE WEB TEMPLATING</vt:lpstr>
      <vt:lpstr>PAGE DE PRESENTATION UTILISANT LES TECHNOS</vt:lpstr>
      <vt:lpstr>PAGE DE PRESENTATION UTILISANT LES TECHNOS</vt:lpstr>
      <vt:lpstr>PAGE DE PRESENTATION UTILISANT LES TECHNOS</vt:lpstr>
      <vt:lpstr>CONCLUSION</vt:lpstr>
      <vt:lpstr>FIN DE LA PRESENTATION</vt:lpstr>
      <vt:lpstr>Questions …</vt:lpstr>
    </vt:vector>
  </TitlesOfParts>
  <Company>Momentum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Maxime Yapi</dc:creator>
  <cp:lastModifiedBy>Ibrahim SAVADOGO</cp:lastModifiedBy>
  <cp:revision>450</cp:revision>
  <dcterms:created xsi:type="dcterms:W3CDTF">2010-02-03T20:06:00Z</dcterms:created>
  <dcterms:modified xsi:type="dcterms:W3CDTF">2026-06-04T18:44:26Z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1036-12.1.0.25242</vt:lpwstr>
  </property>
  <property fmtid="{D5CDD505-2E9C-101B-9397-08002B2CF9AE}" pid="3" name="ICV">
    <vt:lpwstr>F7142A23608244029C64D6D2F36D401E_12</vt:lpwstr>
  </property>
</Properties>
</file>