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80" y="-7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4772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31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Avancé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3 — Collections, Lambda, Classes &amp; Generics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6002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7432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Collections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77440" y="2743200"/>
            <a:ext cx="1600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27432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Lambda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0" y="2743200"/>
            <a:ext cx="16002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27432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Inner Class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2743200"/>
            <a:ext cx="1600200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27432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Anonymous Class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589520" y="2743200"/>
            <a:ext cx="160020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27432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Java Generics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IFT Université | Cours Programmation Avancée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0" y="-457200"/>
            <a:ext cx="2286000" cy="2286000"/>
          </a:xfrm>
          <a:prstGeom prst="line">
            <a:avLst/>
          </a:prstGeom>
          <a:solidFill>
            <a:srgbClr val="1D4ED8">
              <a:alpha val="2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3200400"/>
            <a:ext cx="1371600" cy="1371600"/>
          </a:xfrm>
          <a:prstGeom prst="lin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du cours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40233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02920" cy="1554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1371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Collections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8288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List, Set, Map, Queue — API &amp; exemples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40233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97280"/>
            <a:ext cx="502920" cy="1554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6002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40680" y="1371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Expressions Lambda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40680" y="18288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Syntaxe, interfaces fonctionnelles, streams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40233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926080"/>
            <a:ext cx="502920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290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51560" y="3200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Classes Java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3657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Inner Class &amp; Anonymous Class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926080"/>
            <a:ext cx="402336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926080"/>
            <a:ext cx="502920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4290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40680" y="3200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Java Generics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40680" y="3657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Type parameters, wildcards, bounded types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 — Collections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Les Collections Java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0" y="1280160"/>
            <a:ext cx="2194560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0" y="1280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Iterable&lt;E&gt;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965960"/>
            <a:ext cx="219456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965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Collection&lt;E&gt;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691640"/>
            <a:ext cx="0" cy="27432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914400" y="2743200"/>
            <a:ext cx="18288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43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</a:rPr>
              <a:t>List&lt;E&gt;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28800" y="2377440"/>
            <a:ext cx="2743200" cy="36576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657600" y="2743200"/>
            <a:ext cx="18288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2743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Set&lt;E&gt;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2377440"/>
            <a:ext cx="0" cy="36576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400800" y="2743200"/>
            <a:ext cx="18288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743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</a:rPr>
              <a:t>Queue&lt;E&gt;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0" y="2377440"/>
            <a:ext cx="0" cy="36576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914400" y="3337560"/>
            <a:ext cx="18288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3375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ArrayList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LinkedList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0" y="3337560"/>
            <a:ext cx="1828800" cy="594360"/>
          </a:xfrm>
          <a:prstGeom prst="rect">
            <a:avLst/>
          </a:prstGeom>
          <a:solidFill>
            <a:srgbClr val="134E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33375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HashSet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TreeSet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0" y="3337560"/>
            <a:ext cx="1828800" cy="594360"/>
          </a:xfrm>
          <a:prstGeom prst="rect">
            <a:avLst/>
          </a:prstGeom>
          <a:solidFill>
            <a:srgbClr val="3B0764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33375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ArrayDeque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PriorityQueue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74720" y="4114800"/>
            <a:ext cx="2194560" cy="411480"/>
          </a:xfrm>
          <a:prstGeom prst="rect">
            <a:avLst/>
          </a:prstGeom>
          <a:solidFill>
            <a:srgbClr val="7C2D12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4114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580C"/>
                </a:solidFill>
              </a:rPr>
              <a:t>Map&lt;K,V&gt;  →  HashMap, TreeMap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74720" y="45537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(Map n'étend pas Collection)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 — Collections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ArrayList — Exemple Concret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84632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80160"/>
            <a:ext cx="128016" cy="128016"/>
          </a:xfrm>
          <a:prstGeom prst="lin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280160"/>
            <a:ext cx="128016" cy="128016"/>
          </a:xfrm>
          <a:prstGeom prst="lin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" y="1280160"/>
            <a:ext cx="128016" cy="128016"/>
          </a:xfrm>
          <a:prstGeom prst="lin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481328"/>
            <a:ext cx="462686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java.util.ArrayList;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java.util.List;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ExempleList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void main(String[] args)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Déclaration avec interface List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List&lt;String&gt; fruits = new ArrayList&lt;&gt;();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Ajout d'éléments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fruits.add("Pomme");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fruits.add("Banane");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fruits.add("Mangue");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Accès par index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System.out.println(fruits.get(0)); // Pomme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Iteration avec for-each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(String f : fruits)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System.out.println(f);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Taille &amp; suppression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System.out.println(fruits.size()); // 3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fruits.remove("Banane");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577840" y="1188720"/>
            <a:ext cx="329184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0" y="1188720"/>
            <a:ext cx="54864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1188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A5E9"/>
                </a:solidFill>
              </a:rPr>
              <a:t>ArrayList utilise un tableau dynamique en interne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77840" y="2057400"/>
            <a:ext cx="329184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0" y="2057400"/>
            <a:ext cx="54864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20574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A5E9"/>
                </a:solidFill>
              </a:rPr>
              <a:t>L'index commence à 0, comme les tableaux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77840" y="2926080"/>
            <a:ext cx="329184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2926080"/>
            <a:ext cx="54864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0" y="2926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D34D"/>
                </a:solidFill>
              </a:rPr>
              <a:t>Toujours programmer vers l'interface List&lt;&gt;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77840" y="3794760"/>
            <a:ext cx="329184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77840" y="3794760"/>
            <a:ext cx="54864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3794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get(i) = O(1), add/remove = O(n) au milieu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77840" y="4663440"/>
            <a:ext cx="3291840" cy="365760"/>
          </a:xfrm>
          <a:prstGeom prst="rect">
            <a:avLst/>
          </a:prstGeom>
          <a:solidFill>
            <a:srgbClr val="0F3460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4663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</a:rPr>
              <a:t>Output: Pomme → Pomme, Banane, Mangue → 3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 — Collections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HashMap — Clé / Valeur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84632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80160"/>
            <a:ext cx="128016" cy="128016"/>
          </a:xfrm>
          <a:prstGeom prst="lin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280160"/>
            <a:ext cx="128016" cy="128016"/>
          </a:xfrm>
          <a:prstGeom prst="lin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" y="1280160"/>
            <a:ext cx="128016" cy="128016"/>
          </a:xfrm>
          <a:prstGeom prst="lin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481328"/>
            <a:ext cx="462686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java.util.HashMap;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java.util.Map;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ExempleMap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void main(String[] args)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Map&lt;String, Integer&gt; notes = new HashMap&lt;&gt;();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Insertion (put)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notes.put("Alice", 18);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notes.put("Bob",   15);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notes.put("Clara", 19);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Lecture (get)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System.out.println(notes.get("Alice")); // 18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Vérifier si une clé existe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(notes.containsKey("Bob"))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System.out.println("Bob est présent");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Itérer sur les entrées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(Map.Entry&lt;String, Integer&gt; e : notes.entrySet()) {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System.out.println(e.getKey() + " → " + e.getValue());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Supprimer une entrée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notes.remove("Bob");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77840" y="1188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</a:rPr>
              <a:t>Visualisation HashMap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77840" y="1554480"/>
            <a:ext cx="3291840" cy="365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Clé (String)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Valeur (Integer)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1938528"/>
            <a:ext cx="329184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9385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A5E9"/>
                </a:solidFill>
              </a:rPr>
              <a:t>"Alice"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0" y="19385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18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77840" y="2322576"/>
            <a:ext cx="329184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232257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A5E9"/>
                </a:solidFill>
              </a:rPr>
              <a:t>"Bob"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0" y="23225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15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77840" y="2706624"/>
            <a:ext cx="3291840" cy="36576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270662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A5E9"/>
                </a:solidFill>
              </a:rPr>
              <a:t>"Clara"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0" y="270662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19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77840" y="3246120"/>
            <a:ext cx="201168" cy="201168"/>
          </a:xfrm>
          <a:prstGeom prst="lin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32186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HashMap ne garantit pas l'ordre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3749040"/>
            <a:ext cx="201168" cy="201168"/>
          </a:xfrm>
          <a:prstGeom prst="lin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3721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TreeMap trie par ordre naturel des clés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77840" y="4251960"/>
            <a:ext cx="201168" cy="201168"/>
          </a:xfrm>
          <a:prstGeom prst="lin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4224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getOrDefault() évite les NullPointerException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 — Lambda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Expressions Lambda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Syntaxe 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828800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(paramètres)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77440" y="1463040"/>
            <a:ext cx="457200" cy="43891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46304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-&gt;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26080" y="1463040"/>
            <a:ext cx="1645920" cy="438912"/>
          </a:xfrm>
          <a:prstGeom prst="rect">
            <a:avLst/>
          </a:prstGeom>
          <a:solidFill>
            <a:srgbClr val="0F766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14630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{ corps }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502920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2103120"/>
            <a:ext cx="128016" cy="128016"/>
          </a:xfrm>
          <a:prstGeom prst="lin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" y="2103120"/>
            <a:ext cx="128016" cy="128016"/>
          </a:xfrm>
          <a:prstGeom prst="lin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2103120"/>
            <a:ext cx="128016" cy="128016"/>
          </a:xfrm>
          <a:prstGeom prst="lin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304288"/>
            <a:ext cx="480974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Avant Java 8 — classe anonyme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Runnable r1 = new Runnable()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run()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System.out.println("Hello!");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Avec Lambda Java 8+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Runnable r2 = () -&gt; System.out.println("Hello!");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Lambda avec paramètres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Comparator&lt;String&gt; comp = (a, b) -&gt; a.compareTo(b);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Lambda avec bloc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BiFunction&lt;Integer,Integer,Integer&gt; add =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(x, y) -&gt;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result = x + y;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Utilisation avec Collections.sort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noms = Arrays.asList("Zara","Alice","Bob");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Collections.sort(noms, (a, b) -&gt; a.compareTo(b));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System.out.println(noms); // [Alice, Bob, Zara]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</a:rPr>
              <a:t>Interfaces Fonctionnelles Communes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0" y="2377440"/>
            <a:ext cx="320040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</a:rPr>
              <a:t>Runnable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635240" y="23774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() → void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0" y="2798064"/>
            <a:ext cx="320040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27980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</a:rPr>
              <a:t>Supplier&lt;T&gt;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35240" y="279806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() → 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69280" y="3218688"/>
            <a:ext cx="320040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32186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</a:rPr>
              <a:t>Consumer&lt;T&gt;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35240" y="32186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 → void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0" y="3639312"/>
            <a:ext cx="320040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15000" y="36393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</a:rPr>
              <a:t>Function&lt;T,R&gt;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35240" y="363931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 → 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0" y="4059936"/>
            <a:ext cx="320040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15000" y="405993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</a:rPr>
              <a:t>Predicate&lt;T&gt;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35240" y="405993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 → boolean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0" y="4480560"/>
            <a:ext cx="320040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15000" y="4480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</a:rPr>
              <a:t>BiFunction&lt;T,U,R&gt;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635240" y="44805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(T,U) → R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 — Lambda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Lambda + Stream API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02920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80160"/>
            <a:ext cx="128016" cy="128016"/>
          </a:xfrm>
          <a:prstGeom prst="lin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280160"/>
            <a:ext cx="128016" cy="128016"/>
          </a:xfrm>
          <a:prstGeom prst="lin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" y="1280160"/>
            <a:ext cx="128016" cy="128016"/>
          </a:xfrm>
          <a:prstGeom prst="lin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481328"/>
            <a:ext cx="480974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java.util.*;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java.util.stream.*;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ExempleStream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void main(String[] args)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List&lt;Integer&gt; nombres = Arrays.asList(1, 2, 3, 4, 5, 6, 7, 8, 9, 10);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filter + map + collect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List&lt;Integer&gt; pairs = nombres.stream()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.filter(n -&gt; n % 2 == 0)   // garde les pairs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.map(n -&gt; n * n)            // élève au carré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.collect(Collectors.toList());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System.out.println(pairs); // [4, 16, 36, 64, 100]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reduce — somme totale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somme = nombres.stream()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.reduce(0, (acc, n) -&gt; acc + n);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System.out.println(somme); // 55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sorted + forEach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nombres.stream()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.filter(n -&gt; n &gt; 5)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.sorted(Comparator.reverseOrder())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.forEach(n -&gt; System.out.print(n + " "));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10 9 8 7 6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</a:rPr>
              <a:t>Pipeline Stream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0" y="1600200"/>
            <a:ext cx="32004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1600200"/>
            <a:ext cx="64008" cy="5943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1627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Source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06440" y="19202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Collection / Array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269480" y="2194560"/>
            <a:ext cx="0" cy="18288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0" y="2377440"/>
            <a:ext cx="32004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0" y="2377440"/>
            <a:ext cx="64008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2404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filter()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06440" y="2697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Opération intermédiaire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69480" y="2971800"/>
            <a:ext cx="0" cy="18288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0" y="3154680"/>
            <a:ext cx="32004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0" y="3154680"/>
            <a:ext cx="64008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3182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map()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06440" y="34747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Opération intermédiaire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69480" y="3749040"/>
            <a:ext cx="0" cy="18288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0" y="3931920"/>
            <a:ext cx="32004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0" y="3931920"/>
            <a:ext cx="64008" cy="594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06440" y="3959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collect()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806440" y="4251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Opération terminale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 — Classes Java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Inner Class (Classe Interne)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Une Inner Class est définie à l'intérieur d'une autre classe. Elle a accès aux membres privés de la classe englobante.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84632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645920"/>
            <a:ext cx="128016" cy="128016"/>
          </a:xfrm>
          <a:prstGeom prst="lin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" y="1645920"/>
            <a:ext cx="128016" cy="128016"/>
          </a:xfrm>
          <a:prstGeom prst="lin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1645920"/>
            <a:ext cx="128016" cy="128016"/>
          </a:xfrm>
          <a:prstGeom prst="lin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934" y="1881894"/>
            <a:ext cx="4603857" cy="2982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Voiture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marque = "Toyota";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int vitesse = 0;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──── Inner Class ────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 Moteur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demarrer()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Accès direct aux membres privés de Voiture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System.out.println(marque + " démarre...");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vitesse = 10;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accelerer(int delta)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vitesse += delta;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System.out.println("Vitesse: " + vitesse + " km/h");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rouler()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Moteur m = new Moteur(); // Instanciation depuis l'extérieur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m.demarrer();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m.accelerer(50);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void main(String[] args)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Voiture v = new Voiture();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v.rouler(); // Toyota démarre... Vitesse: 60 km/h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Instanciation externe (peu courant)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Voiture.Moteur m2 = v.new Moteur();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7784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Types de Nested Classes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77840" y="1965960"/>
            <a:ext cx="329184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1965960"/>
            <a:ext cx="54864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87568" y="19933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Inner Class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87568" y="22677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Accès aux membres d'instance. Lié à l'instance externe.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0" y="2715768"/>
            <a:ext cx="329184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2715768"/>
            <a:ext cx="54864" cy="6400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87568" y="27432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</a:rPr>
              <a:t>Static Nested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87568" y="3017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Pas d'accès à l'instance. Plus autonome.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3465576"/>
            <a:ext cx="329184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3465576"/>
            <a:ext cx="54864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87568" y="34930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Local Class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87568" y="37673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Définie dans une méthode. Scope limité.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77840" y="4215384"/>
            <a:ext cx="329184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77840" y="4215384"/>
            <a:ext cx="54864" cy="6400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87568" y="42428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</a:rPr>
              <a:t>Anonymous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87568" y="45171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Sans nom, définie à l'usage.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 — Classes Java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Anonymous Class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Une classe anonyme est créée et instanciée en même temps, sans donner de nom. Utile pour implémenter rapidement une interface.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02920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645920"/>
            <a:ext cx="128016" cy="128016"/>
          </a:xfrm>
          <a:prstGeom prst="lin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" y="1645920"/>
            <a:ext cx="128016" cy="128016"/>
          </a:xfrm>
          <a:prstGeom prst="lin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1645920"/>
            <a:ext cx="128016" cy="128016"/>
          </a:xfrm>
          <a:prstGeom prst="lin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847088"/>
            <a:ext cx="480974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Interface exemple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Animal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parler();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String type() { return "Animal";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Main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void main(String[] args) {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✅ Classe anonyme — implémente Animal sans nouvelle classe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Animal chien = new Animal()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@Override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public void parler()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System.out.println("Woof! Je suis un " + type());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chien.parler(); // Woof! Je suis un Animal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Comparaison: avant Java 8, pour les Listeners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javax.swing.JButton btn = new javax.swing.JButton("Cliquer");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btn.addActionListener(new java.awt.event.ActionListener()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@Override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public void actionPerformed(java.awt.event.ActionEvent e)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System.out.println("Bouton cliqué!");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✅ Avec Lambda (Java 8+) — beaucoup plus court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btn.addActionListener(e -&gt; System.out.println("Bouton cliqué!"));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</a:rPr>
              <a:t>Anonymous Class vs Lambda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1920240"/>
            <a:ext cx="10515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92024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Critère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39128" y="1920240"/>
            <a:ext cx="10515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39128" y="192024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Anon. Class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808976" y="1920240"/>
            <a:ext cx="10515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08976" y="192024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Lambda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0" y="2286000"/>
            <a:ext cx="1051560" cy="3931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2286000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État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39128" y="2286000"/>
            <a:ext cx="1051560" cy="3931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39128" y="2286000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Peut avoir état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808976" y="2286000"/>
            <a:ext cx="1051560" cy="3931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08976" y="2286000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Sans état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69280" y="2697480"/>
            <a:ext cx="1051560" cy="39319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2697480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Interface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39128" y="2697480"/>
            <a:ext cx="1051560" cy="39319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39128" y="2697480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Multi-méthodes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808976" y="2697480"/>
            <a:ext cx="1051560" cy="39319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08976" y="2697480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1 méthode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0" y="3108960"/>
            <a:ext cx="1051560" cy="3931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3108960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this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739128" y="3108960"/>
            <a:ext cx="1051560" cy="3931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39128" y="3108960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= la classe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808976" y="3108960"/>
            <a:ext cx="1051560" cy="3931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08976" y="3108960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= classe ext.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0" y="3520440"/>
            <a:ext cx="1051560" cy="39319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0" y="3520440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Debug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739128" y="3520440"/>
            <a:ext cx="1051560" cy="39319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39128" y="3520440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Plus facile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808976" y="3520440"/>
            <a:ext cx="1051560" cy="393192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08976" y="3520440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Plus difficile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0" y="3931920"/>
            <a:ext cx="1051560" cy="3931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0" y="3931920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Verbosité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739128" y="3931920"/>
            <a:ext cx="1051560" cy="3931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39128" y="3931920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Longue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808976" y="3931920"/>
            <a:ext cx="1051560" cy="3931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08976" y="3931920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Courte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 — Generics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Java Generics — Pourquoi 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02920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80160"/>
            <a:ext cx="128016" cy="128016"/>
          </a:xfrm>
          <a:prstGeom prst="lin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280160"/>
            <a:ext cx="128016" cy="128016"/>
          </a:xfrm>
          <a:prstGeom prst="lin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" y="1280160"/>
            <a:ext cx="128016" cy="128016"/>
          </a:xfrm>
          <a:prstGeom prst="lin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481328"/>
            <a:ext cx="48097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SANS Generics — risque ClassCastException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liste = new ArrayList();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liste.add("Bonjour");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liste.add(42);          // Aucune erreur à la compilation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 = (String) liste.get(1); // ERREUR à l'exécution!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java.lang.ClassCastException: Integer cannot be cast to String</a:t>
            </a:r>
            <a:endParaRPr lang="en-US" sz="950" dirty="0"/>
          </a:p>
          <a:p>
            <a:pPr marL="0" indent="0" algn="l">
              <a:buNone/>
            </a:pP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AVEC Generics — sécurité à la compilation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listeStr = new ArrayList&lt;String&gt;();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listeStr.add("Bonjour");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listeStr.add(42); // ❌ Erreur de COMPILATION (pas d'exécution)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s2 = listeStr.get(0); // Pas de cast nécessaire!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577840" y="1188720"/>
            <a:ext cx="32918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77840" y="1188720"/>
            <a:ext cx="32918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1280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🛡️ Type Safety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0" y="16276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Les erreurs sont détectées à la compilation, pas à l'exécution.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2423160"/>
            <a:ext cx="32918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77840" y="2423160"/>
            <a:ext cx="329184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2514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</a:rPr>
              <a:t>✂️ Pas de Cast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0" y="2862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Supprime les (String) inutiles et sources d'erreur.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77840" y="3657600"/>
            <a:ext cx="32918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77840" y="3657600"/>
            <a:ext cx="32918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3749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♻️ Réutilisabilité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0" y="40965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Une seule classe générique pour tous les types.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50292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114800"/>
            <a:ext cx="54864" cy="7772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1330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</a:rPr>
              <a:t>⚡ Type Erasure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44074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À l'exécution, List&lt;String&gt; et List&lt;Integer&gt; sont identiques: Java efface les types génériques.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 — Generics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Créer ses propres Classes Génériques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93776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80160"/>
            <a:ext cx="128016" cy="128016"/>
          </a:xfrm>
          <a:prstGeom prst="lin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280160"/>
            <a:ext cx="128016" cy="128016"/>
          </a:xfrm>
          <a:prstGeom prst="lin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" y="1280160"/>
            <a:ext cx="128016" cy="128016"/>
          </a:xfrm>
          <a:prstGeom prst="lin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481328"/>
            <a:ext cx="471830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Classe générique Boite&lt;T&gt;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Boite&lt;T&gt;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T contenu;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Boite(T contenu)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this.contenu = contenu;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 getContenu() { return contenu;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setContenu(T contenu) { this.contenu = contenu; }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toString()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"Boite[" + contenu + "]";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Utilisation avec différents types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Main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void main(String[] args)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Boite&lt;String&gt;  b1 = new Boite&lt;&gt;("Chocolat");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Boite&lt;Integer&gt; b2 = new Boite&lt;&gt;(42);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Boite&lt;Double&gt;  b3 = new Boite&lt;&gt;(3.14);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System.out.println(b1.getContenu()); // Chocolat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System.out.println(b2.getContenu()); // 42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System.out.println(b3);             // Boite[3.14]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77840" y="1188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Wildcards &amp; Bounded Types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77840" y="1600200"/>
            <a:ext cx="329184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16276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&lt;?&gt;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23560" y="19385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Wildcard non borné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23560" y="21762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List&lt;?&gt; — n'importe quel type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577840" y="2697480"/>
            <a:ext cx="329184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27249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 extends T&gt;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23560" y="30358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Borne supérieure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23560" y="32735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List&lt;? extends Number&gt; — Number ou sous-classes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577840" y="3794760"/>
            <a:ext cx="329184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0" y="38221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 super T&gt;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23560" y="41330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Borne inférieure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23560" y="43708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List&lt;? super Integer&gt; — Integer ou super-classes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Récapitulatif — Semaine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11480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</a:rPr>
              <a:t>Collections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• List (ArrayList), Set (HashSet), Map (HashMap)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• Choisir la bonne structure selon le besoin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• Toujours coder vers l'interface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188720"/>
            <a:ext cx="411480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188720"/>
            <a:ext cx="41148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</a:rPr>
              <a:t>Lambda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• Syntaxe: (params) -&gt; corps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• Interfaces fonctionnelles: Function, Predicate...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• Combiné aux Streams pour traitement de données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411480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71800"/>
            <a:ext cx="41148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63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</a:rPr>
              <a:t>Inner / Anonymous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342900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• Inner Class: accès aux membres privés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• Anonymous Class: implémentation ponctuelle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• Lambda remplace souvent les Anonymous Classes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2971800"/>
            <a:ext cx="411480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971800"/>
            <a:ext cx="41148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063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Generics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42900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• &lt;T&gt; pour paramétrer les classes et méthodes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• Sécurité au compile, supprime les ClassCastException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• Wildcards: ?, ? extends T, ? super 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CD34D"/>
                </a:solidFill>
              </a:rPr>
              <a:t>Bonne pratique : Préférez les interfaces aux implémentations concrètes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1737</TotalTime>
  <Words>1742</Words>
  <Application>Microsoft Office PowerPoint</Application>
  <PresentationFormat>On-screen Show (16:9)</PresentationFormat>
  <Paragraphs>383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Avancé - Semaine 3</dc:title>
  <dc:subject>PptxGenJS Presentation</dc:subject>
  <dc:creator>PptxGenJS</dc:creator>
  <cp:lastModifiedBy>Ibrahim SAVADOGO</cp:lastModifiedBy>
  <cp:revision>3</cp:revision>
  <dcterms:created xsi:type="dcterms:W3CDTF">2026-04-20T18:54:38Z</dcterms:created>
  <dcterms:modified xsi:type="dcterms:W3CDTF">2026-04-23T15:55:24Z</dcterms:modified>
</cp:coreProperties>
</file>