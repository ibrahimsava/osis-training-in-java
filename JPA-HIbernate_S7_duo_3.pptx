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2">
  <p:sldMasterIdLst>
    <p:sldMasterId id="2147483648" r:id="rId1"/>
  </p:sldMasterIdLst>
  <p:notesMasterIdLst>
    <p:notesMasterId r:id="rId24"/>
  </p:notesMasterIdLst>
  <p:handoutMasterIdLst>
    <p:handoutMasterId r:id="rId25"/>
  </p:handoutMasterIdLst>
  <p:sldIdLst>
    <p:sldId id="256" r:id="rId2"/>
    <p:sldId id="352" r:id="rId3"/>
    <p:sldId id="377" r:id="rId4"/>
    <p:sldId id="366" r:id="rId5"/>
    <p:sldId id="368" r:id="rId6"/>
    <p:sldId id="369" r:id="rId7"/>
    <p:sldId id="383" r:id="rId8"/>
    <p:sldId id="367" r:id="rId9"/>
    <p:sldId id="386" r:id="rId10"/>
    <p:sldId id="384" r:id="rId11"/>
    <p:sldId id="385" r:id="rId12"/>
    <p:sldId id="372" r:id="rId13"/>
    <p:sldId id="375" r:id="rId14"/>
    <p:sldId id="376" r:id="rId15"/>
    <p:sldId id="382" r:id="rId16"/>
    <p:sldId id="387" r:id="rId17"/>
    <p:sldId id="388" r:id="rId18"/>
    <p:sldId id="374" r:id="rId19"/>
    <p:sldId id="364" r:id="rId20"/>
    <p:sldId id="380" r:id="rId21"/>
    <p:sldId id="353" r:id="rId22"/>
    <p:sldId id="345" r:id="rId23"/>
  </p:sldIdLst>
  <p:sldSz cx="9144000" cy="6858000" type="screen4x3"/>
  <p:notesSz cx="7010400" cy="9296400"/>
  <p:defaultTextStyle>
    <a:defPPr>
      <a:defRPr lang="fr-CA"/>
    </a:defPPr>
    <a:lvl1pPr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28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A6A6"/>
    <a:srgbClr val="F94C2F"/>
    <a:srgbClr val="006600"/>
    <a:srgbClr val="E2001A"/>
    <a:srgbClr val="777777"/>
    <a:srgbClr val="E3CDD0"/>
    <a:srgbClr val="FFFF99"/>
    <a:srgbClr val="FF6600"/>
    <a:srgbClr val="FF33CC"/>
    <a:srgbClr val="002C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D1C0D4-FE6C-4BBB-956B-AFAD78C86680}" v="908" dt="2026-05-11T10:02:21.84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86968" autoAdjust="0"/>
  </p:normalViewPr>
  <p:slideViewPr>
    <p:cSldViewPr showGuides="1">
      <p:cViewPr varScale="1">
        <p:scale>
          <a:sx n="68" d="100"/>
          <a:sy n="68" d="100"/>
        </p:scale>
        <p:origin x="796" y="60"/>
      </p:cViewPr>
      <p:guideLst>
        <p:guide orient="horz" pos="2160"/>
        <p:guide pos="2857"/>
      </p:guideLst>
    </p:cSldViewPr>
  </p:slideViewPr>
  <p:outlineViewPr>
    <p:cViewPr>
      <p:scale>
        <a:sx n="33" d="100"/>
        <a:sy n="33" d="100"/>
      </p:scale>
      <p:origin x="0" y="19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2540"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ba Jean Paul DJAMA" userId="f30d6993dbc66617" providerId="LiveId" clId="{70326D59-28A1-4693-BB6E-55222793C82C}"/>
    <pc:docChg chg="undo custSel addSld delSld modSld sldOrd">
      <pc:chgData name="Hoba Jean Paul DJAMA" userId="f30d6993dbc66617" providerId="LiveId" clId="{70326D59-28A1-4693-BB6E-55222793C82C}" dt="2026-05-11T10:05:14.245" v="3210" actId="478"/>
      <pc:docMkLst>
        <pc:docMk/>
      </pc:docMkLst>
      <pc:sldChg chg="addSp modSp mod">
        <pc:chgData name="Hoba Jean Paul DJAMA" userId="f30d6993dbc66617" providerId="LiveId" clId="{70326D59-28A1-4693-BB6E-55222793C82C}" dt="2026-05-11T10:03:54.653" v="3201" actId="207"/>
        <pc:sldMkLst>
          <pc:docMk/>
          <pc:sldMk cId="0" sldId="256"/>
        </pc:sldMkLst>
        <pc:spChg chg="mod">
          <ac:chgData name="Hoba Jean Paul DJAMA" userId="f30d6993dbc66617" providerId="LiveId" clId="{70326D59-28A1-4693-BB6E-55222793C82C}" dt="2026-04-28T17:19:56.279" v="871" actId="790"/>
          <ac:spMkLst>
            <pc:docMk/>
            <pc:sldMk cId="0" sldId="256"/>
            <ac:spMk id="2" creationId="{00000000-0000-0000-0000-000000000000}"/>
          </ac:spMkLst>
        </pc:spChg>
        <pc:spChg chg="mod">
          <ac:chgData name="Hoba Jean Paul DJAMA" userId="f30d6993dbc66617" providerId="LiveId" clId="{70326D59-28A1-4693-BB6E-55222793C82C}" dt="2026-05-11T10:03:54.653" v="3201" actId="207"/>
          <ac:spMkLst>
            <pc:docMk/>
            <pc:sldMk cId="0" sldId="256"/>
            <ac:spMk id="3" creationId="{00000000-0000-0000-0000-000000000000}"/>
          </ac:spMkLst>
        </pc:spChg>
        <pc:spChg chg="mod">
          <ac:chgData name="Hoba Jean Paul DJAMA" userId="f30d6993dbc66617" providerId="LiveId" clId="{70326D59-28A1-4693-BB6E-55222793C82C}" dt="2026-04-28T17:19:56.279" v="871" actId="790"/>
          <ac:spMkLst>
            <pc:docMk/>
            <pc:sldMk cId="0" sldId="256"/>
            <ac:spMk id="4" creationId="{00000000-0000-0000-0000-000000000000}"/>
          </ac:spMkLst>
        </pc:spChg>
        <pc:spChg chg="add mod">
          <ac:chgData name="Hoba Jean Paul DJAMA" userId="f30d6993dbc66617" providerId="LiveId" clId="{70326D59-28A1-4693-BB6E-55222793C82C}" dt="2026-05-11T09:56:40.981" v="3133" actId="207"/>
          <ac:spMkLst>
            <pc:docMk/>
            <pc:sldMk cId="0" sldId="256"/>
            <ac:spMk id="8" creationId="{25C89043-7204-6CF3-54E4-7EC7D2C2AD34}"/>
          </ac:spMkLst>
        </pc:spChg>
        <pc:picChg chg="mod">
          <ac:chgData name="Hoba Jean Paul DJAMA" userId="f30d6993dbc66617" providerId="LiveId" clId="{70326D59-28A1-4693-BB6E-55222793C82C}" dt="2026-05-11T10:00:33.193" v="3181" actId="1035"/>
          <ac:picMkLst>
            <pc:docMk/>
            <pc:sldMk cId="0" sldId="256"/>
            <ac:picMk id="5" creationId="{00000000-0000-0000-0000-000000000000}"/>
          </ac:picMkLst>
        </pc:picChg>
      </pc:sldChg>
      <pc:sldChg chg="addSp modSp add mod ord modAnim">
        <pc:chgData name="Hoba Jean Paul DJAMA" userId="f30d6993dbc66617" providerId="LiveId" clId="{70326D59-28A1-4693-BB6E-55222793C82C}" dt="2026-05-11T10:04:07.061" v="3202" actId="207"/>
        <pc:sldMkLst>
          <pc:docMk/>
          <pc:sldMk cId="0" sldId="257"/>
        </pc:sldMkLst>
        <pc:spChg chg="mod">
          <ac:chgData name="Hoba Jean Paul DJAMA" userId="f30d6993dbc66617" providerId="LiveId" clId="{70326D59-28A1-4693-BB6E-55222793C82C}" dt="2026-05-11T08:35:08.616" v="2511" actId="1035"/>
          <ac:spMkLst>
            <pc:docMk/>
            <pc:sldMk cId="0" sldId="257"/>
            <ac:spMk id="2" creationId="{D6E72FF3-3D62-0942-F239-D061AB939B41}"/>
          </ac:spMkLst>
        </pc:spChg>
        <pc:spChg chg="add mod">
          <ac:chgData name="Hoba Jean Paul DJAMA" userId="f30d6993dbc66617" providerId="LiveId" clId="{70326D59-28A1-4693-BB6E-55222793C82C}" dt="2026-05-11T10:01:07.866" v="3185" actId="208"/>
          <ac:spMkLst>
            <pc:docMk/>
            <pc:sldMk cId="0" sldId="257"/>
            <ac:spMk id="3" creationId="{C290416A-5356-181A-8905-9F05BA70F901}"/>
          </ac:spMkLst>
        </pc:spChg>
        <pc:spChg chg="add mod">
          <ac:chgData name="Hoba Jean Paul DJAMA" userId="f30d6993dbc66617" providerId="LiveId" clId="{70326D59-28A1-4693-BB6E-55222793C82C}" dt="2026-05-11T08:29:24.665" v="2485" actId="207"/>
          <ac:spMkLst>
            <pc:docMk/>
            <pc:sldMk cId="0" sldId="257"/>
            <ac:spMk id="5" creationId="{0F9816A8-48BA-88E6-DECD-A9F07CD17B7B}"/>
          </ac:spMkLst>
        </pc:spChg>
        <pc:spChg chg="mod">
          <ac:chgData name="Hoba Jean Paul DJAMA" userId="f30d6993dbc66617" providerId="LiveId" clId="{70326D59-28A1-4693-BB6E-55222793C82C}" dt="2026-05-11T10:04:07.061" v="3202" actId="207"/>
          <ac:spMkLst>
            <pc:docMk/>
            <pc:sldMk cId="0" sldId="257"/>
            <ac:spMk id="55" creationId="{00000000-0000-0000-0000-000000000000}"/>
          </ac:spMkLst>
        </pc:spChg>
        <pc:picChg chg="add mod">
          <ac:chgData name="Hoba Jean Paul DJAMA" userId="f30d6993dbc66617" providerId="LiveId" clId="{70326D59-28A1-4693-BB6E-55222793C82C}" dt="2026-05-11T10:02:21.847" v="3200"/>
          <ac:picMkLst>
            <pc:docMk/>
            <pc:sldMk cId="0" sldId="257"/>
            <ac:picMk id="6" creationId="{EAB11395-F775-40DE-F920-897A62905F84}"/>
          </ac:picMkLst>
        </pc:picChg>
      </pc:sldChg>
      <pc:sldChg chg="addSp modSp mod">
        <pc:chgData name="Hoba Jean Paul DJAMA" userId="f30d6993dbc66617" providerId="LiveId" clId="{70326D59-28A1-4693-BB6E-55222793C82C}" dt="2026-05-11T09:57:40.374" v="3139" actId="207"/>
        <pc:sldMkLst>
          <pc:docMk/>
          <pc:sldMk cId="0" sldId="345"/>
        </pc:sldMkLst>
        <pc:spChg chg="mod">
          <ac:chgData name="Hoba Jean Paul DJAMA" userId="f30d6993dbc66617" providerId="LiveId" clId="{70326D59-28A1-4693-BB6E-55222793C82C}" dt="2026-04-28T17:19:56.279" v="871" actId="790"/>
          <ac:spMkLst>
            <pc:docMk/>
            <pc:sldMk cId="0" sldId="345"/>
            <ac:spMk id="2" creationId="{00000000-0000-0000-0000-000000000000}"/>
          </ac:spMkLst>
        </pc:spChg>
        <pc:spChg chg="mod">
          <ac:chgData name="Hoba Jean Paul DJAMA" userId="f30d6993dbc66617" providerId="LiveId" clId="{70326D59-28A1-4693-BB6E-55222793C82C}" dt="2026-04-28T17:19:56.279" v="871" actId="790"/>
          <ac:spMkLst>
            <pc:docMk/>
            <pc:sldMk cId="0" sldId="345"/>
            <ac:spMk id="3" creationId="{00000000-0000-0000-0000-000000000000}"/>
          </ac:spMkLst>
        </pc:spChg>
        <pc:spChg chg="mod">
          <ac:chgData name="Hoba Jean Paul DJAMA" userId="f30d6993dbc66617" providerId="LiveId" clId="{70326D59-28A1-4693-BB6E-55222793C82C}" dt="2026-04-28T17:19:56.279" v="871" actId="790"/>
          <ac:spMkLst>
            <pc:docMk/>
            <pc:sldMk cId="0" sldId="345"/>
            <ac:spMk id="4" creationId="{00000000-0000-0000-0000-000000000000}"/>
          </ac:spMkLst>
        </pc:spChg>
        <pc:spChg chg="mod">
          <ac:chgData name="Hoba Jean Paul DJAMA" userId="f30d6993dbc66617" providerId="LiveId" clId="{70326D59-28A1-4693-BB6E-55222793C82C}" dt="2026-04-28T17:19:56.279" v="871" actId="790"/>
          <ac:spMkLst>
            <pc:docMk/>
            <pc:sldMk cId="0" sldId="345"/>
            <ac:spMk id="6" creationId="{00000000-0000-0000-0000-000000000000}"/>
          </ac:spMkLst>
        </pc:spChg>
        <pc:spChg chg="add mod">
          <ac:chgData name="Hoba Jean Paul DJAMA" userId="f30d6993dbc66617" providerId="LiveId" clId="{70326D59-28A1-4693-BB6E-55222793C82C}" dt="2026-05-11T09:57:40.374" v="3139" actId="207"/>
          <ac:spMkLst>
            <pc:docMk/>
            <pc:sldMk cId="0" sldId="345"/>
            <ac:spMk id="9" creationId="{A61C8F2A-5D0C-25B7-98D5-B04813D90A64}"/>
          </ac:spMkLst>
        </pc:spChg>
      </pc:sldChg>
      <pc:sldChg chg="addSp modSp add mod ord">
        <pc:chgData name="Hoba Jean Paul DJAMA" userId="f30d6993dbc66617" providerId="LiveId" clId="{70326D59-28A1-4693-BB6E-55222793C82C}" dt="2026-05-11T09:57:23.960" v="3137" actId="207"/>
        <pc:sldMkLst>
          <pc:docMk/>
          <pc:sldMk cId="2953525735" sldId="346"/>
        </pc:sldMkLst>
        <pc:spChg chg="add mod">
          <ac:chgData name="Hoba Jean Paul DJAMA" userId="f30d6993dbc66617" providerId="LiveId" clId="{70326D59-28A1-4693-BB6E-55222793C82C}" dt="2026-05-11T09:57:23.960" v="3137" actId="207"/>
          <ac:spMkLst>
            <pc:docMk/>
            <pc:sldMk cId="2953525735" sldId="346"/>
            <ac:spMk id="7" creationId="{52783409-E8D6-EFAE-9722-C97C3E184B04}"/>
          </ac:spMkLst>
        </pc:spChg>
      </pc:sldChg>
      <pc:sldChg chg="addSp modSp new mod ord modAnim">
        <pc:chgData name="Hoba Jean Paul DJAMA" userId="f30d6993dbc66617" providerId="LiveId" clId="{70326D59-28A1-4693-BB6E-55222793C82C}" dt="2026-05-11T10:04:12.739" v="3203" actId="207"/>
        <pc:sldMkLst>
          <pc:docMk/>
          <pc:sldMk cId="2104176619" sldId="347"/>
        </pc:sldMkLst>
        <pc:spChg chg="mod">
          <ac:chgData name="Hoba Jean Paul DJAMA" userId="f30d6993dbc66617" providerId="LiveId" clId="{70326D59-28A1-4693-BB6E-55222793C82C}" dt="2026-05-11T10:04:12.739" v="3203" actId="207"/>
          <ac:spMkLst>
            <pc:docMk/>
            <pc:sldMk cId="2104176619" sldId="347"/>
            <ac:spMk id="2" creationId="{BC7E5248-15F2-4293-788D-05E66BE7056B}"/>
          </ac:spMkLst>
        </pc:spChg>
        <pc:spChg chg="add mod">
          <ac:chgData name="Hoba Jean Paul DJAMA" userId="f30d6993dbc66617" providerId="LiveId" clId="{70326D59-28A1-4693-BB6E-55222793C82C}" dt="2026-05-11T10:01:29.119" v="3187"/>
          <ac:spMkLst>
            <pc:docMk/>
            <pc:sldMk cId="2104176619" sldId="347"/>
            <ac:spMk id="4" creationId="{F0E7D8FF-8EC9-8BB0-E151-673C45337CF9}"/>
          </ac:spMkLst>
        </pc:spChg>
        <pc:spChg chg="add mod">
          <ac:chgData name="Hoba Jean Paul DJAMA" userId="f30d6993dbc66617" providerId="LiveId" clId="{70326D59-28A1-4693-BB6E-55222793C82C}" dt="2026-05-11T08:33:31.240" v="2491" actId="207"/>
          <ac:spMkLst>
            <pc:docMk/>
            <pc:sldMk cId="2104176619" sldId="347"/>
            <ac:spMk id="5" creationId="{3E3017EC-3585-F61C-59D1-E25E2525BA5D}"/>
          </ac:spMkLst>
        </pc:spChg>
        <pc:spChg chg="add mod">
          <ac:chgData name="Hoba Jean Paul DJAMA" userId="f30d6993dbc66617" providerId="LiveId" clId="{70326D59-28A1-4693-BB6E-55222793C82C}" dt="2026-05-08T16:24:03.664" v="2478"/>
          <ac:spMkLst>
            <pc:docMk/>
            <pc:sldMk cId="2104176619" sldId="347"/>
            <ac:spMk id="6" creationId="{F005CBBC-72A6-1742-B917-AFF5B1B1577B}"/>
          </ac:spMkLst>
        </pc:spChg>
        <pc:graphicFrameChg chg="add mod modGraphic">
          <ac:chgData name="Hoba Jean Paul DJAMA" userId="f30d6993dbc66617" providerId="LiveId" clId="{70326D59-28A1-4693-BB6E-55222793C82C}" dt="2026-05-11T08:32:16.069" v="2490" actId="12269"/>
          <ac:graphicFrameMkLst>
            <pc:docMk/>
            <pc:sldMk cId="2104176619" sldId="347"/>
            <ac:graphicFrameMk id="3" creationId="{F8D22725-190C-85D2-C69B-F89F08A07F52}"/>
          </ac:graphicFrameMkLst>
        </pc:graphicFrameChg>
        <pc:picChg chg="add mod">
          <ac:chgData name="Hoba Jean Paul DJAMA" userId="f30d6993dbc66617" providerId="LiveId" clId="{70326D59-28A1-4693-BB6E-55222793C82C}" dt="2026-05-11T10:02:15.062" v="3198"/>
          <ac:picMkLst>
            <pc:docMk/>
            <pc:sldMk cId="2104176619" sldId="347"/>
            <ac:picMk id="7" creationId="{78D9FFAD-F3CF-61D7-8348-B3C2B89D4E1B}"/>
          </ac:picMkLst>
        </pc:picChg>
      </pc:sldChg>
      <pc:sldChg chg="addSp delSp modSp new del mod delAnim modAnim">
        <pc:chgData name="Hoba Jean Paul DJAMA" userId="f30d6993dbc66617" providerId="LiveId" clId="{70326D59-28A1-4693-BB6E-55222793C82C}" dt="2026-05-11T09:51:31.760" v="3128" actId="47"/>
        <pc:sldMkLst>
          <pc:docMk/>
          <pc:sldMk cId="2618894969" sldId="349"/>
        </pc:sldMkLst>
        <pc:spChg chg="mod">
          <ac:chgData name="Hoba Jean Paul DJAMA" userId="f30d6993dbc66617" providerId="LiveId" clId="{70326D59-28A1-4693-BB6E-55222793C82C}" dt="2026-05-11T09:48:34.631" v="3065" actId="21"/>
          <ac:spMkLst>
            <pc:docMk/>
            <pc:sldMk cId="2618894969" sldId="349"/>
            <ac:spMk id="2" creationId="{83AC4BC4-81EE-F317-6C09-9B4E97F0E062}"/>
          </ac:spMkLst>
        </pc:spChg>
        <pc:spChg chg="add mod">
          <ac:chgData name="Hoba Jean Paul DJAMA" userId="f30d6993dbc66617" providerId="LiveId" clId="{70326D59-28A1-4693-BB6E-55222793C82C}" dt="2026-05-11T08:33:46.890" v="2492" actId="207"/>
          <ac:spMkLst>
            <pc:docMk/>
            <pc:sldMk cId="2618894969" sldId="349"/>
            <ac:spMk id="5" creationId="{4211DD8C-7DDD-D8D0-2C8C-50DCF8D509C0}"/>
          </ac:spMkLst>
        </pc:spChg>
      </pc:sldChg>
      <pc:sldChg chg="addSp delSp modSp new mod ord">
        <pc:chgData name="Hoba Jean Paul DJAMA" userId="f30d6993dbc66617" providerId="LiveId" clId="{70326D59-28A1-4693-BB6E-55222793C82C}" dt="2026-05-11T10:04:55.606" v="3208" actId="207"/>
        <pc:sldMkLst>
          <pc:docMk/>
          <pc:sldMk cId="3576917714" sldId="351"/>
        </pc:sldMkLst>
        <pc:spChg chg="add mod">
          <ac:chgData name="Hoba Jean Paul DJAMA" userId="f30d6993dbc66617" providerId="LiveId" clId="{70326D59-28A1-4693-BB6E-55222793C82C}" dt="2026-05-11T08:34:14.553" v="2497" actId="207"/>
          <ac:spMkLst>
            <pc:docMk/>
            <pc:sldMk cId="3576917714" sldId="351"/>
            <ac:spMk id="2" creationId="{B20165D7-94A4-88B5-E2D7-87550B810EE9}"/>
          </ac:spMkLst>
        </pc:spChg>
        <pc:spChg chg="add mod">
          <ac:chgData name="Hoba Jean Paul DJAMA" userId="f30d6993dbc66617" providerId="LiveId" clId="{70326D59-28A1-4693-BB6E-55222793C82C}" dt="2026-05-08T16:23:53.082" v="2474"/>
          <ac:spMkLst>
            <pc:docMk/>
            <pc:sldMk cId="3576917714" sldId="351"/>
            <ac:spMk id="4" creationId="{82077C7C-602A-3876-BC73-A8344C61892F}"/>
          </ac:spMkLst>
        </pc:spChg>
        <pc:spChg chg="add mod">
          <ac:chgData name="Hoba Jean Paul DJAMA" userId="f30d6993dbc66617" providerId="LiveId" clId="{70326D59-28A1-4693-BB6E-55222793C82C}" dt="2026-05-11T10:04:55.606" v="3208" actId="207"/>
          <ac:spMkLst>
            <pc:docMk/>
            <pc:sldMk cId="3576917714" sldId="351"/>
            <ac:spMk id="5" creationId="{0AA8FC15-7D3C-B341-43CA-7D0640E83DCF}"/>
          </ac:spMkLst>
        </pc:spChg>
        <pc:spChg chg="add mod">
          <ac:chgData name="Hoba Jean Paul DJAMA" userId="f30d6993dbc66617" providerId="LiveId" clId="{70326D59-28A1-4693-BB6E-55222793C82C}" dt="2026-05-11T10:01:41.335" v="3191"/>
          <ac:spMkLst>
            <pc:docMk/>
            <pc:sldMk cId="3576917714" sldId="351"/>
            <ac:spMk id="6" creationId="{2CA3CD78-18A6-7170-97FC-99919994647D}"/>
          </ac:spMkLst>
        </pc:spChg>
        <pc:picChg chg="add mod">
          <ac:chgData name="Hoba Jean Paul DJAMA" userId="f30d6993dbc66617" providerId="LiveId" clId="{70326D59-28A1-4693-BB6E-55222793C82C}" dt="2026-05-07T20:34:41.875" v="2046" actId="1076"/>
          <ac:picMkLst>
            <pc:docMk/>
            <pc:sldMk cId="3576917714" sldId="351"/>
            <ac:picMk id="3" creationId="{B98E20DB-B969-6CEF-EF90-735FB41926CF}"/>
          </ac:picMkLst>
        </pc:picChg>
        <pc:picChg chg="add mod">
          <ac:chgData name="Hoba Jean Paul DJAMA" userId="f30d6993dbc66617" providerId="LiveId" clId="{70326D59-28A1-4693-BB6E-55222793C82C}" dt="2026-05-11T10:02:02.994" v="3194"/>
          <ac:picMkLst>
            <pc:docMk/>
            <pc:sldMk cId="3576917714" sldId="351"/>
            <ac:picMk id="7" creationId="{99594993-062A-AFB4-B0ED-349A59D63919}"/>
          </ac:picMkLst>
        </pc:picChg>
      </pc:sldChg>
      <pc:sldChg chg="addSp modSp new mod modAnim">
        <pc:chgData name="Hoba Jean Paul DJAMA" userId="f30d6993dbc66617" providerId="LiveId" clId="{70326D59-28A1-4693-BB6E-55222793C82C}" dt="2026-05-11T10:04:36.523" v="3206" actId="207"/>
        <pc:sldMkLst>
          <pc:docMk/>
          <pc:sldMk cId="2889344537" sldId="352"/>
        </pc:sldMkLst>
        <pc:spChg chg="mod">
          <ac:chgData name="Hoba Jean Paul DJAMA" userId="f30d6993dbc66617" providerId="LiveId" clId="{70326D59-28A1-4693-BB6E-55222793C82C}" dt="2026-05-11T10:04:36.523" v="3206" actId="207"/>
          <ac:spMkLst>
            <pc:docMk/>
            <pc:sldMk cId="2889344537" sldId="352"/>
            <ac:spMk id="2" creationId="{13FA66CD-D82F-4A6F-C343-030DD2ED4EAB}"/>
          </ac:spMkLst>
        </pc:spChg>
        <pc:spChg chg="add mod">
          <ac:chgData name="Hoba Jean Paul DJAMA" userId="f30d6993dbc66617" providerId="LiveId" clId="{70326D59-28A1-4693-BB6E-55222793C82C}" dt="2026-05-07T16:02:20.337" v="1752" actId="1076"/>
          <ac:spMkLst>
            <pc:docMk/>
            <pc:sldMk cId="2889344537" sldId="352"/>
            <ac:spMk id="3" creationId="{50473359-A7CA-B079-2C6C-10FE1341456C}"/>
          </ac:spMkLst>
        </pc:spChg>
        <pc:spChg chg="add mod">
          <ac:chgData name="Hoba Jean Paul DJAMA" userId="f30d6993dbc66617" providerId="LiveId" clId="{70326D59-28A1-4693-BB6E-55222793C82C}" dt="2026-05-07T16:03:49.365" v="1776" actId="1076"/>
          <ac:spMkLst>
            <pc:docMk/>
            <pc:sldMk cId="2889344537" sldId="352"/>
            <ac:spMk id="4" creationId="{BED0D320-6E0B-C48E-F35B-F71B474DC39F}"/>
          </ac:spMkLst>
        </pc:spChg>
        <pc:spChg chg="add mod">
          <ac:chgData name="Hoba Jean Paul DJAMA" userId="f30d6993dbc66617" providerId="LiveId" clId="{70326D59-28A1-4693-BB6E-55222793C82C}" dt="2026-05-11T10:01:38.644" v="3190"/>
          <ac:spMkLst>
            <pc:docMk/>
            <pc:sldMk cId="2889344537" sldId="352"/>
            <ac:spMk id="5" creationId="{967C8347-673A-CAFB-D05E-35DDB6238224}"/>
          </ac:spMkLst>
        </pc:spChg>
        <pc:spChg chg="add mod">
          <ac:chgData name="Hoba Jean Paul DJAMA" userId="f30d6993dbc66617" providerId="LiveId" clId="{70326D59-28A1-4693-BB6E-55222793C82C}" dt="2026-05-11T08:33:54.043" v="2493" actId="207"/>
          <ac:spMkLst>
            <pc:docMk/>
            <pc:sldMk cId="2889344537" sldId="352"/>
            <ac:spMk id="6" creationId="{D890A617-9D04-F58B-20AB-9E0D3A8C7FFB}"/>
          </ac:spMkLst>
        </pc:spChg>
        <pc:spChg chg="add mod">
          <ac:chgData name="Hoba Jean Paul DJAMA" userId="f30d6993dbc66617" providerId="LiveId" clId="{70326D59-28A1-4693-BB6E-55222793C82C}" dt="2026-05-08T16:23:57.492" v="2476"/>
          <ac:spMkLst>
            <pc:docMk/>
            <pc:sldMk cId="2889344537" sldId="352"/>
            <ac:spMk id="7" creationId="{5DFDE811-5B33-9D0C-BFD9-1213B0C222D7}"/>
          </ac:spMkLst>
        </pc:spChg>
        <pc:picChg chg="add mod">
          <ac:chgData name="Hoba Jean Paul DJAMA" userId="f30d6993dbc66617" providerId="LiveId" clId="{70326D59-28A1-4693-BB6E-55222793C82C}" dt="2026-05-11T10:02:05.747" v="3195"/>
          <ac:picMkLst>
            <pc:docMk/>
            <pc:sldMk cId="2889344537" sldId="352"/>
            <ac:picMk id="8" creationId="{9868D73D-7239-8EFB-8B7C-F3F1D92F8FAC}"/>
          </ac:picMkLst>
        </pc:picChg>
        <pc:picChg chg="add mod">
          <ac:chgData name="Hoba Jean Paul DJAMA" userId="f30d6993dbc66617" providerId="LiveId" clId="{70326D59-28A1-4693-BB6E-55222793C82C}" dt="2026-05-07T16:03:16.434" v="1770" actId="1038"/>
          <ac:picMkLst>
            <pc:docMk/>
            <pc:sldMk cId="2889344537" sldId="352"/>
            <ac:picMk id="2049" creationId="{2C1F44D6-A3C5-9F5F-63CC-510699E2690E}"/>
          </ac:picMkLst>
        </pc:picChg>
      </pc:sldChg>
      <pc:sldChg chg="addSp delSp modSp add mod">
        <pc:chgData name="Hoba Jean Paul DJAMA" userId="f30d6993dbc66617" providerId="LiveId" clId="{70326D59-28A1-4693-BB6E-55222793C82C}" dt="2026-05-11T10:02:18.652" v="3199"/>
        <pc:sldMkLst>
          <pc:docMk/>
          <pc:sldMk cId="0" sldId="353"/>
        </pc:sldMkLst>
        <pc:spChg chg="del mod">
          <ac:chgData name="Hoba Jean Paul DJAMA" userId="f30d6993dbc66617" providerId="LiveId" clId="{70326D59-28A1-4693-BB6E-55222793C82C}" dt="2026-05-11T09:52:00.424" v="3132" actId="478"/>
          <ac:spMkLst>
            <pc:docMk/>
            <pc:sldMk cId="0" sldId="353"/>
            <ac:spMk id="3" creationId="{00000000-0000-0000-0000-000000000000}"/>
          </ac:spMkLst>
        </pc:spChg>
        <pc:spChg chg="mod">
          <ac:chgData name="Hoba Jean Paul DJAMA" userId="f30d6993dbc66617" providerId="LiveId" clId="{70326D59-28A1-4693-BB6E-55222793C82C}" dt="2026-05-11T08:30:52.859" v="2486" actId="207"/>
          <ac:spMkLst>
            <pc:docMk/>
            <pc:sldMk cId="0" sldId="353"/>
            <ac:spMk id="4" creationId="{00000000-0000-0000-0000-000000000000}"/>
          </ac:spMkLst>
        </pc:spChg>
        <pc:spChg chg="add mod">
          <ac:chgData name="Hoba Jean Paul DJAMA" userId="f30d6993dbc66617" providerId="LiveId" clId="{70326D59-28A1-4693-BB6E-55222793C82C}" dt="2026-05-11T10:01:24.141" v="3186"/>
          <ac:spMkLst>
            <pc:docMk/>
            <pc:sldMk cId="0" sldId="353"/>
            <ac:spMk id="5" creationId="{098BF44A-A671-E52D-EE69-C1441284CB78}"/>
          </ac:spMkLst>
        </pc:spChg>
        <pc:spChg chg="add mod">
          <ac:chgData name="Hoba Jean Paul DJAMA" userId="f30d6993dbc66617" providerId="LiveId" clId="{70326D59-28A1-4693-BB6E-55222793C82C}" dt="2026-05-11T08:31:13.159" v="2487" actId="207"/>
          <ac:spMkLst>
            <pc:docMk/>
            <pc:sldMk cId="0" sldId="353"/>
            <ac:spMk id="7" creationId="{B91D5A3A-BE49-5D6C-7DA5-9F781AA49B47}"/>
          </ac:spMkLst>
        </pc:spChg>
        <pc:picChg chg="add mod">
          <ac:chgData name="Hoba Jean Paul DJAMA" userId="f30d6993dbc66617" providerId="LiveId" clId="{70326D59-28A1-4693-BB6E-55222793C82C}" dt="2026-05-11T10:02:18.652" v="3199"/>
          <ac:picMkLst>
            <pc:docMk/>
            <pc:sldMk cId="0" sldId="353"/>
            <ac:picMk id="8" creationId="{655CD770-BF98-6C7D-D60D-1972EBECB518}"/>
          </ac:picMkLst>
        </pc:picChg>
      </pc:sldChg>
      <pc:sldChg chg="addSp delSp modSp add mod delAnim">
        <pc:chgData name="Hoba Jean Paul DJAMA" userId="f30d6993dbc66617" providerId="LiveId" clId="{70326D59-28A1-4693-BB6E-55222793C82C}" dt="2026-05-11T10:01:59.396" v="3193"/>
        <pc:sldMkLst>
          <pc:docMk/>
          <pc:sldMk cId="0" sldId="357"/>
        </pc:sldMkLst>
        <pc:spChg chg="del">
          <ac:chgData name="Hoba Jean Paul DJAMA" userId="f30d6993dbc66617" providerId="LiveId" clId="{70326D59-28A1-4693-BB6E-55222793C82C}" dt="2026-05-11T09:57:17.143" v="3136" actId="478"/>
          <ac:spMkLst>
            <pc:docMk/>
            <pc:sldMk cId="0" sldId="357"/>
            <ac:spMk id="3" creationId="{00000000-0000-0000-0000-000000000000}"/>
          </ac:spMkLst>
        </pc:spChg>
        <pc:spChg chg="add mod">
          <ac:chgData name="Hoba Jean Paul DJAMA" userId="f30d6993dbc66617" providerId="LiveId" clId="{70326D59-28A1-4693-BB6E-55222793C82C}" dt="2026-05-11T09:57:13.329" v="3135" actId="207"/>
          <ac:spMkLst>
            <pc:docMk/>
            <pc:sldMk cId="0" sldId="357"/>
            <ac:spMk id="4" creationId="{EF354AF8-43A4-FBA4-B72D-E9FC08F8EAC1}"/>
          </ac:spMkLst>
        </pc:spChg>
        <pc:spChg chg="add mod">
          <ac:chgData name="Hoba Jean Paul DJAMA" userId="f30d6993dbc66617" providerId="LiveId" clId="{70326D59-28A1-4693-BB6E-55222793C82C}" dt="2026-05-11T10:01:49.052" v="3192"/>
          <ac:spMkLst>
            <pc:docMk/>
            <pc:sldMk cId="0" sldId="357"/>
            <ac:spMk id="5" creationId="{FD1128E4-A44E-6D52-D87A-14B14FCE22E0}"/>
          </ac:spMkLst>
        </pc:spChg>
        <pc:spChg chg="add mod">
          <ac:chgData name="Hoba Jean Paul DJAMA" userId="f30d6993dbc66617" providerId="LiveId" clId="{70326D59-28A1-4693-BB6E-55222793C82C}" dt="2026-05-08T16:23:43.802" v="2473" actId="207"/>
          <ac:spMkLst>
            <pc:docMk/>
            <pc:sldMk cId="0" sldId="357"/>
            <ac:spMk id="7" creationId="{1A039316-483C-8DB1-7332-2745A19859B0}"/>
          </ac:spMkLst>
        </pc:spChg>
        <pc:spChg chg="mod">
          <ac:chgData name="Hoba Jean Paul DJAMA" userId="f30d6993dbc66617" providerId="LiveId" clId="{70326D59-28A1-4693-BB6E-55222793C82C}" dt="2026-05-11T08:34:24.779" v="2498" actId="207"/>
          <ac:spMkLst>
            <pc:docMk/>
            <pc:sldMk cId="0" sldId="357"/>
            <ac:spMk id="9" creationId="{00000000-0000-0000-0000-000000000000}"/>
          </ac:spMkLst>
        </pc:spChg>
        <pc:picChg chg="add mod">
          <ac:chgData name="Hoba Jean Paul DJAMA" userId="f30d6993dbc66617" providerId="LiveId" clId="{70326D59-28A1-4693-BB6E-55222793C82C}" dt="2026-05-11T10:01:59.396" v="3193"/>
          <ac:picMkLst>
            <pc:docMk/>
            <pc:sldMk cId="0" sldId="357"/>
            <ac:picMk id="8" creationId="{98288FF0-EADD-14DB-5237-B693B23B9D10}"/>
          </ac:picMkLst>
        </pc:picChg>
      </pc:sldChg>
      <pc:sldChg chg="addSp delSp modSp add mod ord">
        <pc:chgData name="Hoba Jean Paul DJAMA" userId="f30d6993dbc66617" providerId="LiveId" clId="{70326D59-28A1-4693-BB6E-55222793C82C}" dt="2026-05-11T10:05:14.245" v="3210" actId="478"/>
        <pc:sldMkLst>
          <pc:docMk/>
          <pc:sldMk cId="3198725601" sldId="358"/>
        </pc:sldMkLst>
        <pc:spChg chg="add del mod">
          <ac:chgData name="Hoba Jean Paul DJAMA" userId="f30d6993dbc66617" providerId="LiveId" clId="{70326D59-28A1-4693-BB6E-55222793C82C}" dt="2026-05-11T10:05:14.245" v="3210" actId="478"/>
          <ac:spMkLst>
            <pc:docMk/>
            <pc:sldMk cId="3198725601" sldId="358"/>
            <ac:spMk id="2" creationId="{0D76C382-F24F-724B-0115-74D541973B61}"/>
          </ac:spMkLst>
        </pc:spChg>
        <pc:spChg chg="add mod">
          <ac:chgData name="Hoba Jean Paul DJAMA" userId="f30d6993dbc66617" providerId="LiveId" clId="{70326D59-28A1-4693-BB6E-55222793C82C}" dt="2026-05-08T10:19:08.471" v="2319" actId="208"/>
          <ac:spMkLst>
            <pc:docMk/>
            <pc:sldMk cId="3198725601" sldId="358"/>
            <ac:spMk id="3" creationId="{00F8FB01-AC02-1DB8-0635-B54C9E247E14}"/>
          </ac:spMkLst>
        </pc:spChg>
        <pc:spChg chg="add mod">
          <ac:chgData name="Hoba Jean Paul DJAMA" userId="f30d6993dbc66617" providerId="LiveId" clId="{70326D59-28A1-4693-BB6E-55222793C82C}" dt="2026-05-08T10:19:41.974" v="2324" actId="208"/>
          <ac:spMkLst>
            <pc:docMk/>
            <pc:sldMk cId="3198725601" sldId="358"/>
            <ac:spMk id="4" creationId="{EFF4DEFE-54F1-0096-814C-B9F3DD1D6DE6}"/>
          </ac:spMkLst>
        </pc:spChg>
        <pc:spChg chg="mod">
          <ac:chgData name="Hoba Jean Paul DJAMA" userId="f30d6993dbc66617" providerId="LiveId" clId="{70326D59-28A1-4693-BB6E-55222793C82C}" dt="2026-05-11T10:04:30.289" v="3205" actId="207"/>
          <ac:spMkLst>
            <pc:docMk/>
            <pc:sldMk cId="3198725601" sldId="358"/>
            <ac:spMk id="5" creationId="{D4F36627-C3CF-FD41-E61E-D392E24DBF26}"/>
          </ac:spMkLst>
        </pc:spChg>
        <pc:spChg chg="add mod">
          <ac:chgData name="Hoba Jean Paul DJAMA" userId="f30d6993dbc66617" providerId="LiveId" clId="{70326D59-28A1-4693-BB6E-55222793C82C}" dt="2026-05-11T08:34:04.368" v="2494" actId="207"/>
          <ac:spMkLst>
            <pc:docMk/>
            <pc:sldMk cId="3198725601" sldId="358"/>
            <ac:spMk id="6" creationId="{E390142A-9D0B-EC79-F216-2E1A19A244FB}"/>
          </ac:spMkLst>
        </pc:spChg>
        <pc:spChg chg="add mod">
          <ac:chgData name="Hoba Jean Paul DJAMA" userId="f30d6993dbc66617" providerId="LiveId" clId="{70326D59-28A1-4693-BB6E-55222793C82C}" dt="2026-05-08T16:23:55.265" v="2475"/>
          <ac:spMkLst>
            <pc:docMk/>
            <pc:sldMk cId="3198725601" sldId="358"/>
            <ac:spMk id="8" creationId="{FB0AE699-CB7A-2134-0B21-EB95337DE3DF}"/>
          </ac:spMkLst>
        </pc:spChg>
        <pc:spChg chg="add mod">
          <ac:chgData name="Hoba Jean Paul DJAMA" userId="f30d6993dbc66617" providerId="LiveId" clId="{70326D59-28A1-4693-BB6E-55222793C82C}" dt="2026-05-11T10:01:35.990" v="3189"/>
          <ac:spMkLst>
            <pc:docMk/>
            <pc:sldMk cId="3198725601" sldId="358"/>
            <ac:spMk id="9" creationId="{F83B069C-892A-1567-BB12-16E1C63F43D1}"/>
          </ac:spMkLst>
        </pc:spChg>
        <pc:spChg chg="add mod">
          <ac:chgData name="Hoba Jean Paul DJAMA" userId="f30d6993dbc66617" providerId="LiveId" clId="{70326D59-28A1-4693-BB6E-55222793C82C}" dt="2026-05-08T10:24:12.437" v="2361" actId="1037"/>
          <ac:spMkLst>
            <pc:docMk/>
            <pc:sldMk cId="3198725601" sldId="358"/>
            <ac:spMk id="12" creationId="{865C09B6-D765-31E2-CC86-568835BED2FD}"/>
          </ac:spMkLst>
        </pc:spChg>
        <pc:picChg chg="add mod">
          <ac:chgData name="Hoba Jean Paul DJAMA" userId="f30d6993dbc66617" providerId="LiveId" clId="{70326D59-28A1-4693-BB6E-55222793C82C}" dt="2026-05-11T10:02:08.695" v="3196"/>
          <ac:picMkLst>
            <pc:docMk/>
            <pc:sldMk cId="3198725601" sldId="358"/>
            <ac:picMk id="10" creationId="{107DD3A8-D8B6-25FF-BEC6-8ABBA205EFD2}"/>
          </ac:picMkLst>
        </pc:picChg>
      </pc:sldChg>
      <pc:sldChg chg="addSp modSp new mod addAnim delAnim modAnim">
        <pc:chgData name="Hoba Jean Paul DJAMA" userId="f30d6993dbc66617" providerId="LiveId" clId="{70326D59-28A1-4693-BB6E-55222793C82C}" dt="2026-05-11T10:04:21.489" v="3204" actId="207"/>
        <pc:sldMkLst>
          <pc:docMk/>
          <pc:sldMk cId="2584382701" sldId="359"/>
        </pc:sldMkLst>
        <pc:spChg chg="mod">
          <ac:chgData name="Hoba Jean Paul DJAMA" userId="f30d6993dbc66617" providerId="LiveId" clId="{70326D59-28A1-4693-BB6E-55222793C82C}" dt="2026-05-11T10:04:21.489" v="3204" actId="207"/>
          <ac:spMkLst>
            <pc:docMk/>
            <pc:sldMk cId="2584382701" sldId="359"/>
            <ac:spMk id="2" creationId="{4B59C4F1-C941-072E-99DA-86BC5AAFC836}"/>
          </ac:spMkLst>
        </pc:spChg>
        <pc:spChg chg="add mod">
          <ac:chgData name="Hoba Jean Paul DJAMA" userId="f30d6993dbc66617" providerId="LiveId" clId="{70326D59-28A1-4693-BB6E-55222793C82C}" dt="2026-05-11T09:46:42.091" v="3051" actId="1037"/>
          <ac:spMkLst>
            <pc:docMk/>
            <pc:sldMk cId="2584382701" sldId="359"/>
            <ac:spMk id="3" creationId="{B7383458-4A42-51D9-5AAA-4DC9E895A646}"/>
          </ac:spMkLst>
        </pc:spChg>
        <pc:spChg chg="add mod">
          <ac:chgData name="Hoba Jean Paul DJAMA" userId="f30d6993dbc66617" providerId="LiveId" clId="{70326D59-28A1-4693-BB6E-55222793C82C}" dt="2026-05-11T09:36:51.663" v="2910" actId="207"/>
          <ac:spMkLst>
            <pc:docMk/>
            <pc:sldMk cId="2584382701" sldId="359"/>
            <ac:spMk id="4" creationId="{5D1D9751-E017-0352-BC46-B5A06A9784D6}"/>
          </ac:spMkLst>
        </pc:spChg>
        <pc:spChg chg="add mod">
          <ac:chgData name="Hoba Jean Paul DJAMA" userId="f30d6993dbc66617" providerId="LiveId" clId="{70326D59-28A1-4693-BB6E-55222793C82C}" dt="2026-05-11T09:13:51.731" v="2901" actId="403"/>
          <ac:spMkLst>
            <pc:docMk/>
            <pc:sldMk cId="2584382701" sldId="359"/>
            <ac:spMk id="5" creationId="{B207F7F0-97B6-EDB8-AFA3-B9714A79DFB6}"/>
          </ac:spMkLst>
        </pc:spChg>
        <pc:spChg chg="add mod">
          <ac:chgData name="Hoba Jean Paul DJAMA" userId="f30d6993dbc66617" providerId="LiveId" clId="{70326D59-28A1-4693-BB6E-55222793C82C}" dt="2026-05-11T09:46:32.788" v="3041" actId="1038"/>
          <ac:spMkLst>
            <pc:docMk/>
            <pc:sldMk cId="2584382701" sldId="359"/>
            <ac:spMk id="6" creationId="{2A69D01C-5EF7-701C-3F1A-338902E99B47}"/>
          </ac:spMkLst>
        </pc:spChg>
        <pc:spChg chg="add mod">
          <ac:chgData name="Hoba Jean Paul DJAMA" userId="f30d6993dbc66617" providerId="LiveId" clId="{70326D59-28A1-4693-BB6E-55222793C82C}" dt="2026-05-11T09:49:43.323" v="3082" actId="1035"/>
          <ac:spMkLst>
            <pc:docMk/>
            <pc:sldMk cId="2584382701" sldId="359"/>
            <ac:spMk id="7" creationId="{7A863AE1-4F73-D674-91AF-154ED1166312}"/>
          </ac:spMkLst>
        </pc:spChg>
        <pc:spChg chg="add mod">
          <ac:chgData name="Hoba Jean Paul DJAMA" userId="f30d6993dbc66617" providerId="LiveId" clId="{70326D59-28A1-4693-BB6E-55222793C82C}" dt="2026-05-11T09:51:43.188" v="3130" actId="1076"/>
          <ac:spMkLst>
            <pc:docMk/>
            <pc:sldMk cId="2584382701" sldId="359"/>
            <ac:spMk id="8" creationId="{0566DC48-F5AF-BEC3-0D63-7D5653D63C59}"/>
          </ac:spMkLst>
        </pc:spChg>
        <pc:spChg chg="add mod">
          <ac:chgData name="Hoba Jean Paul DJAMA" userId="f30d6993dbc66617" providerId="LiveId" clId="{70326D59-28A1-4693-BB6E-55222793C82C}" dt="2026-05-11T10:01:33.231" v="3188"/>
          <ac:spMkLst>
            <pc:docMk/>
            <pc:sldMk cId="2584382701" sldId="359"/>
            <ac:spMk id="9" creationId="{F9528142-CE9C-DFEF-2151-5ECD1A8A125B}"/>
          </ac:spMkLst>
        </pc:spChg>
        <pc:picChg chg="add mod">
          <ac:chgData name="Hoba Jean Paul DJAMA" userId="f30d6993dbc66617" providerId="LiveId" clId="{70326D59-28A1-4693-BB6E-55222793C82C}" dt="2026-05-11T10:02:11.473" v="3197"/>
          <ac:picMkLst>
            <pc:docMk/>
            <pc:sldMk cId="2584382701" sldId="359"/>
            <ac:picMk id="10" creationId="{F67B8F60-C6BF-FC4F-DC22-DB47CFE99B6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3075" name="Rectangle 3"/>
          <p:cNvSpPr>
            <a:spLocks noGrp="1" noChangeArrowheads="1"/>
          </p:cNvSpPr>
          <p:nvPr>
            <p:ph type="dt" sz="quarter"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3076" name="Rectangle 4"/>
          <p:cNvSpPr>
            <a:spLocks noGrp="1" noChangeArrowheads="1"/>
          </p:cNvSpPr>
          <p:nvPr>
            <p:ph type="ftr" sz="quarter" idx="2"/>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3077" name="Rectangle 5"/>
          <p:cNvSpPr>
            <a:spLocks noGrp="1" noChangeArrowheads="1"/>
          </p:cNvSpPr>
          <p:nvPr>
            <p:ph type="sldNum" sz="quarter" idx="3"/>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EFB73F57-00A7-4824-AB68-DA8CEE9E7E80}" type="slidenum">
              <a:rPr lang="fr-CA"/>
              <a:t>‹#›</a:t>
            </a:fld>
            <a:endParaRPr lang="fr-CA"/>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a:latin typeface="Arial" panose="020B0604020202020204" pitchFamily="34" charset="0"/>
                <a:ea typeface="+mn-ea"/>
              </a:defRPr>
            </a:lvl1pPr>
          </a:lstStyle>
          <a:p>
            <a:pPr>
              <a:defRPr/>
            </a:pPr>
            <a:endParaRPr lang="fr-CA"/>
          </a:p>
        </p:txBody>
      </p:sp>
      <p:sp>
        <p:nvSpPr>
          <p:cNvPr id="11267" name="Rectangle 3"/>
          <p:cNvSpPr>
            <a:spLocks noGrp="1" noChangeArrowheads="1"/>
          </p:cNvSpPr>
          <p:nvPr>
            <p:ph type="dt" idx="1"/>
          </p:nvPr>
        </p:nvSpPr>
        <p:spPr bwMode="auto">
          <a:xfrm>
            <a:off x="3970338"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a:latin typeface="Arial" panose="020B0604020202020204" pitchFamily="34" charset="0"/>
                <a:ea typeface="+mn-ea"/>
              </a:defRPr>
            </a:lvl1pPr>
          </a:lstStyle>
          <a:p>
            <a:pPr>
              <a:defRPr/>
            </a:pPr>
            <a:endParaRPr lang="fr-CA"/>
          </a:p>
        </p:txBody>
      </p:sp>
      <p:sp>
        <p:nvSpPr>
          <p:cNvPr id="18436"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ln>
        </p:spPr>
        <p:txBody>
          <a:bodyPr/>
          <a:lstStyle/>
          <a:p>
            <a:endParaRPr lang="en-US"/>
          </a:p>
        </p:txBody>
      </p:sp>
      <p:sp>
        <p:nvSpPr>
          <p:cNvPr id="11269" name="Rectangle 5"/>
          <p:cNvSpPr>
            <a:spLocks noGrp="1" noChangeArrowheads="1"/>
          </p:cNvSpPr>
          <p:nvPr>
            <p:ph type="body" sz="quarter" idx="3"/>
          </p:nvPr>
        </p:nvSpPr>
        <p:spPr bwMode="auto">
          <a:xfrm>
            <a:off x="701675" y="4416425"/>
            <a:ext cx="5607050" cy="4183063"/>
          </a:xfrm>
          <a:prstGeom prst="rect">
            <a:avLst/>
          </a:prstGeom>
          <a:noFill/>
          <a:ln>
            <a:noFill/>
          </a:ln>
          <a:effectLst/>
        </p:spPr>
        <p:txBody>
          <a:bodyPr vert="horz" wrap="square" lIns="93177" tIns="46589" rIns="93177" bIns="46589" numCol="1" anchor="t" anchorCtr="0" compatLnSpc="1"/>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
        <p:nvSpPr>
          <p:cNvPr id="11270" name="Rectangle 6"/>
          <p:cNvSpPr>
            <a:spLocks noGrp="1" noChangeArrowheads="1"/>
          </p:cNvSpPr>
          <p:nvPr>
            <p:ph type="ftr" sz="quarter" idx="4"/>
          </p:nvPr>
        </p:nvSpPr>
        <p:spPr bwMode="auto">
          <a:xfrm>
            <a:off x="0" y="8829675"/>
            <a:ext cx="3038475" cy="465138"/>
          </a:xfrm>
          <a:prstGeom prst="rect">
            <a:avLst/>
          </a:prstGeom>
          <a:noFill/>
          <a:ln>
            <a:noFill/>
          </a:ln>
          <a:effectLst/>
        </p:spPr>
        <p:txBody>
          <a:bodyPr vert="horz" wrap="square" lIns="93177" tIns="46589" rIns="93177" bIns="46589" numCol="1" anchor="b" anchorCtr="0" compatLnSpc="1"/>
          <a:lstStyle>
            <a:lvl1pPr defTabSz="932180">
              <a:defRPr sz="1200">
                <a:latin typeface="Arial" panose="020B0604020202020204" pitchFamily="34" charset="0"/>
                <a:ea typeface="+mn-ea"/>
              </a:defRPr>
            </a:lvl1pPr>
          </a:lstStyle>
          <a:p>
            <a:pPr>
              <a:defRPr/>
            </a:pPr>
            <a:endParaRPr lang="fr-CA"/>
          </a:p>
        </p:txBody>
      </p:sp>
      <p:sp>
        <p:nvSpPr>
          <p:cNvPr id="11271" name="Rectangle 7"/>
          <p:cNvSpPr>
            <a:spLocks noGrp="1" noChangeArrowheads="1"/>
          </p:cNvSpPr>
          <p:nvPr>
            <p:ph type="sldNum" sz="quarter" idx="5"/>
          </p:nvPr>
        </p:nvSpPr>
        <p:spPr bwMode="auto">
          <a:xfrm>
            <a:off x="3970338" y="8829675"/>
            <a:ext cx="3038475" cy="465138"/>
          </a:xfrm>
          <a:prstGeom prst="rect">
            <a:avLst/>
          </a:prstGeom>
          <a:noFill/>
          <a:ln>
            <a:noFill/>
          </a:ln>
          <a:effectLst/>
        </p:spPr>
        <p:txBody>
          <a:bodyPr vert="horz" wrap="square" lIns="93177" tIns="46589" rIns="93177" bIns="46589" numCol="1" anchor="b" anchorCtr="0" compatLnSpc="1"/>
          <a:lstStyle>
            <a:lvl1pPr algn="r" defTabSz="932180">
              <a:defRPr sz="1200">
                <a:latin typeface="Arial" panose="020B0604020202020204" pitchFamily="34" charset="0"/>
                <a:ea typeface="+mn-ea"/>
              </a:defRPr>
            </a:lvl1pPr>
          </a:lstStyle>
          <a:p>
            <a:pPr>
              <a:defRPr/>
            </a:pPr>
            <a:fld id="{4824BCD5-7DB3-4570-95FB-D6BD68920CD5}" type="slidenum">
              <a:rPr lang="fr-CA"/>
              <a:t>‹#›</a:t>
            </a:fld>
            <a:endParaRPr lang="fr-CA"/>
          </a:p>
        </p:txBody>
      </p:sp>
    </p:spTree>
    <p:extLst>
      <p:ext uri="{BB962C8B-B14F-4D97-AF65-F5344CB8AC3E}">
        <p14:creationId xmlns:p14="http://schemas.microsoft.com/office/powerpoint/2010/main" val="40027240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en-US"/>
          </a:p>
        </p:txBody>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a:t>
            </a:fld>
            <a:endParaRPr lang="fr-CA"/>
          </a:p>
        </p:txBody>
      </p:sp>
    </p:spTree>
    <p:extLst>
      <p:ext uri="{BB962C8B-B14F-4D97-AF65-F5344CB8AC3E}">
        <p14:creationId xmlns:p14="http://schemas.microsoft.com/office/powerpoint/2010/main" val="3433891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2</a:t>
            </a:fld>
            <a:endParaRPr lang="fr-CA"/>
          </a:p>
        </p:txBody>
      </p:sp>
    </p:spTree>
    <p:extLst>
      <p:ext uri="{BB962C8B-B14F-4D97-AF65-F5344CB8AC3E}">
        <p14:creationId xmlns:p14="http://schemas.microsoft.com/office/powerpoint/2010/main" val="1161855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5</a:t>
            </a:fld>
            <a:endParaRPr lang="fr-CA"/>
          </a:p>
        </p:txBody>
      </p:sp>
    </p:spTree>
    <p:extLst>
      <p:ext uri="{BB962C8B-B14F-4D97-AF65-F5344CB8AC3E}">
        <p14:creationId xmlns:p14="http://schemas.microsoft.com/office/powerpoint/2010/main" val="2873929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6</a:t>
            </a:fld>
            <a:endParaRPr lang="fr-CA"/>
          </a:p>
        </p:txBody>
      </p:sp>
    </p:spTree>
    <p:extLst>
      <p:ext uri="{BB962C8B-B14F-4D97-AF65-F5344CB8AC3E}">
        <p14:creationId xmlns:p14="http://schemas.microsoft.com/office/powerpoint/2010/main" val="2735512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7</a:t>
            </a:fld>
            <a:endParaRPr lang="fr-CA"/>
          </a:p>
        </p:txBody>
      </p:sp>
    </p:spTree>
    <p:extLst>
      <p:ext uri="{BB962C8B-B14F-4D97-AF65-F5344CB8AC3E}">
        <p14:creationId xmlns:p14="http://schemas.microsoft.com/office/powerpoint/2010/main" val="677838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8</a:t>
            </a:fld>
            <a:endParaRPr lang="fr-CA"/>
          </a:p>
        </p:txBody>
      </p:sp>
    </p:spTree>
    <p:extLst>
      <p:ext uri="{BB962C8B-B14F-4D97-AF65-F5344CB8AC3E}">
        <p14:creationId xmlns:p14="http://schemas.microsoft.com/office/powerpoint/2010/main" val="4110291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9</a:t>
            </a:fld>
            <a:endParaRPr lang="fr-CA"/>
          </a:p>
        </p:txBody>
      </p:sp>
    </p:spTree>
    <p:extLst>
      <p:ext uri="{BB962C8B-B14F-4D97-AF65-F5344CB8AC3E}">
        <p14:creationId xmlns:p14="http://schemas.microsoft.com/office/powerpoint/2010/main" val="2428725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10</a:t>
            </a:fld>
            <a:endParaRPr lang="fr-CA"/>
          </a:p>
        </p:txBody>
      </p:sp>
    </p:spTree>
    <p:extLst>
      <p:ext uri="{BB962C8B-B14F-4D97-AF65-F5344CB8AC3E}">
        <p14:creationId xmlns:p14="http://schemas.microsoft.com/office/powerpoint/2010/main" val="875575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14</a:t>
            </a:fld>
            <a:endParaRPr lang="fr-CA"/>
          </a:p>
        </p:txBody>
      </p:sp>
    </p:spTree>
    <p:extLst>
      <p:ext uri="{BB962C8B-B14F-4D97-AF65-F5344CB8AC3E}">
        <p14:creationId xmlns:p14="http://schemas.microsoft.com/office/powerpoint/2010/main" val="2950880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pPr>
              <a:defRPr/>
            </a:pPr>
            <a:fld id="{4824BCD5-7DB3-4570-95FB-D6BD68920CD5}" type="slidenum">
              <a:rPr lang="fr-CA" smtClean="0"/>
              <a:t>18</a:t>
            </a:fld>
            <a:endParaRPr lang="fr-CA"/>
          </a:p>
        </p:txBody>
      </p:sp>
    </p:spTree>
    <p:extLst>
      <p:ext uri="{BB962C8B-B14F-4D97-AF65-F5344CB8AC3E}">
        <p14:creationId xmlns:p14="http://schemas.microsoft.com/office/powerpoint/2010/main" val="3732974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Rectangle 3"/>
          <p:cNvSpPr/>
          <p:nvPr userDrawn="1"/>
        </p:nvSpPr>
        <p:spPr>
          <a:xfrm>
            <a:off x="0" y="115888"/>
            <a:ext cx="9715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5" name="Rectangle 4"/>
          <p:cNvSpPr/>
          <p:nvPr userDrawn="1"/>
        </p:nvSpPr>
        <p:spPr>
          <a:xfrm>
            <a:off x="0" y="6237288"/>
            <a:ext cx="6876256" cy="620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6" name="Rectangle 5"/>
          <p:cNvSpPr/>
          <p:nvPr userDrawn="1"/>
        </p:nvSpPr>
        <p:spPr>
          <a:xfrm>
            <a:off x="0" y="549275"/>
            <a:ext cx="9144000" cy="620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CA"/>
          </a:p>
        </p:txBody>
      </p:sp>
      <p:sp>
        <p:nvSpPr>
          <p:cNvPr id="23554" name="Rectangle 3"/>
          <p:cNvSpPr>
            <a:spLocks noGrp="1" noChangeArrowheads="1"/>
          </p:cNvSpPr>
          <p:nvPr>
            <p:ph type="ctrTitle" hasCustomPrompt="1"/>
          </p:nvPr>
        </p:nvSpPr>
        <p:spPr>
          <a:xfrm>
            <a:off x="1331640" y="1916832"/>
            <a:ext cx="6048672" cy="1519808"/>
          </a:xfrm>
        </p:spPr>
        <p:txBody>
          <a:bodyPr/>
          <a:lstStyle>
            <a:lvl1pPr algn="r">
              <a:defRPr sz="4000">
                <a:solidFill>
                  <a:srgbClr val="E2001A"/>
                </a:solidFill>
                <a:latin typeface="Calibri" panose="020F0502020204030204" pitchFamily="34" charset="0"/>
                <a:cs typeface="Calibri" panose="020F0502020204030204" pitchFamily="34" charset="0"/>
              </a:defRPr>
            </a:lvl1pPr>
          </a:lstStyle>
          <a:p>
            <a:pPr lvl="0"/>
            <a:r>
              <a:rPr lang="fr-CA" noProof="0" dirty="0"/>
              <a:t>Cliquez et modifiez le titre</a:t>
            </a:r>
          </a:p>
        </p:txBody>
      </p:sp>
      <p:sp>
        <p:nvSpPr>
          <p:cNvPr id="23555" name="Rectangle 4"/>
          <p:cNvSpPr>
            <a:spLocks noGrp="1" noChangeArrowheads="1"/>
          </p:cNvSpPr>
          <p:nvPr>
            <p:ph type="subTitle" idx="1" hasCustomPrompt="1"/>
          </p:nvPr>
        </p:nvSpPr>
        <p:spPr>
          <a:xfrm>
            <a:off x="2411760" y="3518712"/>
            <a:ext cx="6480720" cy="1278440"/>
          </a:xfrm>
        </p:spPr>
        <p:txBody>
          <a:bodyPr/>
          <a:lstStyle>
            <a:lvl1pPr marL="0" indent="0" algn="r">
              <a:buFontTx/>
              <a:buNone/>
              <a:defRPr sz="2600" i="1">
                <a:solidFill>
                  <a:schemeClr val="tx1"/>
                </a:solidFill>
                <a:latin typeface="Calibri" panose="020F0502020204030204" pitchFamily="34" charset="0"/>
                <a:cs typeface="Calibri" panose="020F0502020204030204" pitchFamily="34" charset="0"/>
              </a:defRPr>
            </a:lvl1pPr>
          </a:lstStyle>
          <a:p>
            <a:pPr lvl="0"/>
            <a:r>
              <a:rPr lang="fr-CA" noProof="0" dirty="0"/>
              <a:t>Cliquez pour modifier le style des sous-titres du masque</a:t>
            </a:r>
          </a:p>
        </p:txBody>
      </p:sp>
      <p:cxnSp>
        <p:nvCxnSpPr>
          <p:cNvPr id="19" name="Connecteur en angle 18"/>
          <p:cNvCxnSpPr/>
          <p:nvPr userDrawn="1"/>
        </p:nvCxnSpPr>
        <p:spPr>
          <a:xfrm>
            <a:off x="211138" y="1484784"/>
            <a:ext cx="8681342" cy="38698"/>
          </a:xfrm>
          <a:prstGeom prst="bentConnector3">
            <a:avLst/>
          </a:prstGeom>
        </p:spPr>
        <p:style>
          <a:lnRef idx="2">
            <a:schemeClr val="dk1"/>
          </a:lnRef>
          <a:fillRef idx="0">
            <a:schemeClr val="dk1"/>
          </a:fillRef>
          <a:effectRef idx="1">
            <a:schemeClr val="dk1"/>
          </a:effectRef>
          <a:fontRef idx="minor">
            <a:schemeClr val="tx1"/>
          </a:fontRef>
        </p:style>
      </p:cxnSp>
      <p:cxnSp>
        <p:nvCxnSpPr>
          <p:cNvPr id="24" name="Connecteur en angle 23"/>
          <p:cNvCxnSpPr/>
          <p:nvPr userDrawn="1"/>
        </p:nvCxnSpPr>
        <p:spPr>
          <a:xfrm flipV="1">
            <a:off x="210443" y="1440160"/>
            <a:ext cx="8682037" cy="123178"/>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7" name="Arrondir un rectangle avec un coin diagonal 26"/>
          <p:cNvSpPr/>
          <p:nvPr userDrawn="1"/>
        </p:nvSpPr>
        <p:spPr>
          <a:xfrm>
            <a:off x="35496" y="4899724"/>
            <a:ext cx="3960440" cy="292606"/>
          </a:xfrm>
          <a:prstGeom prst="round2Diag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56" y="5515793"/>
            <a:ext cx="452965" cy="145455"/>
          </a:xfrm>
          <a:prstGeom prst="rect">
            <a:avLst/>
          </a:prstGeom>
          <a:noFill/>
          <a:ln w="9525">
            <a:noFill/>
            <a:miter lim="800000"/>
            <a:headEnd/>
            <a:tailEnd/>
          </a:ln>
        </p:spPr>
      </p:pic>
      <p:sp>
        <p:nvSpPr>
          <p:cNvPr id="29" name="ZoneTexte 28"/>
          <p:cNvSpPr txBox="1"/>
          <p:nvPr userDrawn="1"/>
        </p:nvSpPr>
        <p:spPr>
          <a:xfrm>
            <a:off x="35496" y="4859868"/>
            <a:ext cx="3960440" cy="338554"/>
          </a:xfrm>
          <a:prstGeom prst="rect">
            <a:avLst/>
          </a:prstGeom>
          <a:noFill/>
        </p:spPr>
        <p:txBody>
          <a:bodyPr wrap="square" rtlCol="0">
            <a:spAutoFit/>
          </a:bodyPr>
          <a:lstStyle/>
          <a:p>
            <a:r>
              <a:rPr lang="fr-FR" sz="1600" b="1" i="1" dirty="0">
                <a:solidFill>
                  <a:schemeClr val="bg1"/>
                </a:solidFill>
                <a:latin typeface="Arial Narrow" panose="020B0606020202030204" pitchFamily="34" charset="0"/>
                <a:cs typeface="Times New Roman" panose="02020603050405020304" pitchFamily="18" charset="0"/>
              </a:rPr>
              <a:t>La Force de l’Engagement et de l’Expertise</a:t>
            </a:r>
          </a:p>
        </p:txBody>
      </p:sp>
      <p:pic>
        <p:nvPicPr>
          <p:cNvPr id="21"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5877272"/>
            <a:ext cx="452965" cy="145455"/>
          </a:xfrm>
          <a:prstGeom prst="rect">
            <a:avLst/>
          </a:prstGeom>
          <a:noFill/>
          <a:ln w="9525">
            <a:noFill/>
            <a:miter lim="800000"/>
            <a:headEnd/>
            <a:tailEnd/>
          </a:ln>
        </p:spPr>
      </p:pic>
      <p:pic>
        <p:nvPicPr>
          <p:cNvPr id="22"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6235873"/>
            <a:ext cx="452965" cy="145455"/>
          </a:xfrm>
          <a:prstGeom prst="rect">
            <a:avLst/>
          </a:prstGeom>
          <a:noFill/>
          <a:ln w="9525">
            <a:noFill/>
            <a:miter lim="800000"/>
            <a:headEnd/>
            <a:tailEnd/>
          </a:ln>
        </p:spPr>
      </p:pic>
      <p:pic>
        <p:nvPicPr>
          <p:cNvPr id="23" name="Espace réservé pour une image  4" descr="Début"/>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579" y="6595913"/>
            <a:ext cx="452965" cy="145455"/>
          </a:xfrm>
          <a:prstGeom prst="rect">
            <a:avLst/>
          </a:prstGeom>
          <a:noFill/>
          <a:ln w="9525">
            <a:noFill/>
            <a:miter lim="800000"/>
            <a:headEnd/>
            <a:tailEnd/>
          </a:ln>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
        <p:nvSpPr>
          <p:cNvPr id="3" name="Espace réservé du contenu 2"/>
          <p:cNvSpPr>
            <a:spLocks noGrp="1"/>
          </p:cNvSpPr>
          <p:nvPr>
            <p:ph idx="1" hasCustomPrompt="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pic>
        <p:nvPicPr>
          <p:cNvPr id="4" name="Image 3"/>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tretch>
            <a:fillRect/>
          </a:stretch>
        </p:blipFill>
        <p:spPr>
          <a:xfrm flipV="1">
            <a:off x="7302868" y="6021288"/>
            <a:ext cx="941539" cy="504056"/>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hasCustomPrompt="1"/>
          </p:nvPr>
        </p:nvSpPr>
        <p:spPr>
          <a:xfrm>
            <a:off x="679450"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hasCustomPrompt="1"/>
          </p:nvPr>
        </p:nvSpPr>
        <p:spPr>
          <a:xfrm>
            <a:off x="4759325" y="1484313"/>
            <a:ext cx="39274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Modifiez le style du titre</a:t>
            </a:r>
            <a:endParaRPr lang="fr-CA"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CA" noProof="0"/>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hasCustomPrompt="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32588" y="-100013"/>
            <a:ext cx="2016125" cy="5976938"/>
          </a:xfrm>
        </p:spPr>
        <p:txBody>
          <a:bodyPr vert="eaVert"/>
          <a:lstStyle/>
          <a:p>
            <a:r>
              <a:rPr lang="fr-FR"/>
              <a:t>Modifiez le style du titre</a:t>
            </a:r>
            <a:endParaRPr lang="fr-CA"/>
          </a:p>
        </p:txBody>
      </p:sp>
      <p:sp>
        <p:nvSpPr>
          <p:cNvPr id="3" name="Espace réservé du texte vertical 2"/>
          <p:cNvSpPr>
            <a:spLocks noGrp="1"/>
          </p:cNvSpPr>
          <p:nvPr>
            <p:ph type="body" orient="vert" idx="1" hasCustomPrompt="1"/>
          </p:nvPr>
        </p:nvSpPr>
        <p:spPr>
          <a:xfrm>
            <a:off x="679450" y="-100013"/>
            <a:ext cx="5900738" cy="59769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530" name="Rectangle 3"/>
          <p:cNvSpPr>
            <a:spLocks noGrp="1" noChangeArrowheads="1"/>
          </p:cNvSpPr>
          <p:nvPr>
            <p:ph type="title"/>
          </p:nvPr>
        </p:nvSpPr>
        <p:spPr bwMode="auto">
          <a:xfrm>
            <a:off x="684213" y="-188913"/>
            <a:ext cx="8208962" cy="1143001"/>
          </a:xfrm>
          <a:prstGeom prst="rect">
            <a:avLst/>
          </a:prstGeom>
          <a:noFill/>
          <a:ln>
            <a:noFill/>
          </a:ln>
        </p:spPr>
        <p:txBody>
          <a:bodyPr vert="horz" wrap="square" lIns="91440" tIns="45720" rIns="91440" bIns="45720" numCol="1" anchor="ctr" anchorCtr="0" compatLnSpc="1"/>
          <a:lstStyle/>
          <a:p>
            <a:pPr lvl="0"/>
            <a:r>
              <a:rPr lang="fr-CA" dirty="0"/>
              <a:t>Cliquez et modifiez le titre</a:t>
            </a:r>
          </a:p>
        </p:txBody>
      </p:sp>
      <p:sp>
        <p:nvSpPr>
          <p:cNvPr id="1027" name="Rectangle 4"/>
          <p:cNvSpPr>
            <a:spLocks noGrp="1" noChangeArrowheads="1"/>
          </p:cNvSpPr>
          <p:nvPr>
            <p:ph type="body" idx="1"/>
          </p:nvPr>
        </p:nvSpPr>
        <p:spPr bwMode="auto">
          <a:xfrm>
            <a:off x="679449" y="1125538"/>
            <a:ext cx="8213725" cy="4751387"/>
          </a:xfrm>
          <a:prstGeom prst="rect">
            <a:avLst/>
          </a:prstGeom>
          <a:noFill/>
          <a:ln w="9525">
            <a:noFill/>
            <a:miter lim="800000"/>
          </a:ln>
        </p:spPr>
        <p:txBody>
          <a:bodyPr vert="horz" wrap="square" lIns="91440" tIns="45720" rIns="91440" bIns="45720" numCol="1" anchor="t" anchorCtr="0" compatLnSpc="1"/>
          <a:lstStyle/>
          <a:p>
            <a:pPr lvl="0"/>
            <a:r>
              <a:rPr lang="fr-CA" dirty="0"/>
              <a:t>Cliquez pour modifier les styles du texte du masque</a:t>
            </a:r>
          </a:p>
          <a:p>
            <a:pPr lvl="1"/>
            <a:r>
              <a:rPr lang="fr-CA" dirty="0"/>
              <a:t>Deuxième niveau</a:t>
            </a:r>
          </a:p>
          <a:p>
            <a:pPr lvl="2"/>
            <a:r>
              <a:rPr lang="fr-CA" dirty="0"/>
              <a:t> Troisième niveau</a:t>
            </a:r>
          </a:p>
          <a:p>
            <a:pPr lvl="3"/>
            <a:r>
              <a:rPr lang="fr-CA" dirty="0"/>
              <a:t>Quatrième niveau</a:t>
            </a:r>
          </a:p>
          <a:p>
            <a:pPr lvl="4"/>
            <a:r>
              <a:rPr lang="fr-CA" dirty="0"/>
              <a:t>Cinquième niveau</a:t>
            </a:r>
          </a:p>
        </p:txBody>
      </p:sp>
      <p:cxnSp>
        <p:nvCxnSpPr>
          <p:cNvPr id="10" name="Connecteur en angle 9"/>
          <p:cNvCxnSpPr/>
          <p:nvPr userDrawn="1"/>
        </p:nvCxnSpPr>
        <p:spPr>
          <a:xfrm flipV="1">
            <a:off x="679450" y="764704"/>
            <a:ext cx="8213725" cy="72008"/>
          </a:xfrm>
          <a:prstGeom prst="bentConnector3">
            <a:avLst/>
          </a:prstGeom>
        </p:spPr>
        <p:style>
          <a:lnRef idx="2">
            <a:schemeClr val="dk1"/>
          </a:lnRef>
          <a:fillRef idx="0">
            <a:schemeClr val="dk1"/>
          </a:fillRef>
          <a:effectRef idx="1">
            <a:schemeClr val="dk1"/>
          </a:effectRef>
          <a:fontRef idx="minor">
            <a:schemeClr val="tx1"/>
          </a:fontRef>
        </p:style>
      </p:cxnSp>
      <p:cxnSp>
        <p:nvCxnSpPr>
          <p:cNvPr id="11" name="Connecteur en angle 10"/>
          <p:cNvCxnSpPr/>
          <p:nvPr userDrawn="1"/>
        </p:nvCxnSpPr>
        <p:spPr>
          <a:xfrm flipV="1">
            <a:off x="679450" y="686150"/>
            <a:ext cx="8213725" cy="78554"/>
          </a:xfrm>
          <a:prstGeom prst="bentConnector3">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3" name="Rectangle 2"/>
          <p:cNvSpPr/>
          <p:nvPr userDrawn="1"/>
        </p:nvSpPr>
        <p:spPr>
          <a:xfrm>
            <a:off x="0" y="296962"/>
            <a:ext cx="679450" cy="39573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 name="Image 1"/>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5088" y="6400800"/>
            <a:ext cx="1554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ü"/>
        <a:defRPr sz="2400">
          <a:solidFill>
            <a:srgbClr val="001523"/>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ü"/>
        <a:defRPr sz="2000">
          <a:solidFill>
            <a:srgbClr val="001523"/>
          </a:solidFill>
          <a:latin typeface="+mn-lt"/>
          <a:ea typeface="+mn-ea"/>
        </a:defRPr>
      </a:lvl3pPr>
      <a:lvl4pPr marL="1600200" indent="-228600" algn="l" rtl="0" eaLnBrk="0" fontAlgn="base" hangingPunct="0">
        <a:spcBef>
          <a:spcPct val="20000"/>
        </a:spcBef>
        <a:spcAft>
          <a:spcPct val="0"/>
        </a:spcAft>
        <a:buChar char="–"/>
        <a:defRPr sz="16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ctrTitle"/>
          </p:nvPr>
        </p:nvSpPr>
        <p:spPr>
          <a:xfrm>
            <a:off x="971957" y="2139814"/>
            <a:ext cx="7276235" cy="2239888"/>
          </a:xfrm>
        </p:spPr>
        <p:txBody>
          <a:bodyPr/>
          <a:lstStyle/>
          <a:p>
            <a:pPr algn="ctr"/>
            <a:r>
              <a:rPr lang="fr-CI" sz="5400" dirty="0" smtClean="0">
                <a:solidFill>
                  <a:srgbClr val="FF0000"/>
                </a:solidFill>
                <a:effectLst/>
                <a:latin typeface="+mj-lt"/>
                <a:cs typeface="Times New Roman" panose="02020603050405020304" pitchFamily="18" charset="0"/>
              </a:rPr>
              <a:t>JAVA &amp; PERSISTANCE DES DONNEES</a:t>
            </a:r>
            <a:endParaRPr lang="fr-CI" sz="5400" noProof="0" dirty="0">
              <a:solidFill>
                <a:srgbClr val="FF0000"/>
              </a:solidFill>
              <a:effectLst/>
              <a:latin typeface="+mj-lt"/>
              <a:cs typeface="Times New Roman" panose="02020603050405020304" pitchFamily="18" charset="0"/>
            </a:endParaRPr>
          </a:p>
        </p:txBody>
      </p:sp>
      <p:pic>
        <p:nvPicPr>
          <p:cNvPr id="5"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 5" descr="C:/Users/hjpdj/Downloads/osisg_sa (1).pngosisg_sa (1)"/>
          <p:cNvPicPr>
            <a:picLocks noChangeAspect="1"/>
          </p:cNvPicPr>
          <p:nvPr/>
        </p:nvPicPr>
        <p:blipFill>
          <a:blip r:embed="rId4"/>
          <a:srcRect t="1222" b="1222"/>
          <a:stretch>
            <a:fillRect/>
          </a:stretch>
        </p:blipFill>
        <p:spPr>
          <a:xfrm>
            <a:off x="3238282" y="32874"/>
            <a:ext cx="2743583" cy="1299964"/>
          </a:xfrm>
          <a:prstGeom prst="rect">
            <a:avLst/>
          </a:prstGeom>
        </p:spPr>
      </p:pic>
      <p:pic>
        <p:nvPicPr>
          <p:cNvPr id="7" name="Image 6"/>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4" name="Rectangle 1"/>
          <p:cNvSpPr>
            <a:spLocks noGrp="1" noChangeArrowheads="1"/>
          </p:cNvSpPr>
          <p:nvPr>
            <p:ph type="subTitle" idx="1"/>
          </p:nvPr>
        </p:nvSpPr>
        <p:spPr bwMode="auto">
          <a:xfrm>
            <a:off x="5148064" y="5416684"/>
            <a:ext cx="253787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pPr>
            <a:r>
              <a:rPr kumimoji="0" lang="fr-CI" sz="2000" i="0" u="none" strike="noStrike" cap="none" normalizeH="0" baseline="0" noProof="0" dirty="0">
                <a:ln>
                  <a:noFill/>
                </a:ln>
                <a:solidFill>
                  <a:schemeClr val="tx1"/>
                </a:solidFill>
                <a:effectLst/>
                <a:latin typeface="+mj-lt"/>
                <a:cs typeface="Times New Roman" panose="02020603050405020304" pitchFamily="18" charset="0"/>
              </a:rPr>
              <a:t>Pr</a:t>
            </a:r>
            <a:r>
              <a:rPr lang="fr-CI" sz="2000" i="0" noProof="0" dirty="0">
                <a:latin typeface="+mj-lt"/>
                <a:cs typeface="Times New Roman" panose="02020603050405020304" pitchFamily="18" charset="0"/>
              </a:rPr>
              <a:t>é</a:t>
            </a:r>
            <a:r>
              <a:rPr kumimoji="0" lang="fr-CI" sz="2000" i="0" u="none" strike="noStrike" cap="none" normalizeH="0" baseline="0" noProof="0" dirty="0">
                <a:ln>
                  <a:noFill/>
                </a:ln>
                <a:solidFill>
                  <a:schemeClr val="tx1"/>
                </a:solidFill>
                <a:effectLst/>
                <a:latin typeface="+mj-lt"/>
                <a:cs typeface="Times New Roman" panose="02020603050405020304" pitchFamily="18" charset="0"/>
              </a:rPr>
              <a:t>senté </a:t>
            </a:r>
            <a:r>
              <a:rPr lang="fr-CI" sz="2000" i="0" dirty="0" smtClean="0">
                <a:latin typeface="+mj-lt"/>
                <a:cs typeface="Times New Roman" panose="02020603050405020304" pitchFamily="18" charset="0"/>
              </a:rPr>
              <a:t>par:</a:t>
            </a:r>
          </a:p>
          <a:p>
            <a:pPr marL="0" marR="0" lvl="0" indent="0" algn="just" defTabSz="914400" rtl="0" eaLnBrk="0" fontAlgn="base" latinLnBrk="0" hangingPunct="0">
              <a:lnSpc>
                <a:spcPct val="100000"/>
              </a:lnSpc>
              <a:spcBef>
                <a:spcPct val="0"/>
              </a:spcBef>
              <a:spcAft>
                <a:spcPct val="0"/>
              </a:spcAft>
              <a:buClrTx/>
              <a:buSzTx/>
            </a:pPr>
            <a:r>
              <a:rPr kumimoji="0" lang="fr-CI" sz="1800" i="0" u="none" strike="noStrike" cap="none" normalizeH="0" baseline="0" noProof="0" dirty="0" smtClean="0">
                <a:ln>
                  <a:noFill/>
                </a:ln>
                <a:solidFill>
                  <a:schemeClr val="tx1"/>
                </a:solidFill>
                <a:effectLst/>
                <a:latin typeface="+mj-lt"/>
                <a:cs typeface="Times New Roman" panose="02020603050405020304" pitchFamily="18" charset="0"/>
              </a:rPr>
              <a:t>KORA</a:t>
            </a:r>
            <a:r>
              <a:rPr lang="fr-CI" sz="1800" i="0" dirty="0" smtClean="0">
                <a:latin typeface="+mj-lt"/>
                <a:cs typeface="Times New Roman" panose="02020603050405020304" pitchFamily="18" charset="0"/>
              </a:rPr>
              <a:t> AMON</a:t>
            </a:r>
          </a:p>
          <a:p>
            <a:pPr marL="0" marR="0" lvl="0" indent="0" algn="just" defTabSz="914400" rtl="0" eaLnBrk="0" fontAlgn="base" latinLnBrk="0" hangingPunct="0">
              <a:lnSpc>
                <a:spcPct val="100000"/>
              </a:lnSpc>
              <a:spcBef>
                <a:spcPct val="0"/>
              </a:spcBef>
              <a:spcAft>
                <a:spcPct val="0"/>
              </a:spcAft>
              <a:buClrTx/>
              <a:buSzTx/>
            </a:pPr>
            <a:r>
              <a:rPr lang="fr-CI" sz="1800" i="0" dirty="0" smtClean="0">
                <a:latin typeface="+mj-lt"/>
                <a:cs typeface="Times New Roman" panose="02020603050405020304" pitchFamily="18" charset="0"/>
              </a:rPr>
              <a:t>SAVADOGO IBRAHIM</a:t>
            </a:r>
            <a:endParaRPr kumimoji="0" lang="fr-CI" sz="2000" i="0" u="none" strike="noStrike" cap="none" normalizeH="0" baseline="0" noProof="0" dirty="0">
              <a:ln>
                <a:noFill/>
              </a:ln>
              <a:solidFill>
                <a:schemeClr val="tx1"/>
              </a:solidFill>
              <a:effectLst/>
              <a:latin typeface="+mj-lt"/>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SOMMAIRE</a:t>
            </a:r>
            <a:endParaRPr lang="fr-CI" sz="2400" noProof="0" dirty="0">
              <a:solidFill>
                <a:srgbClr val="FF0000"/>
              </a:solidFill>
            </a:endParaRPr>
          </a:p>
        </p:txBody>
      </p:sp>
      <p:sp>
        <p:nvSpPr>
          <p:cNvPr id="9" name="ZoneTexte 8"/>
          <p:cNvSpPr txBox="1"/>
          <p:nvPr/>
        </p:nvSpPr>
        <p:spPr>
          <a:xfrm>
            <a:off x="323528" y="1124744"/>
            <a:ext cx="8280920" cy="4985980"/>
          </a:xfrm>
          <a:prstGeom prst="rect">
            <a:avLst/>
          </a:prstGeom>
          <a:noFill/>
        </p:spPr>
        <p:txBody>
          <a:bodyPr wrap="square" rtlCol="0">
            <a:spAutoFit/>
          </a:bodyPr>
          <a:lstStyle/>
          <a:p>
            <a:pPr algn="just"/>
            <a:r>
              <a:rPr lang="fr-FR" sz="2000" b="1" dirty="0" smtClean="0">
                <a:latin typeface="Times New Roman" panose="02020603050405020304" pitchFamily="18" charset="0"/>
                <a:cs typeface="Times New Roman" panose="02020603050405020304" pitchFamily="18" charset="0"/>
              </a:rPr>
              <a:t>INTRODUCTION</a:t>
            </a:r>
            <a:endParaRPr lang="fr-FR" sz="2000" b="1" dirty="0">
              <a:latin typeface="Times New Roman" panose="02020603050405020304" pitchFamily="18" charset="0"/>
              <a:cs typeface="Times New Roman" panose="02020603050405020304" pitchFamily="18" charset="0"/>
            </a:endParaRPr>
          </a:p>
          <a:p>
            <a:pPr algn="just"/>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smtClean="0">
                <a:latin typeface="Times New Roman" panose="02020603050405020304" pitchFamily="18" charset="0"/>
                <a:cs typeface="Times New Roman" panose="02020603050405020304" pitchFamily="18" charset="0"/>
              </a:rPr>
              <a:t>SERIALISATION ET DESERIALISATION</a:t>
            </a:r>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smtClean="0">
                <a:latin typeface="Times New Roman" panose="02020603050405020304" pitchFamily="18" charset="0"/>
                <a:cs typeface="Times New Roman" panose="02020603050405020304" pitchFamily="18" charset="0"/>
              </a:rPr>
              <a:t>JAVA DATABASE CONNECTIVITY</a:t>
            </a:r>
          </a:p>
          <a:p>
            <a:pPr marL="400050" indent="-400050" algn="just">
              <a:buFont typeface="+mj-lt"/>
              <a:buAutoNum type="romanUcPeriod"/>
            </a:pPr>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smtClean="0">
                <a:latin typeface="Times New Roman" panose="02020603050405020304" pitchFamily="18" charset="0"/>
                <a:cs typeface="Times New Roman" panose="02020603050405020304" pitchFamily="18" charset="0"/>
              </a:rPr>
              <a:t>MAPPING OBJECT RELATIONNEL</a:t>
            </a:r>
          </a:p>
          <a:p>
            <a:pPr marL="400050" indent="-400050" algn="just">
              <a:buFont typeface="+mj-lt"/>
              <a:buAutoNum type="romanUcPeriod"/>
            </a:pPr>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smtClean="0">
                <a:latin typeface="Times New Roman" panose="02020603050405020304" pitchFamily="18" charset="0"/>
                <a:cs typeface="Times New Roman" panose="02020603050405020304" pitchFamily="18" charset="0"/>
              </a:rPr>
              <a:t>JPA JAVA Persistance API</a:t>
            </a:r>
          </a:p>
          <a:p>
            <a:pPr marL="400050" indent="-400050" algn="just">
              <a:buFont typeface="+mj-lt"/>
              <a:buAutoNum type="romanUcPeriod"/>
            </a:pPr>
            <a:endParaRPr lang="fr-FR" sz="2000" b="1" dirty="0" smtClean="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smtClean="0">
                <a:latin typeface="Times New Roman" panose="02020603050405020304" pitchFamily="18" charset="0"/>
                <a:cs typeface="Times New Roman" panose="02020603050405020304" pitchFamily="18" charset="0"/>
              </a:rPr>
              <a:t>HIBERNATE</a:t>
            </a:r>
          </a:p>
          <a:p>
            <a:pPr marL="400050" indent="-400050" algn="just">
              <a:buFont typeface="+mj-lt"/>
              <a:buAutoNum type="romanUcPeriod"/>
            </a:pPr>
            <a:endParaRPr lang="fr-FR" sz="2000" b="1" dirty="0">
              <a:latin typeface="Times New Roman" panose="02020603050405020304" pitchFamily="18" charset="0"/>
              <a:cs typeface="Times New Roman" panose="02020603050405020304" pitchFamily="18" charset="0"/>
            </a:endParaRPr>
          </a:p>
          <a:p>
            <a:pPr marL="400050" indent="-400050" algn="just">
              <a:buFont typeface="+mj-lt"/>
              <a:buAutoNum type="romanUcPeriod"/>
            </a:pPr>
            <a:r>
              <a:rPr lang="fr-FR" sz="2000" b="1" dirty="0">
                <a:latin typeface="Times New Roman" panose="02020603050405020304" pitchFamily="18" charset="0"/>
                <a:cs typeface="Times New Roman" panose="02020603050405020304" pitchFamily="18" charset="0"/>
              </a:rPr>
              <a:t>OPERATIONS </a:t>
            </a:r>
            <a:r>
              <a:rPr lang="fr-FR" sz="2000" b="1" dirty="0" smtClean="0">
                <a:latin typeface="Times New Roman" panose="02020603050405020304" pitchFamily="18" charset="0"/>
                <a:cs typeface="Times New Roman" panose="02020603050405020304" pitchFamily="18" charset="0"/>
              </a:rPr>
              <a:t>CRUD</a:t>
            </a:r>
            <a:endParaRPr lang="fr-FR" sz="2000" b="1" dirty="0" smtClean="0">
              <a:latin typeface="Times New Roman" panose="02020603050405020304" pitchFamily="18" charset="0"/>
              <a:cs typeface="Times New Roman" panose="02020603050405020304" pitchFamily="18" charset="0"/>
            </a:endParaRPr>
          </a:p>
          <a:p>
            <a:pPr algn="just"/>
            <a:endParaRPr lang="fr-FR" sz="2000" b="1" dirty="0" smtClean="0">
              <a:latin typeface="Times New Roman" panose="02020603050405020304" pitchFamily="18" charset="0"/>
              <a:cs typeface="Times New Roman" panose="02020603050405020304" pitchFamily="18" charset="0"/>
            </a:endParaRPr>
          </a:p>
          <a:p>
            <a:pPr algn="just"/>
            <a:r>
              <a:rPr lang="fr-FR" sz="2000" b="1" dirty="0" smtClean="0">
                <a:latin typeface="Times New Roman" panose="02020603050405020304" pitchFamily="18" charset="0"/>
                <a:cs typeface="Times New Roman" panose="02020603050405020304" pitchFamily="18" charset="0"/>
              </a:rPr>
              <a:t>CONCLUSION</a:t>
            </a:r>
          </a:p>
          <a:p>
            <a:endParaRPr lang="fr-FR" b="1" dirty="0">
              <a:latin typeface="Times New Roman" panose="02020603050405020304" pitchFamily="18" charset="0"/>
              <a:cs typeface="Times New Roman" panose="02020603050405020304" pitchFamily="18" charset="0"/>
            </a:endParaRPr>
          </a:p>
        </p:txBody>
      </p:sp>
      <p:pic>
        <p:nvPicPr>
          <p:cNvPr id="11"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Image 11"/>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29024109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INTRODUCTION</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8" name="ZoneTexte 7"/>
          <p:cNvSpPr txBox="1"/>
          <p:nvPr/>
        </p:nvSpPr>
        <p:spPr>
          <a:xfrm>
            <a:off x="251520" y="1340768"/>
            <a:ext cx="8497193" cy="2862322"/>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Dans un monde où les applications manipulent des volumes de données toujours plus importants, la persistance des données est devenue un élément essentiel du développement informatique. Elle désigne la capacité d’un système à conserver les informations de manière durable, même après l’arrêt ou l’exécution d’un programme.</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En Java, la gestion de la persistance joue un rôle fondamental dans la conception d’applications fiables et performantes. Elle permet non seulement de stocker les données, mais aussi de les organiser, de les retrouver et de les manipuler efficacement selon les besoins des utilisateurs.</a:t>
            </a:r>
          </a:p>
          <a:p>
            <a:pPr algn="just"/>
            <a:endParaRPr lang="fr-FR" dirty="0"/>
          </a:p>
        </p:txBody>
      </p:sp>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712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6" name="Text 1"/>
          <p:cNvSpPr/>
          <p:nvPr/>
        </p:nvSpPr>
        <p:spPr>
          <a:xfrm>
            <a:off x="43880" y="1134718"/>
            <a:ext cx="8412480" cy="777240"/>
          </a:xfrm>
          <a:prstGeom prst="rect">
            <a:avLst/>
          </a:prstGeom>
          <a:noFill/>
          <a:ln/>
        </p:spPr>
        <p:txBody>
          <a:bodyPr wrap="square" rtlCol="0" anchor="ctr"/>
          <a:lstStyle/>
          <a:p>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Persistance par Fichiers — Sérialisation</a:t>
            </a:r>
            <a:endParaRPr lang="en-US" sz="2400" dirty="0">
              <a:latin typeface="Times New Roman" panose="02020603050405020304" pitchFamily="18" charset="0"/>
              <a:cs typeface="Times New Roman" panose="02020603050405020304" pitchFamily="18" charset="0"/>
            </a:endParaRPr>
          </a:p>
        </p:txBody>
      </p:sp>
      <p:sp>
        <p:nvSpPr>
          <p:cNvPr id="7" name="Text 2"/>
          <p:cNvSpPr/>
          <p:nvPr/>
        </p:nvSpPr>
        <p:spPr>
          <a:xfrm>
            <a:off x="518160" y="1290244"/>
            <a:ext cx="8321040" cy="1096528"/>
          </a:xfrm>
          <a:prstGeom prst="rect">
            <a:avLst/>
          </a:prstGeom>
          <a:noFill/>
          <a:ln/>
        </p:spPr>
        <p:txBody>
          <a:bodyPr wrap="square" rtlCol="0" anchor="ctr"/>
          <a:lstStyle/>
          <a:p>
            <a:pPr algn="just"/>
            <a:r>
              <a:rPr lang="en-US" dirty="0">
                <a:solidFill>
                  <a:srgbClr val="0D2B55"/>
                </a:solidFill>
                <a:latin typeface="Times New Roman" panose="02020603050405020304" pitchFamily="18" charset="0"/>
                <a:ea typeface="Calibri" pitchFamily="34" charset="-122"/>
                <a:cs typeface="Times New Roman" panose="02020603050405020304" pitchFamily="18" charset="0"/>
              </a:rPr>
              <a:t>La sérialisation transforme un objet Java en suite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d'octets</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pour </a:t>
            </a:r>
            <a:r>
              <a:rPr lang="en-US" dirty="0">
                <a:solidFill>
                  <a:srgbClr val="0D2B55"/>
                </a:solidFill>
                <a:latin typeface="Times New Roman" panose="02020603050405020304" pitchFamily="18" charset="0"/>
                <a:ea typeface="Calibri" pitchFamily="34" charset="-122"/>
                <a:cs typeface="Times New Roman" panose="02020603050405020304" pitchFamily="18" charset="0"/>
              </a:rPr>
              <a:t>le sauvegarder dans un </a:t>
            </a:r>
            <a:r>
              <a:rPr lang="en-US" dirty="0" err="1">
                <a:solidFill>
                  <a:srgbClr val="0D2B55"/>
                </a:solidFill>
                <a:latin typeface="Times New Roman" panose="02020603050405020304" pitchFamily="18" charset="0"/>
                <a:ea typeface="Calibri" pitchFamily="34" charset="-122"/>
                <a:cs typeface="Times New Roman" panose="02020603050405020304" pitchFamily="18" charset="0"/>
              </a:rPr>
              <a:t>fichier</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a:t>
            </a:r>
          </a:p>
          <a:p>
            <a:pPr algn="just"/>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La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désérialisation</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est le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processus</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contraire.</a:t>
            </a:r>
          </a:p>
          <a:p>
            <a:pPr algn="just"/>
            <a:endParaRPr lang="en-US" dirty="0" smtClean="0">
              <a:solidFill>
                <a:srgbClr val="0D2B55"/>
              </a:solidFill>
              <a:latin typeface="Times New Roman" panose="02020603050405020304" pitchFamily="18" charset="0"/>
              <a:ea typeface="Calibri" pitchFamily="34" charset="-122"/>
              <a:cs typeface="Times New Roman" panose="02020603050405020304" pitchFamily="18" charset="0"/>
            </a:endParaRPr>
          </a:p>
          <a:p>
            <a:pPr algn="just"/>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Ces</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notions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sont</a:t>
            </a:r>
            <a:r>
              <a:rPr lang="fr-FR" dirty="0">
                <a:solidFill>
                  <a:srgbClr val="0D2B55"/>
                </a:solidFill>
                <a:latin typeface="Times New Roman" panose="02020603050405020304" pitchFamily="18" charset="0"/>
                <a:ea typeface="Calibri" pitchFamily="34" charset="-122"/>
                <a:cs typeface="Times New Roman" panose="02020603050405020304" pitchFamily="18" charset="0"/>
              </a:rPr>
              <a:t>généralement abordées lorsqu'on veut faire communiquer deux applications qui utilisent des langages différents</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s </a:t>
            </a:r>
            <a:endParaRPr lang="en-US" dirty="0">
              <a:latin typeface="Times New Roman" panose="02020603050405020304" pitchFamily="18" charset="0"/>
              <a:cs typeface="Times New Roman" panose="02020603050405020304" pitchFamily="18" charset="0"/>
            </a:endParaRPr>
          </a:p>
        </p:txBody>
      </p:sp>
      <p:sp>
        <p:nvSpPr>
          <p:cNvPr id="8" name="Shape 3"/>
          <p:cNvSpPr/>
          <p:nvPr/>
        </p:nvSpPr>
        <p:spPr>
          <a:xfrm>
            <a:off x="333835" y="4182618"/>
            <a:ext cx="292608" cy="292608"/>
          </a:xfrm>
          <a:prstGeom prst="ellipse">
            <a:avLst/>
          </a:prstGeom>
          <a:solidFill>
            <a:srgbClr val="1ABC9C"/>
          </a:solidFill>
          <a:ln w="12700">
            <a:solidFill>
              <a:srgbClr val="1ABC9C"/>
            </a:solidFill>
            <a:prstDash val="solid"/>
          </a:ln>
        </p:spPr>
      </p:sp>
      <p:sp>
        <p:nvSpPr>
          <p:cNvPr id="9" name="Text 4"/>
          <p:cNvSpPr/>
          <p:nvPr/>
        </p:nvSpPr>
        <p:spPr>
          <a:xfrm>
            <a:off x="518160" y="2426970"/>
            <a:ext cx="292608" cy="292608"/>
          </a:xfrm>
          <a:prstGeom prst="rect">
            <a:avLst/>
          </a:prstGeom>
          <a:noFill/>
          <a:ln/>
        </p:spPr>
        <p:txBody>
          <a:bodyPr wrap="square" rtlCol="0" anchor="ctr"/>
          <a:lstStyle/>
          <a:p>
            <a:pPr algn="ct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100" dirty="0">
              <a:latin typeface="Times New Roman" panose="02020603050405020304" pitchFamily="18" charset="0"/>
              <a:cs typeface="Times New Roman" panose="02020603050405020304" pitchFamily="18" charset="0"/>
            </a:endParaRPr>
          </a:p>
        </p:txBody>
      </p:sp>
      <p:sp>
        <p:nvSpPr>
          <p:cNvPr id="10" name="Text 5"/>
          <p:cNvSpPr/>
          <p:nvPr/>
        </p:nvSpPr>
        <p:spPr>
          <a:xfrm>
            <a:off x="636600" y="4086732"/>
            <a:ext cx="4123362" cy="394905"/>
          </a:xfrm>
          <a:prstGeom prst="rect">
            <a:avLst/>
          </a:prstGeom>
          <a:noFill/>
          <a:ln/>
        </p:spPr>
        <p:txBody>
          <a:bodyPr wrap="square" rtlCol="0" anchor="ctr"/>
          <a:lstStyle/>
          <a:p>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En</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Java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ce</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sont</a:t>
            </a:r>
            <a:r>
              <a:rPr lang="en-US" dirty="0" smtClean="0">
                <a:solidFill>
                  <a:srgbClr val="0D2B55"/>
                </a:solidFill>
                <a:latin typeface="Times New Roman" panose="02020603050405020304" pitchFamily="18" charset="0"/>
                <a:ea typeface="Calibri" pitchFamily="34" charset="-122"/>
                <a:cs typeface="Times New Roman" panose="02020603050405020304" pitchFamily="18" charset="0"/>
              </a:rPr>
              <a:t> des interfaces  </a:t>
            </a:r>
            <a:r>
              <a:rPr lang="en-US" dirty="0" err="1" smtClean="0">
                <a:solidFill>
                  <a:srgbClr val="0D2B55"/>
                </a:solidFill>
                <a:latin typeface="Times New Roman" panose="02020603050405020304" pitchFamily="18" charset="0"/>
                <a:ea typeface="Calibri" pitchFamily="34" charset="-122"/>
                <a:cs typeface="Times New Roman" panose="02020603050405020304" pitchFamily="18" charset="0"/>
              </a:rPr>
              <a:t>l'interface</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518160" y="3085338"/>
            <a:ext cx="292608" cy="292608"/>
          </a:xfrm>
          <a:prstGeom prst="rect">
            <a:avLst/>
          </a:prstGeom>
          <a:noFill/>
          <a:ln/>
        </p:spPr>
        <p:txBody>
          <a:bodyPr wrap="square" rtlCol="0" anchor="ctr"/>
          <a:lstStyle/>
          <a:p>
            <a:pPr algn="ct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100" dirty="0">
              <a:latin typeface="Times New Roman" panose="02020603050405020304" pitchFamily="18" charset="0"/>
              <a:cs typeface="Times New Roman" panose="02020603050405020304" pitchFamily="18" charset="0"/>
            </a:endParaRPr>
          </a:p>
        </p:txBody>
      </p:sp>
      <p:sp>
        <p:nvSpPr>
          <p:cNvPr id="15" name="Text 10"/>
          <p:cNvSpPr/>
          <p:nvPr/>
        </p:nvSpPr>
        <p:spPr>
          <a:xfrm>
            <a:off x="518160" y="3743706"/>
            <a:ext cx="292608" cy="292608"/>
          </a:xfrm>
          <a:prstGeom prst="rect">
            <a:avLst/>
          </a:prstGeom>
          <a:noFill/>
          <a:ln/>
        </p:spPr>
        <p:txBody>
          <a:bodyPr wrap="square" rtlCol="0" anchor="ctr"/>
          <a:lstStyle/>
          <a:p>
            <a:pPr algn="ct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100" dirty="0">
              <a:latin typeface="Times New Roman" panose="02020603050405020304" pitchFamily="18" charset="0"/>
              <a:cs typeface="Times New Roman" panose="02020603050405020304" pitchFamily="18" charset="0"/>
            </a:endParaRPr>
          </a:p>
        </p:txBody>
      </p:sp>
      <p:sp>
        <p:nvSpPr>
          <p:cNvPr id="18" name="Text 13"/>
          <p:cNvSpPr/>
          <p:nvPr/>
        </p:nvSpPr>
        <p:spPr>
          <a:xfrm>
            <a:off x="518160" y="4402074"/>
            <a:ext cx="292608" cy="292608"/>
          </a:xfrm>
          <a:prstGeom prst="rect">
            <a:avLst/>
          </a:prstGeom>
          <a:noFill/>
          <a:ln/>
        </p:spPr>
        <p:txBody>
          <a:bodyPr wrap="square" rtlCol="0" anchor="ctr"/>
          <a:lstStyle/>
          <a:p>
            <a:pPr algn="ct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100" dirty="0">
              <a:latin typeface="Times New Roman" panose="02020603050405020304" pitchFamily="18" charset="0"/>
              <a:cs typeface="Times New Roman" panose="02020603050405020304" pitchFamily="18" charset="0"/>
            </a:endParaRPr>
          </a:p>
        </p:txBody>
      </p:sp>
      <p:sp>
        <p:nvSpPr>
          <p:cNvPr id="24" name="Text 19"/>
          <p:cNvSpPr/>
          <p:nvPr/>
        </p:nvSpPr>
        <p:spPr>
          <a:xfrm>
            <a:off x="4770120" y="2737866"/>
            <a:ext cx="4206240" cy="201168"/>
          </a:xfrm>
          <a:prstGeom prst="rect">
            <a:avLst/>
          </a:prstGeom>
          <a:noFill/>
          <a:ln/>
        </p:spPr>
        <p:txBody>
          <a:bodyPr wrap="square" rtlCol="0" anchor="ctr"/>
          <a:lstStyle/>
          <a:p>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int age;</a:t>
            </a:r>
            <a:endParaRPr lang="en-US" sz="1400" dirty="0">
              <a:latin typeface="Times New Roman" panose="02020603050405020304" pitchFamily="18" charset="0"/>
              <a:cs typeface="Times New Roman" panose="02020603050405020304" pitchFamily="18" charset="0"/>
            </a:endParaRPr>
          </a:p>
        </p:txBody>
      </p:sp>
      <p:sp>
        <p:nvSpPr>
          <p:cNvPr id="25" name="Text 20"/>
          <p:cNvSpPr/>
          <p:nvPr/>
        </p:nvSpPr>
        <p:spPr>
          <a:xfrm>
            <a:off x="4770120" y="2911602"/>
            <a:ext cx="4206240" cy="201168"/>
          </a:xfrm>
          <a:prstGeom prst="rect">
            <a:avLst/>
          </a:prstGeom>
          <a:noFill/>
          <a:ln/>
        </p:spPr>
        <p:txBody>
          <a:bodyPr wrap="square" rtlCol="0" anchor="ctr"/>
          <a:lstStyle/>
          <a:p>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  // constructeur, getters...</a:t>
            </a:r>
            <a:endParaRPr lang="en-US" sz="1400" dirty="0">
              <a:latin typeface="Times New Roman" panose="02020603050405020304" pitchFamily="18" charset="0"/>
              <a:cs typeface="Times New Roman" panose="02020603050405020304" pitchFamily="18" charset="0"/>
            </a:endParaRPr>
          </a:p>
        </p:txBody>
      </p:sp>
      <p:sp>
        <p:nvSpPr>
          <p:cNvPr id="26" name="Text 21"/>
          <p:cNvSpPr/>
          <p:nvPr/>
        </p:nvSpPr>
        <p:spPr>
          <a:xfrm>
            <a:off x="4770120" y="3085338"/>
            <a:ext cx="4206240" cy="201168"/>
          </a:xfrm>
          <a:prstGeom prst="rect">
            <a:avLst/>
          </a:prstGeom>
          <a:noFill/>
          <a:ln/>
        </p:spPr>
        <p:txBody>
          <a:bodyPr wrap="square" rtlCol="0" anchor="ctr"/>
          <a:lstStyle/>
          <a:p>
            <a:r>
              <a:rPr lang="en-US" dirty="0">
                <a:solidFill>
                  <a:srgbClr val="FFFFFF"/>
                </a:solidFill>
                <a:latin typeface="Times New Roman" panose="02020603050405020304" pitchFamily="18" charset="0"/>
                <a:ea typeface="Consolas"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7" name="Text 22"/>
          <p:cNvSpPr/>
          <p:nvPr/>
        </p:nvSpPr>
        <p:spPr>
          <a:xfrm>
            <a:off x="4770120" y="3259074"/>
            <a:ext cx="4206240" cy="201168"/>
          </a:xfrm>
          <a:prstGeom prst="rect">
            <a:avLst/>
          </a:prstGeom>
          <a:noFill/>
          <a:ln/>
        </p:spPr>
        <p:txBody>
          <a:bodyPr wrap="square" rtlCol="0" anchor="ctr"/>
          <a:lstStyle/>
          <a:p>
            <a:endParaRPr lang="en-US" sz="950" dirty="0">
              <a:latin typeface="Times New Roman" panose="02020603050405020304" pitchFamily="18" charset="0"/>
              <a:cs typeface="Times New Roman" panose="02020603050405020304" pitchFamily="18" charset="0"/>
            </a:endParaRPr>
          </a:p>
        </p:txBody>
      </p:sp>
      <p:sp>
        <p:nvSpPr>
          <p:cNvPr id="32" name="Text 27"/>
          <p:cNvSpPr/>
          <p:nvPr/>
        </p:nvSpPr>
        <p:spPr>
          <a:xfrm>
            <a:off x="4770120" y="4127754"/>
            <a:ext cx="4206240" cy="201168"/>
          </a:xfrm>
          <a:prstGeom prst="rect">
            <a:avLst/>
          </a:prstGeom>
          <a:noFill/>
          <a:ln/>
        </p:spPr>
        <p:txBody>
          <a:bodyPr wrap="square" rtlCol="0" anchor="ctr"/>
          <a:lstStyle/>
          <a:p>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oos.writeObject(monEtudiant);</a:t>
            </a:r>
            <a:endParaRPr lang="en-US" sz="1400" dirty="0">
              <a:latin typeface="Times New Roman" panose="02020603050405020304" pitchFamily="18" charset="0"/>
              <a:cs typeface="Times New Roman" panose="02020603050405020304" pitchFamily="18" charset="0"/>
            </a:endParaRPr>
          </a:p>
        </p:txBody>
      </p:sp>
      <p:sp>
        <p:nvSpPr>
          <p:cNvPr id="33" name="Text 28"/>
          <p:cNvSpPr/>
          <p:nvPr/>
        </p:nvSpPr>
        <p:spPr>
          <a:xfrm>
            <a:off x="4770120" y="4301490"/>
            <a:ext cx="4206240" cy="201168"/>
          </a:xfrm>
          <a:prstGeom prst="rect">
            <a:avLst/>
          </a:prstGeom>
          <a:noFill/>
          <a:ln/>
        </p:spPr>
        <p:txBody>
          <a:bodyPr wrap="square" rtlCol="0" anchor="ctr"/>
          <a:lstStyle/>
          <a:p>
            <a:r>
              <a:rPr lang="en-US" sz="1400" dirty="0">
                <a:solidFill>
                  <a:srgbClr val="FFFFFF"/>
                </a:solidFill>
                <a:latin typeface="Times New Roman" panose="02020603050405020304" pitchFamily="18" charset="0"/>
                <a:ea typeface="Consolas" pitchFamily="34" charset="-122"/>
                <a:cs typeface="Times New Roman" panose="02020603050405020304" pitchFamily="18" charset="0"/>
              </a:rPr>
              <a:t>oos.close();</a:t>
            </a:r>
            <a:endParaRPr lang="en-US" sz="1400" dirty="0">
              <a:latin typeface="Times New Roman" panose="02020603050405020304" pitchFamily="18" charset="0"/>
              <a:cs typeface="Times New Roman" panose="02020603050405020304" pitchFamily="18" charset="0"/>
            </a:endParaRPr>
          </a:p>
        </p:txBody>
      </p:sp>
      <p:sp>
        <p:nvSpPr>
          <p:cNvPr id="34" name="Text 29"/>
          <p:cNvSpPr/>
          <p:nvPr/>
        </p:nvSpPr>
        <p:spPr>
          <a:xfrm>
            <a:off x="4770120" y="4475226"/>
            <a:ext cx="4206240" cy="201168"/>
          </a:xfrm>
          <a:prstGeom prst="rect">
            <a:avLst/>
          </a:prstGeom>
          <a:noFill/>
          <a:ln/>
        </p:spPr>
        <p:txBody>
          <a:bodyPr wrap="square" rtlCol="0" anchor="ctr"/>
          <a:lstStyle/>
          <a:p>
            <a:endParaRPr lang="en-US" sz="950" dirty="0">
              <a:latin typeface="Times New Roman" panose="02020603050405020304" pitchFamily="18" charset="0"/>
              <a:cs typeface="Times New Roman" panose="02020603050405020304" pitchFamily="18" charset="0"/>
            </a:endParaRPr>
          </a:p>
        </p:txBody>
      </p:sp>
      <p:sp>
        <p:nvSpPr>
          <p:cNvPr id="40" name="Titre 3">
            <a:extLst>
              <a:ext uri="{FF2B5EF4-FFF2-40B4-BE49-F238E27FC236}">
                <a16:creationId xmlns:a16="http://schemas.microsoft.com/office/drawing/2014/main" id="{FD2745D9-D935-5DCC-A026-8C0361F73C9F}"/>
              </a:ext>
            </a:extLst>
          </p:cNvPr>
          <p:cNvSpPr txBox="1">
            <a:spLocks/>
          </p:cNvSpPr>
          <p:nvPr/>
        </p:nvSpPr>
        <p:spPr>
          <a:xfrm>
            <a:off x="836613" y="251519"/>
            <a:ext cx="8064500" cy="665585"/>
          </a:xfrm>
          <a:prstGeom prst="rect">
            <a:avLst/>
          </a:prstGeom>
        </p:spPr>
        <p:txBody>
          <a:bodyPr/>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a:lstStyle>
          <a:p>
            <a:pPr marL="514350" indent="-514350">
              <a:buFont typeface="+mj-lt"/>
              <a:buAutoNum type="romanUcPeriod"/>
            </a:pPr>
            <a:r>
              <a:rPr lang="fr-CI" sz="2400" kern="0" dirty="0" smtClean="0">
                <a:solidFill>
                  <a:srgbClr val="FF0000"/>
                </a:solidFill>
              </a:rPr>
              <a:t>SERIALISATION ET DESERIALIZATION</a:t>
            </a:r>
            <a:endParaRPr lang="fr-CI" sz="2400" kern="0" dirty="0">
              <a:solidFill>
                <a:srgbClr val="FF0000"/>
              </a:solidFill>
            </a:endParaRPr>
          </a:p>
        </p:txBody>
      </p:sp>
      <p:pic>
        <p:nvPicPr>
          <p:cNvPr id="41"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41"/>
          <p:cNvPicPr/>
          <p:nvPr/>
        </p:nvPicPr>
        <p:blipFill rotWithShape="1">
          <a:blip r:embed="rId4"/>
          <a:srcRect l="2237" t="595" r="14749" b="1171"/>
          <a:stretch/>
        </p:blipFill>
        <p:spPr bwMode="auto">
          <a:xfrm>
            <a:off x="4585795" y="2719578"/>
            <a:ext cx="3245681" cy="36567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62835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33131"/>
            <a:ext cx="8064500" cy="665585"/>
          </a:xfrm>
        </p:spPr>
        <p:txBody>
          <a:bodyPr/>
          <a:lstStyle/>
          <a:p>
            <a:pPr marL="514350" indent="-514350">
              <a:buFont typeface="+mj-lt"/>
              <a:buAutoNum type="romanUcPeriod" startAt="2"/>
            </a:pPr>
            <a:r>
              <a:rPr lang="fr-CI" sz="2400" dirty="0" smtClean="0">
                <a:solidFill>
                  <a:srgbClr val="FF0000"/>
                </a:solidFill>
              </a:rPr>
              <a:t>JAVA DATABASE CONNECTIVITY</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1"/>
          <p:cNvSpPr/>
          <p:nvPr/>
        </p:nvSpPr>
        <p:spPr>
          <a:xfrm>
            <a:off x="518160" y="1009650"/>
            <a:ext cx="8412480" cy="777240"/>
          </a:xfrm>
          <a:prstGeom prst="rect">
            <a:avLst/>
          </a:prstGeom>
          <a:noFill/>
          <a:ln/>
        </p:spPr>
        <p:txBody>
          <a:bodyPr wrap="square" rtlCol="0" anchor="ctr"/>
          <a:lstStyle/>
          <a:p>
            <a:r>
              <a:rPr lang="en-US" sz="2400" b="1" dirty="0">
                <a:solidFill>
                  <a:srgbClr val="FFFFFF"/>
                </a:solidFill>
                <a:latin typeface="Calibri" pitchFamily="34" charset="0"/>
                <a:ea typeface="Calibri" pitchFamily="34" charset="-122"/>
                <a:cs typeface="Calibri" pitchFamily="34" charset="-120"/>
              </a:rPr>
              <a:t>JDBC — Java Database Connectivity</a:t>
            </a:r>
            <a:endParaRPr lang="en-US" sz="2400" dirty="0"/>
          </a:p>
        </p:txBody>
      </p:sp>
      <p:sp>
        <p:nvSpPr>
          <p:cNvPr id="10" name="Text 2"/>
          <p:cNvSpPr/>
          <p:nvPr/>
        </p:nvSpPr>
        <p:spPr>
          <a:xfrm>
            <a:off x="562764" y="1375410"/>
            <a:ext cx="8413595" cy="291660"/>
          </a:xfrm>
          <a:prstGeom prst="rect">
            <a:avLst/>
          </a:prstGeom>
          <a:noFill/>
          <a:ln/>
        </p:spPr>
        <p:txBody>
          <a:bodyPr wrap="square" rtlCol="0" anchor="ctr"/>
          <a:lstStyle/>
          <a:p>
            <a:pPr algn="just"/>
            <a:r>
              <a:rPr lang="en-US" dirty="0">
                <a:latin typeface="Times New Roman" panose="02020603050405020304" pitchFamily="18" charset="0"/>
                <a:ea typeface="Calibri" pitchFamily="34" charset="-122"/>
                <a:cs typeface="Times New Roman" panose="02020603050405020304" pitchFamily="18" charset="0"/>
              </a:rPr>
              <a:t>JDBC est l'API standard Java pour communiquer avec </a:t>
            </a:r>
            <a:r>
              <a:rPr lang="en-US" dirty="0" err="1">
                <a:latin typeface="Times New Roman" panose="02020603050405020304" pitchFamily="18" charset="0"/>
                <a:ea typeface="Calibri" pitchFamily="34" charset="-122"/>
                <a:cs typeface="Times New Roman" panose="02020603050405020304" pitchFamily="18" charset="0"/>
              </a:rPr>
              <a:t>n'importe</a:t>
            </a:r>
            <a:r>
              <a:rPr lang="en-US" dirty="0">
                <a:latin typeface="Times New Roman" panose="02020603050405020304" pitchFamily="18" charset="0"/>
                <a:ea typeface="Calibri" pitchFamily="34" charset="-122"/>
                <a:cs typeface="Times New Roman" panose="02020603050405020304" pitchFamily="18" charset="0"/>
              </a:rPr>
              <a:t> quelle base de données relationnelle.</a:t>
            </a:r>
            <a:endParaRPr lang="en-US" dirty="0">
              <a:latin typeface="Times New Roman" panose="02020603050405020304" pitchFamily="18" charset="0"/>
              <a:cs typeface="Times New Roman" panose="02020603050405020304" pitchFamily="18" charset="0"/>
            </a:endParaRPr>
          </a:p>
        </p:txBody>
      </p:sp>
      <p:sp>
        <p:nvSpPr>
          <p:cNvPr id="11" name="Shape 3"/>
          <p:cNvSpPr/>
          <p:nvPr/>
        </p:nvSpPr>
        <p:spPr>
          <a:xfrm>
            <a:off x="2339752" y="2181951"/>
            <a:ext cx="3474720" cy="858727"/>
          </a:xfrm>
          <a:prstGeom prst="rect">
            <a:avLst/>
          </a:prstGeom>
          <a:solidFill>
            <a:srgbClr val="1ABC9C"/>
          </a:solidFill>
          <a:ln w="12700">
            <a:solidFill>
              <a:srgbClr val="1ABC9C"/>
            </a:solidFill>
            <a:prstDash val="solid"/>
          </a:ln>
        </p:spPr>
      </p:sp>
      <p:sp>
        <p:nvSpPr>
          <p:cNvPr id="12" name="Text 4"/>
          <p:cNvSpPr/>
          <p:nvPr/>
        </p:nvSpPr>
        <p:spPr>
          <a:xfrm>
            <a:off x="2339752" y="2382310"/>
            <a:ext cx="3474720" cy="65836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Application Java</a:t>
            </a:r>
            <a:endParaRPr lang="en-US" sz="1300" dirty="0"/>
          </a:p>
        </p:txBody>
      </p:sp>
      <p:sp>
        <p:nvSpPr>
          <p:cNvPr id="13" name="Shape 5"/>
          <p:cNvSpPr/>
          <p:nvPr/>
        </p:nvSpPr>
        <p:spPr>
          <a:xfrm>
            <a:off x="3848512" y="3040678"/>
            <a:ext cx="457200" cy="210312"/>
          </a:xfrm>
          <a:prstGeom prst="rect">
            <a:avLst/>
          </a:prstGeom>
          <a:solidFill>
            <a:srgbClr val="F39C12"/>
          </a:solidFill>
          <a:ln w="12700">
            <a:solidFill>
              <a:srgbClr val="F39C12"/>
            </a:solidFill>
            <a:prstDash val="solid"/>
          </a:ln>
        </p:spPr>
      </p:sp>
      <p:sp>
        <p:nvSpPr>
          <p:cNvPr id="14" name="Shape 6"/>
          <p:cNvSpPr/>
          <p:nvPr/>
        </p:nvSpPr>
        <p:spPr>
          <a:xfrm>
            <a:off x="2339752" y="3205270"/>
            <a:ext cx="3474720" cy="658368"/>
          </a:xfrm>
          <a:prstGeom prst="rect">
            <a:avLst/>
          </a:prstGeom>
          <a:solidFill>
            <a:srgbClr val="1A5276"/>
          </a:solidFill>
          <a:ln w="12700">
            <a:solidFill>
              <a:srgbClr val="1A5276"/>
            </a:solidFill>
            <a:prstDash val="solid"/>
          </a:ln>
        </p:spPr>
      </p:sp>
      <p:sp>
        <p:nvSpPr>
          <p:cNvPr id="15" name="Text 7"/>
          <p:cNvSpPr/>
          <p:nvPr/>
        </p:nvSpPr>
        <p:spPr>
          <a:xfrm>
            <a:off x="2339752" y="3205270"/>
            <a:ext cx="3474720" cy="65836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API JDBC</a:t>
            </a:r>
            <a:endParaRPr lang="en-US" sz="1300" dirty="0"/>
          </a:p>
          <a:p>
            <a:pPr algn="ctr"/>
            <a:r>
              <a:rPr lang="en-US" sz="1300" b="1" dirty="0">
                <a:solidFill>
                  <a:srgbClr val="FFFFFF"/>
                </a:solidFill>
                <a:latin typeface="Calibri" pitchFamily="34" charset="0"/>
                <a:ea typeface="Calibri" pitchFamily="34" charset="-122"/>
                <a:cs typeface="Calibri" pitchFamily="34" charset="-120"/>
              </a:rPr>
              <a:t>(java.sql.*)</a:t>
            </a:r>
            <a:endParaRPr lang="en-US" sz="1300" dirty="0"/>
          </a:p>
        </p:txBody>
      </p:sp>
      <p:sp>
        <p:nvSpPr>
          <p:cNvPr id="16" name="Shape 8"/>
          <p:cNvSpPr/>
          <p:nvPr/>
        </p:nvSpPr>
        <p:spPr>
          <a:xfrm>
            <a:off x="3848512" y="3863638"/>
            <a:ext cx="457200" cy="210312"/>
          </a:xfrm>
          <a:prstGeom prst="rect">
            <a:avLst/>
          </a:prstGeom>
          <a:solidFill>
            <a:srgbClr val="F39C12"/>
          </a:solidFill>
          <a:ln w="12700">
            <a:solidFill>
              <a:srgbClr val="F39C12"/>
            </a:solidFill>
            <a:prstDash val="solid"/>
          </a:ln>
        </p:spPr>
      </p:sp>
      <p:sp>
        <p:nvSpPr>
          <p:cNvPr id="17" name="Shape 9"/>
          <p:cNvSpPr/>
          <p:nvPr/>
        </p:nvSpPr>
        <p:spPr>
          <a:xfrm>
            <a:off x="2339752" y="4028230"/>
            <a:ext cx="3474720" cy="658368"/>
          </a:xfrm>
          <a:prstGeom prst="rect">
            <a:avLst/>
          </a:prstGeom>
          <a:solidFill>
            <a:srgbClr val="0D2B55"/>
          </a:solidFill>
          <a:ln w="12700">
            <a:solidFill>
              <a:srgbClr val="0D2B55"/>
            </a:solidFill>
            <a:prstDash val="solid"/>
          </a:ln>
        </p:spPr>
      </p:sp>
      <p:sp>
        <p:nvSpPr>
          <p:cNvPr id="18" name="Text 10"/>
          <p:cNvSpPr/>
          <p:nvPr/>
        </p:nvSpPr>
        <p:spPr>
          <a:xfrm>
            <a:off x="2339752" y="4028230"/>
            <a:ext cx="3474720" cy="65836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Driver JDBC</a:t>
            </a:r>
            <a:endParaRPr lang="en-US" sz="1300" dirty="0"/>
          </a:p>
          <a:p>
            <a:pPr algn="ctr"/>
            <a:r>
              <a:rPr lang="en-US" sz="1300" b="1" dirty="0">
                <a:solidFill>
                  <a:srgbClr val="FFFFFF"/>
                </a:solidFill>
                <a:latin typeface="Calibri" pitchFamily="34" charset="0"/>
                <a:ea typeface="Calibri" pitchFamily="34" charset="-122"/>
                <a:cs typeface="Calibri" pitchFamily="34" charset="-120"/>
              </a:rPr>
              <a:t>(MySQL, Oracle...)</a:t>
            </a:r>
            <a:endParaRPr lang="en-US" sz="1300" dirty="0"/>
          </a:p>
        </p:txBody>
      </p:sp>
      <p:sp>
        <p:nvSpPr>
          <p:cNvPr id="19" name="Shape 11"/>
          <p:cNvSpPr/>
          <p:nvPr/>
        </p:nvSpPr>
        <p:spPr>
          <a:xfrm>
            <a:off x="3848512" y="4686598"/>
            <a:ext cx="457200" cy="210312"/>
          </a:xfrm>
          <a:prstGeom prst="rect">
            <a:avLst/>
          </a:prstGeom>
          <a:solidFill>
            <a:srgbClr val="F39C12"/>
          </a:solidFill>
          <a:ln w="12700">
            <a:solidFill>
              <a:srgbClr val="F39C12"/>
            </a:solidFill>
            <a:prstDash val="solid"/>
          </a:ln>
        </p:spPr>
      </p:sp>
      <p:sp>
        <p:nvSpPr>
          <p:cNvPr id="20" name="Shape 12"/>
          <p:cNvSpPr/>
          <p:nvPr/>
        </p:nvSpPr>
        <p:spPr>
          <a:xfrm>
            <a:off x="2339752" y="4851190"/>
            <a:ext cx="3474720" cy="658368"/>
          </a:xfrm>
          <a:prstGeom prst="rect">
            <a:avLst/>
          </a:prstGeom>
          <a:solidFill>
            <a:srgbClr val="2C3E50"/>
          </a:solidFill>
          <a:ln w="12700">
            <a:solidFill>
              <a:srgbClr val="2C3E50"/>
            </a:solidFill>
            <a:prstDash val="solid"/>
          </a:ln>
        </p:spPr>
      </p:sp>
      <p:sp>
        <p:nvSpPr>
          <p:cNvPr id="21" name="Text 13"/>
          <p:cNvSpPr/>
          <p:nvPr/>
        </p:nvSpPr>
        <p:spPr>
          <a:xfrm>
            <a:off x="2339752" y="4851190"/>
            <a:ext cx="3474720" cy="65836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Base de données</a:t>
            </a:r>
            <a:endParaRPr lang="en-US" sz="1300" dirty="0"/>
          </a:p>
        </p:txBody>
      </p:sp>
      <p:sp>
        <p:nvSpPr>
          <p:cNvPr id="23" name="Text 16"/>
          <p:cNvSpPr/>
          <p:nvPr/>
        </p:nvSpPr>
        <p:spPr>
          <a:xfrm>
            <a:off x="4658753" y="2181951"/>
            <a:ext cx="365760" cy="36576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26"/>
          <p:cNvSpPr/>
          <p:nvPr/>
        </p:nvSpPr>
        <p:spPr>
          <a:xfrm>
            <a:off x="4702759" y="3505964"/>
            <a:ext cx="365760" cy="36576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31"/>
          <p:cNvSpPr/>
          <p:nvPr/>
        </p:nvSpPr>
        <p:spPr>
          <a:xfrm>
            <a:off x="4724400" y="5124450"/>
            <a:ext cx="365760" cy="365760"/>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5" name="ZoneTexte 4"/>
          <p:cNvSpPr txBox="1"/>
          <p:nvPr/>
        </p:nvSpPr>
        <p:spPr>
          <a:xfrm>
            <a:off x="4702759" y="2426970"/>
            <a:ext cx="4227881" cy="3127248"/>
          </a:xfrm>
          <a:prstGeom prst="rect">
            <a:avLst/>
          </a:prstGeom>
          <a:noFill/>
        </p:spPr>
        <p:txBody>
          <a:bodyPr wrap="square" rtlCol="0">
            <a:spAutoFit/>
          </a:bodyPr>
          <a:lstStyle/>
          <a:p>
            <a:endParaRPr lang="fr-FR"/>
          </a:p>
        </p:txBody>
      </p:sp>
    </p:spTree>
    <p:extLst>
      <p:ext uri="{BB962C8B-B14F-4D97-AF65-F5344CB8AC3E}">
        <p14:creationId xmlns:p14="http://schemas.microsoft.com/office/powerpoint/2010/main" val="27089700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72008" y="6381328"/>
            <a:ext cx="1691680" cy="476672"/>
          </a:xfrm>
          <a:prstGeom prst="rect">
            <a:avLst/>
          </a:prstGeom>
          <a:solidFill>
            <a:schemeClr val="bg1"/>
          </a:solidFill>
        </p:spPr>
        <p:txBody>
          <a:bodyPr wrap="square" rtlCol="0">
            <a:spAutoFit/>
          </a:bodyPr>
          <a:lstStyle/>
          <a:p>
            <a:endParaRPr lang="fr-CI" noProof="0" dirty="0"/>
          </a:p>
        </p:txBody>
      </p:sp>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itre 3">
            <a:extLst>
              <a:ext uri="{FF2B5EF4-FFF2-40B4-BE49-F238E27FC236}">
                <a16:creationId xmlns:a16="http://schemas.microsoft.com/office/drawing/2014/main" id="{FD2745D9-D935-5DCC-A026-8C0361F73C9F}"/>
              </a:ext>
            </a:extLst>
          </p:cNvPr>
          <p:cNvSpPr>
            <a:spLocks noGrp="1"/>
          </p:cNvSpPr>
          <p:nvPr>
            <p:ph type="title"/>
          </p:nvPr>
        </p:nvSpPr>
        <p:spPr>
          <a:xfrm>
            <a:off x="763194" y="803362"/>
            <a:ext cx="6977158" cy="571501"/>
          </a:xfrm>
        </p:spPr>
        <p:txBody>
          <a:bodyPr/>
          <a:lstStyle/>
          <a:p>
            <a:r>
              <a:rPr lang="fr-CI" sz="2400" dirty="0" smtClean="0">
                <a:latin typeface="Times New Roman" panose="02020603050405020304" pitchFamily="18" charset="0"/>
                <a:cs typeface="Times New Roman" panose="02020603050405020304" pitchFamily="18" charset="0"/>
              </a:rPr>
              <a:t>JDBC</a:t>
            </a:r>
            <a:r>
              <a:rPr lang="fr-CI" sz="2400" dirty="0" smtClean="0">
                <a:latin typeface="Times New Roman" panose="02020603050405020304" pitchFamily="18" charset="0"/>
                <a:cs typeface="Times New Roman" panose="02020603050405020304" pitchFamily="18" charset="0"/>
              </a:rPr>
              <a:t>: Cycle DE VIE D’UNE CONNEXION</a:t>
            </a:r>
            <a:endParaRPr lang="fr-CI" sz="2400" noProof="0" dirty="0">
              <a:latin typeface="Times New Roman" panose="02020603050405020304" pitchFamily="18" charset="0"/>
              <a:cs typeface="Times New Roman" panose="02020603050405020304" pitchFamily="18" charset="0"/>
            </a:endParaRPr>
          </a:p>
        </p:txBody>
      </p:sp>
      <p:pic>
        <p:nvPicPr>
          <p:cNvPr id="58" name="Image 57">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28" name="Shape 2"/>
          <p:cNvSpPr/>
          <p:nvPr/>
        </p:nvSpPr>
        <p:spPr>
          <a:xfrm>
            <a:off x="242515" y="254381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29" name="Shape 3"/>
          <p:cNvSpPr/>
          <p:nvPr/>
        </p:nvSpPr>
        <p:spPr>
          <a:xfrm>
            <a:off x="242515" y="2543810"/>
            <a:ext cx="2743200" cy="73152"/>
          </a:xfrm>
          <a:prstGeom prst="rect">
            <a:avLst/>
          </a:prstGeom>
          <a:solidFill>
            <a:srgbClr val="E8A020"/>
          </a:solidFill>
          <a:ln w="12700">
            <a:solidFill>
              <a:srgbClr val="E8A020"/>
            </a:solidFill>
            <a:prstDash val="solid"/>
          </a:ln>
        </p:spPr>
      </p:sp>
      <p:sp>
        <p:nvSpPr>
          <p:cNvPr id="30" name="Shape 4"/>
          <p:cNvSpPr/>
          <p:nvPr/>
        </p:nvSpPr>
        <p:spPr>
          <a:xfrm>
            <a:off x="333955" y="2680970"/>
            <a:ext cx="384048" cy="384048"/>
          </a:xfrm>
          <a:prstGeom prst="ellipse">
            <a:avLst/>
          </a:prstGeom>
          <a:solidFill>
            <a:srgbClr val="0F2044"/>
          </a:solidFill>
          <a:ln w="12700">
            <a:solidFill>
              <a:srgbClr val="0F2044"/>
            </a:solidFill>
            <a:prstDash val="solid"/>
          </a:ln>
        </p:spPr>
      </p:sp>
      <p:sp>
        <p:nvSpPr>
          <p:cNvPr id="31" name="Text 5"/>
          <p:cNvSpPr/>
          <p:nvPr/>
        </p:nvSpPr>
        <p:spPr>
          <a:xfrm>
            <a:off x="333955" y="268097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32" name="Text 6"/>
          <p:cNvSpPr/>
          <p:nvPr/>
        </p:nvSpPr>
        <p:spPr>
          <a:xfrm>
            <a:off x="791155" y="265353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Charger le Driver</a:t>
            </a:r>
            <a:endParaRPr lang="en-US" sz="1400" dirty="0">
              <a:latin typeface="Times New Roman" panose="02020603050405020304" pitchFamily="18" charset="0"/>
              <a:cs typeface="Times New Roman" panose="02020603050405020304" pitchFamily="18" charset="0"/>
            </a:endParaRPr>
          </a:p>
        </p:txBody>
      </p:sp>
      <p:sp>
        <p:nvSpPr>
          <p:cNvPr id="54" name="Text 7"/>
          <p:cNvSpPr/>
          <p:nvPr/>
        </p:nvSpPr>
        <p:spPr>
          <a:xfrm>
            <a:off x="333955" y="313817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Class.forName("com.mysql.cj.jdbc.Driver")</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ou via META-INF/services</a:t>
            </a:r>
            <a:endParaRPr lang="en-US" sz="1400" dirty="0">
              <a:latin typeface="Times New Roman" panose="02020603050405020304" pitchFamily="18" charset="0"/>
              <a:cs typeface="Times New Roman" panose="02020603050405020304" pitchFamily="18" charset="0"/>
            </a:endParaRPr>
          </a:p>
        </p:txBody>
      </p:sp>
      <p:sp>
        <p:nvSpPr>
          <p:cNvPr id="55" name="Shape 8"/>
          <p:cNvSpPr/>
          <p:nvPr/>
        </p:nvSpPr>
        <p:spPr>
          <a:xfrm>
            <a:off x="3168595" y="254381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6" name="Shape 9"/>
          <p:cNvSpPr/>
          <p:nvPr/>
        </p:nvSpPr>
        <p:spPr>
          <a:xfrm>
            <a:off x="3168595" y="3165979"/>
            <a:ext cx="2743200" cy="73152"/>
          </a:xfrm>
          <a:prstGeom prst="rect">
            <a:avLst/>
          </a:prstGeom>
          <a:solidFill>
            <a:srgbClr val="E8A020"/>
          </a:solidFill>
          <a:ln w="12700">
            <a:solidFill>
              <a:srgbClr val="E8A020"/>
            </a:solidFill>
            <a:prstDash val="solid"/>
          </a:ln>
        </p:spPr>
      </p:sp>
      <p:sp>
        <p:nvSpPr>
          <p:cNvPr id="59" name="Shape 10"/>
          <p:cNvSpPr/>
          <p:nvPr/>
        </p:nvSpPr>
        <p:spPr>
          <a:xfrm>
            <a:off x="3260035" y="2680970"/>
            <a:ext cx="384048" cy="384048"/>
          </a:xfrm>
          <a:prstGeom prst="ellipse">
            <a:avLst/>
          </a:prstGeom>
          <a:solidFill>
            <a:srgbClr val="0F2044"/>
          </a:solidFill>
          <a:ln w="12700">
            <a:solidFill>
              <a:srgbClr val="0F2044"/>
            </a:solidFill>
            <a:prstDash val="solid"/>
          </a:ln>
        </p:spPr>
      </p:sp>
      <p:sp>
        <p:nvSpPr>
          <p:cNvPr id="60" name="Text 11"/>
          <p:cNvSpPr/>
          <p:nvPr/>
        </p:nvSpPr>
        <p:spPr>
          <a:xfrm>
            <a:off x="3260035" y="268097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61" name="Text 12"/>
          <p:cNvSpPr/>
          <p:nvPr/>
        </p:nvSpPr>
        <p:spPr>
          <a:xfrm>
            <a:off x="3717235" y="265353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Ouvrir la Connexion</a:t>
            </a:r>
            <a:endParaRPr lang="en-US" sz="1400" dirty="0">
              <a:latin typeface="Times New Roman" panose="02020603050405020304" pitchFamily="18" charset="0"/>
              <a:cs typeface="Times New Roman" panose="02020603050405020304" pitchFamily="18" charset="0"/>
            </a:endParaRPr>
          </a:p>
        </p:txBody>
      </p:sp>
      <p:sp>
        <p:nvSpPr>
          <p:cNvPr id="62" name="Text 13"/>
          <p:cNvSpPr/>
          <p:nvPr/>
        </p:nvSpPr>
        <p:spPr>
          <a:xfrm>
            <a:off x="3260035" y="313817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DriverManager.getConnection(url, user, pass)</a:t>
            </a:r>
            <a:endParaRPr lang="en-US" sz="1400" dirty="0">
              <a:latin typeface="Times New Roman" panose="02020603050405020304" pitchFamily="18" charset="0"/>
              <a:cs typeface="Times New Roman" panose="02020603050405020304" pitchFamily="18" charset="0"/>
            </a:endParaRPr>
          </a:p>
        </p:txBody>
      </p:sp>
      <p:sp>
        <p:nvSpPr>
          <p:cNvPr id="63" name="Shape 14"/>
          <p:cNvSpPr/>
          <p:nvPr/>
        </p:nvSpPr>
        <p:spPr>
          <a:xfrm>
            <a:off x="6094675" y="254381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64" name="Shape 15"/>
          <p:cNvSpPr/>
          <p:nvPr/>
        </p:nvSpPr>
        <p:spPr>
          <a:xfrm>
            <a:off x="6094675" y="2543810"/>
            <a:ext cx="2743200" cy="73152"/>
          </a:xfrm>
          <a:prstGeom prst="rect">
            <a:avLst/>
          </a:prstGeom>
          <a:solidFill>
            <a:srgbClr val="E8A020"/>
          </a:solidFill>
          <a:ln w="12700">
            <a:solidFill>
              <a:srgbClr val="E8A020"/>
            </a:solidFill>
            <a:prstDash val="solid"/>
          </a:ln>
        </p:spPr>
      </p:sp>
      <p:sp>
        <p:nvSpPr>
          <p:cNvPr id="65" name="Shape 16"/>
          <p:cNvSpPr/>
          <p:nvPr/>
        </p:nvSpPr>
        <p:spPr>
          <a:xfrm>
            <a:off x="6186115" y="2680970"/>
            <a:ext cx="384048" cy="384048"/>
          </a:xfrm>
          <a:prstGeom prst="ellipse">
            <a:avLst/>
          </a:prstGeom>
          <a:solidFill>
            <a:srgbClr val="0F2044"/>
          </a:solidFill>
          <a:ln w="12700">
            <a:solidFill>
              <a:srgbClr val="0F2044"/>
            </a:solidFill>
            <a:prstDash val="solid"/>
          </a:ln>
        </p:spPr>
      </p:sp>
      <p:sp>
        <p:nvSpPr>
          <p:cNvPr id="66" name="Text 17"/>
          <p:cNvSpPr/>
          <p:nvPr/>
        </p:nvSpPr>
        <p:spPr>
          <a:xfrm>
            <a:off x="6186115" y="268097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67" name="Text 18"/>
          <p:cNvSpPr/>
          <p:nvPr/>
        </p:nvSpPr>
        <p:spPr>
          <a:xfrm>
            <a:off x="6643315" y="265353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Créer un Statement</a:t>
            </a:r>
            <a:endParaRPr lang="en-US" sz="1400" dirty="0">
              <a:latin typeface="Times New Roman" panose="02020603050405020304" pitchFamily="18" charset="0"/>
              <a:cs typeface="Times New Roman" panose="02020603050405020304" pitchFamily="18" charset="0"/>
            </a:endParaRPr>
          </a:p>
        </p:txBody>
      </p:sp>
      <p:sp>
        <p:nvSpPr>
          <p:cNvPr id="68" name="Text 19"/>
          <p:cNvSpPr/>
          <p:nvPr/>
        </p:nvSpPr>
        <p:spPr>
          <a:xfrm>
            <a:off x="6186115" y="313817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conn.createStatement()</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conn.prepareStatement(sql)</a:t>
            </a:r>
            <a:endParaRPr lang="en-US" sz="1400" dirty="0">
              <a:latin typeface="Times New Roman" panose="02020603050405020304" pitchFamily="18" charset="0"/>
              <a:cs typeface="Times New Roman" panose="02020603050405020304" pitchFamily="18" charset="0"/>
            </a:endParaRPr>
          </a:p>
        </p:txBody>
      </p:sp>
      <p:sp>
        <p:nvSpPr>
          <p:cNvPr id="69" name="Shape 20"/>
          <p:cNvSpPr/>
          <p:nvPr/>
        </p:nvSpPr>
        <p:spPr>
          <a:xfrm>
            <a:off x="242515" y="446405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70" name="Shape 21"/>
          <p:cNvSpPr/>
          <p:nvPr/>
        </p:nvSpPr>
        <p:spPr>
          <a:xfrm>
            <a:off x="242515" y="4464050"/>
            <a:ext cx="2743200" cy="73152"/>
          </a:xfrm>
          <a:prstGeom prst="rect">
            <a:avLst/>
          </a:prstGeom>
          <a:solidFill>
            <a:srgbClr val="E8A020"/>
          </a:solidFill>
          <a:ln w="12700">
            <a:solidFill>
              <a:srgbClr val="E8A020"/>
            </a:solidFill>
            <a:prstDash val="solid"/>
          </a:ln>
        </p:spPr>
      </p:sp>
      <p:sp>
        <p:nvSpPr>
          <p:cNvPr id="71" name="Shape 22"/>
          <p:cNvSpPr/>
          <p:nvPr/>
        </p:nvSpPr>
        <p:spPr>
          <a:xfrm>
            <a:off x="333955" y="4601210"/>
            <a:ext cx="384048" cy="384048"/>
          </a:xfrm>
          <a:prstGeom prst="ellipse">
            <a:avLst/>
          </a:prstGeom>
          <a:solidFill>
            <a:srgbClr val="0F2044"/>
          </a:solidFill>
          <a:ln w="12700">
            <a:solidFill>
              <a:srgbClr val="0F2044"/>
            </a:solidFill>
            <a:prstDash val="solid"/>
          </a:ln>
        </p:spPr>
      </p:sp>
      <p:sp>
        <p:nvSpPr>
          <p:cNvPr id="72" name="Text 23"/>
          <p:cNvSpPr/>
          <p:nvPr/>
        </p:nvSpPr>
        <p:spPr>
          <a:xfrm>
            <a:off x="333955" y="460121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73" name="Text 24"/>
          <p:cNvSpPr/>
          <p:nvPr/>
        </p:nvSpPr>
        <p:spPr>
          <a:xfrm>
            <a:off x="791155" y="457377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Exécuter la Requête</a:t>
            </a:r>
            <a:endParaRPr lang="en-US" sz="1400" dirty="0">
              <a:latin typeface="Times New Roman" panose="02020603050405020304" pitchFamily="18" charset="0"/>
              <a:cs typeface="Times New Roman" panose="02020603050405020304" pitchFamily="18" charset="0"/>
            </a:endParaRPr>
          </a:p>
        </p:txBody>
      </p:sp>
      <p:sp>
        <p:nvSpPr>
          <p:cNvPr id="74" name="Text 25"/>
          <p:cNvSpPr/>
          <p:nvPr/>
        </p:nvSpPr>
        <p:spPr>
          <a:xfrm>
            <a:off x="333955" y="505841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executeQuery() → SELECT</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executeUpdate() → INSERT/UPDATE/DELETE</a:t>
            </a:r>
            <a:endParaRPr lang="en-US" sz="1400" dirty="0">
              <a:latin typeface="Times New Roman" panose="02020603050405020304" pitchFamily="18" charset="0"/>
              <a:cs typeface="Times New Roman" panose="02020603050405020304" pitchFamily="18" charset="0"/>
            </a:endParaRPr>
          </a:p>
        </p:txBody>
      </p:sp>
      <p:sp>
        <p:nvSpPr>
          <p:cNvPr id="75" name="Shape 26"/>
          <p:cNvSpPr/>
          <p:nvPr/>
        </p:nvSpPr>
        <p:spPr>
          <a:xfrm>
            <a:off x="3168595" y="446405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76" name="Shape 27"/>
          <p:cNvSpPr/>
          <p:nvPr/>
        </p:nvSpPr>
        <p:spPr>
          <a:xfrm>
            <a:off x="3168595" y="4464050"/>
            <a:ext cx="2743200" cy="73152"/>
          </a:xfrm>
          <a:prstGeom prst="rect">
            <a:avLst/>
          </a:prstGeom>
          <a:solidFill>
            <a:srgbClr val="E8A020"/>
          </a:solidFill>
          <a:ln w="12700">
            <a:solidFill>
              <a:srgbClr val="E8A020"/>
            </a:solidFill>
            <a:prstDash val="solid"/>
          </a:ln>
        </p:spPr>
      </p:sp>
      <p:sp>
        <p:nvSpPr>
          <p:cNvPr id="77" name="Shape 28"/>
          <p:cNvSpPr/>
          <p:nvPr/>
        </p:nvSpPr>
        <p:spPr>
          <a:xfrm>
            <a:off x="3260035" y="4601210"/>
            <a:ext cx="384048" cy="384048"/>
          </a:xfrm>
          <a:prstGeom prst="ellipse">
            <a:avLst/>
          </a:prstGeom>
          <a:solidFill>
            <a:srgbClr val="0F2044"/>
          </a:solidFill>
          <a:ln w="12700">
            <a:solidFill>
              <a:srgbClr val="0F2044"/>
            </a:solidFill>
            <a:prstDash val="solid"/>
          </a:ln>
        </p:spPr>
      </p:sp>
      <p:sp>
        <p:nvSpPr>
          <p:cNvPr id="78" name="Text 29"/>
          <p:cNvSpPr/>
          <p:nvPr/>
        </p:nvSpPr>
        <p:spPr>
          <a:xfrm>
            <a:off x="3260035" y="460121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79" name="Text 30"/>
          <p:cNvSpPr/>
          <p:nvPr/>
        </p:nvSpPr>
        <p:spPr>
          <a:xfrm>
            <a:off x="3717235" y="457377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Traiter ResultSet</a:t>
            </a:r>
            <a:endParaRPr lang="en-US" sz="1400" dirty="0">
              <a:latin typeface="Times New Roman" panose="02020603050405020304" pitchFamily="18" charset="0"/>
              <a:cs typeface="Times New Roman" panose="02020603050405020304" pitchFamily="18" charset="0"/>
            </a:endParaRPr>
          </a:p>
        </p:txBody>
      </p:sp>
      <p:sp>
        <p:nvSpPr>
          <p:cNvPr id="80" name="Text 31"/>
          <p:cNvSpPr/>
          <p:nvPr/>
        </p:nvSpPr>
        <p:spPr>
          <a:xfrm>
            <a:off x="3260035" y="505841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while(rs.next()) {</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  rs.getString("col");</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81" name="Shape 32"/>
          <p:cNvSpPr/>
          <p:nvPr/>
        </p:nvSpPr>
        <p:spPr>
          <a:xfrm>
            <a:off x="6094675" y="4464050"/>
            <a:ext cx="2743200" cy="169164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82" name="Shape 33"/>
          <p:cNvSpPr/>
          <p:nvPr/>
        </p:nvSpPr>
        <p:spPr>
          <a:xfrm>
            <a:off x="6094675" y="4464050"/>
            <a:ext cx="2743200" cy="73152"/>
          </a:xfrm>
          <a:prstGeom prst="rect">
            <a:avLst/>
          </a:prstGeom>
          <a:solidFill>
            <a:srgbClr val="E8A020"/>
          </a:solidFill>
          <a:ln w="12700">
            <a:solidFill>
              <a:srgbClr val="E8A020"/>
            </a:solidFill>
            <a:prstDash val="solid"/>
          </a:ln>
        </p:spPr>
      </p:sp>
      <p:sp>
        <p:nvSpPr>
          <p:cNvPr id="83" name="Shape 34"/>
          <p:cNvSpPr/>
          <p:nvPr/>
        </p:nvSpPr>
        <p:spPr>
          <a:xfrm>
            <a:off x="6186115" y="4601210"/>
            <a:ext cx="384048" cy="384048"/>
          </a:xfrm>
          <a:prstGeom prst="ellipse">
            <a:avLst/>
          </a:prstGeom>
          <a:solidFill>
            <a:srgbClr val="0F2044"/>
          </a:solidFill>
          <a:ln w="12700">
            <a:solidFill>
              <a:srgbClr val="0F2044"/>
            </a:solidFill>
            <a:prstDash val="solid"/>
          </a:ln>
        </p:spPr>
      </p:sp>
      <p:sp>
        <p:nvSpPr>
          <p:cNvPr id="84" name="Text 35"/>
          <p:cNvSpPr/>
          <p:nvPr/>
        </p:nvSpPr>
        <p:spPr>
          <a:xfrm>
            <a:off x="6186115" y="4601210"/>
            <a:ext cx="384048" cy="384048"/>
          </a:xfrm>
          <a:prstGeom prst="rect">
            <a:avLst/>
          </a:prstGeom>
          <a:noFill/>
          <a:ln/>
        </p:spPr>
        <p:txBody>
          <a:bodyPr wrap="square" lIns="0" tIns="0" rIns="0" bIns="0" rtlCol="0" anchor="ctr"/>
          <a:lstStyle/>
          <a:p>
            <a:pPr marL="0" indent="0" algn="ctr">
              <a:buNone/>
            </a:pPr>
            <a:r>
              <a:rPr lang="en-US" sz="1400" b="1" dirty="0">
                <a:solidFill>
                  <a:srgbClr val="E8A020"/>
                </a:solidFill>
                <a:latin typeface="Times New Roman" panose="02020603050405020304" pitchFamily="18" charset="0"/>
                <a:cs typeface="Times New Roman" panose="02020603050405020304" pitchFamily="18" charset="0"/>
              </a:rPr>
              <a:t>6</a:t>
            </a:r>
            <a:endParaRPr lang="en-US" sz="1400" dirty="0">
              <a:latin typeface="Times New Roman" panose="02020603050405020304" pitchFamily="18" charset="0"/>
              <a:cs typeface="Times New Roman" panose="02020603050405020304" pitchFamily="18" charset="0"/>
            </a:endParaRPr>
          </a:p>
        </p:txBody>
      </p:sp>
      <p:sp>
        <p:nvSpPr>
          <p:cNvPr id="85" name="Text 36"/>
          <p:cNvSpPr/>
          <p:nvPr/>
        </p:nvSpPr>
        <p:spPr>
          <a:xfrm>
            <a:off x="6643315" y="4573778"/>
            <a:ext cx="2103120" cy="384048"/>
          </a:xfrm>
          <a:prstGeom prst="rect">
            <a:avLst/>
          </a:prstGeom>
          <a:noFill/>
          <a:ln/>
        </p:spPr>
        <p:txBody>
          <a:bodyPr wrap="square" rtlCol="0" anchor="ctr"/>
          <a:lstStyle/>
          <a:p>
            <a:pPr marL="0" indent="0">
              <a:buNone/>
            </a:pPr>
            <a:r>
              <a:rPr lang="en-US" sz="1400" b="1" dirty="0">
                <a:solidFill>
                  <a:srgbClr val="0F2044"/>
                </a:solidFill>
                <a:latin typeface="Times New Roman" panose="02020603050405020304" pitchFamily="18" charset="0"/>
                <a:cs typeface="Times New Roman" panose="02020603050405020304" pitchFamily="18" charset="0"/>
              </a:rPr>
              <a:t>Fermer les Ressources</a:t>
            </a:r>
            <a:endParaRPr lang="en-US" sz="1400" dirty="0">
              <a:latin typeface="Times New Roman" panose="02020603050405020304" pitchFamily="18" charset="0"/>
              <a:cs typeface="Times New Roman" panose="02020603050405020304" pitchFamily="18" charset="0"/>
            </a:endParaRPr>
          </a:p>
        </p:txBody>
      </p:sp>
      <p:sp>
        <p:nvSpPr>
          <p:cNvPr id="86" name="Text 37"/>
          <p:cNvSpPr/>
          <p:nvPr/>
        </p:nvSpPr>
        <p:spPr>
          <a:xfrm>
            <a:off x="6186115" y="5058410"/>
            <a:ext cx="2560320" cy="1005840"/>
          </a:xfrm>
          <a:prstGeom prst="rect">
            <a:avLst/>
          </a:prstGeom>
          <a:noFill/>
          <a:ln/>
        </p:spPr>
        <p:txBody>
          <a:bodyPr wrap="square" rtlCol="0" anchor="ctr"/>
          <a:lstStyle/>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rs.close() → stmt.close()</a:t>
            </a:r>
            <a:endParaRPr lang="en-US" sz="1400" dirty="0">
              <a:latin typeface="Times New Roman" panose="02020603050405020304" pitchFamily="18" charset="0"/>
              <a:cs typeface="Times New Roman" panose="02020603050405020304" pitchFamily="18" charset="0"/>
            </a:endParaRPr>
          </a:p>
          <a:p>
            <a:pPr marL="0" indent="0">
              <a:lnSpc>
                <a:spcPct val="130000"/>
              </a:lnSpc>
              <a:buNone/>
            </a:pPr>
            <a:r>
              <a:rPr lang="en-US" sz="1400" dirty="0">
                <a:solidFill>
                  <a:srgbClr val="1E293B"/>
                </a:solidFill>
                <a:latin typeface="Times New Roman" panose="02020603050405020304" pitchFamily="18" charset="0"/>
                <a:ea typeface="Consolas" pitchFamily="34" charset="-122"/>
                <a:cs typeface="Times New Roman" panose="02020603050405020304" pitchFamily="18" charset="0"/>
              </a:rPr>
              <a:t>→ conn.close()</a:t>
            </a:r>
            <a:endParaRPr lang="en-US" sz="1400" dirty="0">
              <a:latin typeface="Times New Roman" panose="02020603050405020304" pitchFamily="18" charset="0"/>
              <a:cs typeface="Times New Roman" panose="02020603050405020304" pitchFamily="18" charset="0"/>
            </a:endParaRPr>
          </a:p>
        </p:txBody>
      </p:sp>
      <p:sp>
        <p:nvSpPr>
          <p:cNvPr id="88" name="Text 14"/>
          <p:cNvSpPr/>
          <p:nvPr/>
        </p:nvSpPr>
        <p:spPr>
          <a:xfrm>
            <a:off x="836875" y="1896071"/>
            <a:ext cx="4297680" cy="460155"/>
          </a:xfrm>
          <a:prstGeom prst="rect">
            <a:avLst/>
          </a:prstGeom>
          <a:noFill/>
          <a:ln/>
        </p:spPr>
        <p:txBody>
          <a:bodyPr wrap="square" rtlCol="0" anchor="ctr"/>
          <a:lstStyle/>
          <a:p>
            <a:pPr algn="just"/>
            <a:r>
              <a:rPr lang="en-US" sz="1600" b="1" dirty="0">
                <a:solidFill>
                  <a:srgbClr val="0D2B55"/>
                </a:solidFill>
                <a:latin typeface="Times New Roman" panose="02020603050405020304" pitchFamily="18" charset="0"/>
                <a:ea typeface="Calibri" pitchFamily="34" charset="-122"/>
                <a:cs typeface="Times New Roman" panose="02020603050405020304" pitchFamily="18" charset="0"/>
              </a:rPr>
              <a:t>Les 5</a:t>
            </a:r>
            <a:r>
              <a:rPr lang="en-US" sz="1600" b="1" dirty="0" smtClean="0">
                <a:solidFill>
                  <a:srgbClr val="0D2B55"/>
                </a:solidFill>
                <a:latin typeface="Times New Roman" panose="02020603050405020304" pitchFamily="18" charset="0"/>
                <a:ea typeface="Calibri" pitchFamily="34" charset="-122"/>
                <a:cs typeface="Times New Roman" panose="02020603050405020304" pitchFamily="18" charset="0"/>
              </a:rPr>
              <a:t> </a:t>
            </a:r>
            <a:r>
              <a:rPr lang="en-US" sz="1600" b="1" dirty="0">
                <a:solidFill>
                  <a:srgbClr val="0D2B55"/>
                </a:solidFill>
                <a:latin typeface="Times New Roman" panose="02020603050405020304" pitchFamily="18" charset="0"/>
                <a:ea typeface="Calibri" pitchFamily="34" charset="-122"/>
                <a:cs typeface="Times New Roman" panose="02020603050405020304" pitchFamily="18" charset="0"/>
              </a:rPr>
              <a:t>étapes JDBC</a:t>
            </a:r>
            <a:endParaRPr lang="en-US" sz="1600" dirty="0">
              <a:latin typeface="Times New Roman" panose="02020603050405020304" pitchFamily="18" charset="0"/>
              <a:cs typeface="Times New Roman" panose="02020603050405020304" pitchFamily="18" charset="0"/>
            </a:endParaRPr>
          </a:p>
        </p:txBody>
      </p:sp>
      <p:sp>
        <p:nvSpPr>
          <p:cNvPr id="43" name="Titre 3">
            <a:extLst>
              <a:ext uri="{FF2B5EF4-FFF2-40B4-BE49-F238E27FC236}">
                <a16:creationId xmlns:a16="http://schemas.microsoft.com/office/drawing/2014/main" id="{FD2745D9-D935-5DCC-A026-8C0361F73C9F}"/>
              </a:ext>
            </a:extLst>
          </p:cNvPr>
          <p:cNvSpPr txBox="1">
            <a:spLocks/>
          </p:cNvSpPr>
          <p:nvPr/>
        </p:nvSpPr>
        <p:spPr bwMode="auto">
          <a:xfrm>
            <a:off x="684213" y="33131"/>
            <a:ext cx="8064500" cy="66558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a:lstStyle>
          <a:p>
            <a:pPr marL="514350" indent="-514350">
              <a:buFont typeface="+mj-lt"/>
              <a:buAutoNum type="romanUcPeriod" startAt="2"/>
            </a:pPr>
            <a:r>
              <a:rPr lang="fr-CI" sz="2400" kern="0" smtClean="0">
                <a:solidFill>
                  <a:srgbClr val="FF0000"/>
                </a:solidFill>
              </a:rPr>
              <a:t>JAVA DATABASE CONNECTIVITY</a:t>
            </a:r>
            <a:endParaRPr lang="fr-CI" sz="2400" kern="0" dirty="0">
              <a:solidFill>
                <a:srgbClr val="FF0000"/>
              </a:solidFill>
            </a:endParaRPr>
          </a:p>
        </p:txBody>
      </p:sp>
    </p:spTree>
    <p:extLst>
      <p:ext uri="{BB962C8B-B14F-4D97-AF65-F5344CB8AC3E}">
        <p14:creationId xmlns:p14="http://schemas.microsoft.com/office/powerpoint/2010/main" val="16294278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72008" y="6381328"/>
            <a:ext cx="1691680" cy="476672"/>
          </a:xfrm>
          <a:prstGeom prst="rect">
            <a:avLst/>
          </a:prstGeom>
          <a:solidFill>
            <a:schemeClr val="bg1"/>
          </a:solidFill>
        </p:spPr>
        <p:txBody>
          <a:bodyPr wrap="square" rtlCol="0">
            <a:spAutoFit/>
          </a:bodyPr>
          <a:lstStyle/>
          <a:p>
            <a:endParaRPr lang="fr-CI" noProof="0" dirty="0"/>
          </a:p>
        </p:txBody>
      </p:sp>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p:cNvSpPr txBox="1"/>
          <p:nvPr/>
        </p:nvSpPr>
        <p:spPr>
          <a:xfrm>
            <a:off x="714719" y="913673"/>
            <a:ext cx="7498538" cy="923330"/>
          </a:xfrm>
          <a:prstGeom prst="rect">
            <a:avLst/>
          </a:prstGeom>
          <a:noFill/>
        </p:spPr>
        <p:txBody>
          <a:bodyPr wrap="square" rtlCol="0">
            <a:spAutoFit/>
          </a:bodyPr>
          <a:lstStyle/>
          <a:p>
            <a:pPr marL="285750" indent="-285750" algn="just">
              <a:buFont typeface="Courier New" panose="02070309020205020404" pitchFamily="49" charset="0"/>
              <a:buChar char="o"/>
            </a:pPr>
            <a:r>
              <a:rPr lang="fr-FR" b="1" dirty="0" smtClean="0">
                <a:latin typeface="Times New Roman" panose="02020603050405020304" pitchFamily="18" charset="0"/>
                <a:cs typeface="Times New Roman" panose="02020603050405020304" pitchFamily="18" charset="0"/>
              </a:rPr>
              <a:t>Exemple complet JDBC avec MySQL</a:t>
            </a:r>
          </a:p>
          <a:p>
            <a:pPr algn="just"/>
            <a:endParaRPr lang="fr-FR" dirty="0" smtClean="0">
              <a:latin typeface="Times New Roman" panose="02020603050405020304" pitchFamily="18" charset="0"/>
              <a:cs typeface="Times New Roman" panose="02020603050405020304" pitchFamily="18" charset="0"/>
            </a:endParaRPr>
          </a:p>
          <a:p>
            <a:pPr algn="just"/>
            <a:endParaRPr lang="fr-FR" dirty="0">
              <a:latin typeface="Times New Roman" panose="02020603050405020304" pitchFamily="18" charset="0"/>
              <a:cs typeface="Times New Roman" panose="02020603050405020304" pitchFamily="18" charset="0"/>
            </a:endParaRPr>
          </a:p>
        </p:txBody>
      </p:sp>
      <p:sp>
        <p:nvSpPr>
          <p:cNvPr id="33" name="Text 2"/>
          <p:cNvSpPr/>
          <p:nvPr/>
        </p:nvSpPr>
        <p:spPr>
          <a:xfrm>
            <a:off x="611486" y="163449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import java.sql.*;</a:t>
            </a:r>
            <a:endParaRPr lang="en-US" sz="1600" b="1" dirty="0">
              <a:latin typeface="Times New Roman" panose="02020603050405020304" pitchFamily="18" charset="0"/>
              <a:cs typeface="Times New Roman" panose="02020603050405020304" pitchFamily="18" charset="0"/>
            </a:endParaRPr>
          </a:p>
        </p:txBody>
      </p:sp>
      <p:sp>
        <p:nvSpPr>
          <p:cNvPr id="34" name="Text 3"/>
          <p:cNvSpPr/>
          <p:nvPr/>
        </p:nvSpPr>
        <p:spPr>
          <a:xfrm>
            <a:off x="611486" y="1840230"/>
            <a:ext cx="7921028" cy="210312"/>
          </a:xfrm>
          <a:prstGeom prst="rect">
            <a:avLst/>
          </a:prstGeom>
          <a:noFill/>
          <a:ln/>
        </p:spPr>
        <p:txBody>
          <a:bodyPr wrap="square" rtlCol="0" anchor="ctr"/>
          <a:lstStyle/>
          <a:p>
            <a:endParaRPr lang="en-US" sz="1600" b="1" dirty="0">
              <a:latin typeface="Times New Roman" panose="02020603050405020304" pitchFamily="18" charset="0"/>
              <a:cs typeface="Times New Roman" panose="02020603050405020304" pitchFamily="18" charset="0"/>
            </a:endParaRPr>
          </a:p>
        </p:txBody>
      </p:sp>
      <p:sp>
        <p:nvSpPr>
          <p:cNvPr id="35" name="Text 4"/>
          <p:cNvSpPr/>
          <p:nvPr/>
        </p:nvSpPr>
        <p:spPr>
          <a:xfrm>
            <a:off x="611486" y="204597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public class ConnexionMySQL {</a:t>
            </a:r>
            <a:endParaRPr lang="en-US" sz="1600" b="1" dirty="0">
              <a:latin typeface="Times New Roman" panose="02020603050405020304" pitchFamily="18" charset="0"/>
              <a:cs typeface="Times New Roman" panose="02020603050405020304" pitchFamily="18" charset="0"/>
            </a:endParaRPr>
          </a:p>
        </p:txBody>
      </p:sp>
      <p:sp>
        <p:nvSpPr>
          <p:cNvPr id="36" name="Text 5"/>
          <p:cNvSpPr/>
          <p:nvPr/>
        </p:nvSpPr>
        <p:spPr>
          <a:xfrm>
            <a:off x="611486" y="225171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public static void main(String[] args) {</a:t>
            </a:r>
            <a:endParaRPr lang="en-US" sz="1600" b="1" dirty="0">
              <a:latin typeface="Times New Roman" panose="02020603050405020304" pitchFamily="18" charset="0"/>
              <a:cs typeface="Times New Roman" panose="02020603050405020304" pitchFamily="18" charset="0"/>
            </a:endParaRPr>
          </a:p>
        </p:txBody>
      </p:sp>
      <p:sp>
        <p:nvSpPr>
          <p:cNvPr id="37" name="Text 6"/>
          <p:cNvSpPr/>
          <p:nvPr/>
        </p:nvSpPr>
        <p:spPr>
          <a:xfrm>
            <a:off x="611486" y="245745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String url =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"jdbc:mysql://localhost:3306/mabase";</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38" name="Text 7"/>
          <p:cNvSpPr/>
          <p:nvPr/>
        </p:nvSpPr>
        <p:spPr>
          <a:xfrm>
            <a:off x="611486" y="266319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String user =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"root";</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39" name="Text 8"/>
          <p:cNvSpPr/>
          <p:nvPr/>
        </p:nvSpPr>
        <p:spPr>
          <a:xfrm>
            <a:off x="611486" y="2868795"/>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String password =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"monmotdepasse";</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40" name="Text 9"/>
          <p:cNvSpPr/>
          <p:nvPr/>
        </p:nvSpPr>
        <p:spPr>
          <a:xfrm>
            <a:off x="611486" y="3074670"/>
            <a:ext cx="7921028" cy="210312"/>
          </a:xfrm>
          <a:prstGeom prst="rect">
            <a:avLst/>
          </a:prstGeom>
          <a:noFill/>
          <a:ln/>
        </p:spPr>
        <p:txBody>
          <a:bodyPr wrap="square" rtlCol="0" anchor="ctr"/>
          <a:lstStyle/>
          <a:p>
            <a:endParaRPr lang="en-US" sz="1600" b="1" dirty="0">
              <a:latin typeface="Times New Roman" panose="02020603050405020304" pitchFamily="18" charset="0"/>
              <a:cs typeface="Times New Roman" panose="02020603050405020304" pitchFamily="18" charset="0"/>
            </a:endParaRPr>
          </a:p>
        </p:txBody>
      </p:sp>
      <p:sp>
        <p:nvSpPr>
          <p:cNvPr id="41" name="Text 10"/>
          <p:cNvSpPr/>
          <p:nvPr/>
        </p:nvSpPr>
        <p:spPr>
          <a:xfrm>
            <a:off x="611486" y="328041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 try </a:t>
            </a:r>
            <a:r>
              <a:rPr lang="en-US" sz="1600" b="1" dirty="0">
                <a:latin typeface="Times New Roman" panose="02020603050405020304" pitchFamily="18" charset="0"/>
                <a:ea typeface="Consolas" pitchFamily="34" charset="-122"/>
                <a:cs typeface="Times New Roman" panose="02020603050405020304" pitchFamily="18" charset="0"/>
              </a:rPr>
              <a:t>(Connection conn = DriverManager.getConnection(url, user, password)) {</a:t>
            </a:r>
            <a:endParaRPr lang="en-US" sz="1600" b="1" dirty="0">
              <a:latin typeface="Times New Roman" panose="02020603050405020304" pitchFamily="18" charset="0"/>
              <a:cs typeface="Times New Roman" panose="02020603050405020304" pitchFamily="18" charset="0"/>
            </a:endParaRPr>
          </a:p>
        </p:txBody>
      </p:sp>
      <p:sp>
        <p:nvSpPr>
          <p:cNvPr id="42" name="Text 11"/>
          <p:cNvSpPr/>
          <p:nvPr/>
        </p:nvSpPr>
        <p:spPr>
          <a:xfrm>
            <a:off x="611486" y="348615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String sql =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"SELECT * FROM etudiants";</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43" name="Text 12"/>
          <p:cNvSpPr/>
          <p:nvPr/>
        </p:nvSpPr>
        <p:spPr>
          <a:xfrm>
            <a:off x="611486" y="369189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Statement stmt = conn.createStatement();</a:t>
            </a:r>
            <a:endParaRPr lang="en-US" sz="1600" b="1" dirty="0">
              <a:latin typeface="Times New Roman" panose="02020603050405020304" pitchFamily="18" charset="0"/>
              <a:cs typeface="Times New Roman" panose="02020603050405020304" pitchFamily="18" charset="0"/>
            </a:endParaRPr>
          </a:p>
        </p:txBody>
      </p:sp>
      <p:sp>
        <p:nvSpPr>
          <p:cNvPr id="44" name="Text 13"/>
          <p:cNvSpPr/>
          <p:nvPr/>
        </p:nvSpPr>
        <p:spPr>
          <a:xfrm>
            <a:off x="611486" y="389763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ResultSet rs = stmt.executeQuery(sql);</a:t>
            </a:r>
            <a:endParaRPr lang="en-US" sz="1600" b="1" dirty="0">
              <a:latin typeface="Times New Roman" panose="02020603050405020304" pitchFamily="18" charset="0"/>
              <a:cs typeface="Times New Roman" panose="02020603050405020304" pitchFamily="18" charset="0"/>
            </a:endParaRPr>
          </a:p>
        </p:txBody>
      </p:sp>
      <p:sp>
        <p:nvSpPr>
          <p:cNvPr id="45" name="Text 14"/>
          <p:cNvSpPr/>
          <p:nvPr/>
        </p:nvSpPr>
        <p:spPr>
          <a:xfrm>
            <a:off x="611486" y="4103370"/>
            <a:ext cx="7921028" cy="210312"/>
          </a:xfrm>
          <a:prstGeom prst="rect">
            <a:avLst/>
          </a:prstGeom>
          <a:noFill/>
          <a:ln/>
        </p:spPr>
        <p:txBody>
          <a:bodyPr wrap="square" rtlCol="0" anchor="ctr"/>
          <a:lstStyle/>
          <a:p>
            <a:endParaRPr lang="en-US" sz="1600" b="1" dirty="0">
              <a:latin typeface="Times New Roman" panose="02020603050405020304" pitchFamily="18" charset="0"/>
              <a:cs typeface="Times New Roman" panose="02020603050405020304" pitchFamily="18" charset="0"/>
            </a:endParaRPr>
          </a:p>
        </p:txBody>
      </p:sp>
      <p:sp>
        <p:nvSpPr>
          <p:cNvPr id="46" name="Text 15"/>
          <p:cNvSpPr/>
          <p:nvPr/>
        </p:nvSpPr>
        <p:spPr>
          <a:xfrm>
            <a:off x="611486" y="430911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while</a:t>
            </a:r>
            <a:r>
              <a:rPr lang="en-US" sz="1600" b="1" dirty="0">
                <a:latin typeface="Times New Roman" panose="02020603050405020304" pitchFamily="18" charset="0"/>
                <a:ea typeface="Consolas" pitchFamily="34" charset="-122"/>
                <a:cs typeface="Times New Roman" panose="02020603050405020304" pitchFamily="18" charset="0"/>
              </a:rPr>
              <a:t> (rs.next()) {</a:t>
            </a:r>
            <a:endParaRPr lang="en-US" sz="1600" b="1" dirty="0">
              <a:latin typeface="Times New Roman" panose="02020603050405020304" pitchFamily="18" charset="0"/>
              <a:cs typeface="Times New Roman" panose="02020603050405020304" pitchFamily="18" charset="0"/>
            </a:endParaRPr>
          </a:p>
        </p:txBody>
      </p:sp>
      <p:sp>
        <p:nvSpPr>
          <p:cNvPr id="47" name="Text 16"/>
          <p:cNvSpPr/>
          <p:nvPr/>
        </p:nvSpPr>
        <p:spPr>
          <a:xfrm>
            <a:off x="611486" y="451485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System.out.println(rs.getString("nom"));</a:t>
            </a:r>
            <a:endParaRPr lang="en-US" sz="1600" b="1" dirty="0">
              <a:latin typeface="Times New Roman" panose="02020603050405020304" pitchFamily="18" charset="0"/>
              <a:cs typeface="Times New Roman" panose="02020603050405020304" pitchFamily="18" charset="0"/>
            </a:endParaRPr>
          </a:p>
        </p:txBody>
      </p:sp>
      <p:sp>
        <p:nvSpPr>
          <p:cNvPr id="48" name="Text 17"/>
          <p:cNvSpPr/>
          <p:nvPr/>
        </p:nvSpPr>
        <p:spPr>
          <a:xfrm>
            <a:off x="611486" y="472059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49" name="Text 18"/>
          <p:cNvSpPr/>
          <p:nvPr/>
        </p:nvSpPr>
        <p:spPr>
          <a:xfrm>
            <a:off x="611486" y="492633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 </a:t>
            </a:r>
            <a:r>
              <a:rPr lang="en-US" sz="1600" b="1" dirty="0">
                <a:solidFill>
                  <a:srgbClr val="FF0000"/>
                </a:solidFill>
                <a:latin typeface="Times New Roman" panose="02020603050405020304" pitchFamily="18" charset="0"/>
                <a:ea typeface="Consolas" pitchFamily="34" charset="-122"/>
                <a:cs typeface="Times New Roman" panose="02020603050405020304" pitchFamily="18" charset="0"/>
              </a:rPr>
              <a:t>catch (SQLException e) </a:t>
            </a:r>
            <a:r>
              <a:rPr lang="en-US" sz="1600" b="1" dirty="0">
                <a:latin typeface="Times New Roman" panose="02020603050405020304" pitchFamily="18" charset="0"/>
                <a:ea typeface="Consolas" pitchFamily="34" charset="-122"/>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p:txBody>
      </p:sp>
      <p:sp>
        <p:nvSpPr>
          <p:cNvPr id="50" name="Text 19"/>
          <p:cNvSpPr/>
          <p:nvPr/>
        </p:nvSpPr>
        <p:spPr>
          <a:xfrm>
            <a:off x="611486" y="513207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e.printStackTrace();</a:t>
            </a:r>
            <a:endParaRPr lang="en-US" sz="1600" b="1" dirty="0">
              <a:latin typeface="Times New Roman" panose="02020603050405020304" pitchFamily="18" charset="0"/>
              <a:cs typeface="Times New Roman" panose="02020603050405020304" pitchFamily="18" charset="0"/>
            </a:endParaRPr>
          </a:p>
        </p:txBody>
      </p:sp>
      <p:sp>
        <p:nvSpPr>
          <p:cNvPr id="51" name="Text 20"/>
          <p:cNvSpPr/>
          <p:nvPr/>
        </p:nvSpPr>
        <p:spPr>
          <a:xfrm>
            <a:off x="611486" y="533781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52" name="Text 21"/>
          <p:cNvSpPr/>
          <p:nvPr/>
        </p:nvSpPr>
        <p:spPr>
          <a:xfrm>
            <a:off x="611486" y="554355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p:txBody>
      </p:sp>
      <p:sp>
        <p:nvSpPr>
          <p:cNvPr id="53" name="Text 22"/>
          <p:cNvSpPr/>
          <p:nvPr/>
        </p:nvSpPr>
        <p:spPr>
          <a:xfrm>
            <a:off x="611486" y="5749290"/>
            <a:ext cx="7921028" cy="210312"/>
          </a:xfrm>
          <a:prstGeom prst="rect">
            <a:avLst/>
          </a:prstGeom>
          <a:noFill/>
          <a:ln/>
        </p:spPr>
        <p:txBody>
          <a:bodyPr wrap="square" rtlCol="0" anchor="ctr"/>
          <a:lstStyle/>
          <a:p>
            <a:r>
              <a:rPr lang="en-US" sz="1600" b="1" dirty="0">
                <a:latin typeface="Times New Roman" panose="02020603050405020304" pitchFamily="18" charset="0"/>
                <a:ea typeface="Consolas" pitchFamily="34" charset="-122"/>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p:txBody>
      </p:sp>
      <p:sp>
        <p:nvSpPr>
          <p:cNvPr id="57" name="Titre 3">
            <a:extLst>
              <a:ext uri="{FF2B5EF4-FFF2-40B4-BE49-F238E27FC236}">
                <a16:creationId xmlns:a16="http://schemas.microsoft.com/office/drawing/2014/main" id="{FD2745D9-D935-5DCC-A026-8C0361F73C9F}"/>
              </a:ext>
            </a:extLst>
          </p:cNvPr>
          <p:cNvSpPr>
            <a:spLocks noGrp="1"/>
          </p:cNvSpPr>
          <p:nvPr>
            <p:ph type="title"/>
          </p:nvPr>
        </p:nvSpPr>
        <p:spPr/>
        <p:txBody>
          <a:bodyPr/>
          <a:lstStyle/>
          <a:p>
            <a:pPr marL="514350" indent="-514350">
              <a:buFont typeface="+mj-lt"/>
              <a:buAutoNum type="romanUcPeriod" startAt="2"/>
            </a:pPr>
            <a:r>
              <a:rPr lang="fr-CI" sz="2400" dirty="0" smtClean="0">
                <a:solidFill>
                  <a:srgbClr val="FF0000"/>
                </a:solidFill>
              </a:rPr>
              <a:t>JAVA DATABASE CONNECTIVITY</a:t>
            </a:r>
            <a:endParaRPr lang="fr-CI" sz="2400" noProof="0" dirty="0">
              <a:solidFill>
                <a:srgbClr val="FF0000"/>
              </a:solidFill>
            </a:endParaRPr>
          </a:p>
        </p:txBody>
      </p:sp>
      <p:pic>
        <p:nvPicPr>
          <p:cNvPr id="58" name="Image 57">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19679440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3"/>
            </a:pPr>
            <a:r>
              <a:rPr lang="fr-CI" sz="2400" noProof="0" dirty="0" smtClean="0">
                <a:solidFill>
                  <a:srgbClr val="FF0000"/>
                </a:solidFill>
              </a:rPr>
              <a:t>MAPPING OBJECT RELATIONNEL</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6" name="Text 1"/>
          <p:cNvSpPr/>
          <p:nvPr/>
        </p:nvSpPr>
        <p:spPr>
          <a:xfrm>
            <a:off x="228600" y="1091850"/>
            <a:ext cx="8412480" cy="777240"/>
          </a:xfrm>
          <a:prstGeom prst="rect">
            <a:avLst/>
          </a:prstGeom>
          <a:noFill/>
          <a:ln/>
        </p:spPr>
        <p:txBody>
          <a:bodyPr wrap="square" rtlCol="0" anchor="ctr"/>
          <a:lstStyle/>
          <a:p>
            <a:pPr algn="just"/>
            <a:r>
              <a:rPr lang="en-US" b="1" dirty="0" smtClean="0">
                <a:solidFill>
                  <a:srgbClr val="FFFFFF"/>
                </a:solidFill>
                <a:latin typeface="Times New Roman" panose="02020603050405020304" pitchFamily="18" charset="0"/>
                <a:ea typeface="Calibri" pitchFamily="34" charset="-122"/>
                <a:cs typeface="Times New Roman" panose="02020603050405020304" pitchFamily="18" charset="0"/>
              </a:rPr>
              <a:t>L</a:t>
            </a:r>
            <a:r>
              <a:rPr lang="fr-FR" dirty="0" smtClean="0">
                <a:latin typeface="Times New Roman" panose="02020603050405020304" pitchFamily="18" charset="0"/>
                <a:cs typeface="Times New Roman" panose="02020603050405020304" pitchFamily="18" charset="0"/>
              </a:rPr>
              <a:t>ORM </a:t>
            </a:r>
            <a:r>
              <a:rPr lang="fr-FR" dirty="0">
                <a:latin typeface="Times New Roman" panose="02020603050405020304" pitchFamily="18" charset="0"/>
                <a:cs typeface="Times New Roman" panose="02020603050405020304" pitchFamily="18" charset="0"/>
              </a:rPr>
              <a:t>(Object-</a:t>
            </a:r>
            <a:r>
              <a:rPr lang="fr-FR" dirty="0" err="1">
                <a:latin typeface="Times New Roman" panose="02020603050405020304" pitchFamily="18" charset="0"/>
                <a:cs typeface="Times New Roman" panose="02020603050405020304" pitchFamily="18" charset="0"/>
              </a:rPr>
              <a:t>Relational</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Mapping</a:t>
            </a:r>
            <a:r>
              <a:rPr lang="fr-FR" dirty="0">
                <a:latin typeface="Times New Roman" panose="02020603050405020304" pitchFamily="18" charset="0"/>
                <a:cs typeface="Times New Roman" panose="02020603050405020304" pitchFamily="18" charset="0"/>
              </a:rPr>
              <a:t>) = faire correspondre </a:t>
            </a:r>
            <a:r>
              <a:rPr lang="fr-FR" dirty="0" smtClean="0">
                <a:latin typeface="Times New Roman" panose="02020603050405020304" pitchFamily="18" charset="0"/>
                <a:cs typeface="Times New Roman" panose="02020603050405020304" pitchFamily="18" charset="0"/>
              </a:rPr>
              <a:t>automatiquement le </a:t>
            </a:r>
            <a:r>
              <a:rPr lang="fr-FR" dirty="0">
                <a:latin typeface="Times New Roman" panose="02020603050405020304" pitchFamily="18" charset="0"/>
                <a:cs typeface="Times New Roman" panose="02020603050405020304" pitchFamily="18" charset="0"/>
              </a:rPr>
              <a:t>monde objet Java au monde relationnel SQL.</a:t>
            </a:r>
          </a:p>
          <a:p>
            <a:pPr algn="just"/>
            <a:r>
              <a:rPr lang="en-US" b="1" dirty="0" smtClean="0">
                <a:solidFill>
                  <a:srgbClr val="FFFFFF"/>
                </a:solidFill>
                <a:latin typeface="Times New Roman" panose="02020603050405020304" pitchFamily="18" charset="0"/>
                <a:ea typeface="Calibri" pitchFamily="34" charset="-122"/>
                <a:cs typeface="Times New Roman" panose="02020603050405020304" pitchFamily="18" charset="0"/>
              </a:rPr>
              <a:t> </a:t>
            </a: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Objet-Relationnel (ORM)</a:t>
            </a:r>
            <a:endParaRPr lang="en-US" dirty="0">
              <a:latin typeface="Times New Roman" panose="02020603050405020304" pitchFamily="18" charset="0"/>
              <a:cs typeface="Times New Roman" panose="02020603050405020304" pitchFamily="18" charset="0"/>
            </a:endParaRPr>
          </a:p>
        </p:txBody>
      </p:sp>
      <p:sp>
        <p:nvSpPr>
          <p:cNvPr id="7" name="Text 2"/>
          <p:cNvSpPr/>
          <p:nvPr/>
        </p:nvSpPr>
        <p:spPr>
          <a:xfrm>
            <a:off x="365760" y="1771650"/>
            <a:ext cx="8412480" cy="320040"/>
          </a:xfrm>
          <a:prstGeom prst="rect">
            <a:avLst/>
          </a:prstGeom>
          <a:noFill/>
          <a:ln/>
        </p:spPr>
        <p:txBody>
          <a:bodyPr wrap="square" rtlCol="0" anchor="ctr"/>
          <a:lstStyle/>
          <a:p>
            <a:r>
              <a:rPr lang="en-US" sz="1600" b="1" dirty="0" smtClean="0">
                <a:solidFill>
                  <a:srgbClr val="0D2B55"/>
                </a:solidFill>
                <a:latin typeface="Times New Roman" panose="02020603050405020304" pitchFamily="18" charset="0"/>
                <a:ea typeface="Calibri" pitchFamily="34" charset="-122"/>
                <a:cs typeface="Times New Roman" panose="02020603050405020304" pitchFamily="18" charset="0"/>
              </a:rPr>
              <a:t>                                                  Le </a:t>
            </a:r>
            <a:r>
              <a:rPr lang="en-US" sz="1600" b="1" dirty="0">
                <a:solidFill>
                  <a:srgbClr val="0D2B55"/>
                </a:solidFill>
                <a:latin typeface="Times New Roman" panose="02020603050405020304" pitchFamily="18" charset="0"/>
                <a:ea typeface="Calibri" pitchFamily="34" charset="-122"/>
                <a:cs typeface="Times New Roman" panose="02020603050405020304" pitchFamily="18" charset="0"/>
              </a:rPr>
              <a:t>problème : deux mondes différents</a:t>
            </a:r>
            <a:endParaRPr lang="en-US" sz="1600" dirty="0">
              <a:latin typeface="Times New Roman" panose="02020603050405020304" pitchFamily="18" charset="0"/>
              <a:cs typeface="Times New Roman" panose="02020603050405020304" pitchFamily="18" charset="0"/>
            </a:endParaRPr>
          </a:p>
        </p:txBody>
      </p:sp>
      <p:sp>
        <p:nvSpPr>
          <p:cNvPr id="8" name="Shape 3"/>
          <p:cNvSpPr/>
          <p:nvPr/>
        </p:nvSpPr>
        <p:spPr>
          <a:xfrm>
            <a:off x="365760" y="2183130"/>
            <a:ext cx="2926080" cy="2560320"/>
          </a:xfrm>
          <a:prstGeom prst="rect">
            <a:avLst/>
          </a:prstGeom>
          <a:solidFill>
            <a:srgbClr val="E8F5E9"/>
          </a:solidFill>
          <a:ln w="12700">
            <a:solidFill>
              <a:srgbClr val="27AE60"/>
            </a:solidFill>
            <a:prstDash val="solid"/>
          </a:ln>
        </p:spPr>
      </p:sp>
      <p:sp>
        <p:nvSpPr>
          <p:cNvPr id="9" name="Shape 4"/>
          <p:cNvSpPr/>
          <p:nvPr/>
        </p:nvSpPr>
        <p:spPr>
          <a:xfrm>
            <a:off x="365760" y="2183130"/>
            <a:ext cx="2926080" cy="384048"/>
          </a:xfrm>
          <a:prstGeom prst="rect">
            <a:avLst/>
          </a:prstGeom>
          <a:solidFill>
            <a:srgbClr val="27AE60"/>
          </a:solidFill>
          <a:ln w="12700">
            <a:solidFill>
              <a:srgbClr val="27AE60"/>
            </a:solidFill>
            <a:prstDash val="solid"/>
          </a:ln>
        </p:spPr>
      </p:sp>
      <p:sp>
        <p:nvSpPr>
          <p:cNvPr id="10" name="Text 5"/>
          <p:cNvSpPr/>
          <p:nvPr/>
        </p:nvSpPr>
        <p:spPr>
          <a:xfrm>
            <a:off x="365760" y="2183130"/>
            <a:ext cx="2926080" cy="384048"/>
          </a:xfrm>
          <a:prstGeom prst="rect">
            <a:avLst/>
          </a:prstGeom>
          <a:noFill/>
          <a:ln/>
        </p:spPr>
        <p:txBody>
          <a:bodyPr wrap="square" rtlCol="0" anchor="ctr"/>
          <a:lstStyle/>
          <a:p>
            <a:pPr algn="ct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Monde OBJET (Java)</a:t>
            </a:r>
            <a:endParaRPr lang="en-US" sz="1600" dirty="0">
              <a:latin typeface="Times New Roman" panose="02020603050405020304" pitchFamily="18" charset="0"/>
              <a:cs typeface="Times New Roman" panose="02020603050405020304" pitchFamily="18" charset="0"/>
            </a:endParaRPr>
          </a:p>
        </p:txBody>
      </p:sp>
      <p:sp>
        <p:nvSpPr>
          <p:cNvPr id="11" name="Text 6"/>
          <p:cNvSpPr/>
          <p:nvPr/>
        </p:nvSpPr>
        <p:spPr>
          <a:xfrm>
            <a:off x="502920" y="2658618"/>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class Etudiant { ... }</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502920" y="3042666"/>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class Cours { ... }</a:t>
            </a:r>
            <a:endParaRPr lang="en-US" sz="1600" dirty="0">
              <a:latin typeface="Times New Roman" panose="02020603050405020304" pitchFamily="18" charset="0"/>
              <a:cs typeface="Times New Roman" panose="02020603050405020304" pitchFamily="18" charset="0"/>
            </a:endParaRPr>
          </a:p>
        </p:txBody>
      </p:sp>
      <p:sp>
        <p:nvSpPr>
          <p:cNvPr id="13" name="Text 8"/>
          <p:cNvSpPr/>
          <p:nvPr/>
        </p:nvSpPr>
        <p:spPr>
          <a:xfrm>
            <a:off x="502920" y="3426714"/>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Héritage, Polymorphisme</a:t>
            </a:r>
            <a:endParaRPr lang="en-US" sz="1600" dirty="0">
              <a:latin typeface="Times New Roman" panose="02020603050405020304" pitchFamily="18" charset="0"/>
              <a:cs typeface="Times New Roman" panose="02020603050405020304" pitchFamily="18" charset="0"/>
            </a:endParaRPr>
          </a:p>
        </p:txBody>
      </p:sp>
      <p:sp>
        <p:nvSpPr>
          <p:cNvPr id="14" name="Text 9"/>
          <p:cNvSpPr/>
          <p:nvPr/>
        </p:nvSpPr>
        <p:spPr>
          <a:xfrm>
            <a:off x="502920" y="3810762"/>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Références entre objets</a:t>
            </a:r>
            <a:endParaRPr lang="en-US" sz="1600" dirty="0">
              <a:latin typeface="Times New Roman" panose="02020603050405020304" pitchFamily="18" charset="0"/>
              <a:cs typeface="Times New Roman" panose="02020603050405020304" pitchFamily="18" charset="0"/>
            </a:endParaRPr>
          </a:p>
        </p:txBody>
      </p:sp>
      <p:sp>
        <p:nvSpPr>
          <p:cNvPr id="15" name="Text 10"/>
          <p:cNvSpPr/>
          <p:nvPr/>
        </p:nvSpPr>
        <p:spPr>
          <a:xfrm>
            <a:off x="502920" y="4194810"/>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Collections (List, Set...)</a:t>
            </a:r>
            <a:endParaRPr lang="en-US" sz="1600" dirty="0">
              <a:latin typeface="Times New Roman" panose="02020603050405020304" pitchFamily="18" charset="0"/>
              <a:cs typeface="Times New Roman" panose="02020603050405020304" pitchFamily="18" charset="0"/>
            </a:endParaRPr>
          </a:p>
        </p:txBody>
      </p:sp>
      <p:sp>
        <p:nvSpPr>
          <p:cNvPr id="16" name="Shape 11"/>
          <p:cNvSpPr/>
          <p:nvPr/>
        </p:nvSpPr>
        <p:spPr>
          <a:xfrm>
            <a:off x="3429000" y="3143250"/>
            <a:ext cx="2286000" cy="914400"/>
          </a:xfrm>
          <a:prstGeom prst="rect">
            <a:avLst/>
          </a:prstGeom>
          <a:solidFill>
            <a:srgbClr val="F39C12"/>
          </a:solidFill>
          <a:ln w="12700">
            <a:solidFill>
              <a:srgbClr val="F39C12"/>
            </a:solidFill>
            <a:prstDash val="solid"/>
          </a:ln>
        </p:spPr>
      </p:sp>
      <p:sp>
        <p:nvSpPr>
          <p:cNvPr id="17" name="Text 12"/>
          <p:cNvSpPr/>
          <p:nvPr/>
        </p:nvSpPr>
        <p:spPr>
          <a:xfrm>
            <a:off x="3429000" y="3143250"/>
            <a:ext cx="2286000" cy="457200"/>
          </a:xfrm>
          <a:prstGeom prst="rect">
            <a:avLst/>
          </a:prstGeom>
          <a:noFill/>
          <a:ln/>
        </p:spPr>
        <p:txBody>
          <a:bodyPr wrap="square" rtlCol="0" anchor="ctr"/>
          <a:lstStyle/>
          <a:p>
            <a:pPr algn="ct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ORM</a:t>
            </a:r>
            <a:endParaRPr lang="en-US" sz="1600" dirty="0">
              <a:latin typeface="Times New Roman" panose="02020603050405020304" pitchFamily="18" charset="0"/>
              <a:cs typeface="Times New Roman" panose="02020603050405020304" pitchFamily="18" charset="0"/>
            </a:endParaRPr>
          </a:p>
        </p:txBody>
      </p:sp>
      <p:sp>
        <p:nvSpPr>
          <p:cNvPr id="18" name="Text 13"/>
          <p:cNvSpPr/>
          <p:nvPr/>
        </p:nvSpPr>
        <p:spPr>
          <a:xfrm>
            <a:off x="3429000" y="3600450"/>
            <a:ext cx="2286000" cy="457200"/>
          </a:xfrm>
          <a:prstGeom prst="rect">
            <a:avLst/>
          </a:prstGeom>
          <a:noFill/>
          <a:ln/>
        </p:spPr>
        <p:txBody>
          <a:bodyPr wrap="square" rtlCol="0" anchor="ctr"/>
          <a:lstStyle/>
          <a:p>
            <a:pPr algn="ct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Fait la</a:t>
            </a:r>
            <a:endParaRPr lang="en-US" sz="1600" dirty="0">
              <a:latin typeface="Times New Roman" panose="02020603050405020304" pitchFamily="18" charset="0"/>
              <a:cs typeface="Times New Roman" panose="02020603050405020304" pitchFamily="18" charset="0"/>
            </a:endParaRPr>
          </a:p>
          <a:p>
            <a:pPr algn="ct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traduction</a:t>
            </a:r>
            <a:endParaRPr lang="en-US" sz="1600" dirty="0">
              <a:latin typeface="Times New Roman" panose="02020603050405020304" pitchFamily="18" charset="0"/>
              <a:cs typeface="Times New Roman" panose="02020603050405020304" pitchFamily="18" charset="0"/>
            </a:endParaRPr>
          </a:p>
        </p:txBody>
      </p:sp>
      <p:sp>
        <p:nvSpPr>
          <p:cNvPr id="19" name="Shape 14"/>
          <p:cNvSpPr/>
          <p:nvPr/>
        </p:nvSpPr>
        <p:spPr>
          <a:xfrm>
            <a:off x="5852160" y="2183130"/>
            <a:ext cx="2926080" cy="2560320"/>
          </a:xfrm>
          <a:prstGeom prst="rect">
            <a:avLst/>
          </a:prstGeom>
          <a:solidFill>
            <a:srgbClr val="E3F2FD"/>
          </a:solidFill>
          <a:ln w="12700">
            <a:solidFill>
              <a:srgbClr val="1A5276"/>
            </a:solidFill>
            <a:prstDash val="solid"/>
          </a:ln>
        </p:spPr>
      </p:sp>
      <p:sp>
        <p:nvSpPr>
          <p:cNvPr id="20" name="Shape 15"/>
          <p:cNvSpPr/>
          <p:nvPr/>
        </p:nvSpPr>
        <p:spPr>
          <a:xfrm>
            <a:off x="5852160" y="2183130"/>
            <a:ext cx="2926080" cy="384048"/>
          </a:xfrm>
          <a:prstGeom prst="rect">
            <a:avLst/>
          </a:prstGeom>
          <a:solidFill>
            <a:srgbClr val="1A5276"/>
          </a:solidFill>
          <a:ln w="12700">
            <a:solidFill>
              <a:srgbClr val="1A5276"/>
            </a:solidFill>
            <a:prstDash val="solid"/>
          </a:ln>
        </p:spPr>
      </p:sp>
      <p:sp>
        <p:nvSpPr>
          <p:cNvPr id="21" name="Text 16"/>
          <p:cNvSpPr/>
          <p:nvPr/>
        </p:nvSpPr>
        <p:spPr>
          <a:xfrm>
            <a:off x="5852160" y="2183130"/>
            <a:ext cx="2926080" cy="384048"/>
          </a:xfrm>
          <a:prstGeom prst="rect">
            <a:avLst/>
          </a:prstGeom>
          <a:noFill/>
          <a:ln/>
        </p:spPr>
        <p:txBody>
          <a:bodyPr wrap="square" rtlCol="0" anchor="ctr"/>
          <a:lstStyle/>
          <a:p>
            <a:pPr algn="ctr"/>
            <a:r>
              <a:rPr lang="en-US" sz="1600" b="1" dirty="0">
                <a:solidFill>
                  <a:srgbClr val="FFFFFF"/>
                </a:solidFill>
                <a:latin typeface="Times New Roman" panose="02020603050405020304" pitchFamily="18" charset="0"/>
                <a:ea typeface="Calibri" pitchFamily="34" charset="-122"/>
                <a:cs typeface="Times New Roman" panose="02020603050405020304" pitchFamily="18" charset="0"/>
              </a:rPr>
              <a:t>Monde BDD (SQL)</a:t>
            </a:r>
            <a:endParaRPr lang="en-US" sz="1600" dirty="0">
              <a:latin typeface="Times New Roman" panose="02020603050405020304" pitchFamily="18" charset="0"/>
              <a:cs typeface="Times New Roman" panose="02020603050405020304" pitchFamily="18" charset="0"/>
            </a:endParaRPr>
          </a:p>
        </p:txBody>
      </p:sp>
      <p:sp>
        <p:nvSpPr>
          <p:cNvPr id="22" name="Text 17"/>
          <p:cNvSpPr/>
          <p:nvPr/>
        </p:nvSpPr>
        <p:spPr>
          <a:xfrm>
            <a:off x="5989320" y="2658618"/>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Table ETUDIANT</a:t>
            </a:r>
            <a:endParaRPr lang="en-US" sz="1600" dirty="0">
              <a:latin typeface="Times New Roman" panose="02020603050405020304" pitchFamily="18" charset="0"/>
              <a:cs typeface="Times New Roman" panose="02020603050405020304" pitchFamily="18" charset="0"/>
            </a:endParaRPr>
          </a:p>
        </p:txBody>
      </p:sp>
      <p:sp>
        <p:nvSpPr>
          <p:cNvPr id="23" name="Text 18"/>
          <p:cNvSpPr/>
          <p:nvPr/>
        </p:nvSpPr>
        <p:spPr>
          <a:xfrm>
            <a:off x="5989320" y="3042666"/>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Table COURS</a:t>
            </a:r>
            <a:endParaRPr lang="en-US" sz="1600" dirty="0">
              <a:latin typeface="Times New Roman" panose="02020603050405020304" pitchFamily="18" charset="0"/>
              <a:cs typeface="Times New Roman" panose="02020603050405020304" pitchFamily="18" charset="0"/>
            </a:endParaRPr>
          </a:p>
        </p:txBody>
      </p:sp>
      <p:sp>
        <p:nvSpPr>
          <p:cNvPr id="24" name="Text 19"/>
          <p:cNvSpPr/>
          <p:nvPr/>
        </p:nvSpPr>
        <p:spPr>
          <a:xfrm>
            <a:off x="5989320" y="3426714"/>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Clés primaires/étrangères</a:t>
            </a:r>
            <a:endParaRPr lang="en-US" sz="1600" dirty="0">
              <a:latin typeface="Times New Roman" panose="02020603050405020304" pitchFamily="18" charset="0"/>
              <a:cs typeface="Times New Roman" panose="02020603050405020304" pitchFamily="18" charset="0"/>
            </a:endParaRPr>
          </a:p>
        </p:txBody>
      </p:sp>
      <p:sp>
        <p:nvSpPr>
          <p:cNvPr id="25" name="Text 20"/>
          <p:cNvSpPr/>
          <p:nvPr/>
        </p:nvSpPr>
        <p:spPr>
          <a:xfrm>
            <a:off x="5989320" y="3810762"/>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Jointures entre tables</a:t>
            </a:r>
            <a:endParaRPr lang="en-US" sz="1600" dirty="0">
              <a:latin typeface="Times New Roman" panose="02020603050405020304" pitchFamily="18" charset="0"/>
              <a:cs typeface="Times New Roman" panose="02020603050405020304" pitchFamily="18" charset="0"/>
            </a:endParaRPr>
          </a:p>
        </p:txBody>
      </p:sp>
      <p:sp>
        <p:nvSpPr>
          <p:cNvPr id="26" name="Text 21"/>
          <p:cNvSpPr/>
          <p:nvPr/>
        </p:nvSpPr>
        <p:spPr>
          <a:xfrm>
            <a:off x="5989320" y="4194810"/>
            <a:ext cx="2651760" cy="347472"/>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 Lignes et colonnes</a:t>
            </a:r>
            <a:endParaRPr lang="en-US" sz="1600" dirty="0">
              <a:latin typeface="Times New Roman" panose="02020603050405020304" pitchFamily="18" charset="0"/>
              <a:cs typeface="Times New Roman" panose="02020603050405020304" pitchFamily="18" charset="0"/>
            </a:endParaRPr>
          </a:p>
        </p:txBody>
      </p:sp>
      <p:sp>
        <p:nvSpPr>
          <p:cNvPr id="27" name="Shape 22"/>
          <p:cNvSpPr/>
          <p:nvPr/>
        </p:nvSpPr>
        <p:spPr>
          <a:xfrm>
            <a:off x="365760" y="4926330"/>
            <a:ext cx="8412480" cy="685800"/>
          </a:xfrm>
          <a:prstGeom prst="rect">
            <a:avLst/>
          </a:prstGeom>
          <a:solidFill>
            <a:srgbClr val="EAF4FB"/>
          </a:solidFill>
          <a:ln w="19050">
            <a:solidFill>
              <a:srgbClr val="1ABC9C"/>
            </a:solidFill>
            <a:prstDash val="solid"/>
          </a:ln>
        </p:spPr>
      </p:sp>
      <p:sp>
        <p:nvSpPr>
          <p:cNvPr id="28" name="Text 23"/>
          <p:cNvSpPr/>
          <p:nvPr/>
        </p:nvSpPr>
        <p:spPr>
          <a:xfrm>
            <a:off x="548640" y="4972050"/>
            <a:ext cx="8046720" cy="594360"/>
          </a:xfrm>
          <a:prstGeom prst="rect">
            <a:avLst/>
          </a:prstGeom>
          <a:noFill/>
          <a:ln/>
        </p:spPr>
        <p:txBody>
          <a:bodyPr wrap="square" rtlCol="0" anchor="ctr"/>
          <a:lstStyle/>
          <a:p>
            <a:r>
              <a:rPr lang="en-US" sz="1600" dirty="0">
                <a:solidFill>
                  <a:srgbClr val="0D2B55"/>
                </a:solidFill>
                <a:latin typeface="Times New Roman" panose="02020603050405020304" pitchFamily="18" charset="0"/>
                <a:ea typeface="Calibri" pitchFamily="34" charset="-122"/>
                <a:cs typeface="Times New Roman" panose="02020603050405020304" pitchFamily="18" charset="0"/>
              </a:rPr>
              <a:t>L'ORM traduit automatiquement : classe → table, attribut → colonne, objet → ligne, référence → clé étrangère</a:t>
            </a:r>
            <a:endParaRPr lang="en-US" sz="1600" dirty="0">
              <a:latin typeface="Times New Roman" panose="02020603050405020304" pitchFamily="18" charset="0"/>
              <a:cs typeface="Times New Roman" panose="02020603050405020304" pitchFamily="18" charset="0"/>
            </a:endParaRPr>
          </a:p>
        </p:txBody>
      </p:sp>
      <p:pic>
        <p:nvPicPr>
          <p:cNvPr id="29"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20119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3"/>
            </a:pPr>
            <a:r>
              <a:rPr lang="fr-CI" sz="2400" noProof="0" dirty="0" smtClean="0">
                <a:solidFill>
                  <a:srgbClr val="FF0000"/>
                </a:solidFill>
              </a:rPr>
              <a:t>MAPPING OBJECT RELATIONNEL</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6" name="Text 1"/>
          <p:cNvSpPr/>
          <p:nvPr/>
        </p:nvSpPr>
        <p:spPr>
          <a:xfrm>
            <a:off x="228600" y="1091850"/>
            <a:ext cx="8412480" cy="777240"/>
          </a:xfrm>
          <a:prstGeom prst="rect">
            <a:avLst/>
          </a:prstGeom>
          <a:noFill/>
          <a:ln/>
        </p:spPr>
        <p:txBody>
          <a:bodyPr wrap="square" rtlCol="0" anchor="ctr"/>
          <a:lstStyle/>
          <a:p>
            <a:pPr algn="just"/>
            <a:r>
              <a:rPr lang="en-US" b="1" dirty="0" smtClean="0">
                <a:solidFill>
                  <a:srgbClr val="FFFFFF"/>
                </a:solidFill>
                <a:latin typeface="Times New Roman" panose="02020603050405020304" pitchFamily="18" charset="0"/>
                <a:ea typeface="Calibri" pitchFamily="34" charset="-122"/>
                <a:cs typeface="Times New Roman" panose="02020603050405020304" pitchFamily="18" charset="0"/>
              </a:rPr>
              <a:t>L</a:t>
            </a:r>
            <a:endParaRPr lang="en-US" dirty="0">
              <a:latin typeface="Times New Roman" panose="02020603050405020304" pitchFamily="18" charset="0"/>
              <a:cs typeface="Times New Roman" panose="02020603050405020304" pitchFamily="18" charset="0"/>
            </a:endParaRPr>
          </a:p>
        </p:txBody>
      </p:sp>
      <p:pic>
        <p:nvPicPr>
          <p:cNvPr id="29"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5"/>
          <a:stretch>
            <a:fillRect/>
          </a:stretch>
        </p:blipFill>
        <p:spPr>
          <a:xfrm>
            <a:off x="658866" y="980728"/>
            <a:ext cx="7128792" cy="4425383"/>
          </a:xfrm>
          <a:prstGeom prst="rect">
            <a:avLst/>
          </a:prstGeom>
        </p:spPr>
      </p:pic>
    </p:spTree>
    <p:extLst>
      <p:ext uri="{BB962C8B-B14F-4D97-AF65-F5344CB8AC3E}">
        <p14:creationId xmlns:p14="http://schemas.microsoft.com/office/powerpoint/2010/main" val="29493510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3"/>
            </a:pPr>
            <a:r>
              <a:rPr lang="fr-CI" sz="2400" noProof="0" dirty="0" smtClean="0">
                <a:solidFill>
                  <a:srgbClr val="FF0000"/>
                </a:solidFill>
              </a:rPr>
              <a:t>ORM Avantages, Inconvénients </a:t>
            </a:r>
            <a:r>
              <a:rPr lang="en-US" sz="2400" dirty="0">
                <a:solidFill>
                  <a:srgbClr val="FF0000"/>
                </a:solidFill>
              </a:rPr>
              <a:t>&amp;</a:t>
            </a:r>
            <a:r>
              <a:rPr lang="fr-CI" sz="2400" noProof="0" dirty="0" smtClean="0">
                <a:solidFill>
                  <a:srgbClr val="FF0000"/>
                </a:solidFill>
              </a:rPr>
              <a:t> cas Particuliers</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29"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Shape 3"/>
          <p:cNvSpPr/>
          <p:nvPr/>
        </p:nvSpPr>
        <p:spPr>
          <a:xfrm>
            <a:off x="395536" y="1602082"/>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31" name="Shape 4"/>
          <p:cNvSpPr/>
          <p:nvPr/>
        </p:nvSpPr>
        <p:spPr>
          <a:xfrm>
            <a:off x="395536" y="1602082"/>
            <a:ext cx="2743200" cy="347472"/>
          </a:xfrm>
          <a:prstGeom prst="rect">
            <a:avLst/>
          </a:prstGeom>
          <a:solidFill>
            <a:srgbClr val="2E7D32"/>
          </a:solidFill>
          <a:ln w="12700">
            <a:solidFill>
              <a:srgbClr val="2E7D32"/>
            </a:solidFill>
            <a:prstDash val="solid"/>
          </a:ln>
        </p:spPr>
      </p:sp>
      <p:sp>
        <p:nvSpPr>
          <p:cNvPr id="32" name="Text 5"/>
          <p:cNvSpPr/>
          <p:nvPr/>
        </p:nvSpPr>
        <p:spPr>
          <a:xfrm>
            <a:off x="486976" y="1602082"/>
            <a:ext cx="2560320" cy="347472"/>
          </a:xfrm>
          <a:prstGeom prst="rect">
            <a:avLst/>
          </a:prstGeom>
          <a:noFill/>
          <a:ln/>
        </p:spPr>
        <p:txBody>
          <a:bodyPr wrap="square" rtlCol="0" anchor="ctr"/>
          <a:lstStyle/>
          <a:p>
            <a:pPr marL="0" indent="0">
              <a:buNone/>
            </a:pPr>
            <a:r>
              <a:rPr lang="en-US" sz="1300" b="1" dirty="0">
                <a:solidFill>
                  <a:srgbClr val="FFFFFF"/>
                </a:solidFill>
              </a:rPr>
              <a:t>✅ Avantages</a:t>
            </a:r>
            <a:endParaRPr lang="en-US" sz="1300" dirty="0"/>
          </a:p>
        </p:txBody>
      </p:sp>
      <p:sp>
        <p:nvSpPr>
          <p:cNvPr id="33" name="Text 6"/>
          <p:cNvSpPr/>
          <p:nvPr/>
        </p:nvSpPr>
        <p:spPr>
          <a:xfrm>
            <a:off x="486976" y="2013562"/>
            <a:ext cx="2560320" cy="3383280"/>
          </a:xfrm>
          <a:prstGeom prst="rect">
            <a:avLst/>
          </a:prstGeom>
          <a:noFill/>
          <a:ln/>
        </p:spPr>
        <p:txBody>
          <a:bodyPr wrap="square" rtlCol="0" anchor="ctr"/>
          <a:lstStyle/>
          <a:p>
            <a:pPr marL="342900" indent="-342900">
              <a:lnSpc>
                <a:spcPct val="135000"/>
              </a:lnSpc>
              <a:buSzPct val="100000"/>
              <a:buChar char="•"/>
            </a:pPr>
            <a:r>
              <a:rPr lang="en-US" sz="1150" dirty="0">
                <a:solidFill>
                  <a:srgbClr val="0F2044"/>
                </a:solidFill>
              </a:rPr>
              <a:t>Moins de code répétitif</a:t>
            </a:r>
            <a:endParaRPr lang="en-US" sz="1150" dirty="0"/>
          </a:p>
          <a:p>
            <a:pPr marL="342900" indent="-342900">
              <a:lnSpc>
                <a:spcPct val="135000"/>
              </a:lnSpc>
              <a:buSzPct val="100000"/>
              <a:buChar char="•"/>
            </a:pPr>
            <a:r>
              <a:rPr lang="en-US" sz="1150" dirty="0">
                <a:solidFill>
                  <a:srgbClr val="0F2044"/>
                </a:solidFill>
              </a:rPr>
              <a:t>Portabilité entre SGBD</a:t>
            </a:r>
            <a:endParaRPr lang="en-US" sz="1150" dirty="0"/>
          </a:p>
          <a:p>
            <a:pPr marL="342900" indent="-342900">
              <a:lnSpc>
                <a:spcPct val="135000"/>
              </a:lnSpc>
              <a:buSzPct val="100000"/>
              <a:buChar char="•"/>
            </a:pPr>
            <a:r>
              <a:rPr lang="en-US" sz="1150" dirty="0">
                <a:solidFill>
                  <a:srgbClr val="0F2044"/>
                </a:solidFill>
              </a:rPr>
              <a:t>Sécurité accrue (pas d'injection)</a:t>
            </a:r>
            <a:endParaRPr lang="en-US" sz="1150" dirty="0"/>
          </a:p>
          <a:p>
            <a:pPr marL="342900" indent="-342900">
              <a:lnSpc>
                <a:spcPct val="135000"/>
              </a:lnSpc>
              <a:buSzPct val="100000"/>
              <a:buChar char="•"/>
            </a:pPr>
            <a:r>
              <a:rPr lang="en-US" sz="1150" dirty="0" smtClean="0">
                <a:solidFill>
                  <a:srgbClr val="0F2044"/>
                </a:solidFill>
              </a:rPr>
              <a:t>Lazy </a:t>
            </a:r>
            <a:r>
              <a:rPr lang="en-US" sz="1150" dirty="0">
                <a:solidFill>
                  <a:srgbClr val="0F2044"/>
                </a:solidFill>
              </a:rPr>
              <a:t>Loading automatique</a:t>
            </a:r>
            <a:endParaRPr lang="en-US" sz="1150" dirty="0"/>
          </a:p>
          <a:p>
            <a:pPr marL="342900" indent="-342900">
              <a:lnSpc>
                <a:spcPct val="135000"/>
              </a:lnSpc>
              <a:buSzPct val="100000"/>
              <a:buChar char="•"/>
            </a:pPr>
            <a:r>
              <a:rPr lang="en-US" sz="1150" dirty="0">
                <a:solidFill>
                  <a:srgbClr val="0F2044"/>
                </a:solidFill>
              </a:rPr>
              <a:t>Migrations </a:t>
            </a:r>
            <a:r>
              <a:rPr lang="en-US" sz="1150" dirty="0" err="1" smtClean="0">
                <a:solidFill>
                  <a:srgbClr val="0F2044"/>
                </a:solidFill>
              </a:rPr>
              <a:t>facilitées</a:t>
            </a:r>
            <a:endParaRPr lang="en-US" sz="1150" dirty="0"/>
          </a:p>
        </p:txBody>
      </p:sp>
      <p:sp>
        <p:nvSpPr>
          <p:cNvPr id="34" name="Shape 7"/>
          <p:cNvSpPr/>
          <p:nvPr/>
        </p:nvSpPr>
        <p:spPr>
          <a:xfrm>
            <a:off x="3321616" y="1602082"/>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35" name="Shape 8"/>
          <p:cNvSpPr/>
          <p:nvPr/>
        </p:nvSpPr>
        <p:spPr>
          <a:xfrm>
            <a:off x="3321616" y="1602082"/>
            <a:ext cx="2743200" cy="347472"/>
          </a:xfrm>
          <a:prstGeom prst="rect">
            <a:avLst/>
          </a:prstGeom>
          <a:solidFill>
            <a:srgbClr val="C62828"/>
          </a:solidFill>
          <a:ln w="12700">
            <a:solidFill>
              <a:srgbClr val="C62828"/>
            </a:solidFill>
            <a:prstDash val="solid"/>
          </a:ln>
        </p:spPr>
      </p:sp>
      <p:sp>
        <p:nvSpPr>
          <p:cNvPr id="36" name="Text 9"/>
          <p:cNvSpPr/>
          <p:nvPr/>
        </p:nvSpPr>
        <p:spPr>
          <a:xfrm>
            <a:off x="3413056" y="1602082"/>
            <a:ext cx="2560320" cy="347472"/>
          </a:xfrm>
          <a:prstGeom prst="rect">
            <a:avLst/>
          </a:prstGeom>
          <a:noFill/>
          <a:ln/>
        </p:spPr>
        <p:txBody>
          <a:bodyPr wrap="square" rtlCol="0" anchor="ctr"/>
          <a:lstStyle/>
          <a:p>
            <a:pPr marL="0" indent="0">
              <a:buNone/>
            </a:pPr>
            <a:r>
              <a:rPr lang="en-US" sz="1300" b="1" dirty="0">
                <a:solidFill>
                  <a:srgbClr val="FFFFFF"/>
                </a:solidFill>
              </a:rPr>
              <a:t>❌ Inconvénients</a:t>
            </a:r>
            <a:endParaRPr lang="en-US" sz="1300" dirty="0"/>
          </a:p>
        </p:txBody>
      </p:sp>
      <p:sp>
        <p:nvSpPr>
          <p:cNvPr id="37" name="Text 10"/>
          <p:cNvSpPr/>
          <p:nvPr/>
        </p:nvSpPr>
        <p:spPr>
          <a:xfrm>
            <a:off x="3413056" y="2013562"/>
            <a:ext cx="2560320" cy="3383280"/>
          </a:xfrm>
          <a:prstGeom prst="rect">
            <a:avLst/>
          </a:prstGeom>
          <a:noFill/>
          <a:ln/>
        </p:spPr>
        <p:txBody>
          <a:bodyPr wrap="square" rtlCol="0" anchor="ctr"/>
          <a:lstStyle/>
          <a:p>
            <a:pPr marL="342900" indent="-342900">
              <a:lnSpc>
                <a:spcPct val="135000"/>
              </a:lnSpc>
              <a:buSzPct val="100000"/>
              <a:buChar char="•"/>
            </a:pPr>
            <a:r>
              <a:rPr lang="en-US" sz="1150" dirty="0" smtClean="0">
                <a:solidFill>
                  <a:srgbClr val="0F2044"/>
                </a:solidFill>
              </a:rPr>
              <a:t>SQL </a:t>
            </a:r>
            <a:r>
              <a:rPr lang="en-US" sz="1150" dirty="0">
                <a:solidFill>
                  <a:srgbClr val="0F2044"/>
                </a:solidFill>
              </a:rPr>
              <a:t>généré pas toujours optimal</a:t>
            </a:r>
            <a:endParaRPr lang="en-US" sz="1150" dirty="0"/>
          </a:p>
          <a:p>
            <a:pPr marL="342900" indent="-342900">
              <a:lnSpc>
                <a:spcPct val="135000"/>
              </a:lnSpc>
              <a:buSzPct val="100000"/>
              <a:buChar char="•"/>
            </a:pPr>
            <a:r>
              <a:rPr lang="en-US" sz="1150" dirty="0">
                <a:solidFill>
                  <a:srgbClr val="0F2044"/>
                </a:solidFill>
              </a:rPr>
              <a:t>N+1 problem (requêtes en excès)</a:t>
            </a:r>
            <a:endParaRPr lang="en-US" sz="1150" dirty="0"/>
          </a:p>
          <a:p>
            <a:pPr marL="342900" indent="-342900">
              <a:lnSpc>
                <a:spcPct val="135000"/>
              </a:lnSpc>
              <a:buSzPct val="100000"/>
              <a:buChar char="•"/>
            </a:pPr>
            <a:r>
              <a:rPr lang="en-US" sz="1150" dirty="0">
                <a:solidFill>
                  <a:srgbClr val="0F2044"/>
                </a:solidFill>
              </a:rPr>
              <a:t>Difficile pour requêtes complexes</a:t>
            </a:r>
            <a:endParaRPr lang="en-US" sz="1150" dirty="0"/>
          </a:p>
          <a:p>
            <a:pPr marL="342900" indent="-342900">
              <a:lnSpc>
                <a:spcPct val="135000"/>
              </a:lnSpc>
              <a:buSzPct val="100000"/>
              <a:buChar char="•"/>
            </a:pPr>
            <a:r>
              <a:rPr lang="en-US" sz="1150" dirty="0">
                <a:solidFill>
                  <a:srgbClr val="0F2044"/>
                </a:solidFill>
              </a:rPr>
              <a:t>Debug difficile (SQL caché)</a:t>
            </a:r>
            <a:endParaRPr lang="en-US" sz="1150" dirty="0"/>
          </a:p>
          <a:p>
            <a:pPr marL="342900" indent="-342900">
              <a:lnSpc>
                <a:spcPct val="135000"/>
              </a:lnSpc>
              <a:buSzPct val="100000"/>
              <a:buChar char="•"/>
            </a:pPr>
            <a:r>
              <a:rPr lang="en-US" sz="1150" dirty="0">
                <a:solidFill>
                  <a:srgbClr val="0F2044"/>
                </a:solidFill>
              </a:rPr>
              <a:t>Overhead mémoire / CPU</a:t>
            </a:r>
            <a:endParaRPr lang="en-US" sz="1150" dirty="0"/>
          </a:p>
          <a:p>
            <a:pPr marL="342900" indent="-342900">
              <a:lnSpc>
                <a:spcPct val="135000"/>
              </a:lnSpc>
              <a:buSzPct val="100000"/>
              <a:buChar char="•"/>
            </a:pPr>
            <a:r>
              <a:rPr lang="en-US" sz="1150" dirty="0">
                <a:solidFill>
                  <a:srgbClr val="0F2044"/>
                </a:solidFill>
              </a:rPr>
              <a:t>Mauvais choix pour gros volumes</a:t>
            </a:r>
            <a:endParaRPr lang="en-US" sz="1150" dirty="0"/>
          </a:p>
        </p:txBody>
      </p:sp>
      <p:sp>
        <p:nvSpPr>
          <p:cNvPr id="38" name="Shape 11"/>
          <p:cNvSpPr/>
          <p:nvPr/>
        </p:nvSpPr>
        <p:spPr>
          <a:xfrm>
            <a:off x="6247696" y="1602082"/>
            <a:ext cx="2743200" cy="393192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39" name="Shape 12"/>
          <p:cNvSpPr/>
          <p:nvPr/>
        </p:nvSpPr>
        <p:spPr>
          <a:xfrm>
            <a:off x="6247696" y="1602082"/>
            <a:ext cx="2743200" cy="347472"/>
          </a:xfrm>
          <a:prstGeom prst="rect">
            <a:avLst/>
          </a:prstGeom>
          <a:solidFill>
            <a:srgbClr val="E8A020"/>
          </a:solidFill>
          <a:ln w="12700">
            <a:solidFill>
              <a:srgbClr val="E8A020"/>
            </a:solidFill>
            <a:prstDash val="solid"/>
          </a:ln>
        </p:spPr>
      </p:sp>
      <p:sp>
        <p:nvSpPr>
          <p:cNvPr id="40" name="Text 13"/>
          <p:cNvSpPr/>
          <p:nvPr/>
        </p:nvSpPr>
        <p:spPr>
          <a:xfrm>
            <a:off x="6339136" y="1602082"/>
            <a:ext cx="2560320" cy="347472"/>
          </a:xfrm>
          <a:prstGeom prst="rect">
            <a:avLst/>
          </a:prstGeom>
          <a:noFill/>
          <a:ln/>
        </p:spPr>
        <p:txBody>
          <a:bodyPr wrap="square" rtlCol="0" anchor="ctr"/>
          <a:lstStyle/>
          <a:p>
            <a:pPr marL="0" indent="0">
              <a:buNone/>
            </a:pPr>
            <a:r>
              <a:rPr lang="en-US" sz="1300" b="1" dirty="0">
                <a:solidFill>
                  <a:srgbClr val="0F2044"/>
                </a:solidFill>
              </a:rPr>
              <a:t>⚡ Exceptions notables</a:t>
            </a:r>
            <a:endParaRPr lang="en-US" sz="1300" dirty="0"/>
          </a:p>
        </p:txBody>
      </p:sp>
      <p:sp>
        <p:nvSpPr>
          <p:cNvPr id="41" name="Text 14"/>
          <p:cNvSpPr/>
          <p:nvPr/>
        </p:nvSpPr>
        <p:spPr>
          <a:xfrm>
            <a:off x="6339136" y="2013562"/>
            <a:ext cx="2560320" cy="3383280"/>
          </a:xfrm>
          <a:prstGeom prst="rect">
            <a:avLst/>
          </a:prstGeom>
          <a:noFill/>
          <a:ln/>
        </p:spPr>
        <p:txBody>
          <a:bodyPr wrap="square" rtlCol="0" anchor="ctr"/>
          <a:lstStyle/>
          <a:p>
            <a:pPr marL="342900" indent="-342900">
              <a:lnSpc>
                <a:spcPct val="140000"/>
              </a:lnSpc>
              <a:buSzPct val="100000"/>
              <a:buChar char="•"/>
            </a:pPr>
            <a:r>
              <a:rPr lang="en-US" sz="1050" dirty="0">
                <a:solidFill>
                  <a:srgbClr val="0F2044"/>
                </a:solidFill>
              </a:rPr>
              <a:t>N+1 : charger 100 ordres exécute 101 requêtes (1 liste + 1 par article) → FetchType.EAGER ou JOIN FETCH</a:t>
            </a:r>
            <a:endParaRPr lang="en-US" sz="1050" dirty="0"/>
          </a:p>
          <a:p>
            <a:pPr marL="342900" indent="-342900">
              <a:lnSpc>
                <a:spcPct val="140000"/>
              </a:lnSpc>
              <a:buSzPct val="100000"/>
              <a:buChar char="•"/>
            </a:pPr>
            <a:r>
              <a:rPr lang="en-US" sz="1050" dirty="0" err="1" smtClean="0">
                <a:solidFill>
                  <a:srgbClr val="0F2044"/>
                </a:solidFill>
              </a:rPr>
              <a:t>Héritage</a:t>
            </a:r>
            <a:r>
              <a:rPr lang="en-US" sz="1050" dirty="0" smtClean="0">
                <a:solidFill>
                  <a:srgbClr val="0F2044"/>
                </a:solidFill>
              </a:rPr>
              <a:t> </a:t>
            </a:r>
            <a:r>
              <a:rPr lang="en-US" sz="1050" dirty="0">
                <a:solidFill>
                  <a:srgbClr val="0F2044"/>
                </a:solidFill>
              </a:rPr>
              <a:t>mappé : 3 stratégies JPA (TABLE_PER_CLASS, SINGLE_TABLE, JOINED)</a:t>
            </a:r>
            <a:endParaRPr lang="en-US" sz="1050" dirty="0"/>
          </a:p>
          <a:p>
            <a:pPr marL="342900" indent="-342900">
              <a:lnSpc>
                <a:spcPct val="140000"/>
              </a:lnSpc>
              <a:buSzPct val="100000"/>
              <a:buChar char="•"/>
            </a:pPr>
            <a:r>
              <a:rPr lang="en-US" sz="1050" dirty="0">
                <a:solidFill>
                  <a:srgbClr val="0F2044"/>
                </a:solidFill>
              </a:rPr>
              <a:t>Pas adapté aux bases NoSQL (MongoDB, Redis)</a:t>
            </a:r>
            <a:endParaRPr lang="en-US" sz="1050" dirty="0"/>
          </a:p>
        </p:txBody>
      </p:sp>
    </p:spTree>
    <p:extLst>
      <p:ext uri="{BB962C8B-B14F-4D97-AF65-F5344CB8AC3E}">
        <p14:creationId xmlns:p14="http://schemas.microsoft.com/office/powerpoint/2010/main" val="1401753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514350" indent="-514350">
              <a:buFont typeface="+mj-lt"/>
              <a:buAutoNum type="romanUcPeriod" startAt="4"/>
            </a:pPr>
            <a:r>
              <a:rPr lang="fr-CI" sz="2400" noProof="0" dirty="0" smtClean="0">
                <a:solidFill>
                  <a:srgbClr val="FF0000"/>
                </a:solidFill>
              </a:rPr>
              <a:t>JPA JAVA </a:t>
            </a:r>
            <a:r>
              <a:rPr lang="fr-CI" sz="2400" noProof="0" dirty="0" err="1" smtClean="0">
                <a:solidFill>
                  <a:srgbClr val="FF0000"/>
                </a:solidFill>
              </a:rPr>
              <a:t>Persistence</a:t>
            </a:r>
            <a:r>
              <a:rPr lang="fr-CI" sz="2400" noProof="0" dirty="0" smtClean="0">
                <a:solidFill>
                  <a:srgbClr val="FF0000"/>
                </a:solidFill>
              </a:rPr>
              <a:t> API</a:t>
            </a:r>
            <a:endParaRPr lang="fr-CI" sz="2400" noProof="0" dirty="0">
              <a:solidFill>
                <a:srgbClr val="FF0000"/>
              </a:solidFill>
            </a:endParaRPr>
          </a:p>
        </p:txBody>
      </p:sp>
      <p:pic>
        <p:nvPicPr>
          <p:cNvPr id="5" name="Image 1">
            <a:extLst>
              <a:ext uri="{FF2B5EF4-FFF2-40B4-BE49-F238E27FC236}">
                <a16:creationId xmlns:a16="http://schemas.microsoft.com/office/drawing/2014/main" id="{682E9ABF-7911-FEB6-EAD2-1310D09FD2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39" name="Shape 3"/>
          <p:cNvSpPr/>
          <p:nvPr/>
        </p:nvSpPr>
        <p:spPr>
          <a:xfrm>
            <a:off x="323528" y="1191141"/>
            <a:ext cx="8595360" cy="960120"/>
          </a:xfrm>
          <a:prstGeom prst="rect">
            <a:avLst/>
          </a:prstGeom>
          <a:solidFill>
            <a:srgbClr val="1A3A6B"/>
          </a:solidFill>
          <a:ln w="12700">
            <a:solidFill>
              <a:srgbClr val="1A3A6B"/>
            </a:solidFill>
            <a:prstDash val="solid"/>
          </a:ln>
          <a:effectLst>
            <a:outerShdw blurRad="101600" dist="38100" dir="8100000" algn="bl" rotWithShape="0">
              <a:srgbClr val="000000">
                <a:alpha val="15000"/>
              </a:srgbClr>
            </a:outerShdw>
          </a:effectLst>
        </p:spPr>
      </p:sp>
      <p:sp>
        <p:nvSpPr>
          <p:cNvPr id="40" name="Text 4"/>
          <p:cNvSpPr/>
          <p:nvPr/>
        </p:nvSpPr>
        <p:spPr>
          <a:xfrm>
            <a:off x="506408" y="1209429"/>
            <a:ext cx="8229600" cy="256032"/>
          </a:xfrm>
          <a:prstGeom prst="rect">
            <a:avLst/>
          </a:prstGeom>
          <a:noFill/>
          <a:ln/>
        </p:spPr>
        <p:txBody>
          <a:bodyPr wrap="square" rtlCol="0" anchor="ctr"/>
          <a:lstStyle/>
          <a:p>
            <a:pPr marL="0" indent="0">
              <a:buNone/>
            </a:pPr>
            <a:r>
              <a:rPr lang="en-US" sz="1200" b="1" dirty="0">
                <a:solidFill>
                  <a:srgbClr val="E8A020"/>
                </a:solidFill>
                <a:latin typeface="Times New Roman" panose="02020603050405020304" pitchFamily="18" charset="0"/>
                <a:cs typeface="Times New Roman" panose="02020603050405020304" pitchFamily="18" charset="0"/>
              </a:rPr>
              <a:t>Définition</a:t>
            </a:r>
            <a:endParaRPr lang="en-US" sz="1200" dirty="0">
              <a:latin typeface="Times New Roman" panose="02020603050405020304" pitchFamily="18" charset="0"/>
              <a:cs typeface="Times New Roman" panose="02020603050405020304" pitchFamily="18" charset="0"/>
            </a:endParaRPr>
          </a:p>
        </p:txBody>
      </p:sp>
      <p:sp>
        <p:nvSpPr>
          <p:cNvPr id="41" name="Text 5"/>
          <p:cNvSpPr/>
          <p:nvPr/>
        </p:nvSpPr>
        <p:spPr>
          <a:xfrm>
            <a:off x="506408" y="1447173"/>
            <a:ext cx="8321040" cy="658368"/>
          </a:xfrm>
          <a:prstGeom prst="rect">
            <a:avLst/>
          </a:prstGeom>
          <a:noFill/>
          <a:ln/>
        </p:spPr>
        <p:txBody>
          <a:bodyPr wrap="square" rtlCol="0" anchor="ctr"/>
          <a:lstStyle/>
          <a:p>
            <a:pPr marL="0" indent="0">
              <a:buNone/>
            </a:pPr>
            <a:r>
              <a:rPr lang="en-US" sz="1200" dirty="0">
                <a:solidFill>
                  <a:srgbClr val="FFFFFF"/>
                </a:solidFill>
                <a:latin typeface="Times New Roman" panose="02020603050405020304" pitchFamily="18" charset="0"/>
                <a:cs typeface="Times New Roman" panose="02020603050405020304" pitchFamily="18" charset="0"/>
              </a:rPr>
              <a:t>JPA est une spécification Java EE / Jakarta EE (JSR-338) qui définit une API standard pour la persistance des objets Java. JPA n'est PAS une implémentation : c'est un contrat (interfaces + annotations) que les frameworks ORM doivent respecter. Hibernate, EclipseLink, OpenJPA en sont les implémentations.</a:t>
            </a:r>
            <a:endParaRPr lang="en-US" sz="1200" dirty="0">
              <a:latin typeface="Times New Roman" panose="02020603050405020304" pitchFamily="18" charset="0"/>
              <a:cs typeface="Times New Roman" panose="02020603050405020304" pitchFamily="18" charset="0"/>
            </a:endParaRPr>
          </a:p>
        </p:txBody>
      </p:sp>
      <p:sp>
        <p:nvSpPr>
          <p:cNvPr id="42" name="Shape 6"/>
          <p:cNvSpPr/>
          <p:nvPr/>
        </p:nvSpPr>
        <p:spPr>
          <a:xfrm>
            <a:off x="277808" y="228842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3" name="Shape 7"/>
          <p:cNvSpPr/>
          <p:nvPr/>
        </p:nvSpPr>
        <p:spPr>
          <a:xfrm>
            <a:off x="277808" y="2288421"/>
            <a:ext cx="2743200" cy="73152"/>
          </a:xfrm>
          <a:prstGeom prst="rect">
            <a:avLst/>
          </a:prstGeom>
          <a:solidFill>
            <a:srgbClr val="1A3A6B"/>
          </a:solidFill>
          <a:ln w="12700">
            <a:solidFill>
              <a:srgbClr val="1A3A6B"/>
            </a:solidFill>
            <a:prstDash val="solid"/>
          </a:ln>
        </p:spPr>
      </p:sp>
      <p:sp>
        <p:nvSpPr>
          <p:cNvPr id="44" name="Text 8"/>
          <p:cNvSpPr/>
          <p:nvPr/>
        </p:nvSpPr>
        <p:spPr>
          <a:xfrm>
            <a:off x="369248" y="237986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Entity</a:t>
            </a:r>
            <a:endParaRPr lang="en-US" sz="1200" dirty="0">
              <a:latin typeface="Times New Roman" panose="02020603050405020304" pitchFamily="18" charset="0"/>
              <a:cs typeface="Times New Roman" panose="02020603050405020304" pitchFamily="18" charset="0"/>
            </a:endParaRPr>
          </a:p>
        </p:txBody>
      </p:sp>
      <p:sp>
        <p:nvSpPr>
          <p:cNvPr id="45" name="Text 9"/>
          <p:cNvSpPr/>
          <p:nvPr/>
        </p:nvSpPr>
        <p:spPr>
          <a:xfrm>
            <a:off x="369248" y="274562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Classe Java annotée @Entity qui correspond à une table. Doit avoir une clé primaire @Id.</a:t>
            </a:r>
            <a:endParaRPr lang="en-US" sz="1200" dirty="0">
              <a:latin typeface="Times New Roman" panose="02020603050405020304" pitchFamily="18" charset="0"/>
              <a:cs typeface="Times New Roman" panose="02020603050405020304" pitchFamily="18" charset="0"/>
            </a:endParaRPr>
          </a:p>
        </p:txBody>
      </p:sp>
      <p:sp>
        <p:nvSpPr>
          <p:cNvPr id="46" name="Shape 10"/>
          <p:cNvSpPr/>
          <p:nvPr/>
        </p:nvSpPr>
        <p:spPr>
          <a:xfrm>
            <a:off x="3203888" y="228842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7" name="Shape 11"/>
          <p:cNvSpPr/>
          <p:nvPr/>
        </p:nvSpPr>
        <p:spPr>
          <a:xfrm>
            <a:off x="3203888" y="2288421"/>
            <a:ext cx="2743200" cy="73152"/>
          </a:xfrm>
          <a:prstGeom prst="rect">
            <a:avLst/>
          </a:prstGeom>
          <a:solidFill>
            <a:srgbClr val="1A3A6B"/>
          </a:solidFill>
          <a:ln w="12700">
            <a:solidFill>
              <a:srgbClr val="1A3A6B"/>
            </a:solidFill>
            <a:prstDash val="solid"/>
          </a:ln>
        </p:spPr>
      </p:sp>
      <p:sp>
        <p:nvSpPr>
          <p:cNvPr id="48" name="Text 12"/>
          <p:cNvSpPr/>
          <p:nvPr/>
        </p:nvSpPr>
        <p:spPr>
          <a:xfrm>
            <a:off x="3295328" y="237986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EntityManager</a:t>
            </a:r>
            <a:endParaRPr lang="en-US" sz="1200" dirty="0">
              <a:latin typeface="Times New Roman" panose="02020603050405020304" pitchFamily="18" charset="0"/>
              <a:cs typeface="Times New Roman" panose="02020603050405020304" pitchFamily="18" charset="0"/>
            </a:endParaRPr>
          </a:p>
        </p:txBody>
      </p:sp>
      <p:sp>
        <p:nvSpPr>
          <p:cNvPr id="49" name="Text 13"/>
          <p:cNvSpPr/>
          <p:nvPr/>
        </p:nvSpPr>
        <p:spPr>
          <a:xfrm>
            <a:off x="3295328" y="274562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Interface centrale pour toutes les opérations : persist(), find(), merge(), remove(), createQuery()…</a:t>
            </a:r>
            <a:endParaRPr lang="en-US" sz="1200" dirty="0">
              <a:latin typeface="Times New Roman" panose="02020603050405020304" pitchFamily="18" charset="0"/>
              <a:cs typeface="Times New Roman" panose="02020603050405020304" pitchFamily="18" charset="0"/>
            </a:endParaRPr>
          </a:p>
        </p:txBody>
      </p:sp>
      <p:sp>
        <p:nvSpPr>
          <p:cNvPr id="50" name="Shape 14"/>
          <p:cNvSpPr/>
          <p:nvPr/>
        </p:nvSpPr>
        <p:spPr>
          <a:xfrm>
            <a:off x="6129968" y="228842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1" name="Shape 15"/>
          <p:cNvSpPr/>
          <p:nvPr/>
        </p:nvSpPr>
        <p:spPr>
          <a:xfrm>
            <a:off x="6129968" y="2288421"/>
            <a:ext cx="2743200" cy="73152"/>
          </a:xfrm>
          <a:prstGeom prst="rect">
            <a:avLst/>
          </a:prstGeom>
          <a:solidFill>
            <a:srgbClr val="1A3A6B"/>
          </a:solidFill>
          <a:ln w="12700">
            <a:solidFill>
              <a:srgbClr val="1A3A6B"/>
            </a:solidFill>
            <a:prstDash val="solid"/>
          </a:ln>
        </p:spPr>
      </p:sp>
      <p:sp>
        <p:nvSpPr>
          <p:cNvPr id="52" name="Text 16"/>
          <p:cNvSpPr/>
          <p:nvPr/>
        </p:nvSpPr>
        <p:spPr>
          <a:xfrm>
            <a:off x="6221408" y="237986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Persistence Unit</a:t>
            </a:r>
            <a:endParaRPr lang="en-US" sz="1200" dirty="0">
              <a:latin typeface="Times New Roman" panose="02020603050405020304" pitchFamily="18" charset="0"/>
              <a:cs typeface="Times New Roman" panose="02020603050405020304" pitchFamily="18" charset="0"/>
            </a:endParaRPr>
          </a:p>
        </p:txBody>
      </p:sp>
      <p:sp>
        <p:nvSpPr>
          <p:cNvPr id="53" name="Text 17"/>
          <p:cNvSpPr/>
          <p:nvPr/>
        </p:nvSpPr>
        <p:spPr>
          <a:xfrm>
            <a:off x="6221408" y="274562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Unité de configuration définie dans persistence.xml : datasource, provider, entités listées.</a:t>
            </a:r>
            <a:endParaRPr lang="en-US" sz="1200" dirty="0">
              <a:latin typeface="Times New Roman" panose="02020603050405020304" pitchFamily="18" charset="0"/>
              <a:cs typeface="Times New Roman" panose="02020603050405020304" pitchFamily="18" charset="0"/>
            </a:endParaRPr>
          </a:p>
        </p:txBody>
      </p:sp>
      <p:sp>
        <p:nvSpPr>
          <p:cNvPr id="54" name="Shape 18"/>
          <p:cNvSpPr/>
          <p:nvPr/>
        </p:nvSpPr>
        <p:spPr>
          <a:xfrm>
            <a:off x="277808" y="379718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5" name="Shape 19"/>
          <p:cNvSpPr/>
          <p:nvPr/>
        </p:nvSpPr>
        <p:spPr>
          <a:xfrm>
            <a:off x="277808" y="3797181"/>
            <a:ext cx="2743200" cy="73152"/>
          </a:xfrm>
          <a:prstGeom prst="rect">
            <a:avLst/>
          </a:prstGeom>
          <a:solidFill>
            <a:srgbClr val="1A3A6B"/>
          </a:solidFill>
          <a:ln w="12700">
            <a:solidFill>
              <a:srgbClr val="1A3A6B"/>
            </a:solidFill>
            <a:prstDash val="solid"/>
          </a:ln>
        </p:spPr>
      </p:sp>
      <p:sp>
        <p:nvSpPr>
          <p:cNvPr id="56" name="Text 20"/>
          <p:cNvSpPr/>
          <p:nvPr/>
        </p:nvSpPr>
        <p:spPr>
          <a:xfrm>
            <a:off x="369248" y="388862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JPQL</a:t>
            </a:r>
            <a:endParaRPr lang="en-US" sz="1200" dirty="0">
              <a:latin typeface="Times New Roman" panose="02020603050405020304" pitchFamily="18" charset="0"/>
              <a:cs typeface="Times New Roman" panose="02020603050405020304" pitchFamily="18" charset="0"/>
            </a:endParaRPr>
          </a:p>
        </p:txBody>
      </p:sp>
      <p:sp>
        <p:nvSpPr>
          <p:cNvPr id="57" name="Text 21"/>
          <p:cNvSpPr/>
          <p:nvPr/>
        </p:nvSpPr>
        <p:spPr>
          <a:xfrm>
            <a:off x="369248" y="425438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Java Persistence Query Language : SQL orienté objet. Opère sur des entités, pas sur des tables.</a:t>
            </a:r>
            <a:endParaRPr lang="en-US" sz="1200" dirty="0">
              <a:latin typeface="Times New Roman" panose="02020603050405020304" pitchFamily="18" charset="0"/>
              <a:cs typeface="Times New Roman" panose="02020603050405020304" pitchFamily="18" charset="0"/>
            </a:endParaRPr>
          </a:p>
        </p:txBody>
      </p:sp>
      <p:sp>
        <p:nvSpPr>
          <p:cNvPr id="58" name="Shape 22"/>
          <p:cNvSpPr/>
          <p:nvPr/>
        </p:nvSpPr>
        <p:spPr>
          <a:xfrm>
            <a:off x="3203888" y="379718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9" name="Shape 23"/>
          <p:cNvSpPr/>
          <p:nvPr/>
        </p:nvSpPr>
        <p:spPr>
          <a:xfrm>
            <a:off x="3203888" y="3797181"/>
            <a:ext cx="2743200" cy="73152"/>
          </a:xfrm>
          <a:prstGeom prst="rect">
            <a:avLst/>
          </a:prstGeom>
          <a:solidFill>
            <a:srgbClr val="1A3A6B"/>
          </a:solidFill>
          <a:ln w="12700">
            <a:solidFill>
              <a:srgbClr val="1A3A6B"/>
            </a:solidFill>
            <a:prstDash val="solid"/>
          </a:ln>
        </p:spPr>
      </p:sp>
      <p:sp>
        <p:nvSpPr>
          <p:cNvPr id="60" name="Text 24"/>
          <p:cNvSpPr/>
          <p:nvPr/>
        </p:nvSpPr>
        <p:spPr>
          <a:xfrm>
            <a:off x="3295328" y="388862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Lifecycle</a:t>
            </a:r>
            <a:endParaRPr lang="en-US" sz="1200" dirty="0">
              <a:latin typeface="Times New Roman" panose="02020603050405020304" pitchFamily="18" charset="0"/>
              <a:cs typeface="Times New Roman" panose="02020603050405020304" pitchFamily="18" charset="0"/>
            </a:endParaRPr>
          </a:p>
        </p:txBody>
      </p:sp>
      <p:sp>
        <p:nvSpPr>
          <p:cNvPr id="61" name="Text 25"/>
          <p:cNvSpPr/>
          <p:nvPr/>
        </p:nvSpPr>
        <p:spPr>
          <a:xfrm>
            <a:off x="3295328" y="425438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États d'une entité : Transient → Managed → Detached → Removed.</a:t>
            </a:r>
            <a:endParaRPr lang="en-US" sz="1200" dirty="0">
              <a:latin typeface="Times New Roman" panose="02020603050405020304" pitchFamily="18" charset="0"/>
              <a:cs typeface="Times New Roman" panose="02020603050405020304" pitchFamily="18" charset="0"/>
            </a:endParaRPr>
          </a:p>
        </p:txBody>
      </p:sp>
      <p:sp>
        <p:nvSpPr>
          <p:cNvPr id="62" name="Shape 26"/>
          <p:cNvSpPr/>
          <p:nvPr/>
        </p:nvSpPr>
        <p:spPr>
          <a:xfrm>
            <a:off x="6129968" y="3797181"/>
            <a:ext cx="2743200" cy="137160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63" name="Shape 27"/>
          <p:cNvSpPr/>
          <p:nvPr/>
        </p:nvSpPr>
        <p:spPr>
          <a:xfrm>
            <a:off x="6129968" y="3797181"/>
            <a:ext cx="2743200" cy="73152"/>
          </a:xfrm>
          <a:prstGeom prst="rect">
            <a:avLst/>
          </a:prstGeom>
          <a:solidFill>
            <a:srgbClr val="1A3A6B"/>
          </a:solidFill>
          <a:ln w="12700">
            <a:solidFill>
              <a:srgbClr val="1A3A6B"/>
            </a:solidFill>
            <a:prstDash val="solid"/>
          </a:ln>
        </p:spPr>
      </p:sp>
      <p:sp>
        <p:nvSpPr>
          <p:cNvPr id="64" name="Text 28"/>
          <p:cNvSpPr/>
          <p:nvPr/>
        </p:nvSpPr>
        <p:spPr>
          <a:xfrm>
            <a:off x="6221408" y="3888621"/>
            <a:ext cx="2560320" cy="347472"/>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cs typeface="Times New Roman" panose="02020603050405020304" pitchFamily="18" charset="0"/>
              </a:rPr>
              <a:t>Cascade</a:t>
            </a:r>
            <a:endParaRPr lang="en-US" sz="1200" dirty="0">
              <a:latin typeface="Times New Roman" panose="02020603050405020304" pitchFamily="18" charset="0"/>
              <a:cs typeface="Times New Roman" panose="02020603050405020304" pitchFamily="18" charset="0"/>
            </a:endParaRPr>
          </a:p>
        </p:txBody>
      </p:sp>
      <p:sp>
        <p:nvSpPr>
          <p:cNvPr id="65" name="Text 29"/>
          <p:cNvSpPr/>
          <p:nvPr/>
        </p:nvSpPr>
        <p:spPr>
          <a:xfrm>
            <a:off x="6221408" y="4254381"/>
            <a:ext cx="2560320" cy="822960"/>
          </a:xfrm>
          <a:prstGeom prst="rect">
            <a:avLst/>
          </a:prstGeom>
          <a:noFill/>
          <a:ln/>
        </p:spPr>
        <p:txBody>
          <a:bodyPr wrap="square" rtlCol="0" anchor="ctr"/>
          <a:lstStyle/>
          <a:p>
            <a:pPr marL="0" indent="0">
              <a:lnSpc>
                <a:spcPct val="130000"/>
              </a:lnSpc>
              <a:buNone/>
            </a:pPr>
            <a:r>
              <a:rPr lang="en-US" sz="1200" dirty="0">
                <a:solidFill>
                  <a:srgbClr val="64748B"/>
                </a:solidFill>
                <a:latin typeface="Times New Roman" panose="02020603050405020304" pitchFamily="18" charset="0"/>
                <a:cs typeface="Times New Roman" panose="02020603050405020304" pitchFamily="18" charset="0"/>
              </a:rPr>
              <a:t>Propagation automatique des opérations (PERSIST, MERGE, REMOVE, REFRESH, DETACH, ALL).</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52417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51985"/>
            <a:ext cx="8064500" cy="665585"/>
          </a:xfrm>
        </p:spPr>
        <p:txBody>
          <a:bodyPr/>
          <a:lstStyle/>
          <a:p>
            <a:pPr marL="514350" indent="-514350">
              <a:buFont typeface="+mj-lt"/>
              <a:buAutoNum type="romanUcPeriod" startAt="4"/>
            </a:pPr>
            <a:r>
              <a:rPr lang="fr-CI" sz="2400" dirty="0">
                <a:solidFill>
                  <a:srgbClr val="FF0000"/>
                </a:solidFill>
              </a:rPr>
              <a:t>JPA JAVA </a:t>
            </a:r>
            <a:r>
              <a:rPr lang="fr-CI" sz="2400" dirty="0" err="1">
                <a:solidFill>
                  <a:srgbClr val="FF0000"/>
                </a:solidFill>
              </a:rPr>
              <a:t>Persistence</a:t>
            </a:r>
            <a:r>
              <a:rPr lang="fr-CI" sz="2400" dirty="0">
                <a:solidFill>
                  <a:srgbClr val="FF0000"/>
                </a:solidFill>
              </a:rPr>
              <a:t> API </a:t>
            </a:r>
            <a:endParaRPr lang="fr-CI" sz="2400" noProof="0" dirty="0">
              <a:solidFill>
                <a:srgbClr val="FF0000"/>
              </a:solidFill>
            </a:endParaRPr>
          </a:p>
        </p:txBody>
      </p:sp>
      <p:pic>
        <p:nvPicPr>
          <p:cNvPr id="5" name="Image 1">
            <a:extLst>
              <a:ext uri="{FF2B5EF4-FFF2-40B4-BE49-F238E27FC236}">
                <a16:creationId xmlns:a16="http://schemas.microsoft.com/office/drawing/2014/main" id="{682E9ABF-7911-FEB6-EAD2-1310D09FD2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39" name="Shape 3"/>
          <p:cNvSpPr/>
          <p:nvPr/>
        </p:nvSpPr>
        <p:spPr>
          <a:xfrm>
            <a:off x="323528" y="1772816"/>
            <a:ext cx="4572000" cy="4023360"/>
          </a:xfrm>
          <a:prstGeom prst="rect">
            <a:avLst/>
          </a:prstGeom>
          <a:solidFill>
            <a:srgbClr val="1E293B"/>
          </a:solidFill>
          <a:ln w="12700">
            <a:solidFill>
              <a:srgbClr val="1E293B"/>
            </a:solidFill>
            <a:prstDash val="solid"/>
          </a:ln>
          <a:effectLst>
            <a:outerShdw blurRad="101600" dist="38100" dir="8100000" algn="bl" rotWithShape="0">
              <a:srgbClr val="000000">
                <a:alpha val="15000"/>
              </a:srgbClr>
            </a:outerShdw>
          </a:effectLst>
        </p:spPr>
      </p:sp>
      <p:sp>
        <p:nvSpPr>
          <p:cNvPr id="40" name="Text 4"/>
          <p:cNvSpPr/>
          <p:nvPr/>
        </p:nvSpPr>
        <p:spPr>
          <a:xfrm>
            <a:off x="414968" y="1772816"/>
            <a:ext cx="4389120" cy="274320"/>
          </a:xfrm>
          <a:prstGeom prst="rect">
            <a:avLst/>
          </a:prstGeom>
          <a:noFill/>
          <a:ln/>
        </p:spPr>
        <p:txBody>
          <a:bodyPr wrap="square" rtlCol="0" anchor="ctr"/>
          <a:lstStyle/>
          <a:p>
            <a:pPr marL="0" indent="0">
              <a:buNone/>
            </a:pPr>
            <a:r>
              <a:rPr lang="en-US" sz="1200" b="1" dirty="0">
                <a:solidFill>
                  <a:srgbClr val="E8A020"/>
                </a:solidFill>
                <a:latin typeface="Times New Roman" panose="02020603050405020304" pitchFamily="18" charset="0"/>
                <a:cs typeface="Times New Roman" panose="02020603050405020304" pitchFamily="18" charset="0"/>
              </a:rPr>
              <a:t>Entité JPA complète</a:t>
            </a:r>
            <a:endParaRPr lang="en-US" sz="1200" dirty="0">
              <a:latin typeface="Times New Roman" panose="02020603050405020304" pitchFamily="18" charset="0"/>
              <a:cs typeface="Times New Roman" panose="02020603050405020304" pitchFamily="18" charset="0"/>
            </a:endParaRPr>
          </a:p>
        </p:txBody>
      </p:sp>
      <p:sp>
        <p:nvSpPr>
          <p:cNvPr id="41" name="Text 5"/>
          <p:cNvSpPr/>
          <p:nvPr/>
        </p:nvSpPr>
        <p:spPr>
          <a:xfrm>
            <a:off x="414968" y="2065424"/>
            <a:ext cx="4389120" cy="3657600"/>
          </a:xfrm>
          <a:prstGeom prst="rect">
            <a:avLst/>
          </a:prstGeom>
          <a:noFill/>
          <a:ln/>
        </p:spPr>
        <p:txBody>
          <a:bodyPr wrap="square" rtlCol="0" anchor="t"/>
          <a:lstStyle/>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@Entity                        // Classe persistante</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@Table(name = "employes")      // Nom de la table</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public class Employe {</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@Id                          // Clé primaire</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@GeneratedValue(</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strategy = GenerationType.IDENTITY) // Auto-incrément</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private Long id;</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@Column(name="nom",</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nullable=false, length=100)</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private String nom;</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@Column(unique = true)</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private String email;</a:t>
            </a:r>
            <a:endParaRPr lang="en-US" sz="1200" dirty="0">
              <a:latin typeface="Times New Roman" panose="02020603050405020304" pitchFamily="18" charset="0"/>
              <a:cs typeface="Times New Roman" panose="02020603050405020304" pitchFamily="18" charset="0"/>
            </a:endParaRPr>
          </a:p>
          <a:p>
            <a:pPr marL="0" indent="0">
              <a:lnSpc>
                <a:spcPct val="125000"/>
              </a:lnSpc>
              <a:buNone/>
            </a:pPr>
            <a:endParaRPr lang="en-US" sz="1200" dirty="0">
              <a:latin typeface="Times New Roman" panose="02020603050405020304" pitchFamily="18" charset="0"/>
              <a:cs typeface="Times New Roman" panose="02020603050405020304" pitchFamily="18" charset="0"/>
            </a:endParaRPr>
          </a:p>
          <a:p>
            <a:pPr marL="0" indent="0">
              <a:lnSpc>
                <a:spcPct val="125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42" name="Shape 6"/>
          <p:cNvSpPr/>
          <p:nvPr/>
        </p:nvSpPr>
        <p:spPr>
          <a:xfrm>
            <a:off x="5078408" y="1772816"/>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3" name="Text 7"/>
          <p:cNvSpPr/>
          <p:nvPr/>
        </p:nvSpPr>
        <p:spPr>
          <a:xfrm>
            <a:off x="5169848" y="1818536"/>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@Entity</a:t>
            </a:r>
            <a:endParaRPr lang="en-US" sz="1200" dirty="0">
              <a:latin typeface="Times New Roman" panose="02020603050405020304" pitchFamily="18" charset="0"/>
              <a:cs typeface="Times New Roman" panose="02020603050405020304" pitchFamily="18" charset="0"/>
            </a:endParaRPr>
          </a:p>
        </p:txBody>
      </p:sp>
      <p:sp>
        <p:nvSpPr>
          <p:cNvPr id="44" name="Text 8"/>
          <p:cNvSpPr/>
          <p:nvPr/>
        </p:nvSpPr>
        <p:spPr>
          <a:xfrm>
            <a:off x="6861488" y="1818536"/>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Marque la classe comme entité JPA. REQUIS.</a:t>
            </a:r>
            <a:endParaRPr lang="en-US" sz="1200" dirty="0">
              <a:latin typeface="Times New Roman" panose="02020603050405020304" pitchFamily="18" charset="0"/>
              <a:cs typeface="Times New Roman" panose="02020603050405020304" pitchFamily="18" charset="0"/>
            </a:endParaRPr>
          </a:p>
        </p:txBody>
      </p:sp>
      <p:sp>
        <p:nvSpPr>
          <p:cNvPr id="45" name="Shape 9"/>
          <p:cNvSpPr/>
          <p:nvPr/>
        </p:nvSpPr>
        <p:spPr>
          <a:xfrm>
            <a:off x="5078408" y="2339744"/>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6" name="Text 10"/>
          <p:cNvSpPr/>
          <p:nvPr/>
        </p:nvSpPr>
        <p:spPr>
          <a:xfrm>
            <a:off x="5169848" y="2385464"/>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@Table</a:t>
            </a:r>
            <a:endParaRPr lang="en-US" sz="1200" dirty="0">
              <a:latin typeface="Times New Roman" panose="02020603050405020304" pitchFamily="18" charset="0"/>
              <a:cs typeface="Times New Roman" panose="02020603050405020304" pitchFamily="18" charset="0"/>
            </a:endParaRPr>
          </a:p>
        </p:txBody>
      </p:sp>
      <p:sp>
        <p:nvSpPr>
          <p:cNvPr id="47" name="Text 11"/>
          <p:cNvSpPr/>
          <p:nvPr/>
        </p:nvSpPr>
        <p:spPr>
          <a:xfrm>
            <a:off x="6861488" y="2385464"/>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Personnalise le nom de table, schéma, contraintes.</a:t>
            </a:r>
            <a:endParaRPr lang="en-US" sz="1200" dirty="0">
              <a:latin typeface="Times New Roman" panose="02020603050405020304" pitchFamily="18" charset="0"/>
              <a:cs typeface="Times New Roman" panose="02020603050405020304" pitchFamily="18" charset="0"/>
            </a:endParaRPr>
          </a:p>
        </p:txBody>
      </p:sp>
      <p:sp>
        <p:nvSpPr>
          <p:cNvPr id="48" name="Shape 12"/>
          <p:cNvSpPr/>
          <p:nvPr/>
        </p:nvSpPr>
        <p:spPr>
          <a:xfrm>
            <a:off x="5078408" y="2906672"/>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9" name="Text 13"/>
          <p:cNvSpPr/>
          <p:nvPr/>
        </p:nvSpPr>
        <p:spPr>
          <a:xfrm>
            <a:off x="5169848" y="2952392"/>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@Id + @GeneratedValue</a:t>
            </a:r>
            <a:endParaRPr lang="en-US" sz="1200" dirty="0">
              <a:latin typeface="Times New Roman" panose="02020603050405020304" pitchFamily="18" charset="0"/>
              <a:cs typeface="Times New Roman" panose="02020603050405020304" pitchFamily="18" charset="0"/>
            </a:endParaRPr>
          </a:p>
        </p:txBody>
      </p:sp>
      <p:sp>
        <p:nvSpPr>
          <p:cNvPr id="50" name="Text 14"/>
          <p:cNvSpPr/>
          <p:nvPr/>
        </p:nvSpPr>
        <p:spPr>
          <a:xfrm>
            <a:off x="6861488" y="2952392"/>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Clé primaire. Stratégies : IDENTITY, SEQUENCE, AUTO, TABLE.</a:t>
            </a:r>
            <a:endParaRPr lang="en-US" sz="1200" dirty="0">
              <a:latin typeface="Times New Roman" panose="02020603050405020304" pitchFamily="18" charset="0"/>
              <a:cs typeface="Times New Roman" panose="02020603050405020304" pitchFamily="18" charset="0"/>
            </a:endParaRPr>
          </a:p>
        </p:txBody>
      </p:sp>
      <p:sp>
        <p:nvSpPr>
          <p:cNvPr id="51" name="Shape 15"/>
          <p:cNvSpPr/>
          <p:nvPr/>
        </p:nvSpPr>
        <p:spPr>
          <a:xfrm>
            <a:off x="5078408" y="3473600"/>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2" name="Text 16"/>
          <p:cNvSpPr/>
          <p:nvPr/>
        </p:nvSpPr>
        <p:spPr>
          <a:xfrm>
            <a:off x="5169848" y="3519320"/>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@Column</a:t>
            </a:r>
            <a:endParaRPr lang="en-US" sz="1200" dirty="0">
              <a:latin typeface="Times New Roman" panose="02020603050405020304" pitchFamily="18" charset="0"/>
              <a:cs typeface="Times New Roman" panose="02020603050405020304" pitchFamily="18" charset="0"/>
            </a:endParaRPr>
          </a:p>
        </p:txBody>
      </p:sp>
      <p:sp>
        <p:nvSpPr>
          <p:cNvPr id="53" name="Text 17"/>
          <p:cNvSpPr/>
          <p:nvPr/>
        </p:nvSpPr>
        <p:spPr>
          <a:xfrm>
            <a:off x="6861488" y="3519320"/>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Personnalise la colonne : nom, nullable, unique, length, precision…</a:t>
            </a:r>
            <a:endParaRPr lang="en-US" sz="1200" dirty="0">
              <a:latin typeface="Times New Roman" panose="02020603050405020304" pitchFamily="18" charset="0"/>
              <a:cs typeface="Times New Roman" panose="02020603050405020304" pitchFamily="18" charset="0"/>
            </a:endParaRPr>
          </a:p>
        </p:txBody>
      </p:sp>
      <p:sp>
        <p:nvSpPr>
          <p:cNvPr id="54" name="Shape 18"/>
          <p:cNvSpPr/>
          <p:nvPr/>
        </p:nvSpPr>
        <p:spPr>
          <a:xfrm>
            <a:off x="5078408" y="4040528"/>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5" name="Text 19"/>
          <p:cNvSpPr/>
          <p:nvPr/>
        </p:nvSpPr>
        <p:spPr>
          <a:xfrm>
            <a:off x="5169848" y="4086248"/>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@ManyToOne / @OneToMany</a:t>
            </a:r>
            <a:endParaRPr lang="en-US" sz="1200" dirty="0">
              <a:latin typeface="Times New Roman" panose="02020603050405020304" pitchFamily="18" charset="0"/>
              <a:cs typeface="Times New Roman" panose="02020603050405020304" pitchFamily="18" charset="0"/>
            </a:endParaRPr>
          </a:p>
        </p:txBody>
      </p:sp>
      <p:sp>
        <p:nvSpPr>
          <p:cNvPr id="56" name="Text 20"/>
          <p:cNvSpPr/>
          <p:nvPr/>
        </p:nvSpPr>
        <p:spPr>
          <a:xfrm>
            <a:off x="6861488" y="4086248"/>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Relations. mappedBy sur le côté non-propriétaire.</a:t>
            </a:r>
            <a:endParaRPr lang="en-US" sz="1200" dirty="0">
              <a:latin typeface="Times New Roman" panose="02020603050405020304" pitchFamily="18" charset="0"/>
              <a:cs typeface="Times New Roman" panose="02020603050405020304" pitchFamily="18" charset="0"/>
            </a:endParaRPr>
          </a:p>
        </p:txBody>
      </p:sp>
      <p:sp>
        <p:nvSpPr>
          <p:cNvPr id="57" name="Shape 21"/>
          <p:cNvSpPr/>
          <p:nvPr/>
        </p:nvSpPr>
        <p:spPr>
          <a:xfrm>
            <a:off x="5078408" y="4607456"/>
            <a:ext cx="3840480" cy="512064"/>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58" name="Text 22"/>
          <p:cNvSpPr/>
          <p:nvPr/>
        </p:nvSpPr>
        <p:spPr>
          <a:xfrm>
            <a:off x="5169848" y="4653176"/>
            <a:ext cx="1645920" cy="420624"/>
          </a:xfrm>
          <a:prstGeom prst="rect">
            <a:avLst/>
          </a:prstGeom>
          <a:noFill/>
          <a:ln/>
        </p:spPr>
        <p:txBody>
          <a:bodyPr wrap="square" rtlCol="0" anchor="ctr"/>
          <a:lstStyle/>
          <a:p>
            <a:pPr marL="0" indent="0">
              <a:buNone/>
            </a:pPr>
            <a:r>
              <a:rPr lang="en-US" sz="1200" b="1" dirty="0">
                <a:solidFill>
                  <a:srgbClr val="1A3A6B"/>
                </a:solidFill>
                <a:latin typeface="Times New Roman" panose="02020603050405020304" pitchFamily="18" charset="0"/>
                <a:ea typeface="Consolas" pitchFamily="34" charset="-122"/>
                <a:cs typeface="Times New Roman" panose="02020603050405020304" pitchFamily="18" charset="0"/>
              </a:rPr>
              <a:t>@Transient</a:t>
            </a:r>
            <a:endParaRPr lang="en-US" sz="1200" dirty="0">
              <a:latin typeface="Times New Roman" panose="02020603050405020304" pitchFamily="18" charset="0"/>
              <a:cs typeface="Times New Roman" panose="02020603050405020304" pitchFamily="18" charset="0"/>
            </a:endParaRPr>
          </a:p>
        </p:txBody>
      </p:sp>
      <p:sp>
        <p:nvSpPr>
          <p:cNvPr id="59" name="Text 23"/>
          <p:cNvSpPr/>
          <p:nvPr/>
        </p:nvSpPr>
        <p:spPr>
          <a:xfrm>
            <a:off x="6861488" y="4653176"/>
            <a:ext cx="1965960" cy="420624"/>
          </a:xfrm>
          <a:prstGeom prst="rect">
            <a:avLst/>
          </a:prstGeom>
          <a:noFill/>
          <a:ln/>
        </p:spPr>
        <p:txBody>
          <a:bodyPr wrap="square" rtlCol="0" anchor="ctr"/>
          <a:lstStyle/>
          <a:p>
            <a:pPr marL="0" indent="0">
              <a:lnSpc>
                <a:spcPct val="120000"/>
              </a:lnSpc>
              <a:buNone/>
            </a:pPr>
            <a:r>
              <a:rPr lang="en-US" sz="1200" dirty="0">
                <a:solidFill>
                  <a:srgbClr val="64748B"/>
                </a:solidFill>
                <a:latin typeface="Times New Roman" panose="02020603050405020304" pitchFamily="18" charset="0"/>
                <a:cs typeface="Times New Roman" panose="02020603050405020304" pitchFamily="18" charset="0"/>
              </a:rPr>
              <a:t>Attribut non persisté (ignoré par JPA).</a:t>
            </a:r>
            <a:endParaRPr lang="en-US" sz="1200" dirty="0">
              <a:latin typeface="Times New Roman" panose="02020603050405020304" pitchFamily="18" charset="0"/>
              <a:cs typeface="Times New Roman" panose="02020603050405020304" pitchFamily="18" charset="0"/>
            </a:endParaRPr>
          </a:p>
        </p:txBody>
      </p:sp>
      <p:sp>
        <p:nvSpPr>
          <p:cNvPr id="87" name="TextBox 86"/>
          <p:cNvSpPr txBox="1"/>
          <p:nvPr/>
        </p:nvSpPr>
        <p:spPr>
          <a:xfrm>
            <a:off x="722954" y="912498"/>
            <a:ext cx="6480720" cy="646331"/>
          </a:xfrm>
          <a:prstGeom prst="rect">
            <a:avLst/>
          </a:prstGeom>
          <a:noFill/>
        </p:spPr>
        <p:txBody>
          <a:bodyPr wrap="square" rtlCol="0">
            <a:spAutoFit/>
          </a:bodyPr>
          <a:lstStyle/>
          <a:p>
            <a:r>
              <a:rPr lang="en-US" b="1" dirty="0" smtClean="0">
                <a:latin typeface="Tm"/>
              </a:rPr>
              <a:t>Annotations </a:t>
            </a:r>
            <a:r>
              <a:rPr lang="en-US" b="1" dirty="0" err="1">
                <a:latin typeface="Tm"/>
              </a:rPr>
              <a:t>Clés</a:t>
            </a:r>
            <a:r>
              <a:rPr lang="en-US" b="1" dirty="0">
                <a:latin typeface="Tm"/>
              </a:rPr>
              <a:t> &amp; </a:t>
            </a:r>
            <a:r>
              <a:rPr lang="en-US" b="1" dirty="0" err="1">
                <a:latin typeface="Tm"/>
              </a:rPr>
              <a:t>Exemple</a:t>
            </a:r>
            <a:r>
              <a:rPr lang="en-US" b="1" dirty="0">
                <a:latin typeface="Tm"/>
              </a:rPr>
              <a:t> </a:t>
            </a:r>
            <a:r>
              <a:rPr lang="en-US" b="1" dirty="0" err="1">
                <a:latin typeface="Tm"/>
              </a:rPr>
              <a:t>d'Entité</a:t>
            </a:r>
            <a:endParaRPr lang="en-US" b="1" dirty="0">
              <a:latin typeface="Tm"/>
            </a:endParaRPr>
          </a:p>
          <a:p>
            <a:endParaRPr lang="en-US" dirty="0"/>
          </a:p>
        </p:txBody>
      </p:sp>
    </p:spTree>
    <p:extLst>
      <p:ext uri="{BB962C8B-B14F-4D97-AF65-F5344CB8AC3E}">
        <p14:creationId xmlns:p14="http://schemas.microsoft.com/office/powerpoint/2010/main" val="26511896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722954" y="1006334"/>
            <a:ext cx="8064500" cy="665585"/>
          </a:xfrm>
        </p:spPr>
        <p:txBody>
          <a:bodyPr/>
          <a:lstStyle/>
          <a:p>
            <a:r>
              <a:rPr lang="fr-CI" sz="2400" dirty="0" smtClean="0">
                <a:latin typeface="Times New Roman" panose="02020603050405020304" pitchFamily="18" charset="0"/>
                <a:cs typeface="Times New Roman" panose="02020603050405020304" pitchFamily="18" charset="0"/>
              </a:rPr>
              <a:t>JPA:</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Cycle de vie </a:t>
            </a:r>
            <a:r>
              <a:rPr lang="en-US" sz="2400" dirty="0" err="1">
                <a:latin typeface="Times New Roman" panose="02020603050405020304" pitchFamily="18" charset="0"/>
                <a:cs typeface="Times New Roman" panose="02020603050405020304" pitchFamily="18" charset="0"/>
              </a:rPr>
              <a:t>d'une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entité</a:t>
            </a:r>
            <a:r>
              <a:rPr lang="en-US" sz="2400" dirty="0">
                <a:latin typeface="Times New Roman" panose="02020603050405020304" pitchFamily="18" charset="0"/>
                <a:cs typeface="Times New Roman" panose="02020603050405020304" pitchFamily="18" charset="0"/>
              </a:rPr>
              <a:t> &amp; JPQL</a:t>
            </a:r>
            <a:endParaRPr lang="fr-CI" sz="2400" noProof="0" dirty="0">
              <a:latin typeface="Times New Roman" panose="02020603050405020304" pitchFamily="18" charset="0"/>
              <a:cs typeface="Times New Roman" panose="02020603050405020304" pitchFamily="18" charset="0"/>
            </a:endParaRPr>
          </a:p>
        </p:txBody>
      </p:sp>
      <p:pic>
        <p:nvPicPr>
          <p:cNvPr id="5" name="Image 1">
            <a:extLst>
              <a:ext uri="{FF2B5EF4-FFF2-40B4-BE49-F238E27FC236}">
                <a16:creationId xmlns:a16="http://schemas.microsoft.com/office/drawing/2014/main" id="{682E9ABF-7911-FEB6-EAD2-1310D09FD2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7" name="ZoneTexte 6"/>
          <p:cNvSpPr txBox="1"/>
          <p:nvPr/>
        </p:nvSpPr>
        <p:spPr>
          <a:xfrm>
            <a:off x="511377" y="1893723"/>
            <a:ext cx="8497193" cy="1200329"/>
          </a:xfrm>
          <a:prstGeom prst="rect">
            <a:avLst/>
          </a:prstGeom>
          <a:noFill/>
        </p:spPr>
        <p:txBody>
          <a:bodyPr wrap="square" rtlCol="0">
            <a:spAutoFit/>
          </a:bodyPr>
          <a:lstStyle/>
          <a:p>
            <a:r>
              <a:rPr lang="fr-FR" dirty="0" smtClean="0">
                <a:latin typeface="Times New Roman" panose="02020603050405020304" pitchFamily="18" charset="0"/>
                <a:cs typeface="Times New Roman" panose="02020603050405020304" pitchFamily="18" charset="0"/>
              </a:rPr>
              <a:t>Cycle de vie d’une entité JPA</a:t>
            </a:r>
          </a:p>
          <a:p>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Un objet entité peut se trouver dans 4 états différents </a:t>
            </a:r>
            <a:r>
              <a:rPr lang="fr-FR" dirty="0" smtClean="0"/>
              <a:t>:</a:t>
            </a:r>
            <a:endParaRPr lang="fr-FR" dirty="0"/>
          </a:p>
          <a:p>
            <a:endParaRPr lang="fr-FR" dirty="0"/>
          </a:p>
        </p:txBody>
      </p:sp>
      <p:sp>
        <p:nvSpPr>
          <p:cNvPr id="8" name="Shape 3"/>
          <p:cNvSpPr/>
          <p:nvPr/>
        </p:nvSpPr>
        <p:spPr>
          <a:xfrm>
            <a:off x="478105" y="3270136"/>
            <a:ext cx="2286000" cy="914400"/>
          </a:xfrm>
          <a:prstGeom prst="rect">
            <a:avLst/>
          </a:prstGeom>
          <a:solidFill>
            <a:srgbClr val="64748B"/>
          </a:solidFill>
          <a:ln w="12700">
            <a:solidFill>
              <a:srgbClr val="64748B"/>
            </a:solidFill>
            <a:prstDash val="solid"/>
          </a:ln>
          <a:effectLst>
            <a:outerShdw blurRad="101600" dist="38100" dir="8100000" algn="bl" rotWithShape="0">
              <a:srgbClr val="000000">
                <a:alpha val="15000"/>
              </a:srgbClr>
            </a:outerShdw>
          </a:effectLst>
        </p:spPr>
      </p:sp>
      <p:sp>
        <p:nvSpPr>
          <p:cNvPr id="9" name="Text 4"/>
          <p:cNvSpPr/>
          <p:nvPr/>
        </p:nvSpPr>
        <p:spPr>
          <a:xfrm>
            <a:off x="478105" y="3315856"/>
            <a:ext cx="2286000" cy="347472"/>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TRANSIENT</a:t>
            </a:r>
            <a:endParaRPr lang="en-US" sz="1200" dirty="0">
              <a:latin typeface="Times New Roman" panose="02020603050405020304" pitchFamily="18" charset="0"/>
              <a:cs typeface="Times New Roman" panose="02020603050405020304" pitchFamily="18" charset="0"/>
            </a:endParaRPr>
          </a:p>
        </p:txBody>
      </p:sp>
      <p:sp>
        <p:nvSpPr>
          <p:cNvPr id="10" name="Text 5"/>
          <p:cNvSpPr/>
          <p:nvPr/>
        </p:nvSpPr>
        <p:spPr>
          <a:xfrm>
            <a:off x="478105" y="3654184"/>
            <a:ext cx="2286000" cy="475488"/>
          </a:xfrm>
          <a:prstGeom prst="rect">
            <a:avLst/>
          </a:prstGeom>
          <a:noFill/>
          <a:ln/>
        </p:spPr>
        <p:txBody>
          <a:bodyPr wrap="square" rtlCol="0" anchor="ctr"/>
          <a:lstStyle/>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new Employe()</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non connu de JPA</a:t>
            </a:r>
            <a:endParaRPr lang="en-US" sz="1200" dirty="0">
              <a:latin typeface="Times New Roman" panose="02020603050405020304" pitchFamily="18" charset="0"/>
              <a:cs typeface="Times New Roman" panose="02020603050405020304" pitchFamily="18" charset="0"/>
            </a:endParaRPr>
          </a:p>
        </p:txBody>
      </p:sp>
      <p:sp>
        <p:nvSpPr>
          <p:cNvPr id="11" name="Shape 6"/>
          <p:cNvSpPr/>
          <p:nvPr/>
        </p:nvSpPr>
        <p:spPr>
          <a:xfrm>
            <a:off x="3129865" y="3270136"/>
            <a:ext cx="2286000" cy="914400"/>
          </a:xfrm>
          <a:prstGeom prst="rect">
            <a:avLst/>
          </a:prstGeom>
          <a:solidFill>
            <a:srgbClr val="2E7D32"/>
          </a:solidFill>
          <a:ln w="12700">
            <a:solidFill>
              <a:srgbClr val="2E7D32"/>
            </a:solidFill>
            <a:prstDash val="solid"/>
          </a:ln>
          <a:effectLst>
            <a:outerShdw blurRad="101600" dist="38100" dir="8100000" algn="bl" rotWithShape="0">
              <a:srgbClr val="000000">
                <a:alpha val="15000"/>
              </a:srgbClr>
            </a:outerShdw>
          </a:effectLst>
        </p:spPr>
      </p:sp>
      <p:sp>
        <p:nvSpPr>
          <p:cNvPr id="13" name="Text 7"/>
          <p:cNvSpPr/>
          <p:nvPr/>
        </p:nvSpPr>
        <p:spPr>
          <a:xfrm>
            <a:off x="3129865" y="3315856"/>
            <a:ext cx="2286000" cy="347472"/>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MANAGED</a:t>
            </a:r>
            <a:endParaRPr lang="en-US" sz="1200" dirty="0">
              <a:latin typeface="Times New Roman" panose="02020603050405020304" pitchFamily="18" charset="0"/>
              <a:cs typeface="Times New Roman" panose="02020603050405020304" pitchFamily="18" charset="0"/>
            </a:endParaRPr>
          </a:p>
        </p:txBody>
      </p:sp>
      <p:sp>
        <p:nvSpPr>
          <p:cNvPr id="14" name="Text 8"/>
          <p:cNvSpPr/>
          <p:nvPr/>
        </p:nvSpPr>
        <p:spPr>
          <a:xfrm>
            <a:off x="3129865" y="3654184"/>
            <a:ext cx="2286000" cy="475488"/>
          </a:xfrm>
          <a:prstGeom prst="rect">
            <a:avLst/>
          </a:prstGeom>
          <a:noFill/>
          <a:ln/>
        </p:spPr>
        <p:txBody>
          <a:bodyPr wrap="square" rtlCol="0" anchor="ctr"/>
          <a:lstStyle/>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em.persist(e)</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em.find(...)</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em.merge(e)</a:t>
            </a:r>
            <a:endParaRPr lang="en-US" sz="1200" dirty="0">
              <a:latin typeface="Times New Roman" panose="02020603050405020304" pitchFamily="18" charset="0"/>
              <a:cs typeface="Times New Roman" panose="02020603050405020304" pitchFamily="18" charset="0"/>
            </a:endParaRPr>
          </a:p>
        </p:txBody>
      </p:sp>
      <p:sp>
        <p:nvSpPr>
          <p:cNvPr id="15" name="Shape 9"/>
          <p:cNvSpPr/>
          <p:nvPr/>
        </p:nvSpPr>
        <p:spPr>
          <a:xfrm>
            <a:off x="5781625" y="3270136"/>
            <a:ext cx="2286000" cy="914400"/>
          </a:xfrm>
          <a:prstGeom prst="rect">
            <a:avLst/>
          </a:prstGeom>
          <a:solidFill>
            <a:srgbClr val="E65100"/>
          </a:solidFill>
          <a:ln w="12700">
            <a:solidFill>
              <a:srgbClr val="E65100"/>
            </a:solidFill>
            <a:prstDash val="solid"/>
          </a:ln>
          <a:effectLst>
            <a:outerShdw blurRad="101600" dist="38100" dir="8100000" algn="bl" rotWithShape="0">
              <a:srgbClr val="000000">
                <a:alpha val="15000"/>
              </a:srgbClr>
            </a:outerShdw>
          </a:effectLst>
        </p:spPr>
      </p:sp>
      <p:sp>
        <p:nvSpPr>
          <p:cNvPr id="16" name="Text 10"/>
          <p:cNvSpPr/>
          <p:nvPr/>
        </p:nvSpPr>
        <p:spPr>
          <a:xfrm>
            <a:off x="5781625" y="3315856"/>
            <a:ext cx="2286000" cy="347472"/>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DETACHED</a:t>
            </a:r>
            <a:endParaRPr lang="en-US" sz="1200" dirty="0">
              <a:latin typeface="Times New Roman" panose="02020603050405020304" pitchFamily="18" charset="0"/>
              <a:cs typeface="Times New Roman" panose="02020603050405020304" pitchFamily="18" charset="0"/>
            </a:endParaRPr>
          </a:p>
        </p:txBody>
      </p:sp>
      <p:sp>
        <p:nvSpPr>
          <p:cNvPr id="17" name="Text 11"/>
          <p:cNvSpPr/>
          <p:nvPr/>
        </p:nvSpPr>
        <p:spPr>
          <a:xfrm>
            <a:off x="5781625" y="3654184"/>
            <a:ext cx="2286000" cy="475488"/>
          </a:xfrm>
          <a:prstGeom prst="rect">
            <a:avLst/>
          </a:prstGeom>
          <a:noFill/>
          <a:ln/>
        </p:spPr>
        <p:txBody>
          <a:bodyPr wrap="square" rtlCol="0" anchor="ctr"/>
          <a:lstStyle/>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em.detach(e)</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em.close()</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transaction fermée</a:t>
            </a:r>
            <a:endParaRPr lang="en-US" sz="1200" dirty="0">
              <a:latin typeface="Times New Roman" panose="02020603050405020304" pitchFamily="18" charset="0"/>
              <a:cs typeface="Times New Roman" panose="02020603050405020304" pitchFamily="18" charset="0"/>
            </a:endParaRPr>
          </a:p>
        </p:txBody>
      </p:sp>
      <p:sp>
        <p:nvSpPr>
          <p:cNvPr id="18" name="Shape 12"/>
          <p:cNvSpPr/>
          <p:nvPr/>
        </p:nvSpPr>
        <p:spPr>
          <a:xfrm>
            <a:off x="3129865" y="5007496"/>
            <a:ext cx="2286000" cy="914400"/>
          </a:xfrm>
          <a:prstGeom prst="rect">
            <a:avLst/>
          </a:prstGeom>
          <a:solidFill>
            <a:srgbClr val="E94F37"/>
          </a:solidFill>
          <a:ln w="12700">
            <a:solidFill>
              <a:srgbClr val="E94F37"/>
            </a:solidFill>
            <a:prstDash val="solid"/>
          </a:ln>
          <a:effectLst>
            <a:outerShdw blurRad="101600" dist="38100" dir="8100000" algn="bl" rotWithShape="0">
              <a:srgbClr val="000000">
                <a:alpha val="15000"/>
              </a:srgbClr>
            </a:outerShdw>
          </a:effectLst>
        </p:spPr>
      </p:sp>
      <p:sp>
        <p:nvSpPr>
          <p:cNvPr id="19" name="Text 13"/>
          <p:cNvSpPr/>
          <p:nvPr/>
        </p:nvSpPr>
        <p:spPr>
          <a:xfrm>
            <a:off x="3129865" y="5053216"/>
            <a:ext cx="2286000" cy="347472"/>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REMOVED</a:t>
            </a:r>
            <a:endParaRPr lang="en-US" sz="1200" dirty="0">
              <a:latin typeface="Times New Roman" panose="02020603050405020304" pitchFamily="18" charset="0"/>
              <a:cs typeface="Times New Roman" panose="02020603050405020304" pitchFamily="18" charset="0"/>
            </a:endParaRPr>
          </a:p>
        </p:txBody>
      </p:sp>
      <p:sp>
        <p:nvSpPr>
          <p:cNvPr id="20" name="Text 14"/>
          <p:cNvSpPr/>
          <p:nvPr/>
        </p:nvSpPr>
        <p:spPr>
          <a:xfrm>
            <a:off x="3129865" y="5391544"/>
            <a:ext cx="2286000" cy="475488"/>
          </a:xfrm>
          <a:prstGeom prst="rect">
            <a:avLst/>
          </a:prstGeom>
          <a:noFill/>
          <a:ln/>
        </p:spPr>
        <p:txBody>
          <a:bodyPr wrap="square" rtlCol="0" anchor="ctr"/>
          <a:lstStyle/>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em.remove(e)</a:t>
            </a:r>
            <a:endParaRPr lang="en-US" sz="1200" dirty="0">
              <a:latin typeface="Times New Roman" panose="02020603050405020304" pitchFamily="18" charset="0"/>
              <a:cs typeface="Times New Roman" panose="02020603050405020304" pitchFamily="18" charset="0"/>
            </a:endParaRPr>
          </a:p>
          <a:p>
            <a:pPr marL="0" indent="0" algn="ctr">
              <a:lnSpc>
                <a:spcPct val="120000"/>
              </a:lnSpc>
              <a:buNone/>
            </a:pPr>
            <a:r>
              <a:rPr lang="en-US" sz="1200" dirty="0">
                <a:solidFill>
                  <a:srgbClr val="FFFFFF"/>
                </a:solidFill>
                <a:latin typeface="Times New Roman" panose="02020603050405020304" pitchFamily="18" charset="0"/>
                <a:ea typeface="Consolas" pitchFamily="34" charset="-122"/>
                <a:cs typeface="Times New Roman" panose="02020603050405020304" pitchFamily="18" charset="0"/>
              </a:rPr>
              <a:t>supprimé à flush()</a:t>
            </a:r>
            <a:endParaRPr lang="en-US" sz="1200" dirty="0">
              <a:latin typeface="Times New Roman" panose="02020603050405020304" pitchFamily="18" charset="0"/>
              <a:cs typeface="Times New Roman" panose="02020603050405020304" pitchFamily="18" charset="0"/>
            </a:endParaRPr>
          </a:p>
        </p:txBody>
      </p:sp>
      <p:sp>
        <p:nvSpPr>
          <p:cNvPr id="21" name="Shape 15"/>
          <p:cNvSpPr/>
          <p:nvPr/>
        </p:nvSpPr>
        <p:spPr>
          <a:xfrm>
            <a:off x="2764105" y="3727336"/>
            <a:ext cx="365760" cy="0"/>
          </a:xfrm>
          <a:prstGeom prst="line">
            <a:avLst/>
          </a:prstGeom>
          <a:noFill/>
          <a:ln w="25400">
            <a:solidFill>
              <a:srgbClr val="0F2044"/>
            </a:solidFill>
            <a:prstDash val="solid"/>
          </a:ln>
        </p:spPr>
      </p:sp>
      <p:sp>
        <p:nvSpPr>
          <p:cNvPr id="22" name="Shape 16"/>
          <p:cNvSpPr/>
          <p:nvPr/>
        </p:nvSpPr>
        <p:spPr>
          <a:xfrm>
            <a:off x="5415865" y="3727336"/>
            <a:ext cx="365760" cy="0"/>
          </a:xfrm>
          <a:prstGeom prst="line">
            <a:avLst/>
          </a:prstGeom>
          <a:noFill/>
          <a:ln w="25400">
            <a:solidFill>
              <a:srgbClr val="0F2044"/>
            </a:solidFill>
            <a:prstDash val="solid"/>
          </a:ln>
        </p:spPr>
      </p:sp>
      <p:sp>
        <p:nvSpPr>
          <p:cNvPr id="23" name="Shape 17"/>
          <p:cNvSpPr/>
          <p:nvPr/>
        </p:nvSpPr>
        <p:spPr>
          <a:xfrm>
            <a:off x="4272865" y="4184536"/>
            <a:ext cx="0" cy="822960"/>
          </a:xfrm>
          <a:prstGeom prst="line">
            <a:avLst/>
          </a:prstGeom>
          <a:noFill/>
          <a:ln w="25400">
            <a:solidFill>
              <a:srgbClr val="0F2044"/>
            </a:solidFill>
            <a:prstDash val="solid"/>
          </a:ln>
        </p:spPr>
      </p:sp>
      <p:sp>
        <p:nvSpPr>
          <p:cNvPr id="24" name="Text 18"/>
          <p:cNvSpPr/>
          <p:nvPr/>
        </p:nvSpPr>
        <p:spPr>
          <a:xfrm>
            <a:off x="2764105" y="3498736"/>
            <a:ext cx="731520" cy="228600"/>
          </a:xfrm>
          <a:prstGeom prst="rect">
            <a:avLst/>
          </a:prstGeom>
          <a:noFill/>
          <a:ln/>
        </p:spPr>
        <p:txBody>
          <a:bodyPr wrap="square" rtlCol="0" anchor="ctr"/>
          <a:lstStyle/>
          <a:p>
            <a:pPr marL="0" indent="0" algn="ctr">
              <a:buNone/>
            </a:pPr>
            <a:r>
              <a:rPr lang="en-US" sz="1200" dirty="0">
                <a:solidFill>
                  <a:srgbClr val="64748B"/>
                </a:solidFill>
                <a:latin typeface="Times New Roman" panose="02020603050405020304" pitchFamily="18" charset="0"/>
                <a:cs typeface="Times New Roman" panose="02020603050405020304" pitchFamily="18" charset="0"/>
              </a:rPr>
              <a:t>persist()</a:t>
            </a:r>
            <a:endParaRPr lang="en-US" sz="1200" dirty="0">
              <a:latin typeface="Times New Roman" panose="02020603050405020304" pitchFamily="18" charset="0"/>
              <a:cs typeface="Times New Roman" panose="02020603050405020304" pitchFamily="18" charset="0"/>
            </a:endParaRPr>
          </a:p>
        </p:txBody>
      </p:sp>
      <p:sp>
        <p:nvSpPr>
          <p:cNvPr id="25" name="Text 19"/>
          <p:cNvSpPr/>
          <p:nvPr/>
        </p:nvSpPr>
        <p:spPr>
          <a:xfrm>
            <a:off x="5415865" y="3498736"/>
            <a:ext cx="731520" cy="228600"/>
          </a:xfrm>
          <a:prstGeom prst="rect">
            <a:avLst/>
          </a:prstGeom>
          <a:noFill/>
          <a:ln/>
        </p:spPr>
        <p:txBody>
          <a:bodyPr wrap="square" rtlCol="0" anchor="ctr"/>
          <a:lstStyle/>
          <a:p>
            <a:pPr marL="0" indent="0" algn="ctr">
              <a:buNone/>
            </a:pPr>
            <a:r>
              <a:rPr lang="en-US" sz="1200" dirty="0">
                <a:solidFill>
                  <a:srgbClr val="64748B"/>
                </a:solidFill>
                <a:latin typeface="Times New Roman" panose="02020603050405020304" pitchFamily="18" charset="0"/>
                <a:cs typeface="Times New Roman" panose="02020603050405020304" pitchFamily="18" charset="0"/>
              </a:rPr>
              <a:t>detach()</a:t>
            </a:r>
            <a:endParaRPr lang="en-US" sz="1200" dirty="0">
              <a:latin typeface="Times New Roman" panose="02020603050405020304" pitchFamily="18" charset="0"/>
              <a:cs typeface="Times New Roman" panose="02020603050405020304" pitchFamily="18" charset="0"/>
            </a:endParaRPr>
          </a:p>
        </p:txBody>
      </p:sp>
      <p:sp>
        <p:nvSpPr>
          <p:cNvPr id="26" name="Text 20"/>
          <p:cNvSpPr/>
          <p:nvPr/>
        </p:nvSpPr>
        <p:spPr>
          <a:xfrm>
            <a:off x="4410025" y="4504576"/>
            <a:ext cx="880080" cy="176121"/>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cs typeface="Times New Roman" panose="02020603050405020304" pitchFamily="18" charset="0"/>
              </a:rPr>
              <a:t>remove()</a:t>
            </a:r>
            <a:endParaRPr lang="en-US" sz="1200" dirty="0">
              <a:latin typeface="Times New Roman" panose="02020603050405020304" pitchFamily="18" charset="0"/>
              <a:cs typeface="Times New Roman" panose="02020603050405020304" pitchFamily="18" charset="0"/>
            </a:endParaRPr>
          </a:p>
        </p:txBody>
      </p:sp>
      <p:sp>
        <p:nvSpPr>
          <p:cNvPr id="27" name="Titre 3">
            <a:extLst>
              <a:ext uri="{FF2B5EF4-FFF2-40B4-BE49-F238E27FC236}">
                <a16:creationId xmlns:a16="http://schemas.microsoft.com/office/drawing/2014/main" id="{FD2745D9-D935-5DCC-A026-8C0361F73C9F}"/>
              </a:ext>
            </a:extLst>
          </p:cNvPr>
          <p:cNvSpPr txBox="1">
            <a:spLocks/>
          </p:cNvSpPr>
          <p:nvPr/>
        </p:nvSpPr>
        <p:spPr bwMode="auto">
          <a:xfrm>
            <a:off x="684213" y="4851"/>
            <a:ext cx="8064500" cy="66558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a:lstStyle>
          <a:p>
            <a:pPr marL="514350" indent="-514350">
              <a:buFont typeface="+mj-lt"/>
              <a:buAutoNum type="romanUcPeriod" startAt="4"/>
            </a:pPr>
            <a:r>
              <a:rPr lang="fr-CI" sz="2400" kern="0" smtClean="0">
                <a:solidFill>
                  <a:srgbClr val="FF0000"/>
                </a:solidFill>
              </a:rPr>
              <a:t>JPA JAVA Persistence API </a:t>
            </a:r>
            <a:endParaRPr lang="fr-CI" sz="2400" kern="0" dirty="0">
              <a:solidFill>
                <a:srgbClr val="FF0000"/>
              </a:solidFill>
            </a:endParaRPr>
          </a:p>
        </p:txBody>
      </p:sp>
    </p:spTree>
    <p:extLst>
      <p:ext uri="{BB962C8B-B14F-4D97-AF65-F5344CB8AC3E}">
        <p14:creationId xmlns:p14="http://schemas.microsoft.com/office/powerpoint/2010/main" val="3110254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6" name="Text 1"/>
          <p:cNvSpPr/>
          <p:nvPr/>
        </p:nvSpPr>
        <p:spPr>
          <a:xfrm>
            <a:off x="365760" y="857250"/>
            <a:ext cx="8412480" cy="777240"/>
          </a:xfrm>
          <a:prstGeom prst="rect">
            <a:avLst/>
          </a:prstGeom>
          <a:noFill/>
          <a:ln/>
        </p:spPr>
        <p:txBody>
          <a:bodyPr wrap="square" rtlCol="0" anchor="ctr"/>
          <a:lstStyle/>
          <a:p>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JPQL — Langage de Requêtes JPA</a:t>
            </a:r>
            <a:endParaRPr lang="en-US" dirty="0">
              <a:latin typeface="Times New Roman" panose="02020603050405020304" pitchFamily="18" charset="0"/>
              <a:cs typeface="Times New Roman" panose="02020603050405020304" pitchFamily="18" charset="0"/>
            </a:endParaRPr>
          </a:p>
        </p:txBody>
      </p:sp>
      <p:sp>
        <p:nvSpPr>
          <p:cNvPr id="7" name="Text 2"/>
          <p:cNvSpPr/>
          <p:nvPr/>
        </p:nvSpPr>
        <p:spPr>
          <a:xfrm>
            <a:off x="365760" y="476672"/>
            <a:ext cx="8412480" cy="1491222"/>
          </a:xfrm>
          <a:prstGeom prst="rect">
            <a:avLst/>
          </a:prstGeom>
          <a:noFill/>
          <a:ln/>
        </p:spPr>
        <p:txBody>
          <a:bodyPr wrap="square" rtlCol="0" anchor="ctr"/>
          <a:lstStyle/>
          <a:p>
            <a:pPr algn="just"/>
            <a:r>
              <a:rPr lang="en-US" dirty="0">
                <a:latin typeface="Times New Roman" panose="02020603050405020304" pitchFamily="18" charset="0"/>
                <a:ea typeface="Calibri" pitchFamily="34" charset="-122"/>
                <a:cs typeface="Times New Roman" panose="02020603050405020304" pitchFamily="18" charset="0"/>
              </a:rPr>
              <a:t>JPQL (Java Persistence Query Language</a:t>
            </a:r>
            <a:r>
              <a:rPr lang="en-US" dirty="0" smtClean="0">
                <a:latin typeface="Times New Roman" panose="02020603050405020304" pitchFamily="18" charset="0"/>
                <a:ea typeface="Calibri" pitchFamily="34" charset="-122"/>
                <a:cs typeface="Times New Roman" panose="02020603050405020304" pitchFamily="18" charset="0"/>
              </a:rPr>
              <a:t>) est le </a:t>
            </a:r>
            <a:r>
              <a:rPr lang="en-US" dirty="0" err="1" smtClean="0">
                <a:latin typeface="Times New Roman" panose="02020603050405020304" pitchFamily="18" charset="0"/>
                <a:ea typeface="Calibri" pitchFamily="34" charset="-122"/>
                <a:cs typeface="Times New Roman" panose="02020603050405020304" pitchFamily="18" charset="0"/>
              </a:rPr>
              <a:t>langage</a:t>
            </a:r>
            <a:r>
              <a:rPr lang="en-US" dirty="0" smtClean="0">
                <a:latin typeface="Times New Roman" panose="02020603050405020304" pitchFamily="18" charset="0"/>
                <a:ea typeface="Calibri" pitchFamily="34" charset="-122"/>
                <a:cs typeface="Times New Roman" panose="02020603050405020304" pitchFamily="18" charset="0"/>
              </a:rPr>
              <a:t> de </a:t>
            </a:r>
            <a:r>
              <a:rPr lang="en-US" dirty="0" err="1" smtClean="0">
                <a:latin typeface="Times New Roman" panose="02020603050405020304" pitchFamily="18" charset="0"/>
                <a:ea typeface="Calibri" pitchFamily="34" charset="-122"/>
                <a:cs typeface="Times New Roman" panose="02020603050405020304" pitchFamily="18" charset="0"/>
              </a:rPr>
              <a:t>requêtes</a:t>
            </a:r>
            <a:r>
              <a:rPr lang="en-US" dirty="0" smtClean="0">
                <a:latin typeface="Times New Roman" panose="02020603050405020304" pitchFamily="18" charset="0"/>
                <a:ea typeface="Calibri" pitchFamily="34" charset="-122"/>
                <a:cs typeface="Times New Roman" panose="02020603050405020304" pitchFamily="18" charset="0"/>
              </a:rPr>
              <a:t> </a:t>
            </a:r>
            <a:r>
              <a:rPr lang="en-US" dirty="0" smtClean="0">
                <a:latin typeface="Times New Roman" panose="02020603050405020304" pitchFamily="18" charset="0"/>
                <a:ea typeface="Calibri" pitchFamily="34" charset="-122"/>
                <a:cs typeface="Times New Roman" panose="02020603050405020304" pitchFamily="18" charset="0"/>
              </a:rPr>
              <a:t>JPA .</a:t>
            </a:r>
          </a:p>
          <a:p>
            <a:pPr algn="just"/>
            <a:r>
              <a:rPr lang="en-US" dirty="0" smtClean="0">
                <a:latin typeface="Times New Roman" panose="02020603050405020304" pitchFamily="18" charset="0"/>
                <a:ea typeface="Calibri" pitchFamily="34" charset="-122"/>
                <a:cs typeface="Times New Roman" panose="02020603050405020304" pitchFamily="18" charset="0"/>
              </a:rPr>
              <a:t>Il </a:t>
            </a:r>
            <a:r>
              <a:rPr lang="en-US" dirty="0">
                <a:latin typeface="Times New Roman" panose="02020603050405020304" pitchFamily="18" charset="0"/>
                <a:ea typeface="Calibri" pitchFamily="34" charset="-122"/>
                <a:cs typeface="Times New Roman" panose="02020603050405020304" pitchFamily="18" charset="0"/>
              </a:rPr>
              <a:t>ressemble à SQL mais travaille sur les OBJETS, pas les tables.</a:t>
            </a:r>
            <a:endParaRPr lang="en-US" dirty="0">
              <a:latin typeface="Times New Roman" panose="02020603050405020304" pitchFamily="18" charset="0"/>
              <a:cs typeface="Times New Roman" panose="02020603050405020304" pitchFamily="18" charset="0"/>
            </a:endParaRPr>
          </a:p>
        </p:txBody>
      </p:sp>
      <p:sp>
        <p:nvSpPr>
          <p:cNvPr id="8" name="Shape 3"/>
          <p:cNvSpPr/>
          <p:nvPr/>
        </p:nvSpPr>
        <p:spPr>
          <a:xfrm>
            <a:off x="365760" y="2274570"/>
            <a:ext cx="4114800" cy="365760"/>
          </a:xfrm>
          <a:prstGeom prst="rect">
            <a:avLst/>
          </a:prstGeom>
          <a:solidFill>
            <a:srgbClr val="1A5276"/>
          </a:solidFill>
          <a:ln w="12700">
            <a:solidFill>
              <a:srgbClr val="1A5276"/>
            </a:solidFill>
            <a:prstDash val="solid"/>
          </a:ln>
        </p:spPr>
      </p:sp>
      <p:sp>
        <p:nvSpPr>
          <p:cNvPr id="9" name="Text 4"/>
          <p:cNvSpPr/>
          <p:nvPr/>
        </p:nvSpPr>
        <p:spPr>
          <a:xfrm>
            <a:off x="365760" y="2274570"/>
            <a:ext cx="4114800" cy="36576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SQL (tables)</a:t>
            </a:r>
            <a:endParaRPr lang="en-US" dirty="0">
              <a:latin typeface="Times New Roman" panose="02020603050405020304" pitchFamily="18" charset="0"/>
              <a:cs typeface="Times New Roman" panose="02020603050405020304" pitchFamily="18" charset="0"/>
            </a:endParaRPr>
          </a:p>
        </p:txBody>
      </p:sp>
      <p:sp>
        <p:nvSpPr>
          <p:cNvPr id="10" name="Shape 5"/>
          <p:cNvSpPr/>
          <p:nvPr/>
        </p:nvSpPr>
        <p:spPr>
          <a:xfrm>
            <a:off x="4754880" y="2274570"/>
            <a:ext cx="4114800" cy="365760"/>
          </a:xfrm>
          <a:prstGeom prst="rect">
            <a:avLst/>
          </a:prstGeom>
          <a:solidFill>
            <a:srgbClr val="1ABC9C"/>
          </a:solidFill>
          <a:ln w="12700">
            <a:solidFill>
              <a:srgbClr val="1ABC9C"/>
            </a:solidFill>
            <a:prstDash val="solid"/>
          </a:ln>
        </p:spPr>
      </p:sp>
      <p:sp>
        <p:nvSpPr>
          <p:cNvPr id="11" name="Text 6"/>
          <p:cNvSpPr/>
          <p:nvPr/>
        </p:nvSpPr>
        <p:spPr>
          <a:xfrm>
            <a:off x="4754880" y="2274570"/>
            <a:ext cx="4114800" cy="36576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JPQL (objets)</a:t>
            </a:r>
            <a:endParaRPr lang="en-US" dirty="0">
              <a:latin typeface="Times New Roman" panose="02020603050405020304" pitchFamily="18" charset="0"/>
              <a:cs typeface="Times New Roman" panose="02020603050405020304" pitchFamily="18" charset="0"/>
            </a:endParaRPr>
          </a:p>
        </p:txBody>
      </p:sp>
      <p:sp>
        <p:nvSpPr>
          <p:cNvPr id="12" name="Shape 7"/>
          <p:cNvSpPr/>
          <p:nvPr/>
        </p:nvSpPr>
        <p:spPr>
          <a:xfrm>
            <a:off x="365760" y="2777490"/>
            <a:ext cx="4114800" cy="658368"/>
          </a:xfrm>
          <a:prstGeom prst="rect">
            <a:avLst/>
          </a:prstGeom>
          <a:solidFill>
            <a:srgbClr val="EBF5FB"/>
          </a:solidFill>
          <a:ln w="12700">
            <a:solidFill>
              <a:srgbClr val="D5E8F0"/>
            </a:solidFill>
            <a:prstDash val="solid"/>
          </a:ln>
        </p:spPr>
      </p:sp>
      <p:sp>
        <p:nvSpPr>
          <p:cNvPr id="13" name="Text 8"/>
          <p:cNvSpPr/>
          <p:nvPr/>
        </p:nvSpPr>
        <p:spPr>
          <a:xfrm>
            <a:off x="502920" y="2823210"/>
            <a:ext cx="3840480" cy="566928"/>
          </a:xfrm>
          <a:prstGeom prst="rect">
            <a:avLst/>
          </a:prstGeom>
          <a:noFill/>
          <a:ln/>
        </p:spPr>
        <p:txBody>
          <a:bodyPr wrap="square" rtlCol="0" anchor="ctr"/>
          <a:lstStyle/>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SELECT * FROM etudiants</a:t>
            </a:r>
            <a:endParaRPr lang="en-US" dirty="0">
              <a:latin typeface="Times New Roman" panose="02020603050405020304" pitchFamily="18" charset="0"/>
              <a:cs typeface="Times New Roman" panose="02020603050405020304" pitchFamily="18" charset="0"/>
            </a:endParaRPr>
          </a:p>
        </p:txBody>
      </p:sp>
      <p:sp>
        <p:nvSpPr>
          <p:cNvPr id="14" name="Shape 9"/>
          <p:cNvSpPr/>
          <p:nvPr/>
        </p:nvSpPr>
        <p:spPr>
          <a:xfrm>
            <a:off x="4754880" y="2843478"/>
            <a:ext cx="4114800" cy="658368"/>
          </a:xfrm>
          <a:prstGeom prst="rect">
            <a:avLst/>
          </a:prstGeom>
          <a:solidFill>
            <a:srgbClr val="E8F8F5"/>
          </a:solidFill>
          <a:ln w="12700">
            <a:solidFill>
              <a:srgbClr val="D5F0EB"/>
            </a:solidFill>
            <a:prstDash val="solid"/>
          </a:ln>
        </p:spPr>
      </p:sp>
      <p:sp>
        <p:nvSpPr>
          <p:cNvPr id="15" name="Text 10"/>
          <p:cNvSpPr/>
          <p:nvPr/>
        </p:nvSpPr>
        <p:spPr>
          <a:xfrm>
            <a:off x="4892040" y="2823210"/>
            <a:ext cx="3840480" cy="566928"/>
          </a:xfrm>
          <a:prstGeom prst="rect">
            <a:avLst/>
          </a:prstGeom>
          <a:noFill/>
          <a:ln/>
        </p:spPr>
        <p:txBody>
          <a:bodyPr wrap="square" rtlCol="0" anchor="ctr"/>
          <a:lstStyle/>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SELECT e FROM Etudiant e</a:t>
            </a:r>
            <a:endParaRPr lang="en-US" dirty="0">
              <a:latin typeface="Times New Roman" panose="02020603050405020304" pitchFamily="18" charset="0"/>
              <a:cs typeface="Times New Roman" panose="02020603050405020304" pitchFamily="18" charset="0"/>
            </a:endParaRPr>
          </a:p>
        </p:txBody>
      </p:sp>
      <p:sp>
        <p:nvSpPr>
          <p:cNvPr id="16" name="Shape 11"/>
          <p:cNvSpPr/>
          <p:nvPr/>
        </p:nvSpPr>
        <p:spPr>
          <a:xfrm>
            <a:off x="365760" y="3527298"/>
            <a:ext cx="4114800" cy="658368"/>
          </a:xfrm>
          <a:prstGeom prst="rect">
            <a:avLst/>
          </a:prstGeom>
          <a:solidFill>
            <a:srgbClr val="FFFFFF"/>
          </a:solidFill>
          <a:ln w="12700">
            <a:solidFill>
              <a:srgbClr val="D5E8F0"/>
            </a:solidFill>
            <a:prstDash val="solid"/>
          </a:ln>
        </p:spPr>
      </p:sp>
      <p:sp>
        <p:nvSpPr>
          <p:cNvPr id="17" name="Text 12"/>
          <p:cNvSpPr/>
          <p:nvPr/>
        </p:nvSpPr>
        <p:spPr>
          <a:xfrm>
            <a:off x="502920" y="3573018"/>
            <a:ext cx="3840480" cy="566928"/>
          </a:xfrm>
          <a:prstGeom prst="rect">
            <a:avLst/>
          </a:prstGeom>
          <a:noFill/>
          <a:ln/>
        </p:spPr>
        <p:txBody>
          <a:bodyPr wrap="square" rtlCol="0" anchor="ctr"/>
          <a:lstStyle/>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SELECT * FROM etudiants</a:t>
            </a:r>
            <a:endParaRPr lang="en-US" dirty="0">
              <a:latin typeface="Times New Roman" panose="02020603050405020304" pitchFamily="18" charset="0"/>
              <a:cs typeface="Times New Roman" panose="02020603050405020304" pitchFamily="18" charset="0"/>
            </a:endParaRPr>
          </a:p>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WHERE age &gt; 18</a:t>
            </a:r>
            <a:endParaRPr lang="en-US" dirty="0">
              <a:latin typeface="Times New Roman" panose="02020603050405020304" pitchFamily="18" charset="0"/>
              <a:cs typeface="Times New Roman" panose="02020603050405020304" pitchFamily="18" charset="0"/>
            </a:endParaRPr>
          </a:p>
        </p:txBody>
      </p:sp>
      <p:sp>
        <p:nvSpPr>
          <p:cNvPr id="18" name="Shape 13"/>
          <p:cNvSpPr/>
          <p:nvPr/>
        </p:nvSpPr>
        <p:spPr>
          <a:xfrm>
            <a:off x="4754880" y="3527298"/>
            <a:ext cx="4114800" cy="658368"/>
          </a:xfrm>
          <a:prstGeom prst="rect">
            <a:avLst/>
          </a:prstGeom>
          <a:solidFill>
            <a:srgbClr val="FFFFFF"/>
          </a:solidFill>
          <a:ln w="12700">
            <a:solidFill>
              <a:srgbClr val="D5F0EB"/>
            </a:solidFill>
            <a:prstDash val="solid"/>
          </a:ln>
        </p:spPr>
      </p:sp>
      <p:sp>
        <p:nvSpPr>
          <p:cNvPr id="19" name="Text 14"/>
          <p:cNvSpPr/>
          <p:nvPr/>
        </p:nvSpPr>
        <p:spPr>
          <a:xfrm>
            <a:off x="4892040" y="3573018"/>
            <a:ext cx="3840480" cy="566928"/>
          </a:xfrm>
          <a:prstGeom prst="rect">
            <a:avLst/>
          </a:prstGeom>
          <a:noFill/>
          <a:ln/>
        </p:spPr>
        <p:txBody>
          <a:bodyPr wrap="square" rtlCol="0" anchor="ctr"/>
          <a:lstStyle/>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SELECT e FROM Etudiant e</a:t>
            </a:r>
            <a:endParaRPr lang="en-US" dirty="0">
              <a:latin typeface="Times New Roman" panose="02020603050405020304" pitchFamily="18" charset="0"/>
              <a:cs typeface="Times New Roman" panose="02020603050405020304" pitchFamily="18" charset="0"/>
            </a:endParaRPr>
          </a:p>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WHERE e.age &gt; 18</a:t>
            </a:r>
            <a:endParaRPr lang="en-US" dirty="0">
              <a:latin typeface="Times New Roman" panose="02020603050405020304" pitchFamily="18" charset="0"/>
              <a:cs typeface="Times New Roman" panose="02020603050405020304" pitchFamily="18" charset="0"/>
            </a:endParaRPr>
          </a:p>
        </p:txBody>
      </p:sp>
      <p:sp>
        <p:nvSpPr>
          <p:cNvPr id="20" name="Shape 15"/>
          <p:cNvSpPr/>
          <p:nvPr/>
        </p:nvSpPr>
        <p:spPr>
          <a:xfrm>
            <a:off x="365760" y="4277106"/>
            <a:ext cx="4114800" cy="658368"/>
          </a:xfrm>
          <a:prstGeom prst="rect">
            <a:avLst/>
          </a:prstGeom>
          <a:solidFill>
            <a:srgbClr val="EBF5FB"/>
          </a:solidFill>
          <a:ln w="12700">
            <a:solidFill>
              <a:srgbClr val="D5E8F0"/>
            </a:solidFill>
            <a:prstDash val="solid"/>
          </a:ln>
        </p:spPr>
      </p:sp>
      <p:sp>
        <p:nvSpPr>
          <p:cNvPr id="21" name="Text 16"/>
          <p:cNvSpPr/>
          <p:nvPr/>
        </p:nvSpPr>
        <p:spPr>
          <a:xfrm>
            <a:off x="502920" y="4322826"/>
            <a:ext cx="3840480" cy="566928"/>
          </a:xfrm>
          <a:prstGeom prst="rect">
            <a:avLst/>
          </a:prstGeom>
          <a:noFill/>
          <a:ln/>
        </p:spPr>
        <p:txBody>
          <a:bodyPr wrap="square" rtlCol="0" anchor="ctr"/>
          <a:lstStyle/>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SELECT * FROM etudiants</a:t>
            </a:r>
            <a:endParaRPr lang="en-US" dirty="0">
              <a:latin typeface="Times New Roman" panose="02020603050405020304" pitchFamily="18" charset="0"/>
              <a:cs typeface="Times New Roman" panose="02020603050405020304" pitchFamily="18" charset="0"/>
            </a:endParaRPr>
          </a:p>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WHERE nom LIKE 'K%'</a:t>
            </a:r>
            <a:endParaRPr lang="en-US" dirty="0">
              <a:latin typeface="Times New Roman" panose="02020603050405020304" pitchFamily="18" charset="0"/>
              <a:cs typeface="Times New Roman" panose="02020603050405020304" pitchFamily="18" charset="0"/>
            </a:endParaRPr>
          </a:p>
        </p:txBody>
      </p:sp>
      <p:sp>
        <p:nvSpPr>
          <p:cNvPr id="22" name="Shape 17"/>
          <p:cNvSpPr/>
          <p:nvPr/>
        </p:nvSpPr>
        <p:spPr>
          <a:xfrm>
            <a:off x="4754880" y="4277106"/>
            <a:ext cx="4114800" cy="658368"/>
          </a:xfrm>
          <a:prstGeom prst="rect">
            <a:avLst/>
          </a:prstGeom>
          <a:solidFill>
            <a:srgbClr val="E8F8F5"/>
          </a:solidFill>
          <a:ln w="12700">
            <a:solidFill>
              <a:srgbClr val="D5F0EB"/>
            </a:solidFill>
            <a:prstDash val="solid"/>
          </a:ln>
        </p:spPr>
      </p:sp>
      <p:sp>
        <p:nvSpPr>
          <p:cNvPr id="23" name="Text 18"/>
          <p:cNvSpPr/>
          <p:nvPr/>
        </p:nvSpPr>
        <p:spPr>
          <a:xfrm>
            <a:off x="4892040" y="4322826"/>
            <a:ext cx="3840480" cy="566928"/>
          </a:xfrm>
          <a:prstGeom prst="rect">
            <a:avLst/>
          </a:prstGeom>
          <a:noFill/>
          <a:ln/>
        </p:spPr>
        <p:txBody>
          <a:bodyPr wrap="square" rtlCol="0" anchor="ctr"/>
          <a:lstStyle/>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SELECT e FROM Etudiant e</a:t>
            </a:r>
            <a:endParaRPr lang="en-US" dirty="0">
              <a:latin typeface="Times New Roman" panose="02020603050405020304" pitchFamily="18" charset="0"/>
              <a:cs typeface="Times New Roman" panose="02020603050405020304" pitchFamily="18" charset="0"/>
            </a:endParaRPr>
          </a:p>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WHERE e.nom LIKE 'K%'</a:t>
            </a:r>
            <a:endParaRPr lang="en-US" dirty="0">
              <a:latin typeface="Times New Roman" panose="02020603050405020304" pitchFamily="18" charset="0"/>
              <a:cs typeface="Times New Roman" panose="02020603050405020304" pitchFamily="18" charset="0"/>
            </a:endParaRPr>
          </a:p>
        </p:txBody>
      </p:sp>
      <p:sp>
        <p:nvSpPr>
          <p:cNvPr id="24" name="Shape 19"/>
          <p:cNvSpPr/>
          <p:nvPr/>
        </p:nvSpPr>
        <p:spPr>
          <a:xfrm>
            <a:off x="365760" y="5026914"/>
            <a:ext cx="4114800" cy="658368"/>
          </a:xfrm>
          <a:prstGeom prst="rect">
            <a:avLst/>
          </a:prstGeom>
          <a:solidFill>
            <a:srgbClr val="FFFFFF"/>
          </a:solidFill>
          <a:ln w="12700">
            <a:solidFill>
              <a:srgbClr val="D5E8F0"/>
            </a:solidFill>
            <a:prstDash val="solid"/>
          </a:ln>
        </p:spPr>
      </p:sp>
      <p:sp>
        <p:nvSpPr>
          <p:cNvPr id="25" name="Text 20"/>
          <p:cNvSpPr/>
          <p:nvPr/>
        </p:nvSpPr>
        <p:spPr>
          <a:xfrm>
            <a:off x="502920" y="5072634"/>
            <a:ext cx="3840480" cy="566928"/>
          </a:xfrm>
          <a:prstGeom prst="rect">
            <a:avLst/>
          </a:prstGeom>
          <a:noFill/>
          <a:ln/>
        </p:spPr>
        <p:txBody>
          <a:bodyPr wrap="square" rtlCol="0" anchor="ctr"/>
          <a:lstStyle/>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SELECT COUNT(*)</a:t>
            </a:r>
            <a:endParaRPr lang="en-US" dirty="0">
              <a:latin typeface="Times New Roman" panose="02020603050405020304" pitchFamily="18" charset="0"/>
              <a:cs typeface="Times New Roman" panose="02020603050405020304" pitchFamily="18" charset="0"/>
            </a:endParaRPr>
          </a:p>
          <a:p>
            <a:r>
              <a:rPr lang="en-US" dirty="0">
                <a:solidFill>
                  <a:srgbClr val="1A5276"/>
                </a:solidFill>
                <a:latin typeface="Times New Roman" panose="02020603050405020304" pitchFamily="18" charset="0"/>
                <a:ea typeface="Consolas" pitchFamily="34" charset="-122"/>
                <a:cs typeface="Times New Roman" panose="02020603050405020304" pitchFamily="18" charset="0"/>
              </a:rPr>
              <a:t>FROM etudiants</a:t>
            </a:r>
            <a:endParaRPr lang="en-US" dirty="0">
              <a:latin typeface="Times New Roman" panose="02020603050405020304" pitchFamily="18" charset="0"/>
              <a:cs typeface="Times New Roman" panose="02020603050405020304" pitchFamily="18" charset="0"/>
            </a:endParaRPr>
          </a:p>
        </p:txBody>
      </p:sp>
      <p:sp>
        <p:nvSpPr>
          <p:cNvPr id="26" name="Shape 21"/>
          <p:cNvSpPr/>
          <p:nvPr/>
        </p:nvSpPr>
        <p:spPr>
          <a:xfrm>
            <a:off x="4754880" y="5026914"/>
            <a:ext cx="4114800" cy="658368"/>
          </a:xfrm>
          <a:prstGeom prst="rect">
            <a:avLst/>
          </a:prstGeom>
          <a:solidFill>
            <a:srgbClr val="FFFFFF"/>
          </a:solidFill>
          <a:ln w="12700">
            <a:solidFill>
              <a:srgbClr val="D5F0EB"/>
            </a:solidFill>
            <a:prstDash val="solid"/>
          </a:ln>
        </p:spPr>
      </p:sp>
      <p:sp>
        <p:nvSpPr>
          <p:cNvPr id="27" name="Text 22"/>
          <p:cNvSpPr/>
          <p:nvPr/>
        </p:nvSpPr>
        <p:spPr>
          <a:xfrm>
            <a:off x="4892040" y="5072634"/>
            <a:ext cx="3840480" cy="566928"/>
          </a:xfrm>
          <a:prstGeom prst="rect">
            <a:avLst/>
          </a:prstGeom>
          <a:noFill/>
          <a:ln/>
        </p:spPr>
        <p:txBody>
          <a:bodyPr wrap="square" rtlCol="0" anchor="ctr"/>
          <a:lstStyle/>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SELECT COUNT(e)</a:t>
            </a:r>
            <a:endParaRPr lang="en-US" dirty="0">
              <a:latin typeface="Times New Roman" panose="02020603050405020304" pitchFamily="18" charset="0"/>
              <a:cs typeface="Times New Roman" panose="02020603050405020304" pitchFamily="18" charset="0"/>
            </a:endParaRPr>
          </a:p>
          <a:p>
            <a:r>
              <a:rPr lang="en-US" dirty="0">
                <a:solidFill>
                  <a:srgbClr val="1ABC9C"/>
                </a:solidFill>
                <a:latin typeface="Times New Roman" panose="02020603050405020304" pitchFamily="18" charset="0"/>
                <a:ea typeface="Consolas" pitchFamily="34" charset="-122"/>
                <a:cs typeface="Times New Roman" panose="02020603050405020304" pitchFamily="18" charset="0"/>
              </a:rPr>
              <a:t>FROM Etudiant e</a:t>
            </a:r>
            <a:endParaRPr lang="en-US" dirty="0">
              <a:latin typeface="Times New Roman" panose="02020603050405020304" pitchFamily="18" charset="0"/>
              <a:cs typeface="Times New Roman" panose="02020603050405020304" pitchFamily="18" charset="0"/>
            </a:endParaRPr>
          </a:p>
        </p:txBody>
      </p:sp>
      <p:pic>
        <p:nvPicPr>
          <p:cNvPr id="28" name="Imag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itre 3">
            <a:extLst>
              <a:ext uri="{FF2B5EF4-FFF2-40B4-BE49-F238E27FC236}">
                <a16:creationId xmlns:a16="http://schemas.microsoft.com/office/drawing/2014/main" id="{FD2745D9-D935-5DCC-A026-8C0361F73C9F}"/>
              </a:ext>
            </a:extLst>
          </p:cNvPr>
          <p:cNvSpPr txBox="1">
            <a:spLocks/>
          </p:cNvSpPr>
          <p:nvPr/>
        </p:nvSpPr>
        <p:spPr bwMode="auto">
          <a:xfrm>
            <a:off x="684213" y="51985"/>
            <a:ext cx="8064500" cy="66558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a:lstStyle>
          <a:p>
            <a:pPr marL="514350" indent="-514350">
              <a:buFont typeface="+mj-lt"/>
              <a:buAutoNum type="romanUcPeriod" startAt="4"/>
            </a:pPr>
            <a:r>
              <a:rPr lang="fr-CI" sz="2400" kern="0" smtClean="0">
                <a:solidFill>
                  <a:srgbClr val="FF0000"/>
                </a:solidFill>
              </a:rPr>
              <a:t>JPA JAVA Persistence API </a:t>
            </a:r>
            <a:endParaRPr lang="fr-CI" sz="2400" kern="0" dirty="0">
              <a:solidFill>
                <a:srgbClr val="FF0000"/>
              </a:solidFill>
            </a:endParaRPr>
          </a:p>
        </p:txBody>
      </p:sp>
    </p:spTree>
    <p:extLst>
      <p:ext uri="{BB962C8B-B14F-4D97-AF65-F5344CB8AC3E}">
        <p14:creationId xmlns:p14="http://schemas.microsoft.com/office/powerpoint/2010/main" val="9348224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54110" y="759443"/>
            <a:ext cx="8064500" cy="665585"/>
          </a:xfrm>
        </p:spPr>
        <p:txBody>
          <a:bodyPr/>
          <a:lstStyle/>
          <a:p>
            <a:pPr marL="0" indent="0">
              <a:buNone/>
            </a:pPr>
            <a:r>
              <a:rPr lang="en-US" sz="2000" dirty="0" smtClean="0"/>
              <a:t>JPA </a:t>
            </a:r>
            <a:r>
              <a:rPr lang="en-US" sz="2000" dirty="0"/>
              <a:t>— Relations entre </a:t>
            </a:r>
            <a:r>
              <a:rPr lang="en-US" sz="2000" dirty="0" err="1"/>
              <a:t>entités</a:t>
            </a:r>
            <a:r>
              <a:rPr lang="en-US" sz="2000" dirty="0"/>
              <a:t> &amp; </a:t>
            </a:r>
            <a:r>
              <a:rPr lang="en-US" sz="2000" dirty="0" err="1"/>
              <a:t>Stratégies</a:t>
            </a:r>
            <a:r>
              <a:rPr lang="en-US" sz="2000" dirty="0"/>
              <a:t> de </a:t>
            </a:r>
            <a:r>
              <a:rPr lang="en-US" sz="2000" dirty="0" err="1"/>
              <a:t>chargement</a:t>
            </a:r>
            <a:endParaRPr lang="en-US" sz="200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 26"/>
          <p:cNvSpPr/>
          <p:nvPr/>
        </p:nvSpPr>
        <p:spPr>
          <a:xfrm>
            <a:off x="4846320" y="3682746"/>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DAO</a:t>
            </a:r>
            <a:endParaRPr lang="en-US" sz="1200" dirty="0"/>
          </a:p>
        </p:txBody>
      </p:sp>
      <p:sp>
        <p:nvSpPr>
          <p:cNvPr id="33" name="Text 27"/>
          <p:cNvSpPr/>
          <p:nvPr/>
        </p:nvSpPr>
        <p:spPr>
          <a:xfrm>
            <a:off x="4846320" y="3984498"/>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Accès aux données (CRUD)</a:t>
            </a:r>
            <a:endParaRPr lang="en-US" sz="1000" dirty="0"/>
          </a:p>
        </p:txBody>
      </p:sp>
      <p:sp>
        <p:nvSpPr>
          <p:cNvPr id="35" name="Text 29"/>
          <p:cNvSpPr/>
          <p:nvPr/>
        </p:nvSpPr>
        <p:spPr>
          <a:xfrm>
            <a:off x="4937760" y="4432554"/>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Entités (JPA)</a:t>
            </a:r>
            <a:endParaRPr lang="en-US" sz="1200" dirty="0"/>
          </a:p>
        </p:txBody>
      </p:sp>
      <p:sp>
        <p:nvSpPr>
          <p:cNvPr id="36" name="Text 30"/>
          <p:cNvSpPr/>
          <p:nvPr/>
        </p:nvSpPr>
        <p:spPr>
          <a:xfrm>
            <a:off x="4937760" y="4734306"/>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@Entity, annotations, relations</a:t>
            </a:r>
            <a:endParaRPr lang="en-US" sz="1000" dirty="0"/>
          </a:p>
        </p:txBody>
      </p:sp>
      <p:sp>
        <p:nvSpPr>
          <p:cNvPr id="38" name="Text 32"/>
          <p:cNvSpPr/>
          <p:nvPr/>
        </p:nvSpPr>
        <p:spPr>
          <a:xfrm>
            <a:off x="5029200" y="5182362"/>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Base de Données</a:t>
            </a:r>
            <a:endParaRPr lang="en-US" sz="1200" dirty="0"/>
          </a:p>
        </p:txBody>
      </p:sp>
      <p:sp>
        <p:nvSpPr>
          <p:cNvPr id="39" name="Text 33"/>
          <p:cNvSpPr/>
          <p:nvPr/>
        </p:nvSpPr>
        <p:spPr>
          <a:xfrm>
            <a:off x="5029200" y="5484114"/>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MySQL, PostgreSQL, H2...</a:t>
            </a:r>
            <a:endParaRPr lang="en-US" sz="1000" dirty="0"/>
          </a:p>
        </p:txBody>
      </p:sp>
      <p:sp>
        <p:nvSpPr>
          <p:cNvPr id="5" name="Rectangle 4"/>
          <p:cNvSpPr/>
          <p:nvPr/>
        </p:nvSpPr>
        <p:spPr>
          <a:xfrm>
            <a:off x="2286000" y="3105835"/>
            <a:ext cx="4572000" cy="646331"/>
          </a:xfrm>
          <a:prstGeom prst="rect">
            <a:avLst/>
          </a:prstGeom>
        </p:spPr>
        <p:txBody>
          <a:bodyPr>
            <a:spAutoFit/>
          </a:bodyPr>
          <a:lstStyle/>
          <a:p>
            <a:pPr marL="0" indent="0">
              <a:buNone/>
            </a:pPr>
            <a:r>
              <a:rPr lang="en-US" b="1" dirty="0">
                <a:solidFill>
                  <a:srgbClr val="FFFFFF"/>
                </a:solidFill>
              </a:rPr>
              <a:t>JPA — Relations entre </a:t>
            </a:r>
            <a:r>
              <a:rPr lang="en-US" b="1" dirty="0" err="1">
                <a:solidFill>
                  <a:srgbClr val="FFFFFF"/>
                </a:solidFill>
              </a:rPr>
              <a:t>entités</a:t>
            </a:r>
            <a:r>
              <a:rPr lang="en-US" b="1" dirty="0">
                <a:solidFill>
                  <a:srgbClr val="FFFFFF"/>
                </a:solidFill>
              </a:rPr>
              <a:t> &amp; </a:t>
            </a:r>
            <a:r>
              <a:rPr lang="en-US" b="1" dirty="0" err="1">
                <a:solidFill>
                  <a:srgbClr val="FFFFFF"/>
                </a:solidFill>
              </a:rPr>
              <a:t>Stratégies</a:t>
            </a:r>
            <a:r>
              <a:rPr lang="en-US" b="1" dirty="0">
                <a:solidFill>
                  <a:srgbClr val="FFFFFF"/>
                </a:solidFill>
              </a:rPr>
              <a:t> de </a:t>
            </a:r>
            <a:r>
              <a:rPr lang="en-US" b="1" dirty="0" err="1">
                <a:solidFill>
                  <a:srgbClr val="FFFFFF"/>
                </a:solidFill>
              </a:rPr>
              <a:t>chargement</a:t>
            </a:r>
            <a:endParaRPr lang="en-US" dirty="0"/>
          </a:p>
        </p:txBody>
      </p:sp>
      <p:graphicFrame>
        <p:nvGraphicFramePr>
          <p:cNvPr id="40" name="Table 0"/>
          <p:cNvGraphicFramePr>
            <a:graphicFrameLocks noGrp="1"/>
          </p:cNvGraphicFramePr>
          <p:nvPr>
            <p:extLst>
              <p:ext uri="{D42A27DB-BD31-4B8C-83A1-F6EECF244321}">
                <p14:modId xmlns:p14="http://schemas.microsoft.com/office/powerpoint/2010/main" val="1007387885"/>
              </p:ext>
            </p:extLst>
          </p:nvPr>
        </p:nvGraphicFramePr>
        <p:xfrm>
          <a:off x="251520" y="1456182"/>
          <a:ext cx="8321040" cy="192024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84048">
                <a:tc>
                  <a:txBody>
                    <a:bodyPr/>
                    <a:lstStyle/>
                    <a:p>
                      <a:pPr marL="0" indent="0" algn="l">
                        <a:buNone/>
                      </a:pPr>
                      <a:r>
                        <a:rPr lang="en-US" sz="1100" b="1" dirty="0">
                          <a:solidFill>
                            <a:srgbClr val="FFFFFF"/>
                          </a:solidFill>
                        </a:rPr>
                        <a:t>Annotation</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6B"/>
                    </a:solidFill>
                  </a:tcPr>
                </a:tc>
                <a:tc>
                  <a:txBody>
                    <a:bodyPr/>
                    <a:lstStyle/>
                    <a:p>
                      <a:pPr marL="0" indent="0" algn="l">
                        <a:buNone/>
                      </a:pPr>
                      <a:r>
                        <a:rPr lang="en-US" sz="1100" b="1" dirty="0">
                          <a:solidFill>
                            <a:srgbClr val="FFFFFF"/>
                          </a:solidFill>
                        </a:rPr>
                        <a:t>Cardinalité</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6B"/>
                    </a:solidFill>
                  </a:tcPr>
                </a:tc>
                <a:tc>
                  <a:txBody>
                    <a:bodyPr/>
                    <a:lstStyle/>
                    <a:p>
                      <a:pPr marL="0" indent="0" algn="l">
                        <a:buNone/>
                      </a:pPr>
                      <a:r>
                        <a:rPr lang="en-US" sz="1100" b="1" dirty="0">
                          <a:solidFill>
                            <a:srgbClr val="FFFFFF"/>
                          </a:solidFill>
                        </a:rPr>
                        <a:t>Défaut Fetch</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6B"/>
                    </a:solidFill>
                  </a:tcPr>
                </a:tc>
                <a:tc>
                  <a:txBody>
                    <a:bodyPr/>
                    <a:lstStyle/>
                    <a:p>
                      <a:pPr marL="0" indent="0" algn="l">
                        <a:buNone/>
                      </a:pPr>
                      <a:r>
                        <a:rPr lang="en-US" sz="1100" b="1" dirty="0">
                          <a:solidFill>
                            <a:srgbClr val="FFFFFF"/>
                          </a:solidFill>
                        </a:rPr>
                        <a:t>Côté propriétaire</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6B"/>
                    </a:solidFill>
                  </a:tcPr>
                </a:tc>
                <a:tc>
                  <a:txBody>
                    <a:bodyPr/>
                    <a:lstStyle/>
                    <a:p>
                      <a:pPr marL="0" indent="0" algn="l">
                        <a:buNone/>
                      </a:pPr>
                      <a:r>
                        <a:rPr lang="en-US" sz="1100" b="1" dirty="0">
                          <a:solidFill>
                            <a:srgbClr val="FFFFFF"/>
                          </a:solidFill>
                        </a:rPr>
                        <a:t>Exemple concret</a:t>
                      </a:r>
                      <a:endParaRPr lang="en-US" sz="11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0F2044"/>
                          </a:solidFill>
                        </a:rPr>
                        <a:t>@OneToOne</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1 ↔ 1</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EAGER</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Celui avec @JoinColumn</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Utilisateur ↔ Profil</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0F2044"/>
                          </a:solidFill>
                        </a:rPr>
                        <a:t>@ManyToOne</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N → 1</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EAGER</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Toujours ManyToOne</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Commande → Client</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0F2044"/>
                          </a:solidFill>
                        </a:rPr>
                        <a:t>@OneToMany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1 → N</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LAZY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Rarement (mappedBy)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0F2044"/>
                          </a:solidFill>
                        </a:rPr>
                        <a:t>Client → List&lt;Commande&gt;</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0F2044"/>
                          </a:solidFill>
                        </a:rPr>
                        <a:t>@ManyToMany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N ↔ M</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LAZY</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Celui avec @JoinTable</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marL="0" indent="0" algn="l">
                        <a:buNone/>
                      </a:pPr>
                      <a:r>
                        <a:rPr lang="en-US" sz="1000" dirty="0">
                          <a:solidFill>
                            <a:srgbClr val="0F2044"/>
                          </a:solidFill>
                        </a:rPr>
                        <a:t>Etudiant ↔ Cours</a:t>
                      </a:r>
                      <a:endParaRPr lang="en-US" sz="1000" dirty="0"/>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4"/>
                  </a:ext>
                </a:extLst>
              </a:tr>
            </a:tbl>
          </a:graphicData>
        </a:graphic>
      </p:graphicFrame>
      <p:sp>
        <p:nvSpPr>
          <p:cNvPr id="41" name="Shape 3"/>
          <p:cNvSpPr/>
          <p:nvPr/>
        </p:nvSpPr>
        <p:spPr>
          <a:xfrm>
            <a:off x="297240" y="3513582"/>
            <a:ext cx="4114800" cy="196596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2" name="Shape 4"/>
          <p:cNvSpPr/>
          <p:nvPr/>
        </p:nvSpPr>
        <p:spPr>
          <a:xfrm>
            <a:off x="297240" y="3513582"/>
            <a:ext cx="4114800" cy="320040"/>
          </a:xfrm>
          <a:prstGeom prst="rect">
            <a:avLst/>
          </a:prstGeom>
          <a:solidFill>
            <a:srgbClr val="E8A020"/>
          </a:solidFill>
          <a:ln w="12700">
            <a:solidFill>
              <a:srgbClr val="E8A020"/>
            </a:solidFill>
            <a:prstDash val="solid"/>
          </a:ln>
        </p:spPr>
      </p:sp>
      <p:sp>
        <p:nvSpPr>
          <p:cNvPr id="43" name="Text 5"/>
          <p:cNvSpPr/>
          <p:nvPr/>
        </p:nvSpPr>
        <p:spPr>
          <a:xfrm>
            <a:off x="388680" y="3513582"/>
            <a:ext cx="3931920" cy="320040"/>
          </a:xfrm>
          <a:prstGeom prst="rect">
            <a:avLst/>
          </a:prstGeom>
          <a:noFill/>
          <a:ln/>
        </p:spPr>
        <p:txBody>
          <a:bodyPr wrap="square" rtlCol="0" anchor="ctr"/>
          <a:lstStyle/>
          <a:p>
            <a:pPr marL="0" indent="0">
              <a:buNone/>
            </a:pPr>
            <a:r>
              <a:rPr lang="en-US" sz="1200" b="1" dirty="0">
                <a:solidFill>
                  <a:srgbClr val="0F2044"/>
                </a:solidFill>
                <a:latin typeface="Times New Roman" panose="02020603050405020304" pitchFamily="18" charset="0"/>
                <a:cs typeface="Times New Roman" panose="02020603050405020304" pitchFamily="18" charset="0"/>
              </a:rPr>
              <a:t>LAZY vs EAGER</a:t>
            </a:r>
            <a:endParaRPr lang="en-US" sz="1200" dirty="0">
              <a:latin typeface="Times New Roman" panose="02020603050405020304" pitchFamily="18" charset="0"/>
              <a:cs typeface="Times New Roman" panose="02020603050405020304" pitchFamily="18" charset="0"/>
            </a:endParaRPr>
          </a:p>
        </p:txBody>
      </p:sp>
      <p:sp>
        <p:nvSpPr>
          <p:cNvPr id="44" name="Text 6"/>
          <p:cNvSpPr/>
          <p:nvPr/>
        </p:nvSpPr>
        <p:spPr>
          <a:xfrm>
            <a:off x="434400" y="3879342"/>
            <a:ext cx="3931920" cy="1508760"/>
          </a:xfrm>
          <a:prstGeom prst="rect">
            <a:avLst/>
          </a:prstGeom>
          <a:noFill/>
          <a:ln/>
        </p:spPr>
        <p:txBody>
          <a:bodyPr wrap="square" rtlCol="0" anchor="ctr"/>
          <a:lstStyle/>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LAZY : données chargées seulement quand accédées (getCommandes()). Performant. Risque : LazyInitializationException si hors session.</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EAGER : données chargées immédiatement avec l'entité parente. Simple mais potentiellement lourd.</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Solution N+1 : JOIN FETCH dans JPQL ou @EntityGraph pour forcer le chargement en 1 requête.</a:t>
            </a:r>
            <a:endParaRPr lang="en-US" sz="1200" dirty="0">
              <a:latin typeface="Times New Roman" panose="02020603050405020304" pitchFamily="18" charset="0"/>
              <a:cs typeface="Times New Roman" panose="02020603050405020304" pitchFamily="18" charset="0"/>
            </a:endParaRPr>
          </a:p>
        </p:txBody>
      </p:sp>
      <p:sp>
        <p:nvSpPr>
          <p:cNvPr id="45" name="Shape 7"/>
          <p:cNvSpPr/>
          <p:nvPr/>
        </p:nvSpPr>
        <p:spPr>
          <a:xfrm>
            <a:off x="4686360" y="3513582"/>
            <a:ext cx="4206240" cy="1965960"/>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6" name="Shape 8"/>
          <p:cNvSpPr/>
          <p:nvPr/>
        </p:nvSpPr>
        <p:spPr>
          <a:xfrm>
            <a:off x="4686360" y="3513582"/>
            <a:ext cx="4206240" cy="320040"/>
          </a:xfrm>
          <a:prstGeom prst="rect">
            <a:avLst/>
          </a:prstGeom>
          <a:solidFill>
            <a:srgbClr val="2EC4B6"/>
          </a:solidFill>
          <a:ln w="12700">
            <a:solidFill>
              <a:srgbClr val="2EC4B6"/>
            </a:solidFill>
            <a:prstDash val="solid"/>
          </a:ln>
        </p:spPr>
      </p:sp>
      <p:sp>
        <p:nvSpPr>
          <p:cNvPr id="47" name="Text 9"/>
          <p:cNvSpPr/>
          <p:nvPr/>
        </p:nvSpPr>
        <p:spPr>
          <a:xfrm>
            <a:off x="4777800" y="3513582"/>
            <a:ext cx="4023360" cy="320040"/>
          </a:xfrm>
          <a:prstGeom prst="rect">
            <a:avLst/>
          </a:prstGeom>
          <a:noFill/>
          <a:ln/>
        </p:spPr>
        <p:txBody>
          <a:bodyPr wrap="square" rtlCol="0" anchor="ctr"/>
          <a:lstStyle/>
          <a:p>
            <a:pPr marL="0" indent="0">
              <a:buNone/>
            </a:pPr>
            <a:r>
              <a:rPr lang="en-US" sz="1200" b="1" dirty="0">
                <a:solidFill>
                  <a:srgbClr val="0F2044"/>
                </a:solidFill>
                <a:latin typeface="Times New Roman" panose="02020603050405020304" pitchFamily="18" charset="0"/>
                <a:cs typeface="Times New Roman" panose="02020603050405020304" pitchFamily="18" charset="0"/>
              </a:rPr>
              <a:t>CascadeType — Propagation</a:t>
            </a:r>
            <a:endParaRPr lang="en-US" sz="1200" dirty="0">
              <a:latin typeface="Times New Roman" panose="02020603050405020304" pitchFamily="18" charset="0"/>
              <a:cs typeface="Times New Roman" panose="02020603050405020304" pitchFamily="18" charset="0"/>
            </a:endParaRPr>
          </a:p>
        </p:txBody>
      </p:sp>
      <p:sp>
        <p:nvSpPr>
          <p:cNvPr id="48" name="Text 10"/>
          <p:cNvSpPr/>
          <p:nvPr/>
        </p:nvSpPr>
        <p:spPr>
          <a:xfrm>
            <a:off x="4777800" y="3879342"/>
            <a:ext cx="4023360" cy="1508760"/>
          </a:xfrm>
          <a:prstGeom prst="rect">
            <a:avLst/>
          </a:prstGeom>
          <a:noFill/>
          <a:ln/>
        </p:spPr>
        <p:txBody>
          <a:bodyPr wrap="square" rtlCol="0" anchor="ctr"/>
          <a:lstStyle/>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PERSIST : sauvegarder les entités liées automatiquement</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MERGE : fusionner les entités liées (update)</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REMOVE : supprimer en cascade (attention orphelins!)</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ALL : toutes les opérations. Pratique mais dangereux si mal utilisé.</a:t>
            </a:r>
            <a:endParaRPr lang="en-US" sz="1200" dirty="0">
              <a:latin typeface="Times New Roman" panose="02020603050405020304" pitchFamily="18" charset="0"/>
              <a:cs typeface="Times New Roman" panose="02020603050405020304" pitchFamily="18" charset="0"/>
            </a:endParaRPr>
          </a:p>
        </p:txBody>
      </p:sp>
      <p:sp>
        <p:nvSpPr>
          <p:cNvPr id="22" name="Titre 3">
            <a:extLst>
              <a:ext uri="{FF2B5EF4-FFF2-40B4-BE49-F238E27FC236}">
                <a16:creationId xmlns:a16="http://schemas.microsoft.com/office/drawing/2014/main" id="{FD2745D9-D935-5DCC-A026-8C0361F73C9F}"/>
              </a:ext>
            </a:extLst>
          </p:cNvPr>
          <p:cNvSpPr txBox="1">
            <a:spLocks/>
          </p:cNvSpPr>
          <p:nvPr/>
        </p:nvSpPr>
        <p:spPr bwMode="auto">
          <a:xfrm>
            <a:off x="684213" y="4851"/>
            <a:ext cx="8064500" cy="66558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2pPr>
            <a:lvl3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3pPr>
            <a:lvl4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4pPr>
            <a:lvl5pPr algn="l" rtl="0" eaLnBrk="0" fontAlgn="base" hangingPunct="0">
              <a:spcBef>
                <a:spcPct val="0"/>
              </a:spcBef>
              <a:spcAft>
                <a:spcPct val="0"/>
              </a:spcAft>
              <a:defRPr sz="3600" b="1">
                <a:solidFill>
                  <a:schemeClr val="tx1"/>
                </a:solidFill>
                <a:effectLst>
                  <a:outerShdw blurRad="38100" dist="38100" dir="2700000" algn="tl">
                    <a:srgbClr val="C0C0C0"/>
                  </a:outerShdw>
                </a:effectLst>
                <a:latin typeface="Arial" panose="020B0604020202020204" pitchFamily="34" charset="0"/>
                <a:ea typeface="MS PGothic" panose="020B0600070205080204" pitchFamily="34" charset="-128"/>
              </a:defRPr>
            </a:lvl5pPr>
            <a:lvl6pPr marL="4572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6pPr>
            <a:lvl7pPr marL="9144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7pPr>
            <a:lvl8pPr marL="13716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8pPr>
            <a:lvl9pPr marL="1828800" algn="l" rtl="0" fontAlgn="base">
              <a:spcBef>
                <a:spcPct val="0"/>
              </a:spcBef>
              <a:spcAft>
                <a:spcPct val="0"/>
              </a:spcAft>
              <a:defRPr sz="3600" b="1">
                <a:solidFill>
                  <a:srgbClr val="002C56"/>
                </a:solidFill>
                <a:effectLst>
                  <a:outerShdw blurRad="38100" dist="38100" dir="2700000" algn="tl">
                    <a:srgbClr val="C0C0C0"/>
                  </a:outerShdw>
                </a:effectLst>
                <a:latin typeface="Arial" panose="020B0604020202020204" pitchFamily="34" charset="0"/>
                <a:ea typeface="MS PGothic" panose="020B0600070205080204" pitchFamily="34" charset="-128"/>
              </a:defRPr>
            </a:lvl9pPr>
          </a:lstStyle>
          <a:p>
            <a:pPr marL="514350" indent="-514350">
              <a:buFont typeface="+mj-lt"/>
              <a:buAutoNum type="romanUcPeriod" startAt="4"/>
            </a:pPr>
            <a:r>
              <a:rPr lang="fr-CI" sz="2400" kern="0" smtClean="0">
                <a:solidFill>
                  <a:srgbClr val="FF0000"/>
                </a:solidFill>
              </a:rPr>
              <a:t>JPA JAVA Persistence API </a:t>
            </a:r>
            <a:endParaRPr lang="fr-CI" sz="2400" kern="0" dirty="0">
              <a:solidFill>
                <a:srgbClr val="FF0000"/>
              </a:solidFill>
            </a:endParaRPr>
          </a:p>
        </p:txBody>
      </p:sp>
    </p:spTree>
    <p:extLst>
      <p:ext uri="{BB962C8B-B14F-4D97-AF65-F5344CB8AC3E}">
        <p14:creationId xmlns:p14="http://schemas.microsoft.com/office/powerpoint/2010/main" val="28321283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1"/>
          <p:cNvSpPr/>
          <p:nvPr/>
        </p:nvSpPr>
        <p:spPr>
          <a:xfrm>
            <a:off x="365760" y="857250"/>
            <a:ext cx="8412480" cy="777240"/>
          </a:xfrm>
          <a:prstGeom prst="rect">
            <a:avLst/>
          </a:prstGeom>
          <a:noFill/>
          <a:ln/>
        </p:spPr>
        <p:txBody>
          <a:bodyPr wrap="square" rtlCol="0" anchor="ctr"/>
          <a:lstStyle/>
          <a:p>
            <a:r>
              <a:rPr lang="en-US" b="1" dirty="0" err="1" smtClean="0">
                <a:latin typeface="Times New Roman" panose="02020603050405020304" pitchFamily="18" charset="0"/>
                <a:ea typeface="Calibri" pitchFamily="34" charset="-122"/>
                <a:cs typeface="Times New Roman" panose="02020603050405020304" pitchFamily="18" charset="0"/>
              </a:rPr>
              <a:t>Ahitecture</a:t>
            </a:r>
            <a:r>
              <a:rPr lang="en-US" b="1" dirty="0" smtClean="0">
                <a:latin typeface="Times New Roman" panose="02020603050405020304" pitchFamily="18" charset="0"/>
                <a:ea typeface="Calibri" pitchFamily="34" charset="-122"/>
                <a:cs typeface="Times New Roman" panose="02020603050405020304" pitchFamily="18" charset="0"/>
              </a:rPr>
              <a:t> d’un </a:t>
            </a:r>
            <a:r>
              <a:rPr lang="en-US" b="1" dirty="0">
                <a:latin typeface="Times New Roman" panose="02020603050405020304" pitchFamily="18" charset="0"/>
                <a:ea typeface="Calibri" pitchFamily="34" charset="-122"/>
                <a:cs typeface="Times New Roman" panose="02020603050405020304" pitchFamily="18" charset="0"/>
              </a:rPr>
              <a:t>Projet Java avec JPA</a:t>
            </a:r>
            <a:endParaRPr lang="en-US" dirty="0">
              <a:latin typeface="Times New Roman" panose="02020603050405020304" pitchFamily="18" charset="0"/>
              <a:cs typeface="Times New Roman" panose="02020603050405020304" pitchFamily="18" charset="0"/>
            </a:endParaRPr>
          </a:p>
        </p:txBody>
      </p:sp>
      <p:sp>
        <p:nvSpPr>
          <p:cNvPr id="7" name="Shape 2"/>
          <p:cNvSpPr/>
          <p:nvPr/>
        </p:nvSpPr>
        <p:spPr>
          <a:xfrm>
            <a:off x="365760" y="1771650"/>
            <a:ext cx="3840480" cy="4023360"/>
          </a:xfrm>
          <a:prstGeom prst="rect">
            <a:avLst/>
          </a:prstGeom>
          <a:solidFill>
            <a:srgbClr val="1E2D3D"/>
          </a:solidFill>
          <a:ln w="12700">
            <a:solidFill>
              <a:srgbClr val="2C4A6E"/>
            </a:solidFill>
            <a:prstDash val="solid"/>
          </a:ln>
        </p:spPr>
      </p:sp>
      <p:sp>
        <p:nvSpPr>
          <p:cNvPr id="8" name="Text 3"/>
          <p:cNvSpPr/>
          <p:nvPr/>
        </p:nvSpPr>
        <p:spPr>
          <a:xfrm>
            <a:off x="502920" y="1863090"/>
            <a:ext cx="3566160" cy="274320"/>
          </a:xfrm>
          <a:prstGeom prst="rect">
            <a:avLst/>
          </a:prstGeom>
          <a:noFill/>
          <a:ln/>
        </p:spPr>
        <p:txBody>
          <a:bodyPr wrap="square" rtlCol="0" anchor="ctr"/>
          <a:lstStyle/>
          <a:p>
            <a:r>
              <a:rPr lang="en-US" sz="1200" b="1" dirty="0">
                <a:solidFill>
                  <a:srgbClr val="1ABC9C"/>
                </a:solidFill>
                <a:latin typeface="Calibri" pitchFamily="34" charset="0"/>
                <a:ea typeface="Calibri" pitchFamily="34" charset="-122"/>
                <a:cs typeface="Calibri" pitchFamily="34" charset="-120"/>
              </a:rPr>
              <a:t>Structure du projet</a:t>
            </a:r>
            <a:endParaRPr lang="en-US" sz="1200" dirty="0"/>
          </a:p>
        </p:txBody>
      </p:sp>
      <p:sp>
        <p:nvSpPr>
          <p:cNvPr id="10" name="Text 4"/>
          <p:cNvSpPr/>
          <p:nvPr/>
        </p:nvSpPr>
        <p:spPr>
          <a:xfrm>
            <a:off x="457200" y="2228850"/>
            <a:ext cx="3749040" cy="228600"/>
          </a:xfrm>
          <a:prstGeom prst="rect">
            <a:avLst/>
          </a:prstGeom>
          <a:noFill/>
          <a:ln/>
        </p:spPr>
        <p:txBody>
          <a:bodyPr wrap="square" rtlCol="0" anchor="ctr"/>
          <a:lstStyle/>
          <a:p>
            <a:r>
              <a:rPr lang="en-US" sz="1000" dirty="0">
                <a:solidFill>
                  <a:srgbClr val="FFFFFF"/>
                </a:solidFill>
                <a:latin typeface="Consolas" pitchFamily="34" charset="0"/>
                <a:ea typeface="Consolas" pitchFamily="34" charset="-122"/>
                <a:cs typeface="Consolas" pitchFamily="34" charset="-120"/>
              </a:rPr>
              <a:t>📁 src/</a:t>
            </a:r>
            <a:endParaRPr lang="en-US" sz="1000" dirty="0"/>
          </a:p>
        </p:txBody>
      </p:sp>
      <p:sp>
        <p:nvSpPr>
          <p:cNvPr id="11" name="Text 5"/>
          <p:cNvSpPr/>
          <p:nvPr/>
        </p:nvSpPr>
        <p:spPr>
          <a:xfrm>
            <a:off x="457200" y="2475738"/>
            <a:ext cx="3749040" cy="228600"/>
          </a:xfrm>
          <a:prstGeom prst="rect">
            <a:avLst/>
          </a:prstGeom>
          <a:noFill/>
          <a:ln/>
        </p:spPr>
        <p:txBody>
          <a:bodyPr wrap="square" rtlCol="0" anchor="ctr"/>
          <a:lstStyle/>
          <a:p>
            <a:r>
              <a:rPr lang="en-US" sz="1000" dirty="0">
                <a:solidFill>
                  <a:srgbClr val="FFFFFF"/>
                </a:solidFill>
                <a:latin typeface="Consolas" pitchFamily="34" charset="0"/>
                <a:ea typeface="Consolas" pitchFamily="34" charset="-122"/>
                <a:cs typeface="Consolas" pitchFamily="34" charset="-120"/>
              </a:rPr>
              <a:t>  📁 main/java/</a:t>
            </a:r>
            <a:endParaRPr lang="en-US" sz="1000" dirty="0"/>
          </a:p>
        </p:txBody>
      </p:sp>
      <p:sp>
        <p:nvSpPr>
          <p:cNvPr id="12" name="Text 6"/>
          <p:cNvSpPr/>
          <p:nvPr/>
        </p:nvSpPr>
        <p:spPr>
          <a:xfrm>
            <a:off x="457200" y="2722626"/>
            <a:ext cx="3749040" cy="228600"/>
          </a:xfrm>
          <a:prstGeom prst="rect">
            <a:avLst/>
          </a:prstGeom>
          <a:noFill/>
          <a:ln/>
        </p:spPr>
        <p:txBody>
          <a:bodyPr wrap="square" rtlCol="0" anchor="ctr"/>
          <a:lstStyle/>
          <a:p>
            <a:r>
              <a:rPr lang="en-US" sz="1000" dirty="0">
                <a:solidFill>
                  <a:srgbClr val="4FC1E9"/>
                </a:solidFill>
                <a:latin typeface="Consolas" pitchFamily="34" charset="0"/>
                <a:ea typeface="Consolas" pitchFamily="34" charset="-122"/>
                <a:cs typeface="Consolas" pitchFamily="34" charset="-120"/>
              </a:rPr>
              <a:t>    📁 entities/</a:t>
            </a:r>
            <a:endParaRPr lang="en-US" sz="1000" dirty="0"/>
          </a:p>
        </p:txBody>
      </p:sp>
      <p:sp>
        <p:nvSpPr>
          <p:cNvPr id="13" name="Text 7"/>
          <p:cNvSpPr/>
          <p:nvPr/>
        </p:nvSpPr>
        <p:spPr>
          <a:xfrm>
            <a:off x="457200" y="2969514"/>
            <a:ext cx="3749040" cy="228600"/>
          </a:xfrm>
          <a:prstGeom prst="rect">
            <a:avLst/>
          </a:prstGeom>
          <a:noFill/>
          <a:ln/>
        </p:spPr>
        <p:txBody>
          <a:bodyPr wrap="square" rtlCol="0" anchor="ctr"/>
          <a:lstStyle/>
          <a:p>
            <a:r>
              <a:rPr lang="en-US" sz="1000" dirty="0">
                <a:solidFill>
                  <a:srgbClr val="98C379"/>
                </a:solidFill>
                <a:latin typeface="Consolas" pitchFamily="34" charset="0"/>
                <a:ea typeface="Consolas" pitchFamily="34" charset="-122"/>
                <a:cs typeface="Consolas" pitchFamily="34" charset="-120"/>
              </a:rPr>
              <a:t>      Etudiant.java</a:t>
            </a:r>
            <a:endParaRPr lang="en-US" sz="1000" dirty="0"/>
          </a:p>
        </p:txBody>
      </p:sp>
      <p:sp>
        <p:nvSpPr>
          <p:cNvPr id="14" name="Text 8"/>
          <p:cNvSpPr/>
          <p:nvPr/>
        </p:nvSpPr>
        <p:spPr>
          <a:xfrm>
            <a:off x="457200" y="3216402"/>
            <a:ext cx="3749040" cy="228600"/>
          </a:xfrm>
          <a:prstGeom prst="rect">
            <a:avLst/>
          </a:prstGeom>
          <a:noFill/>
          <a:ln/>
        </p:spPr>
        <p:txBody>
          <a:bodyPr wrap="square" rtlCol="0" anchor="ctr"/>
          <a:lstStyle/>
          <a:p>
            <a:r>
              <a:rPr lang="en-US" sz="1000" dirty="0">
                <a:solidFill>
                  <a:srgbClr val="98C379"/>
                </a:solidFill>
                <a:latin typeface="Consolas" pitchFamily="34" charset="0"/>
                <a:ea typeface="Consolas" pitchFamily="34" charset="-122"/>
                <a:cs typeface="Consolas" pitchFamily="34" charset="-120"/>
              </a:rPr>
              <a:t>      Cours.java</a:t>
            </a:r>
            <a:endParaRPr lang="en-US" sz="1000" dirty="0"/>
          </a:p>
        </p:txBody>
      </p:sp>
      <p:sp>
        <p:nvSpPr>
          <p:cNvPr id="15" name="Text 9"/>
          <p:cNvSpPr/>
          <p:nvPr/>
        </p:nvSpPr>
        <p:spPr>
          <a:xfrm>
            <a:off x="457200" y="3463290"/>
            <a:ext cx="3749040" cy="228600"/>
          </a:xfrm>
          <a:prstGeom prst="rect">
            <a:avLst/>
          </a:prstGeom>
          <a:noFill/>
          <a:ln/>
        </p:spPr>
        <p:txBody>
          <a:bodyPr wrap="square" rtlCol="0" anchor="ctr"/>
          <a:lstStyle/>
          <a:p>
            <a:r>
              <a:rPr lang="en-US" sz="1000" dirty="0">
                <a:solidFill>
                  <a:srgbClr val="4FC1E9"/>
                </a:solidFill>
                <a:latin typeface="Consolas" pitchFamily="34" charset="0"/>
                <a:ea typeface="Consolas" pitchFamily="34" charset="-122"/>
                <a:cs typeface="Consolas" pitchFamily="34" charset="-120"/>
              </a:rPr>
              <a:t>    📁 dao/</a:t>
            </a:r>
            <a:endParaRPr lang="en-US" sz="1000" dirty="0"/>
          </a:p>
        </p:txBody>
      </p:sp>
      <p:sp>
        <p:nvSpPr>
          <p:cNvPr id="16" name="Text 10"/>
          <p:cNvSpPr/>
          <p:nvPr/>
        </p:nvSpPr>
        <p:spPr>
          <a:xfrm>
            <a:off x="457200" y="3710178"/>
            <a:ext cx="3749040" cy="228600"/>
          </a:xfrm>
          <a:prstGeom prst="rect">
            <a:avLst/>
          </a:prstGeom>
          <a:noFill/>
          <a:ln/>
        </p:spPr>
        <p:txBody>
          <a:bodyPr wrap="square" rtlCol="0" anchor="ctr"/>
          <a:lstStyle/>
          <a:p>
            <a:r>
              <a:rPr lang="en-US" sz="1000" dirty="0">
                <a:solidFill>
                  <a:srgbClr val="98C379"/>
                </a:solidFill>
                <a:latin typeface="Consolas" pitchFamily="34" charset="0"/>
                <a:ea typeface="Consolas" pitchFamily="34" charset="-122"/>
                <a:cs typeface="Consolas" pitchFamily="34" charset="-120"/>
              </a:rPr>
              <a:t>      EtudiantDAO.java</a:t>
            </a:r>
            <a:endParaRPr lang="en-US" sz="1000" dirty="0"/>
          </a:p>
        </p:txBody>
      </p:sp>
      <p:sp>
        <p:nvSpPr>
          <p:cNvPr id="17" name="Text 11"/>
          <p:cNvSpPr/>
          <p:nvPr/>
        </p:nvSpPr>
        <p:spPr>
          <a:xfrm>
            <a:off x="457200" y="3957066"/>
            <a:ext cx="3749040" cy="228600"/>
          </a:xfrm>
          <a:prstGeom prst="rect">
            <a:avLst/>
          </a:prstGeom>
          <a:noFill/>
          <a:ln/>
        </p:spPr>
        <p:txBody>
          <a:bodyPr wrap="square" rtlCol="0" anchor="ctr"/>
          <a:lstStyle/>
          <a:p>
            <a:r>
              <a:rPr lang="en-US" sz="1000" dirty="0">
                <a:solidFill>
                  <a:srgbClr val="4FC1E9"/>
                </a:solidFill>
                <a:latin typeface="Consolas" pitchFamily="34" charset="0"/>
                <a:ea typeface="Consolas" pitchFamily="34" charset="-122"/>
                <a:cs typeface="Consolas" pitchFamily="34" charset="-120"/>
              </a:rPr>
              <a:t>    📁 service/</a:t>
            </a:r>
            <a:endParaRPr lang="en-US" sz="1000" dirty="0"/>
          </a:p>
        </p:txBody>
      </p:sp>
      <p:sp>
        <p:nvSpPr>
          <p:cNvPr id="18" name="Text 12"/>
          <p:cNvSpPr/>
          <p:nvPr/>
        </p:nvSpPr>
        <p:spPr>
          <a:xfrm>
            <a:off x="457200" y="4203954"/>
            <a:ext cx="3749040" cy="228600"/>
          </a:xfrm>
          <a:prstGeom prst="rect">
            <a:avLst/>
          </a:prstGeom>
          <a:noFill/>
          <a:ln/>
        </p:spPr>
        <p:txBody>
          <a:bodyPr wrap="square" rtlCol="0" anchor="ctr"/>
          <a:lstStyle/>
          <a:p>
            <a:r>
              <a:rPr lang="en-US" sz="1000" dirty="0">
                <a:solidFill>
                  <a:srgbClr val="98C379"/>
                </a:solidFill>
                <a:latin typeface="Consolas" pitchFamily="34" charset="0"/>
                <a:ea typeface="Consolas" pitchFamily="34" charset="-122"/>
                <a:cs typeface="Consolas" pitchFamily="34" charset="-120"/>
              </a:rPr>
              <a:t>      EtudiantService.java</a:t>
            </a:r>
            <a:endParaRPr lang="en-US" sz="1000" dirty="0"/>
          </a:p>
        </p:txBody>
      </p:sp>
      <p:sp>
        <p:nvSpPr>
          <p:cNvPr id="19" name="Text 13"/>
          <p:cNvSpPr/>
          <p:nvPr/>
        </p:nvSpPr>
        <p:spPr>
          <a:xfrm>
            <a:off x="457200" y="4450842"/>
            <a:ext cx="3749040" cy="228600"/>
          </a:xfrm>
          <a:prstGeom prst="rect">
            <a:avLst/>
          </a:prstGeom>
          <a:noFill/>
          <a:ln/>
        </p:spPr>
        <p:txBody>
          <a:bodyPr wrap="square" rtlCol="0" anchor="ctr"/>
          <a:lstStyle/>
          <a:p>
            <a:r>
              <a:rPr lang="en-US" sz="1000" dirty="0">
                <a:solidFill>
                  <a:srgbClr val="FFFFFF"/>
                </a:solidFill>
                <a:latin typeface="Consolas" pitchFamily="34" charset="0"/>
                <a:ea typeface="Consolas" pitchFamily="34" charset="-122"/>
                <a:cs typeface="Consolas" pitchFamily="34" charset="-120"/>
              </a:rPr>
              <a:t>    Main.java</a:t>
            </a:r>
            <a:endParaRPr lang="en-US" sz="1000" dirty="0"/>
          </a:p>
        </p:txBody>
      </p:sp>
      <p:sp>
        <p:nvSpPr>
          <p:cNvPr id="20" name="Text 14"/>
          <p:cNvSpPr/>
          <p:nvPr/>
        </p:nvSpPr>
        <p:spPr>
          <a:xfrm>
            <a:off x="457200" y="4697730"/>
            <a:ext cx="3749040" cy="228600"/>
          </a:xfrm>
          <a:prstGeom prst="rect">
            <a:avLst/>
          </a:prstGeom>
          <a:noFill/>
          <a:ln/>
        </p:spPr>
        <p:txBody>
          <a:bodyPr wrap="square" rtlCol="0" anchor="ctr"/>
          <a:lstStyle/>
          <a:p>
            <a:r>
              <a:rPr lang="en-US" sz="1000" dirty="0">
                <a:solidFill>
                  <a:srgbClr val="FFFFFF"/>
                </a:solidFill>
                <a:latin typeface="Consolas" pitchFamily="34" charset="0"/>
                <a:ea typeface="Consolas" pitchFamily="34" charset="-122"/>
                <a:cs typeface="Consolas" pitchFamily="34" charset="-120"/>
              </a:rPr>
              <a:t>  📁 main/resources/</a:t>
            </a:r>
            <a:endParaRPr lang="en-US" sz="1000" dirty="0"/>
          </a:p>
        </p:txBody>
      </p:sp>
      <p:sp>
        <p:nvSpPr>
          <p:cNvPr id="21" name="Text 15"/>
          <p:cNvSpPr/>
          <p:nvPr/>
        </p:nvSpPr>
        <p:spPr>
          <a:xfrm>
            <a:off x="457200" y="4944618"/>
            <a:ext cx="3749040" cy="228600"/>
          </a:xfrm>
          <a:prstGeom prst="rect">
            <a:avLst/>
          </a:prstGeom>
          <a:noFill/>
          <a:ln/>
        </p:spPr>
        <p:txBody>
          <a:bodyPr wrap="square" rtlCol="0" anchor="ctr"/>
          <a:lstStyle/>
          <a:p>
            <a:r>
              <a:rPr lang="en-US" sz="1000" dirty="0">
                <a:solidFill>
                  <a:srgbClr val="4FC1E9"/>
                </a:solidFill>
                <a:latin typeface="Consolas" pitchFamily="34" charset="0"/>
                <a:ea typeface="Consolas" pitchFamily="34" charset="-122"/>
                <a:cs typeface="Consolas" pitchFamily="34" charset="-120"/>
              </a:rPr>
              <a:t>    📁 META-INF/</a:t>
            </a:r>
            <a:endParaRPr lang="en-US" sz="1000" dirty="0"/>
          </a:p>
        </p:txBody>
      </p:sp>
      <p:sp>
        <p:nvSpPr>
          <p:cNvPr id="22" name="Text 16"/>
          <p:cNvSpPr/>
          <p:nvPr/>
        </p:nvSpPr>
        <p:spPr>
          <a:xfrm>
            <a:off x="457200" y="5191506"/>
            <a:ext cx="3749040" cy="228600"/>
          </a:xfrm>
          <a:prstGeom prst="rect">
            <a:avLst/>
          </a:prstGeom>
          <a:noFill/>
          <a:ln/>
        </p:spPr>
        <p:txBody>
          <a:bodyPr wrap="square" rtlCol="0" anchor="ctr"/>
          <a:lstStyle/>
          <a:p>
            <a:r>
              <a:rPr lang="en-US" sz="1000" dirty="0">
                <a:solidFill>
                  <a:srgbClr val="F39C12"/>
                </a:solidFill>
                <a:latin typeface="Consolas" pitchFamily="34" charset="0"/>
                <a:ea typeface="Consolas" pitchFamily="34" charset="-122"/>
                <a:cs typeface="Consolas" pitchFamily="34" charset="-120"/>
              </a:rPr>
              <a:t>      persistence.xml</a:t>
            </a:r>
            <a:endParaRPr lang="en-US" sz="1000" dirty="0"/>
          </a:p>
        </p:txBody>
      </p:sp>
      <p:sp>
        <p:nvSpPr>
          <p:cNvPr id="23" name="Text 17"/>
          <p:cNvSpPr/>
          <p:nvPr/>
        </p:nvSpPr>
        <p:spPr>
          <a:xfrm>
            <a:off x="457200" y="5438394"/>
            <a:ext cx="3749040" cy="228600"/>
          </a:xfrm>
          <a:prstGeom prst="rect">
            <a:avLst/>
          </a:prstGeom>
          <a:noFill/>
          <a:ln/>
        </p:spPr>
        <p:txBody>
          <a:bodyPr wrap="square" rtlCol="0" anchor="ctr"/>
          <a:lstStyle/>
          <a:p>
            <a:r>
              <a:rPr lang="en-US" sz="1000" dirty="0">
                <a:solidFill>
                  <a:srgbClr val="F39C12"/>
                </a:solidFill>
                <a:latin typeface="Consolas" pitchFamily="34" charset="0"/>
                <a:ea typeface="Consolas" pitchFamily="34" charset="-122"/>
                <a:cs typeface="Consolas" pitchFamily="34" charset="-120"/>
              </a:rPr>
              <a:t>📁 pom.xml</a:t>
            </a:r>
            <a:endParaRPr lang="en-US" sz="1000" dirty="0"/>
          </a:p>
        </p:txBody>
      </p:sp>
      <p:sp>
        <p:nvSpPr>
          <p:cNvPr id="24" name="Text 18"/>
          <p:cNvSpPr/>
          <p:nvPr/>
        </p:nvSpPr>
        <p:spPr>
          <a:xfrm>
            <a:off x="4572000" y="1771650"/>
            <a:ext cx="4297680" cy="320040"/>
          </a:xfrm>
          <a:prstGeom prst="rect">
            <a:avLst/>
          </a:prstGeom>
          <a:noFill/>
          <a:ln/>
        </p:spPr>
        <p:txBody>
          <a:bodyPr wrap="square" rtlCol="0" anchor="ctr"/>
          <a:lstStyle/>
          <a:p>
            <a:r>
              <a:rPr lang="en-US" sz="1300" b="1" dirty="0">
                <a:solidFill>
                  <a:srgbClr val="0D2B55"/>
                </a:solidFill>
                <a:latin typeface="Calibri" pitchFamily="34" charset="0"/>
                <a:ea typeface="Calibri" pitchFamily="34" charset="-122"/>
                <a:cs typeface="Calibri" pitchFamily="34" charset="-120"/>
              </a:rPr>
              <a:t>Couches de l'application</a:t>
            </a:r>
            <a:endParaRPr lang="en-US" sz="1300" dirty="0"/>
          </a:p>
        </p:txBody>
      </p:sp>
      <p:sp>
        <p:nvSpPr>
          <p:cNvPr id="25" name="Shape 19"/>
          <p:cNvSpPr/>
          <p:nvPr/>
        </p:nvSpPr>
        <p:spPr>
          <a:xfrm>
            <a:off x="4572000" y="2183130"/>
            <a:ext cx="4297680" cy="594360"/>
          </a:xfrm>
          <a:prstGeom prst="rect">
            <a:avLst/>
          </a:prstGeom>
          <a:solidFill>
            <a:srgbClr val="1A5276"/>
          </a:solidFill>
          <a:ln w="12700">
            <a:solidFill>
              <a:srgbClr val="1A5276"/>
            </a:solidFill>
            <a:prstDash val="solid"/>
          </a:ln>
        </p:spPr>
      </p:sp>
      <p:sp>
        <p:nvSpPr>
          <p:cNvPr id="26" name="Text 20"/>
          <p:cNvSpPr/>
          <p:nvPr/>
        </p:nvSpPr>
        <p:spPr>
          <a:xfrm>
            <a:off x="4663440" y="2183130"/>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Présentation</a:t>
            </a:r>
            <a:endParaRPr lang="en-US" sz="1200" dirty="0"/>
          </a:p>
        </p:txBody>
      </p:sp>
      <p:sp>
        <p:nvSpPr>
          <p:cNvPr id="27" name="Text 21"/>
          <p:cNvSpPr/>
          <p:nvPr/>
        </p:nvSpPr>
        <p:spPr>
          <a:xfrm>
            <a:off x="4663440" y="2484882"/>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Main, IHM, API REST</a:t>
            </a:r>
            <a:endParaRPr lang="en-US" sz="1000" dirty="0"/>
          </a:p>
        </p:txBody>
      </p:sp>
      <p:sp>
        <p:nvSpPr>
          <p:cNvPr id="28" name="Shape 22"/>
          <p:cNvSpPr/>
          <p:nvPr/>
        </p:nvSpPr>
        <p:spPr>
          <a:xfrm>
            <a:off x="4663440" y="2932938"/>
            <a:ext cx="4114800" cy="594360"/>
          </a:xfrm>
          <a:prstGeom prst="rect">
            <a:avLst/>
          </a:prstGeom>
          <a:solidFill>
            <a:srgbClr val="1ABC9C"/>
          </a:solidFill>
          <a:ln w="12700">
            <a:solidFill>
              <a:srgbClr val="1ABC9C"/>
            </a:solidFill>
            <a:prstDash val="solid"/>
          </a:ln>
        </p:spPr>
      </p:sp>
      <p:sp>
        <p:nvSpPr>
          <p:cNvPr id="29" name="Text 23"/>
          <p:cNvSpPr/>
          <p:nvPr/>
        </p:nvSpPr>
        <p:spPr>
          <a:xfrm>
            <a:off x="4754880" y="2932938"/>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Service</a:t>
            </a:r>
            <a:endParaRPr lang="en-US" sz="1200" dirty="0"/>
          </a:p>
        </p:txBody>
      </p:sp>
      <p:sp>
        <p:nvSpPr>
          <p:cNvPr id="30" name="Text 24"/>
          <p:cNvSpPr/>
          <p:nvPr/>
        </p:nvSpPr>
        <p:spPr>
          <a:xfrm>
            <a:off x="4754880" y="3234690"/>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Logique métier, validations</a:t>
            </a:r>
            <a:endParaRPr lang="en-US" sz="1000" dirty="0"/>
          </a:p>
        </p:txBody>
      </p:sp>
      <p:sp>
        <p:nvSpPr>
          <p:cNvPr id="31" name="Shape 25"/>
          <p:cNvSpPr/>
          <p:nvPr/>
        </p:nvSpPr>
        <p:spPr>
          <a:xfrm>
            <a:off x="4754880" y="3682746"/>
            <a:ext cx="3931920" cy="594360"/>
          </a:xfrm>
          <a:prstGeom prst="rect">
            <a:avLst/>
          </a:prstGeom>
          <a:solidFill>
            <a:srgbClr val="F39C12"/>
          </a:solidFill>
          <a:ln w="12700">
            <a:solidFill>
              <a:srgbClr val="F39C12"/>
            </a:solidFill>
            <a:prstDash val="solid"/>
          </a:ln>
        </p:spPr>
      </p:sp>
      <p:sp>
        <p:nvSpPr>
          <p:cNvPr id="32" name="Text 26"/>
          <p:cNvSpPr/>
          <p:nvPr/>
        </p:nvSpPr>
        <p:spPr>
          <a:xfrm>
            <a:off x="4846320" y="3682746"/>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DAO</a:t>
            </a:r>
            <a:endParaRPr lang="en-US" sz="1200" dirty="0"/>
          </a:p>
        </p:txBody>
      </p:sp>
      <p:sp>
        <p:nvSpPr>
          <p:cNvPr id="33" name="Text 27"/>
          <p:cNvSpPr/>
          <p:nvPr/>
        </p:nvSpPr>
        <p:spPr>
          <a:xfrm>
            <a:off x="4846320" y="3984498"/>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Accès aux données (CRUD)</a:t>
            </a:r>
            <a:endParaRPr lang="en-US" sz="1000" dirty="0"/>
          </a:p>
        </p:txBody>
      </p:sp>
      <p:sp>
        <p:nvSpPr>
          <p:cNvPr id="34" name="Shape 28"/>
          <p:cNvSpPr/>
          <p:nvPr/>
        </p:nvSpPr>
        <p:spPr>
          <a:xfrm>
            <a:off x="4846320" y="4432554"/>
            <a:ext cx="3749040" cy="594360"/>
          </a:xfrm>
          <a:prstGeom prst="rect">
            <a:avLst/>
          </a:prstGeom>
          <a:solidFill>
            <a:srgbClr val="27AE60"/>
          </a:solidFill>
          <a:ln w="12700">
            <a:solidFill>
              <a:srgbClr val="27AE60"/>
            </a:solidFill>
            <a:prstDash val="solid"/>
          </a:ln>
        </p:spPr>
      </p:sp>
      <p:sp>
        <p:nvSpPr>
          <p:cNvPr id="35" name="Text 29"/>
          <p:cNvSpPr/>
          <p:nvPr/>
        </p:nvSpPr>
        <p:spPr>
          <a:xfrm>
            <a:off x="4937760" y="4432554"/>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Couche Entités (JPA)</a:t>
            </a:r>
            <a:endParaRPr lang="en-US" sz="1200" dirty="0"/>
          </a:p>
        </p:txBody>
      </p:sp>
      <p:sp>
        <p:nvSpPr>
          <p:cNvPr id="36" name="Text 30"/>
          <p:cNvSpPr/>
          <p:nvPr/>
        </p:nvSpPr>
        <p:spPr>
          <a:xfrm>
            <a:off x="4937760" y="4734306"/>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@Entity, annotations, relations</a:t>
            </a:r>
            <a:endParaRPr lang="en-US" sz="1000" dirty="0"/>
          </a:p>
        </p:txBody>
      </p:sp>
      <p:sp>
        <p:nvSpPr>
          <p:cNvPr id="37" name="Shape 31"/>
          <p:cNvSpPr/>
          <p:nvPr/>
        </p:nvSpPr>
        <p:spPr>
          <a:xfrm>
            <a:off x="4937760" y="5182362"/>
            <a:ext cx="3566160" cy="594360"/>
          </a:xfrm>
          <a:prstGeom prst="rect">
            <a:avLst/>
          </a:prstGeom>
          <a:solidFill>
            <a:srgbClr val="2C3E50"/>
          </a:solidFill>
          <a:ln w="12700">
            <a:solidFill>
              <a:srgbClr val="2C3E50"/>
            </a:solidFill>
            <a:prstDash val="solid"/>
          </a:ln>
        </p:spPr>
      </p:sp>
      <p:sp>
        <p:nvSpPr>
          <p:cNvPr id="38" name="Text 32"/>
          <p:cNvSpPr/>
          <p:nvPr/>
        </p:nvSpPr>
        <p:spPr>
          <a:xfrm>
            <a:off x="5029200" y="5182362"/>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Base de Données</a:t>
            </a:r>
            <a:endParaRPr lang="en-US" sz="1200" dirty="0"/>
          </a:p>
        </p:txBody>
      </p:sp>
      <p:sp>
        <p:nvSpPr>
          <p:cNvPr id="39" name="Text 33"/>
          <p:cNvSpPr/>
          <p:nvPr/>
        </p:nvSpPr>
        <p:spPr>
          <a:xfrm>
            <a:off x="5029200" y="5484114"/>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MySQL, PostgreSQL, H2...</a:t>
            </a:r>
            <a:endParaRPr lang="en-US" sz="1000" dirty="0"/>
          </a:p>
        </p:txBody>
      </p:sp>
      <p:sp>
        <p:nvSpPr>
          <p:cNvPr id="5" name="Rectangle 4"/>
          <p:cNvSpPr/>
          <p:nvPr/>
        </p:nvSpPr>
        <p:spPr>
          <a:xfrm>
            <a:off x="827584" y="343758"/>
            <a:ext cx="2376264" cy="376331"/>
          </a:xfrm>
          <a:prstGeom prst="rect">
            <a:avLst/>
          </a:prstGeom>
        </p:spPr>
        <p:txBody>
          <a:bodyPr wrap="square">
            <a:spAutoFit/>
          </a:bodyPr>
          <a:lstStyle/>
          <a:p>
            <a:r>
              <a:rPr lang="fr-CI" b="1" dirty="0" smtClean="0">
                <a:solidFill>
                  <a:srgbClr val="FF0000"/>
                </a:solidFill>
              </a:rPr>
              <a:t>V. </a:t>
            </a:r>
            <a:r>
              <a:rPr lang="fr-CI" b="1" dirty="0">
                <a:solidFill>
                  <a:srgbClr val="FF0000"/>
                </a:solidFill>
              </a:rPr>
              <a:t>HIBERNATE</a:t>
            </a:r>
            <a:endParaRPr lang="en-US" b="1" dirty="0"/>
          </a:p>
        </p:txBody>
      </p:sp>
    </p:spTree>
    <p:extLst>
      <p:ext uri="{BB962C8B-B14F-4D97-AF65-F5344CB8AC3E}">
        <p14:creationId xmlns:p14="http://schemas.microsoft.com/office/powerpoint/2010/main" val="20324278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pPr marL="0" indent="0">
              <a:buNone/>
            </a:pPr>
            <a:r>
              <a:rPr lang="en-US" sz="2400" dirty="0" smtClean="0">
                <a:solidFill>
                  <a:srgbClr val="FF0000"/>
                </a:solidFill>
              </a:rPr>
              <a:t>V. Hibernate :Configuration </a:t>
            </a:r>
            <a:r>
              <a:rPr lang="en-US" sz="2400" dirty="0">
                <a:solidFill>
                  <a:srgbClr val="FF0000"/>
                </a:solidFill>
              </a:rPr>
              <a:t>&amp; persistence.xml</a:t>
            </a:r>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32"/>
          <p:cNvSpPr/>
          <p:nvPr/>
        </p:nvSpPr>
        <p:spPr>
          <a:xfrm>
            <a:off x="5029200" y="5182362"/>
            <a:ext cx="4114800" cy="320040"/>
          </a:xfrm>
          <a:prstGeom prst="rect">
            <a:avLst/>
          </a:prstGeom>
          <a:noFill/>
          <a:ln/>
        </p:spPr>
        <p:txBody>
          <a:bodyPr wrap="square" rtlCol="0" anchor="ctr"/>
          <a:lstStyle/>
          <a:p>
            <a:r>
              <a:rPr lang="en-US" sz="1200" b="1" dirty="0">
                <a:solidFill>
                  <a:srgbClr val="FFFFFF"/>
                </a:solidFill>
                <a:latin typeface="Calibri" pitchFamily="34" charset="0"/>
                <a:ea typeface="Calibri" pitchFamily="34" charset="-122"/>
                <a:cs typeface="Calibri" pitchFamily="34" charset="-120"/>
              </a:rPr>
              <a:t>Base de Données</a:t>
            </a:r>
            <a:endParaRPr lang="en-US" sz="1200" dirty="0"/>
          </a:p>
        </p:txBody>
      </p:sp>
      <p:sp>
        <p:nvSpPr>
          <p:cNvPr id="39" name="Text 33"/>
          <p:cNvSpPr/>
          <p:nvPr/>
        </p:nvSpPr>
        <p:spPr>
          <a:xfrm>
            <a:off x="5029200" y="5484114"/>
            <a:ext cx="4114800" cy="256032"/>
          </a:xfrm>
          <a:prstGeom prst="rect">
            <a:avLst/>
          </a:prstGeom>
          <a:noFill/>
          <a:ln/>
        </p:spPr>
        <p:txBody>
          <a:bodyPr wrap="square" rtlCol="0" anchor="ctr"/>
          <a:lstStyle/>
          <a:p>
            <a:r>
              <a:rPr lang="en-US" sz="1000" i="1" dirty="0">
                <a:solidFill>
                  <a:srgbClr val="FFFFFF"/>
                </a:solidFill>
                <a:latin typeface="Calibri" pitchFamily="34" charset="0"/>
                <a:ea typeface="Calibri" pitchFamily="34" charset="-122"/>
                <a:cs typeface="Calibri" pitchFamily="34" charset="-120"/>
              </a:rPr>
              <a:t>MySQL, PostgreSQL, H2...</a:t>
            </a:r>
            <a:endParaRPr lang="en-US" sz="1000" dirty="0"/>
          </a:p>
        </p:txBody>
      </p:sp>
      <p:sp>
        <p:nvSpPr>
          <p:cNvPr id="40" name="Shape 3"/>
          <p:cNvSpPr/>
          <p:nvPr/>
        </p:nvSpPr>
        <p:spPr>
          <a:xfrm>
            <a:off x="274320" y="942985"/>
            <a:ext cx="5029200" cy="5382447"/>
          </a:xfrm>
          <a:prstGeom prst="rect">
            <a:avLst/>
          </a:prstGeom>
          <a:solidFill>
            <a:srgbClr val="1E293B"/>
          </a:solidFill>
          <a:ln w="12700">
            <a:solidFill>
              <a:srgbClr val="1E293B"/>
            </a:solidFill>
            <a:prstDash val="solid"/>
          </a:ln>
          <a:effectLst>
            <a:outerShdw blurRad="101600" dist="38100" dir="8100000" algn="bl" rotWithShape="0">
              <a:srgbClr val="000000">
                <a:alpha val="15000"/>
              </a:srgbClr>
            </a:outerShdw>
          </a:effectLst>
        </p:spPr>
      </p:sp>
      <p:sp>
        <p:nvSpPr>
          <p:cNvPr id="41" name="Text 4"/>
          <p:cNvSpPr/>
          <p:nvPr/>
        </p:nvSpPr>
        <p:spPr>
          <a:xfrm>
            <a:off x="365760" y="965489"/>
            <a:ext cx="4846320" cy="339156"/>
          </a:xfrm>
          <a:prstGeom prst="rect">
            <a:avLst/>
          </a:prstGeom>
          <a:noFill/>
          <a:ln/>
        </p:spPr>
        <p:txBody>
          <a:bodyPr wrap="square" rtlCol="0" anchor="ctr"/>
          <a:lstStyle/>
          <a:p>
            <a:pPr marL="0" indent="0">
              <a:buNone/>
            </a:pPr>
            <a:r>
              <a:rPr lang="en-US" sz="1200" b="1" dirty="0">
                <a:solidFill>
                  <a:srgbClr val="E8A020"/>
                </a:solidFill>
                <a:latin typeface="Times New Roman" panose="02020603050405020304" pitchFamily="18" charset="0"/>
                <a:cs typeface="Times New Roman" panose="02020603050405020304" pitchFamily="18" charset="0"/>
              </a:rPr>
              <a:t>META-INF/persistence.xml</a:t>
            </a:r>
            <a:endParaRPr lang="en-US" sz="1200" dirty="0">
              <a:latin typeface="Times New Roman" panose="02020603050405020304" pitchFamily="18" charset="0"/>
              <a:cs typeface="Times New Roman" panose="02020603050405020304" pitchFamily="18" charset="0"/>
            </a:endParaRPr>
          </a:p>
        </p:txBody>
      </p:sp>
      <p:sp>
        <p:nvSpPr>
          <p:cNvPr id="42" name="Text 5"/>
          <p:cNvSpPr/>
          <p:nvPr/>
        </p:nvSpPr>
        <p:spPr>
          <a:xfrm>
            <a:off x="388680" y="1300897"/>
            <a:ext cx="4846320" cy="4522085"/>
          </a:xfrm>
          <a:prstGeom prst="rect">
            <a:avLst/>
          </a:prstGeom>
          <a:noFill/>
          <a:ln/>
        </p:spPr>
        <p:txBody>
          <a:bodyPr wrap="square" rtlCol="0" anchor="t"/>
          <a:lstStyle/>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&lt;persistence xmlns="https://jakarta.ee/xml/ns/persistence"</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version="3.0"&gt;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&lt;persistence-unit name="maPU"</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transaction-type="RESOURCE_LOCAL"&gt;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&lt;provider&gt;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org.hibernate.jpa.HibernatePersistenceProvider</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&lt;/provider&gt;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&lt;class&gt;com.example.Employe&lt;/class&gt;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&lt;class&gt;com.example.Client&lt;/class&gt;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&lt;properties&gt;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 Connexion BDD --&gt;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name="jakarta.persistence.jdbc.url"</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value="jdbc:mysql://localhost/maDB"/&gt;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name="jakarta.persistence.jdbc.user"</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value="root"/&gt;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name="jakarta.persistence.jdbc.password"</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value="secret"/&gt;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 Hibernate-specific --&gt;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name="hibernate.dialect"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value="org.hibernate.dialect.MySQLDialect"/&gt;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name="hibernate.hbm2ddl.auto"</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value="update"/&gt; &lt;!-- create/update/validate/none --&gt;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name="hibernate.show_sql" value="true"/&gt;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&lt;property name="hibernate.format_sql" value="true"/&gt;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&lt;/properties&gt;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  &lt;/persistence-unit&gt;</a:t>
            </a:r>
            <a:endParaRPr lang="en-US" sz="1200" dirty="0">
              <a:latin typeface="Times New Roman" panose="02020603050405020304" pitchFamily="18" charset="0"/>
              <a:cs typeface="Times New Roman" panose="02020603050405020304" pitchFamily="18" charset="0"/>
            </a:endParaRPr>
          </a:p>
          <a:p>
            <a:pPr marL="0" indent="0">
              <a:lnSpc>
                <a:spcPct val="120000"/>
              </a:lnSpc>
              <a:buNone/>
            </a:pPr>
            <a:r>
              <a:rPr lang="en-US" sz="1200" dirty="0">
                <a:solidFill>
                  <a:srgbClr val="E2E8F0"/>
                </a:solidFill>
                <a:latin typeface="Times New Roman" panose="02020603050405020304" pitchFamily="18" charset="0"/>
                <a:ea typeface="Consolas" pitchFamily="34" charset="-122"/>
                <a:cs typeface="Times New Roman" panose="02020603050405020304" pitchFamily="18" charset="0"/>
              </a:rPr>
              <a:t>&lt;/persistence&gt;</a:t>
            </a:r>
            <a:endParaRPr lang="en-US" sz="1200" dirty="0">
              <a:latin typeface="Times New Roman" panose="02020603050405020304" pitchFamily="18" charset="0"/>
              <a:cs typeface="Times New Roman" panose="02020603050405020304" pitchFamily="18" charset="0"/>
            </a:endParaRPr>
          </a:p>
        </p:txBody>
      </p:sp>
      <p:sp>
        <p:nvSpPr>
          <p:cNvPr id="43" name="Shape 6"/>
          <p:cNvSpPr/>
          <p:nvPr/>
        </p:nvSpPr>
        <p:spPr>
          <a:xfrm>
            <a:off x="5532120" y="1413100"/>
            <a:ext cx="3337560" cy="2487147"/>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4" name="Shape 7"/>
          <p:cNvSpPr/>
          <p:nvPr/>
        </p:nvSpPr>
        <p:spPr>
          <a:xfrm>
            <a:off x="5532120" y="1026902"/>
            <a:ext cx="3337560" cy="395682"/>
          </a:xfrm>
          <a:prstGeom prst="rect">
            <a:avLst/>
          </a:prstGeom>
          <a:solidFill>
            <a:srgbClr val="E94F37"/>
          </a:solidFill>
          <a:ln w="12700">
            <a:solidFill>
              <a:srgbClr val="E94F37"/>
            </a:solidFill>
            <a:prstDash val="solid"/>
          </a:ln>
        </p:spPr>
      </p:sp>
      <p:sp>
        <p:nvSpPr>
          <p:cNvPr id="45" name="Text 8"/>
          <p:cNvSpPr/>
          <p:nvPr/>
        </p:nvSpPr>
        <p:spPr>
          <a:xfrm>
            <a:off x="5502728" y="1060514"/>
            <a:ext cx="3154680" cy="395682"/>
          </a:xfrm>
          <a:prstGeom prst="rect">
            <a:avLst/>
          </a:prstGeom>
          <a:noFill/>
          <a:ln/>
        </p:spPr>
        <p:txBody>
          <a:bodyPr wrap="square"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hbm2ddl.auto — Attention!</a:t>
            </a:r>
            <a:endParaRPr lang="en-US" sz="1200" dirty="0">
              <a:latin typeface="Times New Roman" panose="02020603050405020304" pitchFamily="18" charset="0"/>
              <a:cs typeface="Times New Roman" panose="02020603050405020304" pitchFamily="18" charset="0"/>
            </a:endParaRPr>
          </a:p>
        </p:txBody>
      </p:sp>
      <p:sp>
        <p:nvSpPr>
          <p:cNvPr id="46" name="Text 9"/>
          <p:cNvSpPr/>
          <p:nvPr/>
        </p:nvSpPr>
        <p:spPr>
          <a:xfrm>
            <a:off x="5623560" y="1646635"/>
            <a:ext cx="3154680" cy="1583579"/>
          </a:xfrm>
          <a:prstGeom prst="rect">
            <a:avLst/>
          </a:prstGeom>
          <a:noFill/>
          <a:ln/>
        </p:spPr>
        <p:txBody>
          <a:bodyPr wrap="square" rtlCol="0" anchor="ctr"/>
          <a:lstStyle/>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create : DROP + CREATE à chaque démarrage (dev uniquement!)</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update : modifie le schéma sans perdre données (non en prod)</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validate : vérifie la cohérence sans modifier (prod OK)</a:t>
            </a:r>
            <a:endParaRPr lang="en-US" sz="1200" dirty="0">
              <a:latin typeface="Times New Roman" panose="02020603050405020304" pitchFamily="18" charset="0"/>
              <a:cs typeface="Times New Roman" panose="02020603050405020304" pitchFamily="18" charset="0"/>
            </a:endParaRPr>
          </a:p>
          <a:p>
            <a:pPr marL="342900" indent="-342900">
              <a:lnSpc>
                <a:spcPct val="135000"/>
              </a:lnSpc>
              <a:buSzPct val="100000"/>
              <a:buChar char="•"/>
            </a:pPr>
            <a:r>
              <a:rPr lang="en-US" sz="1200" dirty="0">
                <a:solidFill>
                  <a:srgbClr val="0F2044"/>
                </a:solidFill>
                <a:latin typeface="Times New Roman" panose="02020603050405020304" pitchFamily="18" charset="0"/>
                <a:cs typeface="Times New Roman" panose="02020603050405020304" pitchFamily="18" charset="0"/>
              </a:rPr>
              <a:t>none : Hibernate ne touche pas au schéma (prod recommandé)</a:t>
            </a:r>
            <a:endParaRPr lang="en-US" sz="1200" dirty="0">
              <a:latin typeface="Times New Roman" panose="02020603050405020304" pitchFamily="18" charset="0"/>
              <a:cs typeface="Times New Roman" panose="02020603050405020304" pitchFamily="18" charset="0"/>
            </a:endParaRPr>
          </a:p>
        </p:txBody>
      </p:sp>
      <p:sp>
        <p:nvSpPr>
          <p:cNvPr id="47" name="Shape 10"/>
          <p:cNvSpPr/>
          <p:nvPr/>
        </p:nvSpPr>
        <p:spPr>
          <a:xfrm>
            <a:off x="5532120" y="3561940"/>
            <a:ext cx="3337560" cy="2317569"/>
          </a:xfrm>
          <a:prstGeom prst="rect">
            <a:avLst/>
          </a:prstGeom>
          <a:solidFill>
            <a:srgbClr val="FFFFFF"/>
          </a:solidFill>
          <a:ln w="12700">
            <a:solidFill>
              <a:srgbClr val="E2E8F0"/>
            </a:solidFill>
            <a:prstDash val="solid"/>
          </a:ln>
          <a:effectLst>
            <a:outerShdw blurRad="101600" dist="38100" dir="8100000" algn="bl" rotWithShape="0">
              <a:srgbClr val="000000">
                <a:alpha val="15000"/>
              </a:srgbClr>
            </a:outerShdw>
          </a:effectLst>
        </p:spPr>
      </p:sp>
      <p:sp>
        <p:nvSpPr>
          <p:cNvPr id="48" name="Shape 11"/>
          <p:cNvSpPr/>
          <p:nvPr/>
        </p:nvSpPr>
        <p:spPr>
          <a:xfrm>
            <a:off x="5532120" y="3561941"/>
            <a:ext cx="3337560" cy="395682"/>
          </a:xfrm>
          <a:prstGeom prst="rect">
            <a:avLst/>
          </a:prstGeom>
          <a:solidFill>
            <a:srgbClr val="2EC4B6"/>
          </a:solidFill>
          <a:ln w="12700">
            <a:solidFill>
              <a:srgbClr val="2EC4B6"/>
            </a:solidFill>
            <a:prstDash val="solid"/>
          </a:ln>
        </p:spPr>
      </p:sp>
      <p:sp>
        <p:nvSpPr>
          <p:cNvPr id="49" name="Text 12"/>
          <p:cNvSpPr/>
          <p:nvPr/>
        </p:nvSpPr>
        <p:spPr>
          <a:xfrm>
            <a:off x="5623560" y="3561941"/>
            <a:ext cx="3154680" cy="395682"/>
          </a:xfrm>
          <a:prstGeom prst="rect">
            <a:avLst/>
          </a:prstGeom>
          <a:noFill/>
          <a:ln/>
        </p:spPr>
        <p:txBody>
          <a:bodyPr wrap="square" rtlCol="0" anchor="ctr"/>
          <a:lstStyle/>
          <a:p>
            <a:pPr marL="0" indent="0">
              <a:buNone/>
            </a:pPr>
            <a:r>
              <a:rPr lang="en-US" sz="1200" b="1" dirty="0">
                <a:solidFill>
                  <a:srgbClr val="0F2044"/>
                </a:solidFill>
                <a:latin typeface="Times New Roman" panose="02020603050405020304" pitchFamily="18" charset="0"/>
                <a:cs typeface="Times New Roman" panose="02020603050405020304" pitchFamily="18" charset="0"/>
              </a:rPr>
              <a:t>Spring Boot : application.properties</a:t>
            </a:r>
            <a:endParaRPr lang="en-US" sz="1200" dirty="0">
              <a:latin typeface="Times New Roman" panose="02020603050405020304" pitchFamily="18" charset="0"/>
              <a:cs typeface="Times New Roman" panose="02020603050405020304" pitchFamily="18" charset="0"/>
            </a:endParaRPr>
          </a:p>
        </p:txBody>
      </p:sp>
      <p:sp>
        <p:nvSpPr>
          <p:cNvPr id="50" name="Text 13"/>
          <p:cNvSpPr/>
          <p:nvPr/>
        </p:nvSpPr>
        <p:spPr>
          <a:xfrm>
            <a:off x="5623560" y="3927701"/>
            <a:ext cx="3154680" cy="1752308"/>
          </a:xfrm>
          <a:prstGeom prst="rect">
            <a:avLst/>
          </a:prstGeom>
          <a:noFill/>
          <a:ln/>
        </p:spPr>
        <p:txBody>
          <a:bodyPr wrap="square" rtlCol="0" anchor="ctr"/>
          <a:lstStyle/>
          <a:p>
            <a:pPr marL="0" indent="0">
              <a:lnSpc>
                <a:spcPct val="140000"/>
              </a:lnSpc>
              <a:buNone/>
            </a:pPr>
            <a:r>
              <a:rPr lang="en-US" sz="1200" dirty="0">
                <a:solidFill>
                  <a:srgbClr val="1E293B"/>
                </a:solidFill>
                <a:latin typeface="Times New Roman" panose="02020603050405020304" pitchFamily="18" charset="0"/>
                <a:ea typeface="Consolas" pitchFamily="34" charset="-122"/>
                <a:cs typeface="Times New Roman" panose="02020603050405020304" pitchFamily="18" charset="0"/>
              </a:rPr>
              <a:t>spring.datasource.url=jdbc:mysql://localhost/maDB</a:t>
            </a:r>
            <a:endParaRPr lang="en-US" sz="1200" dirty="0">
              <a:latin typeface="Times New Roman" panose="02020603050405020304" pitchFamily="18" charset="0"/>
              <a:cs typeface="Times New Roman" panose="02020603050405020304" pitchFamily="18" charset="0"/>
            </a:endParaRPr>
          </a:p>
          <a:p>
            <a:pPr marL="0" indent="0">
              <a:lnSpc>
                <a:spcPct val="140000"/>
              </a:lnSpc>
              <a:buNone/>
            </a:pPr>
            <a:r>
              <a:rPr lang="en-US" sz="1200" dirty="0">
                <a:solidFill>
                  <a:srgbClr val="1E293B"/>
                </a:solidFill>
                <a:latin typeface="Times New Roman" panose="02020603050405020304" pitchFamily="18" charset="0"/>
                <a:ea typeface="Consolas" pitchFamily="34" charset="-122"/>
                <a:cs typeface="Times New Roman" panose="02020603050405020304" pitchFamily="18" charset="0"/>
              </a:rPr>
              <a:t>spring.datasource.username=root</a:t>
            </a:r>
            <a:endParaRPr lang="en-US" sz="1200" dirty="0">
              <a:latin typeface="Times New Roman" panose="02020603050405020304" pitchFamily="18" charset="0"/>
              <a:cs typeface="Times New Roman" panose="02020603050405020304" pitchFamily="18" charset="0"/>
            </a:endParaRPr>
          </a:p>
          <a:p>
            <a:pPr marL="0" indent="0">
              <a:lnSpc>
                <a:spcPct val="140000"/>
              </a:lnSpc>
              <a:buNone/>
            </a:pPr>
            <a:r>
              <a:rPr lang="en-US" sz="1200" dirty="0">
                <a:solidFill>
                  <a:srgbClr val="1E293B"/>
                </a:solidFill>
                <a:latin typeface="Times New Roman" panose="02020603050405020304" pitchFamily="18" charset="0"/>
                <a:ea typeface="Consolas" pitchFamily="34" charset="-122"/>
                <a:cs typeface="Times New Roman" panose="02020603050405020304" pitchFamily="18" charset="0"/>
              </a:rPr>
              <a:t>spring.datasource.password=secret</a:t>
            </a:r>
            <a:endParaRPr lang="en-US" sz="1200" dirty="0">
              <a:latin typeface="Times New Roman" panose="02020603050405020304" pitchFamily="18" charset="0"/>
              <a:cs typeface="Times New Roman" panose="02020603050405020304" pitchFamily="18" charset="0"/>
            </a:endParaRPr>
          </a:p>
          <a:p>
            <a:pPr marL="0" indent="0">
              <a:lnSpc>
                <a:spcPct val="140000"/>
              </a:lnSpc>
              <a:buNone/>
            </a:pPr>
            <a:r>
              <a:rPr lang="en-US" sz="1200" dirty="0">
                <a:solidFill>
                  <a:srgbClr val="1E293B"/>
                </a:solidFill>
                <a:latin typeface="Times New Roman" panose="02020603050405020304" pitchFamily="18" charset="0"/>
                <a:ea typeface="Consolas" pitchFamily="34" charset="-122"/>
                <a:cs typeface="Times New Roman" panose="02020603050405020304" pitchFamily="18" charset="0"/>
              </a:rPr>
              <a:t>spring.jpa.hibernate.ddl-auto=update</a:t>
            </a:r>
            <a:endParaRPr lang="en-US" sz="1200" dirty="0">
              <a:latin typeface="Times New Roman" panose="02020603050405020304" pitchFamily="18" charset="0"/>
              <a:cs typeface="Times New Roman" panose="02020603050405020304" pitchFamily="18" charset="0"/>
            </a:endParaRPr>
          </a:p>
          <a:p>
            <a:pPr marL="0" indent="0">
              <a:lnSpc>
                <a:spcPct val="140000"/>
              </a:lnSpc>
              <a:buNone/>
            </a:pPr>
            <a:r>
              <a:rPr lang="en-US" sz="1200" dirty="0">
                <a:solidFill>
                  <a:srgbClr val="1E293B"/>
                </a:solidFill>
                <a:latin typeface="Times New Roman" panose="02020603050405020304" pitchFamily="18" charset="0"/>
                <a:ea typeface="Consolas" pitchFamily="34" charset="-122"/>
                <a:cs typeface="Times New Roman" panose="02020603050405020304" pitchFamily="18" charset="0"/>
              </a:rPr>
              <a:t>spring.jpa.show-sql=true</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171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noProof="0" dirty="0" smtClean="0">
                <a:solidFill>
                  <a:srgbClr val="FF0000"/>
                </a:solidFill>
              </a:rPr>
              <a:t>VI. LES </a:t>
            </a:r>
            <a:r>
              <a:rPr lang="fr-CI" sz="2400" noProof="0" dirty="0" smtClean="0">
                <a:solidFill>
                  <a:srgbClr val="FF0000"/>
                </a:solidFill>
              </a:rPr>
              <a:t>OPERATIONS CRUD</a:t>
            </a:r>
            <a:endParaRPr lang="fr-CI" sz="2400" noProof="0" dirty="0">
              <a:solidFill>
                <a:srgbClr val="FF0000"/>
              </a:solidFill>
            </a:endParaRPr>
          </a:p>
        </p:txBody>
      </p:sp>
      <p:pic>
        <p:nvPicPr>
          <p:cNvPr id="5" name="Image 1">
            <a:extLst>
              <a:ext uri="{FF2B5EF4-FFF2-40B4-BE49-F238E27FC236}">
                <a16:creationId xmlns:a16="http://schemas.microsoft.com/office/drawing/2014/main" id="{682E9ABF-7911-FEB6-EAD2-1310D09FD2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00E8C2E9-2E74-4B73-1EE7-440BC8106AE7}"/>
              </a:ext>
            </a:extLst>
          </p:cNvPr>
          <p:cNvPicPr/>
          <p:nvPr/>
        </p:nvPicPr>
        <p:blipFill>
          <a:blip r:embed="rId4"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
        <p:nvSpPr>
          <p:cNvPr id="6" name="Text 1"/>
          <p:cNvSpPr/>
          <p:nvPr/>
        </p:nvSpPr>
        <p:spPr>
          <a:xfrm>
            <a:off x="365760" y="857250"/>
            <a:ext cx="8412480" cy="777240"/>
          </a:xfrm>
          <a:prstGeom prst="rect">
            <a:avLst/>
          </a:prstGeom>
          <a:noFill/>
          <a:ln/>
        </p:spPr>
        <p:txBody>
          <a:bodyPr wrap="square" rtlCol="0" anchor="ctr"/>
          <a:lstStyle/>
          <a:p>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EntityManager — Opérations CRUD</a:t>
            </a:r>
            <a:endParaRPr lang="en-US" dirty="0">
              <a:latin typeface="Times New Roman" panose="02020603050405020304" pitchFamily="18" charset="0"/>
              <a:cs typeface="Times New Roman" panose="02020603050405020304" pitchFamily="18" charset="0"/>
            </a:endParaRPr>
          </a:p>
        </p:txBody>
      </p:sp>
      <p:sp>
        <p:nvSpPr>
          <p:cNvPr id="7" name="Text 2"/>
          <p:cNvSpPr/>
          <p:nvPr/>
        </p:nvSpPr>
        <p:spPr>
          <a:xfrm>
            <a:off x="365760" y="857250"/>
            <a:ext cx="8412480" cy="1234440"/>
          </a:xfrm>
          <a:prstGeom prst="rect">
            <a:avLst/>
          </a:prstGeom>
          <a:noFill/>
          <a:ln/>
        </p:spPr>
        <p:txBody>
          <a:bodyPr wrap="square" rtlCol="0" anchor="ctr"/>
          <a:lstStyle/>
          <a:p>
            <a:pPr algn="just"/>
            <a:r>
              <a:rPr lang="en-US" dirty="0">
                <a:solidFill>
                  <a:srgbClr val="0D2B55"/>
                </a:solidFill>
                <a:latin typeface="Times New Roman" panose="02020603050405020304" pitchFamily="18" charset="0"/>
                <a:ea typeface="Calibri" pitchFamily="34" charset="-122"/>
                <a:cs typeface="Times New Roman" panose="02020603050405020304" pitchFamily="18" charset="0"/>
              </a:rPr>
              <a:t>L'EntityManager est l'objet central de JPA. Il gère toutes les interactions avec la base de données.</a:t>
            </a:r>
            <a:endParaRPr lang="en-US" dirty="0">
              <a:latin typeface="Times New Roman" panose="02020603050405020304" pitchFamily="18" charset="0"/>
              <a:cs typeface="Times New Roman" panose="02020603050405020304" pitchFamily="18" charset="0"/>
            </a:endParaRPr>
          </a:p>
        </p:txBody>
      </p:sp>
      <p:sp>
        <p:nvSpPr>
          <p:cNvPr id="8" name="Shape 3"/>
          <p:cNvSpPr/>
          <p:nvPr/>
        </p:nvSpPr>
        <p:spPr>
          <a:xfrm>
            <a:off x="365760" y="2228850"/>
            <a:ext cx="1280160" cy="640080"/>
          </a:xfrm>
          <a:prstGeom prst="rect">
            <a:avLst/>
          </a:prstGeom>
          <a:solidFill>
            <a:srgbClr val="27AE60"/>
          </a:solidFill>
          <a:ln w="12700">
            <a:solidFill>
              <a:srgbClr val="27AE60"/>
            </a:solidFill>
            <a:prstDash val="solid"/>
          </a:ln>
        </p:spPr>
      </p:sp>
      <p:sp>
        <p:nvSpPr>
          <p:cNvPr id="9" name="Text 4"/>
          <p:cNvSpPr/>
          <p:nvPr/>
        </p:nvSpPr>
        <p:spPr>
          <a:xfrm>
            <a:off x="365760" y="2228850"/>
            <a:ext cx="1280160" cy="64008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CREATE</a:t>
            </a:r>
            <a:endParaRPr lang="en-US" dirty="0">
              <a:latin typeface="Times New Roman" panose="02020603050405020304" pitchFamily="18" charset="0"/>
              <a:cs typeface="Times New Roman" panose="02020603050405020304" pitchFamily="18" charset="0"/>
            </a:endParaRPr>
          </a:p>
        </p:txBody>
      </p:sp>
      <p:sp>
        <p:nvSpPr>
          <p:cNvPr id="10" name="Shape 5"/>
          <p:cNvSpPr/>
          <p:nvPr/>
        </p:nvSpPr>
        <p:spPr>
          <a:xfrm>
            <a:off x="1737360" y="2228850"/>
            <a:ext cx="4114800" cy="640080"/>
          </a:xfrm>
          <a:prstGeom prst="rect">
            <a:avLst/>
          </a:prstGeom>
          <a:solidFill>
            <a:srgbClr val="1E2D3D"/>
          </a:solidFill>
          <a:ln w="12700">
            <a:solidFill>
              <a:srgbClr val="1E2D3D"/>
            </a:solidFill>
            <a:prstDash val="solid"/>
          </a:ln>
        </p:spPr>
      </p:sp>
      <p:sp>
        <p:nvSpPr>
          <p:cNvPr id="11" name="Text 6"/>
          <p:cNvSpPr/>
          <p:nvPr/>
        </p:nvSpPr>
        <p:spPr>
          <a:xfrm>
            <a:off x="1828800" y="2228850"/>
            <a:ext cx="3931920" cy="640080"/>
          </a:xfrm>
          <a:prstGeom prst="rect">
            <a:avLst/>
          </a:prstGeom>
          <a:noFill/>
          <a:ln/>
        </p:spPr>
        <p:txBody>
          <a:bodyPr wrap="square" rtlCol="0" anchor="ctr"/>
          <a:lstStyle/>
          <a:p>
            <a:r>
              <a:rPr lang="en-US" dirty="0">
                <a:solidFill>
                  <a:srgbClr val="4FC1E9"/>
                </a:solidFill>
                <a:latin typeface="Times New Roman" panose="02020603050405020304" pitchFamily="18" charset="0"/>
                <a:ea typeface="Consolas" pitchFamily="34" charset="-122"/>
                <a:cs typeface="Times New Roman" panose="02020603050405020304" pitchFamily="18" charset="0"/>
              </a:rPr>
              <a:t>em.persist(objet)</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5989320" y="2228850"/>
            <a:ext cx="2834640" cy="640080"/>
          </a:xfrm>
          <a:prstGeom prst="rect">
            <a:avLst/>
          </a:prstGeom>
          <a:noFill/>
          <a:ln/>
        </p:spPr>
        <p:txBody>
          <a:bodyPr wrap="square" rtlCol="0" anchor="ctr"/>
          <a:lstStyle/>
          <a:p>
            <a:r>
              <a:rPr lang="en-US" dirty="0">
                <a:solidFill>
                  <a:srgbClr val="0D2B55"/>
                </a:solidFill>
                <a:latin typeface="Times New Roman" panose="02020603050405020304" pitchFamily="18" charset="0"/>
                <a:ea typeface="Calibri" pitchFamily="34" charset="-122"/>
                <a:cs typeface="Times New Roman" panose="02020603050405020304" pitchFamily="18" charset="0"/>
              </a:rPr>
              <a:t>Insère un nouvel objet en BDD</a:t>
            </a:r>
            <a:endParaRPr lang="en-US" dirty="0">
              <a:latin typeface="Times New Roman" panose="02020603050405020304" pitchFamily="18" charset="0"/>
              <a:cs typeface="Times New Roman" panose="02020603050405020304" pitchFamily="18" charset="0"/>
            </a:endParaRPr>
          </a:p>
        </p:txBody>
      </p:sp>
      <p:sp>
        <p:nvSpPr>
          <p:cNvPr id="13" name="Shape 8"/>
          <p:cNvSpPr/>
          <p:nvPr/>
        </p:nvSpPr>
        <p:spPr>
          <a:xfrm>
            <a:off x="365760" y="3143250"/>
            <a:ext cx="1280160" cy="640080"/>
          </a:xfrm>
          <a:prstGeom prst="rect">
            <a:avLst/>
          </a:prstGeom>
          <a:solidFill>
            <a:srgbClr val="1ABC9C"/>
          </a:solidFill>
          <a:ln w="12700">
            <a:solidFill>
              <a:srgbClr val="1ABC9C"/>
            </a:solidFill>
            <a:prstDash val="solid"/>
          </a:ln>
        </p:spPr>
      </p:sp>
      <p:sp>
        <p:nvSpPr>
          <p:cNvPr id="14" name="Text 9"/>
          <p:cNvSpPr/>
          <p:nvPr/>
        </p:nvSpPr>
        <p:spPr>
          <a:xfrm>
            <a:off x="365760" y="3143250"/>
            <a:ext cx="1280160" cy="64008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READ</a:t>
            </a:r>
            <a:endParaRPr lang="en-US" dirty="0">
              <a:latin typeface="Times New Roman" panose="02020603050405020304" pitchFamily="18" charset="0"/>
              <a:cs typeface="Times New Roman" panose="02020603050405020304" pitchFamily="18" charset="0"/>
            </a:endParaRPr>
          </a:p>
        </p:txBody>
      </p:sp>
      <p:sp>
        <p:nvSpPr>
          <p:cNvPr id="15" name="Shape 10"/>
          <p:cNvSpPr/>
          <p:nvPr/>
        </p:nvSpPr>
        <p:spPr>
          <a:xfrm>
            <a:off x="1737360" y="3143250"/>
            <a:ext cx="4114800" cy="640080"/>
          </a:xfrm>
          <a:prstGeom prst="rect">
            <a:avLst/>
          </a:prstGeom>
          <a:solidFill>
            <a:srgbClr val="1E2D3D"/>
          </a:solidFill>
          <a:ln w="12700">
            <a:solidFill>
              <a:srgbClr val="1E2D3D"/>
            </a:solidFill>
            <a:prstDash val="solid"/>
          </a:ln>
        </p:spPr>
      </p:sp>
      <p:sp>
        <p:nvSpPr>
          <p:cNvPr id="16" name="Text 11"/>
          <p:cNvSpPr/>
          <p:nvPr/>
        </p:nvSpPr>
        <p:spPr>
          <a:xfrm>
            <a:off x="1828800" y="3143250"/>
            <a:ext cx="3931920" cy="640080"/>
          </a:xfrm>
          <a:prstGeom prst="rect">
            <a:avLst/>
          </a:prstGeom>
          <a:noFill/>
          <a:ln/>
        </p:spPr>
        <p:txBody>
          <a:bodyPr wrap="square" rtlCol="0" anchor="ctr"/>
          <a:lstStyle/>
          <a:p>
            <a:r>
              <a:rPr lang="en-US" dirty="0">
                <a:solidFill>
                  <a:srgbClr val="4FC1E9"/>
                </a:solidFill>
                <a:latin typeface="Times New Roman" panose="02020603050405020304" pitchFamily="18" charset="0"/>
                <a:ea typeface="Consolas" pitchFamily="34" charset="-122"/>
                <a:cs typeface="Times New Roman" panose="02020603050405020304" pitchFamily="18" charset="0"/>
              </a:rPr>
              <a:t>em.find(Classe.class, id)</a:t>
            </a:r>
            <a:endParaRPr lang="en-US" dirty="0">
              <a:latin typeface="Times New Roman" panose="02020603050405020304" pitchFamily="18" charset="0"/>
              <a:cs typeface="Times New Roman" panose="02020603050405020304" pitchFamily="18" charset="0"/>
            </a:endParaRPr>
          </a:p>
        </p:txBody>
      </p:sp>
      <p:sp>
        <p:nvSpPr>
          <p:cNvPr id="17" name="Text 12"/>
          <p:cNvSpPr/>
          <p:nvPr/>
        </p:nvSpPr>
        <p:spPr>
          <a:xfrm>
            <a:off x="5989320" y="3143250"/>
            <a:ext cx="2834640" cy="640080"/>
          </a:xfrm>
          <a:prstGeom prst="rect">
            <a:avLst/>
          </a:prstGeom>
          <a:noFill/>
          <a:ln/>
        </p:spPr>
        <p:txBody>
          <a:bodyPr wrap="square" rtlCol="0" anchor="ctr"/>
          <a:lstStyle/>
          <a:p>
            <a:r>
              <a:rPr lang="en-US" dirty="0">
                <a:solidFill>
                  <a:srgbClr val="0D2B55"/>
                </a:solidFill>
                <a:latin typeface="Times New Roman" panose="02020603050405020304" pitchFamily="18" charset="0"/>
                <a:ea typeface="Calibri" pitchFamily="34" charset="-122"/>
                <a:cs typeface="Times New Roman" panose="02020603050405020304" pitchFamily="18" charset="0"/>
              </a:rPr>
              <a:t>Récupère un objet par son ID</a:t>
            </a:r>
            <a:endParaRPr lang="en-US" dirty="0">
              <a:latin typeface="Times New Roman" panose="02020603050405020304" pitchFamily="18" charset="0"/>
              <a:cs typeface="Times New Roman" panose="02020603050405020304" pitchFamily="18" charset="0"/>
            </a:endParaRPr>
          </a:p>
        </p:txBody>
      </p:sp>
      <p:sp>
        <p:nvSpPr>
          <p:cNvPr id="18" name="Shape 13"/>
          <p:cNvSpPr/>
          <p:nvPr/>
        </p:nvSpPr>
        <p:spPr>
          <a:xfrm>
            <a:off x="365760" y="4057650"/>
            <a:ext cx="1280160" cy="640080"/>
          </a:xfrm>
          <a:prstGeom prst="rect">
            <a:avLst/>
          </a:prstGeom>
          <a:solidFill>
            <a:srgbClr val="F39C12"/>
          </a:solidFill>
          <a:ln w="12700">
            <a:solidFill>
              <a:srgbClr val="F39C12"/>
            </a:solidFill>
            <a:prstDash val="solid"/>
          </a:ln>
        </p:spPr>
      </p:sp>
      <p:sp>
        <p:nvSpPr>
          <p:cNvPr id="19" name="Text 14"/>
          <p:cNvSpPr/>
          <p:nvPr/>
        </p:nvSpPr>
        <p:spPr>
          <a:xfrm>
            <a:off x="365760" y="4057650"/>
            <a:ext cx="1280160" cy="64008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UPDATE</a:t>
            </a:r>
            <a:endParaRPr lang="en-US" dirty="0">
              <a:latin typeface="Times New Roman" panose="02020603050405020304" pitchFamily="18" charset="0"/>
              <a:cs typeface="Times New Roman" panose="02020603050405020304" pitchFamily="18" charset="0"/>
            </a:endParaRPr>
          </a:p>
        </p:txBody>
      </p:sp>
      <p:sp>
        <p:nvSpPr>
          <p:cNvPr id="20" name="Shape 15"/>
          <p:cNvSpPr/>
          <p:nvPr/>
        </p:nvSpPr>
        <p:spPr>
          <a:xfrm>
            <a:off x="1737360" y="4057650"/>
            <a:ext cx="4114800" cy="640080"/>
          </a:xfrm>
          <a:prstGeom prst="rect">
            <a:avLst/>
          </a:prstGeom>
          <a:solidFill>
            <a:srgbClr val="1E2D3D"/>
          </a:solidFill>
          <a:ln w="12700">
            <a:solidFill>
              <a:srgbClr val="1E2D3D"/>
            </a:solidFill>
            <a:prstDash val="solid"/>
          </a:ln>
        </p:spPr>
      </p:sp>
      <p:sp>
        <p:nvSpPr>
          <p:cNvPr id="21" name="Text 16"/>
          <p:cNvSpPr/>
          <p:nvPr/>
        </p:nvSpPr>
        <p:spPr>
          <a:xfrm>
            <a:off x="1828800" y="4057650"/>
            <a:ext cx="3931920" cy="640080"/>
          </a:xfrm>
          <a:prstGeom prst="rect">
            <a:avLst/>
          </a:prstGeom>
          <a:noFill/>
          <a:ln/>
        </p:spPr>
        <p:txBody>
          <a:bodyPr wrap="square" rtlCol="0" anchor="ctr"/>
          <a:lstStyle/>
          <a:p>
            <a:r>
              <a:rPr lang="en-US" dirty="0">
                <a:solidFill>
                  <a:srgbClr val="4FC1E9"/>
                </a:solidFill>
                <a:latin typeface="Times New Roman" panose="02020603050405020304" pitchFamily="18" charset="0"/>
                <a:ea typeface="Consolas" pitchFamily="34" charset="-122"/>
                <a:cs typeface="Times New Roman" panose="02020603050405020304" pitchFamily="18" charset="0"/>
              </a:rPr>
              <a:t>em.merge(objet)</a:t>
            </a:r>
            <a:endParaRPr lang="en-US" dirty="0">
              <a:latin typeface="Times New Roman" panose="02020603050405020304" pitchFamily="18" charset="0"/>
              <a:cs typeface="Times New Roman" panose="02020603050405020304" pitchFamily="18" charset="0"/>
            </a:endParaRPr>
          </a:p>
        </p:txBody>
      </p:sp>
      <p:sp>
        <p:nvSpPr>
          <p:cNvPr id="22" name="Text 17"/>
          <p:cNvSpPr/>
          <p:nvPr/>
        </p:nvSpPr>
        <p:spPr>
          <a:xfrm>
            <a:off x="5989320" y="4057650"/>
            <a:ext cx="2834640" cy="640080"/>
          </a:xfrm>
          <a:prstGeom prst="rect">
            <a:avLst/>
          </a:prstGeom>
          <a:noFill/>
          <a:ln/>
        </p:spPr>
        <p:txBody>
          <a:bodyPr wrap="square" rtlCol="0" anchor="ctr"/>
          <a:lstStyle/>
          <a:p>
            <a:r>
              <a:rPr lang="en-US" dirty="0">
                <a:solidFill>
                  <a:srgbClr val="0D2B55"/>
                </a:solidFill>
                <a:latin typeface="Times New Roman" panose="02020603050405020304" pitchFamily="18" charset="0"/>
                <a:ea typeface="Calibri" pitchFamily="34" charset="-122"/>
                <a:cs typeface="Times New Roman" panose="02020603050405020304" pitchFamily="18" charset="0"/>
              </a:rPr>
              <a:t>Met à jour un objet existant</a:t>
            </a:r>
            <a:endParaRPr lang="en-US" dirty="0">
              <a:latin typeface="Times New Roman" panose="02020603050405020304" pitchFamily="18" charset="0"/>
              <a:cs typeface="Times New Roman" panose="02020603050405020304" pitchFamily="18" charset="0"/>
            </a:endParaRPr>
          </a:p>
        </p:txBody>
      </p:sp>
      <p:sp>
        <p:nvSpPr>
          <p:cNvPr id="23" name="Shape 18"/>
          <p:cNvSpPr/>
          <p:nvPr/>
        </p:nvSpPr>
        <p:spPr>
          <a:xfrm>
            <a:off x="365760" y="4972050"/>
            <a:ext cx="1280160" cy="640080"/>
          </a:xfrm>
          <a:prstGeom prst="rect">
            <a:avLst/>
          </a:prstGeom>
          <a:solidFill>
            <a:srgbClr val="E74C3C"/>
          </a:solidFill>
          <a:ln w="12700">
            <a:solidFill>
              <a:srgbClr val="E74C3C"/>
            </a:solidFill>
            <a:prstDash val="solid"/>
          </a:ln>
        </p:spPr>
      </p:sp>
      <p:sp>
        <p:nvSpPr>
          <p:cNvPr id="24" name="Text 19"/>
          <p:cNvSpPr/>
          <p:nvPr/>
        </p:nvSpPr>
        <p:spPr>
          <a:xfrm>
            <a:off x="365760" y="4972050"/>
            <a:ext cx="1280160" cy="640080"/>
          </a:xfrm>
          <a:prstGeom prst="rect">
            <a:avLst/>
          </a:prstGeom>
          <a:noFill/>
          <a:ln/>
        </p:spPr>
        <p:txBody>
          <a:bodyPr wrap="square" rtlCol="0" anchor="ctr"/>
          <a:lstStyle/>
          <a:p>
            <a:pPr algn="ct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DELETE</a:t>
            </a:r>
            <a:endParaRPr lang="en-US" dirty="0">
              <a:latin typeface="Times New Roman" panose="02020603050405020304" pitchFamily="18" charset="0"/>
              <a:cs typeface="Times New Roman" panose="02020603050405020304" pitchFamily="18" charset="0"/>
            </a:endParaRPr>
          </a:p>
        </p:txBody>
      </p:sp>
      <p:sp>
        <p:nvSpPr>
          <p:cNvPr id="25" name="Shape 20"/>
          <p:cNvSpPr/>
          <p:nvPr/>
        </p:nvSpPr>
        <p:spPr>
          <a:xfrm>
            <a:off x="1737360" y="4972050"/>
            <a:ext cx="4114800" cy="640080"/>
          </a:xfrm>
          <a:prstGeom prst="rect">
            <a:avLst/>
          </a:prstGeom>
          <a:solidFill>
            <a:srgbClr val="1E2D3D"/>
          </a:solidFill>
          <a:ln w="12700">
            <a:solidFill>
              <a:srgbClr val="1E2D3D"/>
            </a:solidFill>
            <a:prstDash val="solid"/>
          </a:ln>
        </p:spPr>
      </p:sp>
      <p:sp>
        <p:nvSpPr>
          <p:cNvPr id="26" name="Text 21"/>
          <p:cNvSpPr/>
          <p:nvPr/>
        </p:nvSpPr>
        <p:spPr>
          <a:xfrm>
            <a:off x="1828800" y="4972050"/>
            <a:ext cx="3931920" cy="640080"/>
          </a:xfrm>
          <a:prstGeom prst="rect">
            <a:avLst/>
          </a:prstGeom>
          <a:noFill/>
          <a:ln/>
        </p:spPr>
        <p:txBody>
          <a:bodyPr wrap="square" rtlCol="0" anchor="ctr"/>
          <a:lstStyle/>
          <a:p>
            <a:r>
              <a:rPr lang="en-US" dirty="0">
                <a:solidFill>
                  <a:srgbClr val="4FC1E9"/>
                </a:solidFill>
                <a:latin typeface="Times New Roman" panose="02020603050405020304" pitchFamily="18" charset="0"/>
                <a:ea typeface="Consolas" pitchFamily="34" charset="-122"/>
                <a:cs typeface="Times New Roman" panose="02020603050405020304" pitchFamily="18" charset="0"/>
              </a:rPr>
              <a:t>em.remove(objet)</a:t>
            </a:r>
            <a:endParaRPr lang="en-US" dirty="0">
              <a:latin typeface="Times New Roman" panose="02020603050405020304" pitchFamily="18" charset="0"/>
              <a:cs typeface="Times New Roman" panose="02020603050405020304" pitchFamily="18" charset="0"/>
            </a:endParaRPr>
          </a:p>
        </p:txBody>
      </p:sp>
      <p:sp>
        <p:nvSpPr>
          <p:cNvPr id="27" name="Text 22"/>
          <p:cNvSpPr/>
          <p:nvPr/>
        </p:nvSpPr>
        <p:spPr>
          <a:xfrm>
            <a:off x="5989320" y="4972050"/>
            <a:ext cx="2834640" cy="640080"/>
          </a:xfrm>
          <a:prstGeom prst="rect">
            <a:avLst/>
          </a:prstGeom>
          <a:noFill/>
          <a:ln/>
        </p:spPr>
        <p:txBody>
          <a:bodyPr wrap="square" rtlCol="0" anchor="ctr"/>
          <a:lstStyle/>
          <a:p>
            <a:r>
              <a:rPr lang="en-US" dirty="0">
                <a:solidFill>
                  <a:srgbClr val="0D2B55"/>
                </a:solidFill>
                <a:latin typeface="Times New Roman" panose="02020603050405020304" pitchFamily="18" charset="0"/>
                <a:ea typeface="Calibri" pitchFamily="34" charset="-122"/>
                <a:cs typeface="Times New Roman" panose="02020603050405020304" pitchFamily="18" charset="0"/>
              </a:rPr>
              <a:t>Supprime un objet de la BDD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4866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re 3">
            <a:extLst>
              <a:ext uri="{FF2B5EF4-FFF2-40B4-BE49-F238E27FC236}">
                <a16:creationId xmlns:a16="http://schemas.microsoft.com/office/drawing/2014/main" id="{FD2745D9-D935-5DCC-A026-8C0361F73C9F}"/>
              </a:ext>
            </a:extLst>
          </p:cNvPr>
          <p:cNvSpPr>
            <a:spLocks noGrp="1"/>
          </p:cNvSpPr>
          <p:nvPr>
            <p:ph type="title"/>
          </p:nvPr>
        </p:nvSpPr>
        <p:spPr/>
        <p:txBody>
          <a:bodyPr/>
          <a:lstStyle/>
          <a:p>
            <a:r>
              <a:rPr lang="fr-CI" sz="2400" noProof="0" dirty="0" smtClean="0">
                <a:solidFill>
                  <a:srgbClr val="FF0000"/>
                </a:solidFill>
              </a:rPr>
              <a:t>VI. LES </a:t>
            </a:r>
            <a:r>
              <a:rPr lang="fr-CI" sz="2400" noProof="0" dirty="0" smtClean="0">
                <a:solidFill>
                  <a:srgbClr val="FF0000"/>
                </a:solidFill>
              </a:rPr>
              <a:t>OPERATIONS CRUD</a:t>
            </a:r>
            <a:endParaRPr lang="fr-CI" sz="2400" noProof="0" dirty="0">
              <a:solidFill>
                <a:srgbClr val="FF0000"/>
              </a:solidFill>
            </a:endParaRPr>
          </a:p>
        </p:txBody>
      </p:sp>
      <p:sp>
        <p:nvSpPr>
          <p:cNvPr id="15" name="ZoneTexte 14"/>
          <p:cNvSpPr txBox="1"/>
          <p:nvPr/>
        </p:nvSpPr>
        <p:spPr>
          <a:xfrm>
            <a:off x="467544" y="1052736"/>
            <a:ext cx="8280920" cy="1477328"/>
          </a:xfrm>
          <a:prstGeom prst="rect">
            <a:avLst/>
          </a:prstGeom>
          <a:noFill/>
        </p:spPr>
        <p:txBody>
          <a:bodyPr wrap="square" rtlCol="0">
            <a:spAutoFit/>
          </a:bodyPr>
          <a:lstStyle/>
          <a:p>
            <a:pPr marL="285750" indent="-285750">
              <a:buFont typeface="Courier New" panose="02070309020205020404" pitchFamily="49" charset="0"/>
              <a:buChar char="o"/>
            </a:pPr>
            <a:r>
              <a:rPr lang="fr-FR" b="1" dirty="0" smtClean="0">
                <a:latin typeface="Times New Roman" panose="02020603050405020304" pitchFamily="18" charset="0"/>
                <a:cs typeface="Times New Roman" panose="02020603050405020304" pitchFamily="18" charset="0"/>
              </a:rPr>
              <a:t>Exemple complet CRUD avec JPA </a:t>
            </a:r>
          </a:p>
          <a:p>
            <a:pPr marL="285750" indent="-285750">
              <a:buFont typeface="Courier New" panose="02070309020205020404" pitchFamily="49" charset="0"/>
              <a:buChar char="o"/>
            </a:pPr>
            <a:endParaRPr lang="fr-FR" b="1" dirty="0">
              <a:latin typeface="Times New Roman" panose="02020603050405020304" pitchFamily="18" charset="0"/>
              <a:cs typeface="Times New Roman" panose="02020603050405020304" pitchFamily="18" charset="0"/>
            </a:endParaRPr>
          </a:p>
          <a:p>
            <a:endParaRPr lang="fr-FR" b="1" dirty="0" smtClean="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endParaRPr lang="fr-FR" b="1" dirty="0">
              <a:latin typeface="Times New Roman" panose="02020603050405020304" pitchFamily="18" charset="0"/>
              <a:cs typeface="Times New Roman" panose="02020603050405020304" pitchFamily="18" charset="0"/>
            </a:endParaRPr>
          </a:p>
          <a:p>
            <a:endParaRPr lang="fr-FR" b="1" dirty="0">
              <a:latin typeface="Times New Roman" panose="02020603050405020304" pitchFamily="18" charset="0"/>
              <a:cs typeface="Times New Roman" panose="02020603050405020304" pitchFamily="18" charset="0"/>
            </a:endParaRPr>
          </a:p>
        </p:txBody>
      </p:sp>
      <p:sp>
        <p:nvSpPr>
          <p:cNvPr id="16" name="Text 2"/>
          <p:cNvSpPr/>
          <p:nvPr/>
        </p:nvSpPr>
        <p:spPr>
          <a:xfrm>
            <a:off x="320040" y="1634490"/>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EntityManagerFactory emf =</a:t>
            </a:r>
            <a:endParaRPr lang="en-US" b="1" dirty="0">
              <a:latin typeface="Times New Roman" panose="02020603050405020304" pitchFamily="18" charset="0"/>
              <a:cs typeface="Times New Roman" panose="02020603050405020304" pitchFamily="18" charset="0"/>
            </a:endParaRPr>
          </a:p>
        </p:txBody>
      </p:sp>
      <p:sp>
        <p:nvSpPr>
          <p:cNvPr id="17" name="Text 3"/>
          <p:cNvSpPr/>
          <p:nvPr/>
        </p:nvSpPr>
        <p:spPr>
          <a:xfrm>
            <a:off x="320040" y="1812798"/>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    Persistence.createEntityManagerFactory("maPersistUnit");</a:t>
            </a:r>
            <a:endParaRPr lang="en-US" b="1" dirty="0">
              <a:latin typeface="Times New Roman" panose="02020603050405020304" pitchFamily="18" charset="0"/>
              <a:cs typeface="Times New Roman" panose="02020603050405020304" pitchFamily="18" charset="0"/>
            </a:endParaRPr>
          </a:p>
        </p:txBody>
      </p:sp>
      <p:sp>
        <p:nvSpPr>
          <p:cNvPr id="18" name="Text 4"/>
          <p:cNvSpPr/>
          <p:nvPr/>
        </p:nvSpPr>
        <p:spPr>
          <a:xfrm>
            <a:off x="320040" y="1991106"/>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EntityManager em = emf.createEntityManager();</a:t>
            </a:r>
            <a:endParaRPr lang="en-US" b="1" dirty="0">
              <a:latin typeface="Times New Roman" panose="02020603050405020304" pitchFamily="18" charset="0"/>
              <a:cs typeface="Times New Roman" panose="02020603050405020304" pitchFamily="18" charset="0"/>
            </a:endParaRPr>
          </a:p>
        </p:txBody>
      </p:sp>
      <p:sp>
        <p:nvSpPr>
          <p:cNvPr id="19" name="Text 5"/>
          <p:cNvSpPr/>
          <p:nvPr/>
        </p:nvSpPr>
        <p:spPr>
          <a:xfrm>
            <a:off x="320040" y="2169414"/>
            <a:ext cx="8503920" cy="192024"/>
          </a:xfrm>
          <a:prstGeom prst="rect">
            <a:avLst/>
          </a:prstGeom>
          <a:noFill/>
          <a:ln/>
        </p:spPr>
        <p:txBody>
          <a:bodyPr wrap="square" rtlCol="0" anchor="ctr"/>
          <a:lstStyle/>
          <a:p>
            <a:pPr algn="just"/>
            <a:endParaRPr lang="en-US" b="1" dirty="0">
              <a:latin typeface="Times New Roman" panose="02020603050405020304" pitchFamily="18" charset="0"/>
              <a:cs typeface="Times New Roman" panose="02020603050405020304" pitchFamily="18" charset="0"/>
            </a:endParaRPr>
          </a:p>
        </p:txBody>
      </p:sp>
      <p:sp>
        <p:nvSpPr>
          <p:cNvPr id="20" name="Text 6"/>
          <p:cNvSpPr/>
          <p:nvPr/>
        </p:nvSpPr>
        <p:spPr>
          <a:xfrm>
            <a:off x="320040" y="2280213"/>
            <a:ext cx="8503920" cy="192024"/>
          </a:xfrm>
          <a:prstGeom prst="rect">
            <a:avLst/>
          </a:prstGeom>
          <a:noFill/>
          <a:ln/>
        </p:spPr>
        <p:txBody>
          <a:bodyPr wrap="square" rtlCol="0" anchor="ctr"/>
          <a:lstStyle/>
          <a:p>
            <a:pPr algn="just"/>
            <a:r>
              <a:rPr lang="en-US" b="1" dirty="0" smtClean="0">
                <a:latin typeface="Times New Roman" panose="02020603050405020304" pitchFamily="18" charset="0"/>
                <a:ea typeface="Consolas" pitchFamily="34" charset="-122"/>
                <a:cs typeface="Times New Roman" panose="02020603050405020304" pitchFamily="18" charset="0"/>
              </a:rPr>
              <a:t>// CREATE — </a:t>
            </a:r>
            <a:r>
              <a:rPr lang="en-US" b="1" dirty="0" err="1" smtClean="0">
                <a:latin typeface="Times New Roman" panose="02020603050405020304" pitchFamily="18" charset="0"/>
                <a:ea typeface="Consolas" pitchFamily="34" charset="-122"/>
                <a:cs typeface="Times New Roman" panose="02020603050405020304" pitchFamily="18" charset="0"/>
              </a:rPr>
              <a:t>Ajouter</a:t>
            </a:r>
            <a:r>
              <a:rPr lang="en-US" b="1" dirty="0" smtClean="0">
                <a:latin typeface="Times New Roman" panose="02020603050405020304" pitchFamily="18" charset="0"/>
                <a:ea typeface="Consolas" pitchFamily="34" charset="-122"/>
                <a:cs typeface="Times New Roman" panose="02020603050405020304" pitchFamily="18" charset="0"/>
              </a:rPr>
              <a:t> un </a:t>
            </a:r>
            <a:r>
              <a:rPr lang="en-US" b="1" dirty="0" err="1" smtClean="0">
                <a:latin typeface="Times New Roman" panose="02020603050405020304" pitchFamily="18" charset="0"/>
                <a:ea typeface="Consolas" pitchFamily="34" charset="-122"/>
                <a:cs typeface="Times New Roman" panose="02020603050405020304" pitchFamily="18" charset="0"/>
              </a:rPr>
              <a:t>étudiant</a:t>
            </a:r>
            <a:endParaRPr lang="en-US" b="1" dirty="0">
              <a:latin typeface="Times New Roman" panose="02020603050405020304" pitchFamily="18" charset="0"/>
              <a:cs typeface="Times New Roman" panose="02020603050405020304" pitchFamily="18" charset="0"/>
            </a:endParaRPr>
          </a:p>
        </p:txBody>
      </p:sp>
      <p:sp>
        <p:nvSpPr>
          <p:cNvPr id="21" name="Text 7"/>
          <p:cNvSpPr/>
          <p:nvPr/>
        </p:nvSpPr>
        <p:spPr>
          <a:xfrm>
            <a:off x="320040" y="2526030"/>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em.getTransaction().begin();</a:t>
            </a:r>
            <a:endParaRPr lang="en-US" b="1" dirty="0">
              <a:latin typeface="Times New Roman" panose="02020603050405020304" pitchFamily="18" charset="0"/>
              <a:cs typeface="Times New Roman" panose="02020603050405020304" pitchFamily="18" charset="0"/>
            </a:endParaRPr>
          </a:p>
        </p:txBody>
      </p:sp>
      <p:sp>
        <p:nvSpPr>
          <p:cNvPr id="22" name="Text 8"/>
          <p:cNvSpPr/>
          <p:nvPr/>
        </p:nvSpPr>
        <p:spPr>
          <a:xfrm>
            <a:off x="320040" y="2704338"/>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Etudiant e = new Etudiant();</a:t>
            </a:r>
            <a:endParaRPr lang="en-US" b="1" dirty="0">
              <a:latin typeface="Times New Roman" panose="02020603050405020304" pitchFamily="18" charset="0"/>
              <a:cs typeface="Times New Roman" panose="02020603050405020304" pitchFamily="18" charset="0"/>
            </a:endParaRPr>
          </a:p>
        </p:txBody>
      </p:sp>
      <p:sp>
        <p:nvSpPr>
          <p:cNvPr id="23" name="Text 9"/>
          <p:cNvSpPr/>
          <p:nvPr/>
        </p:nvSpPr>
        <p:spPr>
          <a:xfrm>
            <a:off x="320040" y="2882646"/>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e.setNom("Kouassi"); e.setAge(22);</a:t>
            </a:r>
            <a:endParaRPr lang="en-US" b="1" dirty="0">
              <a:latin typeface="Times New Roman" panose="02020603050405020304" pitchFamily="18" charset="0"/>
              <a:cs typeface="Times New Roman" panose="02020603050405020304" pitchFamily="18" charset="0"/>
            </a:endParaRPr>
          </a:p>
        </p:txBody>
      </p:sp>
      <p:sp>
        <p:nvSpPr>
          <p:cNvPr id="24" name="Text 10"/>
          <p:cNvSpPr/>
          <p:nvPr/>
        </p:nvSpPr>
        <p:spPr>
          <a:xfrm>
            <a:off x="320040" y="3060954"/>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em.persist(e);</a:t>
            </a:r>
            <a:endParaRPr lang="en-US" b="1" dirty="0">
              <a:latin typeface="Times New Roman" panose="02020603050405020304" pitchFamily="18" charset="0"/>
              <a:cs typeface="Times New Roman" panose="02020603050405020304" pitchFamily="18" charset="0"/>
            </a:endParaRPr>
          </a:p>
        </p:txBody>
      </p:sp>
      <p:sp>
        <p:nvSpPr>
          <p:cNvPr id="25" name="Text 11"/>
          <p:cNvSpPr/>
          <p:nvPr/>
        </p:nvSpPr>
        <p:spPr>
          <a:xfrm>
            <a:off x="320040" y="3239262"/>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em.getTransaction().commit();</a:t>
            </a:r>
            <a:endParaRPr lang="en-US" b="1" dirty="0">
              <a:latin typeface="Times New Roman" panose="02020603050405020304" pitchFamily="18" charset="0"/>
              <a:cs typeface="Times New Roman" panose="02020603050405020304" pitchFamily="18" charset="0"/>
            </a:endParaRPr>
          </a:p>
        </p:txBody>
      </p:sp>
      <p:sp>
        <p:nvSpPr>
          <p:cNvPr id="26" name="Text 12"/>
          <p:cNvSpPr/>
          <p:nvPr/>
        </p:nvSpPr>
        <p:spPr>
          <a:xfrm>
            <a:off x="320040" y="3417570"/>
            <a:ext cx="8503920" cy="192024"/>
          </a:xfrm>
          <a:prstGeom prst="rect">
            <a:avLst/>
          </a:prstGeom>
          <a:noFill/>
          <a:ln/>
        </p:spPr>
        <p:txBody>
          <a:bodyPr wrap="square" rtlCol="0" anchor="ctr"/>
          <a:lstStyle/>
          <a:p>
            <a:pPr algn="just"/>
            <a:endParaRPr lang="en-US" b="1" dirty="0">
              <a:latin typeface="Times New Roman" panose="02020603050405020304" pitchFamily="18" charset="0"/>
              <a:cs typeface="Times New Roman" panose="02020603050405020304" pitchFamily="18" charset="0"/>
            </a:endParaRPr>
          </a:p>
        </p:txBody>
      </p:sp>
      <p:sp>
        <p:nvSpPr>
          <p:cNvPr id="27" name="Text 13"/>
          <p:cNvSpPr/>
          <p:nvPr/>
        </p:nvSpPr>
        <p:spPr>
          <a:xfrm>
            <a:off x="320040" y="3595878"/>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 READ — Lire par ID</a:t>
            </a:r>
            <a:endParaRPr lang="en-US" b="1" dirty="0">
              <a:latin typeface="Times New Roman" panose="02020603050405020304" pitchFamily="18" charset="0"/>
              <a:cs typeface="Times New Roman" panose="02020603050405020304" pitchFamily="18" charset="0"/>
            </a:endParaRPr>
          </a:p>
        </p:txBody>
      </p:sp>
      <p:sp>
        <p:nvSpPr>
          <p:cNvPr id="28" name="Text 14"/>
          <p:cNvSpPr/>
          <p:nvPr/>
        </p:nvSpPr>
        <p:spPr>
          <a:xfrm>
            <a:off x="320040" y="3774186"/>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Etudiant trouve = em.find(Etudiant.class, 1L);</a:t>
            </a:r>
            <a:endParaRPr lang="en-US" b="1" dirty="0">
              <a:latin typeface="Times New Roman" panose="02020603050405020304" pitchFamily="18" charset="0"/>
              <a:cs typeface="Times New Roman" panose="02020603050405020304" pitchFamily="18" charset="0"/>
            </a:endParaRPr>
          </a:p>
        </p:txBody>
      </p:sp>
      <p:sp>
        <p:nvSpPr>
          <p:cNvPr id="29" name="Text 15"/>
          <p:cNvSpPr/>
          <p:nvPr/>
        </p:nvSpPr>
        <p:spPr>
          <a:xfrm>
            <a:off x="320040" y="3952494"/>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System.out.println(trouve.getNom());</a:t>
            </a:r>
            <a:endParaRPr lang="en-US" b="1" dirty="0">
              <a:latin typeface="Times New Roman" panose="02020603050405020304" pitchFamily="18" charset="0"/>
              <a:cs typeface="Times New Roman" panose="02020603050405020304" pitchFamily="18" charset="0"/>
            </a:endParaRPr>
          </a:p>
        </p:txBody>
      </p:sp>
      <p:sp>
        <p:nvSpPr>
          <p:cNvPr id="30" name="Text 16"/>
          <p:cNvSpPr/>
          <p:nvPr/>
        </p:nvSpPr>
        <p:spPr>
          <a:xfrm>
            <a:off x="320040" y="4130802"/>
            <a:ext cx="8503920" cy="192024"/>
          </a:xfrm>
          <a:prstGeom prst="rect">
            <a:avLst/>
          </a:prstGeom>
          <a:noFill/>
          <a:ln/>
        </p:spPr>
        <p:txBody>
          <a:bodyPr wrap="square" rtlCol="0" anchor="ctr"/>
          <a:lstStyle/>
          <a:p>
            <a:pPr algn="just"/>
            <a:endParaRPr lang="en-US" b="1" dirty="0">
              <a:latin typeface="Times New Roman" panose="02020603050405020304" pitchFamily="18" charset="0"/>
              <a:cs typeface="Times New Roman" panose="02020603050405020304" pitchFamily="18" charset="0"/>
            </a:endParaRPr>
          </a:p>
        </p:txBody>
      </p:sp>
      <p:sp>
        <p:nvSpPr>
          <p:cNvPr id="31" name="Text 17"/>
          <p:cNvSpPr/>
          <p:nvPr/>
        </p:nvSpPr>
        <p:spPr>
          <a:xfrm>
            <a:off x="320040" y="4309110"/>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 UPDATE — Modifier</a:t>
            </a:r>
            <a:endParaRPr lang="en-US" b="1" dirty="0">
              <a:latin typeface="Times New Roman" panose="02020603050405020304" pitchFamily="18" charset="0"/>
              <a:cs typeface="Times New Roman" panose="02020603050405020304" pitchFamily="18" charset="0"/>
            </a:endParaRPr>
          </a:p>
        </p:txBody>
      </p:sp>
      <p:sp>
        <p:nvSpPr>
          <p:cNvPr id="32" name="Text 18"/>
          <p:cNvSpPr/>
          <p:nvPr/>
        </p:nvSpPr>
        <p:spPr>
          <a:xfrm>
            <a:off x="320040" y="4487418"/>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em.getTransaction().begin();</a:t>
            </a:r>
            <a:endParaRPr lang="en-US" b="1" dirty="0">
              <a:latin typeface="Times New Roman" panose="02020603050405020304" pitchFamily="18" charset="0"/>
              <a:cs typeface="Times New Roman" panose="02020603050405020304" pitchFamily="18" charset="0"/>
            </a:endParaRPr>
          </a:p>
        </p:txBody>
      </p:sp>
      <p:sp>
        <p:nvSpPr>
          <p:cNvPr id="33" name="Text 19"/>
          <p:cNvSpPr/>
          <p:nvPr/>
        </p:nvSpPr>
        <p:spPr>
          <a:xfrm>
            <a:off x="320040" y="4665726"/>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trouve.setNom("Kouassi Brou");</a:t>
            </a:r>
            <a:endParaRPr lang="en-US" b="1" dirty="0">
              <a:latin typeface="Times New Roman" panose="02020603050405020304" pitchFamily="18" charset="0"/>
              <a:cs typeface="Times New Roman" panose="02020603050405020304" pitchFamily="18" charset="0"/>
            </a:endParaRPr>
          </a:p>
        </p:txBody>
      </p:sp>
      <p:sp>
        <p:nvSpPr>
          <p:cNvPr id="34" name="Text 20"/>
          <p:cNvSpPr/>
          <p:nvPr/>
        </p:nvSpPr>
        <p:spPr>
          <a:xfrm>
            <a:off x="320040" y="4844034"/>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em.merge(trouve);</a:t>
            </a:r>
            <a:endParaRPr lang="en-US" b="1" dirty="0">
              <a:latin typeface="Times New Roman" panose="02020603050405020304" pitchFamily="18" charset="0"/>
              <a:cs typeface="Times New Roman" panose="02020603050405020304" pitchFamily="18" charset="0"/>
            </a:endParaRPr>
          </a:p>
        </p:txBody>
      </p:sp>
      <p:sp>
        <p:nvSpPr>
          <p:cNvPr id="35" name="Text 21"/>
          <p:cNvSpPr/>
          <p:nvPr/>
        </p:nvSpPr>
        <p:spPr>
          <a:xfrm>
            <a:off x="320040" y="5022342"/>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em.getTransaction().commit();</a:t>
            </a:r>
            <a:endParaRPr lang="en-US" b="1" dirty="0">
              <a:latin typeface="Times New Roman" panose="02020603050405020304" pitchFamily="18" charset="0"/>
              <a:cs typeface="Times New Roman" panose="02020603050405020304" pitchFamily="18" charset="0"/>
            </a:endParaRPr>
          </a:p>
        </p:txBody>
      </p:sp>
      <p:sp>
        <p:nvSpPr>
          <p:cNvPr id="36" name="Text 22"/>
          <p:cNvSpPr/>
          <p:nvPr/>
        </p:nvSpPr>
        <p:spPr>
          <a:xfrm>
            <a:off x="320040" y="5200650"/>
            <a:ext cx="8503920" cy="192024"/>
          </a:xfrm>
          <a:prstGeom prst="rect">
            <a:avLst/>
          </a:prstGeom>
          <a:noFill/>
          <a:ln/>
        </p:spPr>
        <p:txBody>
          <a:bodyPr wrap="square" rtlCol="0" anchor="ctr"/>
          <a:lstStyle/>
          <a:p>
            <a:pPr algn="just"/>
            <a:endParaRPr lang="en-US" b="1" dirty="0">
              <a:latin typeface="Times New Roman" panose="02020603050405020304" pitchFamily="18" charset="0"/>
              <a:cs typeface="Times New Roman" panose="02020603050405020304" pitchFamily="18" charset="0"/>
            </a:endParaRPr>
          </a:p>
        </p:txBody>
      </p:sp>
      <p:sp>
        <p:nvSpPr>
          <p:cNvPr id="37" name="Text 23"/>
          <p:cNvSpPr/>
          <p:nvPr/>
        </p:nvSpPr>
        <p:spPr>
          <a:xfrm>
            <a:off x="320040" y="5378958"/>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 DELETE — Supprimer</a:t>
            </a:r>
            <a:endParaRPr lang="en-US" b="1" dirty="0">
              <a:latin typeface="Times New Roman" panose="02020603050405020304" pitchFamily="18" charset="0"/>
              <a:cs typeface="Times New Roman" panose="02020603050405020304" pitchFamily="18" charset="0"/>
            </a:endParaRPr>
          </a:p>
        </p:txBody>
      </p:sp>
      <p:sp>
        <p:nvSpPr>
          <p:cNvPr id="38" name="Text 24"/>
          <p:cNvSpPr/>
          <p:nvPr/>
        </p:nvSpPr>
        <p:spPr>
          <a:xfrm>
            <a:off x="320040" y="5557266"/>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em.getTransaction().begin();</a:t>
            </a:r>
            <a:endParaRPr lang="en-US" b="1" dirty="0">
              <a:latin typeface="Times New Roman" panose="02020603050405020304" pitchFamily="18" charset="0"/>
              <a:cs typeface="Times New Roman" panose="02020603050405020304" pitchFamily="18" charset="0"/>
            </a:endParaRPr>
          </a:p>
        </p:txBody>
      </p:sp>
      <p:sp>
        <p:nvSpPr>
          <p:cNvPr id="39" name="Text 25"/>
          <p:cNvSpPr/>
          <p:nvPr/>
        </p:nvSpPr>
        <p:spPr>
          <a:xfrm>
            <a:off x="320040" y="5735574"/>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em.remove(trouve);</a:t>
            </a:r>
            <a:endParaRPr lang="en-US" b="1" dirty="0">
              <a:latin typeface="Times New Roman" panose="02020603050405020304" pitchFamily="18" charset="0"/>
              <a:cs typeface="Times New Roman" panose="02020603050405020304" pitchFamily="18" charset="0"/>
            </a:endParaRPr>
          </a:p>
        </p:txBody>
      </p:sp>
      <p:sp>
        <p:nvSpPr>
          <p:cNvPr id="40" name="Text 26"/>
          <p:cNvSpPr/>
          <p:nvPr/>
        </p:nvSpPr>
        <p:spPr>
          <a:xfrm>
            <a:off x="320040" y="5913882"/>
            <a:ext cx="8503920" cy="192024"/>
          </a:xfrm>
          <a:prstGeom prst="rect">
            <a:avLst/>
          </a:prstGeom>
          <a:noFill/>
          <a:ln/>
        </p:spPr>
        <p:txBody>
          <a:bodyPr wrap="square" rtlCol="0" anchor="ctr"/>
          <a:lstStyle/>
          <a:p>
            <a:pPr algn="just"/>
            <a:r>
              <a:rPr lang="en-US" b="1" dirty="0">
                <a:latin typeface="Times New Roman" panose="02020603050405020304" pitchFamily="18" charset="0"/>
                <a:ea typeface="Consolas" pitchFamily="34" charset="-122"/>
                <a:cs typeface="Times New Roman" panose="02020603050405020304" pitchFamily="18" charset="0"/>
              </a:rPr>
              <a:t>em.getTransaction().commit();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6412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dirty="0" smtClean="0">
                <a:solidFill>
                  <a:srgbClr val="FF0000"/>
                </a:solidFill>
              </a:rPr>
              <a:t>CONCLUSION</a:t>
            </a:r>
            <a:endParaRPr lang="fr-CI" sz="2400" noProof="0" dirty="0">
              <a:solidFill>
                <a:srgbClr val="FF0000"/>
              </a:solidFill>
            </a:endParaRPr>
          </a:p>
        </p:txBody>
      </p:sp>
      <p:pic>
        <p:nvPicPr>
          <p:cNvPr id="3" name="Image 2">
            <a:extLst>
              <a:ext uri="{FF2B5EF4-FFF2-40B4-BE49-F238E27FC236}">
                <a16:creationId xmlns:a16="http://schemas.microsoft.com/office/drawing/2014/main" id="{00E8C2E9-2E74-4B73-1EE7-440BC8106AE7}"/>
              </a:ext>
            </a:extLst>
          </p:cNvPr>
          <p:cNvPicPr/>
          <p:nvPr/>
        </p:nvPicPr>
        <p:blipFill>
          <a:blip r:embed="rId2"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pic>
        <p:nvPicPr>
          <p:cNvPr id="9"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376354"/>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ZoneTexte 4"/>
          <p:cNvSpPr txBox="1"/>
          <p:nvPr/>
        </p:nvSpPr>
        <p:spPr>
          <a:xfrm>
            <a:off x="323528" y="1124744"/>
            <a:ext cx="8352928" cy="2585323"/>
          </a:xfrm>
          <a:prstGeom prst="rect">
            <a:avLst/>
          </a:prstGeom>
          <a:noFill/>
        </p:spPr>
        <p:txBody>
          <a:bodyPr wrap="square" rtlCol="0">
            <a:spAutoFit/>
          </a:bodyPr>
          <a:lstStyle/>
          <a:p>
            <a:pPr algn="just"/>
            <a:r>
              <a:rPr lang="fr-FR" dirty="0">
                <a:latin typeface="Times New Roman" panose="02020603050405020304" pitchFamily="18" charset="0"/>
                <a:cs typeface="Times New Roman" panose="02020603050405020304" pitchFamily="18" charset="0"/>
              </a:rPr>
              <a:t>La persistance des données occupe une place essentielle dans le développement des applications Java modernes. Elle permet de conserver, organiser et exploiter durablement les informations nécessaires au bon fonctionnement des systèmes informatiques</a:t>
            </a:r>
            <a:r>
              <a:rPr lang="fr-FR" dirty="0" smtClean="0">
                <a:latin typeface="Times New Roman" panose="02020603050405020304" pitchFamily="18" charset="0"/>
                <a:cs typeface="Times New Roman" panose="02020603050405020304" pitchFamily="18" charset="0"/>
              </a:rPr>
              <a:t>.</a:t>
            </a:r>
          </a:p>
          <a:p>
            <a:pPr algn="just"/>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À travers les différentes approches étudiées, Java offre des solutions efficaces pour faciliter la gestion des données tout en améliorant la performance, la maintenance et la sécurité des applications. La maîtrise de ces notions constitue donc une compétence importante pour tout développeur souhaitant concevoir des applications fiables et évolutives.</a:t>
            </a:r>
          </a:p>
        </p:txBody>
      </p:sp>
    </p:spTree>
    <p:extLst>
      <p:ext uri="{BB962C8B-B14F-4D97-AF65-F5344CB8AC3E}">
        <p14:creationId xmlns:p14="http://schemas.microsoft.com/office/powerpoint/2010/main" val="1054149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4F9B-494C-8624-68DF-215F06FF3D6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AEF04316-CEC5-F2A2-4D56-618A8001268A}"/>
              </a:ext>
            </a:extLst>
          </p:cNvPr>
          <p:cNvSpPr txBox="1"/>
          <p:nvPr/>
        </p:nvSpPr>
        <p:spPr>
          <a:xfrm>
            <a:off x="0" y="6381328"/>
            <a:ext cx="1835696" cy="476672"/>
          </a:xfrm>
          <a:prstGeom prst="rect">
            <a:avLst/>
          </a:prstGeom>
          <a:solidFill>
            <a:schemeClr val="bg1"/>
          </a:solidFill>
        </p:spPr>
        <p:txBody>
          <a:bodyPr wrap="square" rtlCol="0">
            <a:spAutoFit/>
          </a:bodyPr>
          <a:lstStyle/>
          <a:p>
            <a:endParaRPr lang="fr-CI" noProof="0" dirty="0"/>
          </a:p>
        </p:txBody>
      </p:sp>
      <p:sp>
        <p:nvSpPr>
          <p:cNvPr id="4" name="Titre 3">
            <a:extLst>
              <a:ext uri="{FF2B5EF4-FFF2-40B4-BE49-F238E27FC236}">
                <a16:creationId xmlns:a16="http://schemas.microsoft.com/office/drawing/2014/main" id="{FD2745D9-D935-5DCC-A026-8C0361F73C9F}"/>
              </a:ext>
            </a:extLst>
          </p:cNvPr>
          <p:cNvSpPr>
            <a:spLocks noGrp="1"/>
          </p:cNvSpPr>
          <p:nvPr>
            <p:ph type="title"/>
          </p:nvPr>
        </p:nvSpPr>
        <p:spPr>
          <a:xfrm>
            <a:off x="684213" y="99119"/>
            <a:ext cx="8064500" cy="665585"/>
          </a:xfrm>
        </p:spPr>
        <p:txBody>
          <a:bodyPr/>
          <a:lstStyle/>
          <a:p>
            <a:r>
              <a:rPr lang="fr-CI" sz="2400" dirty="0" smtClean="0">
                <a:solidFill>
                  <a:srgbClr val="FF0000"/>
                </a:solidFill>
              </a:rPr>
              <a:t>FIN DE LA PRESENTATION</a:t>
            </a:r>
            <a:endParaRPr lang="fr-CI" sz="2400" noProof="0" dirty="0">
              <a:solidFill>
                <a:srgbClr val="FF0000"/>
              </a:solidFill>
            </a:endParaRPr>
          </a:p>
        </p:txBody>
      </p:sp>
      <p:sp>
        <p:nvSpPr>
          <p:cNvPr id="6" name="ZoneTexte 5">
            <a:extLst>
              <a:ext uri="{FF2B5EF4-FFF2-40B4-BE49-F238E27FC236}">
                <a16:creationId xmlns:a16="http://schemas.microsoft.com/office/drawing/2014/main" id="{CD8178E0-C84B-72AA-FB7C-06BA3752FF8A}"/>
              </a:ext>
            </a:extLst>
          </p:cNvPr>
          <p:cNvSpPr txBox="1"/>
          <p:nvPr/>
        </p:nvSpPr>
        <p:spPr>
          <a:xfrm>
            <a:off x="2310710" y="2780928"/>
            <a:ext cx="4493538" cy="1569660"/>
          </a:xfrm>
          <a:prstGeom prst="rect">
            <a:avLst/>
          </a:prstGeom>
          <a:noFill/>
        </p:spPr>
        <p:txBody>
          <a:bodyPr wrap="none" rtlCol="0">
            <a:spAutoFit/>
            <a:scene3d>
              <a:camera prst="orthographicFront"/>
              <a:lightRig rig="glow" dir="tl">
                <a:rot lat="0" lon="0" rev="5400000"/>
              </a:lightRig>
            </a:scene3d>
            <a:sp3d contourW="12700">
              <a:bevelT w="25400" h="25400"/>
              <a:contourClr>
                <a:schemeClr val="accent6">
                  <a:shade val="73000"/>
                </a:schemeClr>
              </a:contourClr>
            </a:sp3d>
          </a:bodyPr>
          <a:lstStyle/>
          <a:p>
            <a:r>
              <a:rPr lang="fr-CI" sz="9600" b="1" noProof="0" dirty="0">
                <a:ln w="11430"/>
                <a:effectLst>
                  <a:outerShdw blurRad="80000" dist="40000" dir="5040000" algn="tl">
                    <a:srgbClr val="000000">
                      <a:alpha val="30000"/>
                    </a:srgbClr>
                  </a:outerShdw>
                </a:effectLst>
              </a:rPr>
              <a:t>Merci !</a:t>
            </a:r>
            <a:r>
              <a:rPr lang="fr-CI" sz="9600" b="1" noProof="0" dirty="0">
                <a:ln w="11430"/>
                <a:solidFill>
                  <a:schemeClr val="bg1">
                    <a:lumMod val="50000"/>
                  </a:schemeClr>
                </a:solidFill>
                <a:effectLst>
                  <a:outerShdw blurRad="80000" dist="40000" dir="5040000" algn="tl">
                    <a:srgbClr val="000000">
                      <a:alpha val="30000"/>
                    </a:srgbClr>
                  </a:outerShdw>
                </a:effectLst>
              </a:rPr>
              <a:t> </a:t>
            </a:r>
          </a:p>
        </p:txBody>
      </p:sp>
      <p:pic>
        <p:nvPicPr>
          <p:cNvPr id="5" name="Image 1">
            <a:extLst>
              <a:ext uri="{FF2B5EF4-FFF2-40B4-BE49-F238E27FC236}">
                <a16:creationId xmlns:a16="http://schemas.microsoft.com/office/drawing/2014/main" id="{682E9ABF-7911-FEB6-EAD2-1310D09FD2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 2">
            <a:extLst>
              <a:ext uri="{FF2B5EF4-FFF2-40B4-BE49-F238E27FC236}">
                <a16:creationId xmlns:a16="http://schemas.microsoft.com/office/drawing/2014/main" id="{00E8C2E9-2E74-4B73-1EE7-440BC8106AE7}"/>
              </a:ext>
            </a:extLst>
          </p:cNvPr>
          <p:cNvPicPr/>
          <p:nvPr/>
        </p:nvPicPr>
        <p:blipFill>
          <a:blip r:embed="rId3"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extLst>
      <p:ext uri="{BB962C8B-B14F-4D97-AF65-F5344CB8AC3E}">
        <p14:creationId xmlns:p14="http://schemas.microsoft.com/office/powerpoint/2010/main" val="24757411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84213" y="44624"/>
            <a:ext cx="8208962" cy="837456"/>
          </a:xfrm>
        </p:spPr>
        <p:txBody>
          <a:bodyPr/>
          <a:lstStyle/>
          <a:p>
            <a:r>
              <a:rPr lang="fr-CI" noProof="0" dirty="0">
                <a:solidFill>
                  <a:srgbClr val="C00000"/>
                </a:solidFill>
              </a:rPr>
              <a:t>Questions …</a:t>
            </a:r>
            <a:endParaRPr lang="fr-CI" noProof="0" dirty="0"/>
          </a:p>
        </p:txBody>
      </p:sp>
      <p:sp>
        <p:nvSpPr>
          <p:cNvPr id="6" name="ZoneTexte 5"/>
          <p:cNvSpPr txBox="1"/>
          <p:nvPr/>
        </p:nvSpPr>
        <p:spPr>
          <a:xfrm>
            <a:off x="2627784" y="2708920"/>
            <a:ext cx="3456384" cy="1292662"/>
          </a:xfrm>
          <a:prstGeom prst="rect">
            <a:avLst/>
          </a:prstGeom>
          <a:noFill/>
        </p:spPr>
        <p:txBody>
          <a:bodyPr wrap="square" rtlCol="0">
            <a:spAutoFit/>
          </a:bodyPr>
          <a:lstStyle/>
          <a:p>
            <a:pPr algn="ctr"/>
            <a:r>
              <a:rPr lang="fr-CI" sz="6000" b="1" noProof="0" dirty="0">
                <a:solidFill>
                  <a:schemeClr val="bg1"/>
                </a:solidFill>
              </a:rPr>
              <a:t>Q&amp;A</a:t>
            </a:r>
          </a:p>
          <a:p>
            <a:pPr algn="ctr"/>
            <a:r>
              <a:rPr lang="fr-CI" b="1" noProof="0" dirty="0">
                <a:solidFill>
                  <a:schemeClr val="bg1"/>
                </a:solidFill>
              </a:rPr>
              <a:t>www.osositechnologies.com</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8" y="2119313"/>
            <a:ext cx="8963025" cy="2619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ZoneTexte 1"/>
          <p:cNvSpPr txBox="1"/>
          <p:nvPr/>
        </p:nvSpPr>
        <p:spPr>
          <a:xfrm>
            <a:off x="744949" y="2691713"/>
            <a:ext cx="7416824" cy="1446550"/>
          </a:xfrm>
          <a:prstGeom prst="rect">
            <a:avLst/>
          </a:prstGeom>
          <a:noFill/>
        </p:spPr>
        <p:txBody>
          <a:bodyPr wrap="square" rtlCol="0">
            <a:spAutoFit/>
          </a:bodyPr>
          <a:lstStyle/>
          <a:p>
            <a:pPr algn="ctr"/>
            <a:r>
              <a:rPr lang="fr-CI" sz="6000" b="1" noProof="0" dirty="0">
                <a:solidFill>
                  <a:schemeClr val="bg1"/>
                </a:solidFill>
              </a:rPr>
              <a:t>Q&amp;A</a:t>
            </a:r>
          </a:p>
          <a:p>
            <a:pPr algn="ctr"/>
            <a:r>
              <a:rPr lang="fr-CI" sz="2800" b="1" noProof="0" dirty="0">
                <a:solidFill>
                  <a:schemeClr val="bg1"/>
                </a:solidFill>
              </a:rPr>
              <a:t>www.osistechnologies.com</a:t>
            </a:r>
          </a:p>
        </p:txBody>
      </p:sp>
      <p:sp>
        <p:nvSpPr>
          <p:cNvPr id="3" name="ZoneTexte 2"/>
          <p:cNvSpPr txBox="1"/>
          <p:nvPr/>
        </p:nvSpPr>
        <p:spPr>
          <a:xfrm>
            <a:off x="0" y="6381328"/>
            <a:ext cx="1691680" cy="476672"/>
          </a:xfrm>
          <a:prstGeom prst="rect">
            <a:avLst/>
          </a:prstGeom>
          <a:solidFill>
            <a:schemeClr val="bg1"/>
          </a:solidFill>
        </p:spPr>
        <p:txBody>
          <a:bodyPr wrap="square" rtlCol="0">
            <a:spAutoFit/>
          </a:bodyPr>
          <a:lstStyle/>
          <a:p>
            <a:endParaRPr lang="fr-CI" noProof="0" dirty="0"/>
          </a:p>
        </p:txBody>
      </p:sp>
      <p:pic>
        <p:nvPicPr>
          <p:cNvPr id="7" name="Imag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0" y="6488509"/>
            <a:ext cx="1445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7"/>
          <p:cNvPicPr>
            <a:picLocks noChangeAspect="1"/>
          </p:cNvPicPr>
          <p:nvPr/>
        </p:nvPicPr>
        <p:blipFill>
          <a:blip r:embed="rId4"/>
          <a:stretch>
            <a:fillRect/>
          </a:stretch>
        </p:blipFill>
        <p:spPr>
          <a:xfrm>
            <a:off x="7694557" y="6119753"/>
            <a:ext cx="1357595" cy="730650"/>
          </a:xfrm>
          <a:prstGeom prst="rect">
            <a:avLst/>
          </a:prstGeom>
        </p:spPr>
      </p:pic>
      <p:pic>
        <p:nvPicPr>
          <p:cNvPr id="5" name="Image 4"/>
          <p:cNvPicPr/>
          <p:nvPr/>
        </p:nvPicPr>
        <p:blipFill>
          <a:blip r:embed="rId5" cstate="print">
            <a:extLst>
              <a:ext uri="{28A0092B-C50C-407E-A947-70E740481C1C}">
                <a14:useLocalDpi xmlns:a14="http://schemas.microsoft.com/office/drawing/2010/main" val="0"/>
              </a:ext>
            </a:extLst>
          </a:blip>
          <a:srcRect l="-4217" r="-3307"/>
          <a:stretch>
            <a:fillRect/>
          </a:stretch>
        </p:blipFill>
        <p:spPr>
          <a:xfrm>
            <a:off x="7308303" y="5949280"/>
            <a:ext cx="1835697" cy="88120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ection OIM">
  <a:themeElements>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ection OIM">
      <a:majorFont>
        <a:latin typeface="Arial"/>
        <a:ea typeface="ＭＳ Ｐゴシック"/>
        <a:cs typeface=""/>
      </a:majorFont>
      <a:minorFont>
        <a:latin typeface="Trebuchet MS"/>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ection OI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ection OI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ection OI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ection OI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ection OI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ection OI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ection OI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ection OI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ection OI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ection OI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ection OI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ection OI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6212</TotalTime>
  <Words>1970</Words>
  <Application>Microsoft Office PowerPoint</Application>
  <PresentationFormat>On-screen Show (4:3)</PresentationFormat>
  <Paragraphs>406</Paragraphs>
  <Slides>22</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ＭＳ Ｐゴシック</vt:lpstr>
      <vt:lpstr>ＭＳ Ｐゴシック</vt:lpstr>
      <vt:lpstr>Arial</vt:lpstr>
      <vt:lpstr>Arial Narrow</vt:lpstr>
      <vt:lpstr>Calibri</vt:lpstr>
      <vt:lpstr>Consolas</vt:lpstr>
      <vt:lpstr>Courier New</vt:lpstr>
      <vt:lpstr>Times New Roman</vt:lpstr>
      <vt:lpstr>Tm</vt:lpstr>
      <vt:lpstr>Trebuchet MS</vt:lpstr>
      <vt:lpstr>Wingdings</vt:lpstr>
      <vt:lpstr>Section OIM</vt:lpstr>
      <vt:lpstr>JAVA &amp; PERSISTANCE DES DONNEES</vt:lpstr>
      <vt:lpstr>SOMMAIRE</vt:lpstr>
      <vt:lpstr>INTRODUCTION</vt:lpstr>
      <vt:lpstr>PowerPoint Presentation</vt:lpstr>
      <vt:lpstr>JAVA DATABASE CONNECTIVITY</vt:lpstr>
      <vt:lpstr>JDBC: Cycle DE VIE D’UNE CONNEXION</vt:lpstr>
      <vt:lpstr>JAVA DATABASE CONNECTIVITY</vt:lpstr>
      <vt:lpstr>MAPPING OBJECT RELATIONNEL</vt:lpstr>
      <vt:lpstr>MAPPING OBJECT RELATIONNEL</vt:lpstr>
      <vt:lpstr>ORM Avantages, Inconvénients &amp; cas Particuliers</vt:lpstr>
      <vt:lpstr>JPA JAVA Persistence API</vt:lpstr>
      <vt:lpstr>JPA JAVA Persistence API </vt:lpstr>
      <vt:lpstr>JPA: Cycle de vie d'une entité &amp; JPQL</vt:lpstr>
      <vt:lpstr>PowerPoint Presentation</vt:lpstr>
      <vt:lpstr>JPA — Relations entre entités &amp; Stratégies de chargement</vt:lpstr>
      <vt:lpstr>PowerPoint Presentation</vt:lpstr>
      <vt:lpstr>V. Hibernate :Configuration &amp; persistence.xml</vt:lpstr>
      <vt:lpstr>VI. LES OPERATIONS CRUD</vt:lpstr>
      <vt:lpstr>VI. LES OPERATIONS CRUD</vt:lpstr>
      <vt:lpstr>CONCLUSION</vt:lpstr>
      <vt:lpstr>FIN DE LA PRESENTATION</vt:lpstr>
      <vt:lpstr>Questions …</vt:lpstr>
    </vt:vector>
  </TitlesOfParts>
  <Company>Momentum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Maxime Yapi</dc:creator>
  <cp:lastModifiedBy>Ibrahim SAVADOGO</cp:lastModifiedBy>
  <cp:revision>451</cp:revision>
  <dcterms:created xsi:type="dcterms:W3CDTF">2010-02-03T20:06:00Z</dcterms:created>
  <dcterms:modified xsi:type="dcterms:W3CDTF">2026-05-15T08:50:25Z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1036-12.1.0.25242</vt:lpwstr>
  </property>
  <property fmtid="{D5CDD505-2E9C-101B-9397-08002B2CF9AE}" pid="3" name="ICV">
    <vt:lpwstr>F7142A23608244029C64D6D2F36D401E_12</vt:lpwstr>
  </property>
</Properties>
</file>