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56" r:id="rId3"/>
    <p:sldId id="357" r:id="rId4"/>
    <p:sldId id="372" r:id="rId5"/>
    <p:sldId id="373" r:id="rId6"/>
    <p:sldId id="374" r:id="rId7"/>
    <p:sldId id="375" r:id="rId8"/>
    <p:sldId id="377" r:id="rId9"/>
    <p:sldId id="379" r:id="rId10"/>
    <p:sldId id="388" r:id="rId11"/>
    <p:sldId id="378" r:id="rId12"/>
    <p:sldId id="380" r:id="rId13"/>
    <p:sldId id="391" r:id="rId14"/>
    <p:sldId id="381" r:id="rId15"/>
    <p:sldId id="392" r:id="rId16"/>
    <p:sldId id="382" r:id="rId17"/>
    <p:sldId id="389" r:id="rId18"/>
    <p:sldId id="390" r:id="rId19"/>
    <p:sldId id="383" r:id="rId20"/>
    <p:sldId id="384" r:id="rId21"/>
    <p:sldId id="385" r:id="rId22"/>
    <p:sldId id="327" r:id="rId23"/>
    <p:sldId id="345" r:id="rId24"/>
  </p:sldIdLst>
  <p:sldSz cx="9144000" cy="6858000" type="screen4x3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  <a:srgbClr val="777777"/>
    <a:srgbClr val="006600"/>
    <a:srgbClr val="E3CDD0"/>
    <a:srgbClr val="FFFF99"/>
    <a:srgbClr val="FF6600"/>
    <a:srgbClr val="FF33CC"/>
    <a:srgbClr val="002C56"/>
    <a:srgbClr val="CBD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5550" autoAdjust="0"/>
  </p:normalViewPr>
  <p:slideViewPr>
    <p:cSldViewPr>
      <p:cViewPr varScale="1">
        <p:scale>
          <a:sx n="67" d="100"/>
          <a:sy n="67" d="100"/>
        </p:scale>
        <p:origin x="1260" y="52"/>
      </p:cViewPr>
      <p:guideLst/>
    </p:cSldViewPr>
  </p:slideViewPr>
  <p:outlineViewPr>
    <p:cViewPr>
      <p:scale>
        <a:sx n="33" d="100"/>
        <a:sy n="33" d="100"/>
      </p:scale>
      <p:origin x="0" y="1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5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FB73F57-00A7-4824-AB68-DA8CEE9E7E80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5719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824BCD5-7DB3-4570-95FB-D6BD68920CD5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13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1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Collection </a:t>
            </a:r>
            <a:r>
              <a:rPr lang="en-US" dirty="0" err="1" smtClean="0"/>
              <a:t>etais</a:t>
            </a:r>
            <a:r>
              <a:rPr lang="en-US" dirty="0" smtClean="0"/>
              <a:t> pas</a:t>
            </a:r>
            <a:r>
              <a:rPr lang="en-US" baseline="0" dirty="0" smtClean="0"/>
              <a:t> la </a:t>
            </a:r>
            <a:r>
              <a:rPr lang="en-US" baseline="0" dirty="0" err="1" smtClean="0"/>
              <a:t>en</a:t>
            </a:r>
            <a:r>
              <a:rPr lang="en-US" baseline="0" dirty="0" smtClean="0"/>
              <a:t> 1.0</a:t>
            </a:r>
          </a:p>
          <a:p>
            <a:r>
              <a:rPr lang="en-US" baseline="0" dirty="0" smtClean="0"/>
              <a:t>Vu jour 1.2</a:t>
            </a:r>
          </a:p>
          <a:p>
            <a:r>
              <a:rPr lang="en-US" baseline="0" dirty="0" smtClean="0"/>
              <a:t>Et generic en1.5</a:t>
            </a:r>
          </a:p>
          <a:p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fallait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effectuer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"cast"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manuel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fois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qu'on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veut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récupérer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élément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8060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Bien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vrai</a:t>
            </a:r>
            <a:r>
              <a:rPr lang="en-US" baseline="0" dirty="0" smtClean="0"/>
              <a:t> que Map fait </a:t>
            </a:r>
            <a:r>
              <a:rPr lang="en-US" baseline="0" dirty="0" err="1" smtClean="0"/>
              <a:t>partie</a:t>
            </a:r>
            <a:r>
              <a:rPr lang="en-US" baseline="0" dirty="0" smtClean="0"/>
              <a:t> du </a:t>
            </a:r>
            <a:r>
              <a:rPr lang="en-US" baseline="0" dirty="0" err="1" smtClean="0"/>
              <a:t>frsmewok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mais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nherite</a:t>
            </a:r>
            <a:r>
              <a:rPr lang="en-US" baseline="0" dirty="0" smtClean="0"/>
              <a:t> pas de collections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908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3020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15888"/>
            <a:ext cx="97155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5" name="Rectangle 4"/>
          <p:cNvSpPr/>
          <p:nvPr userDrawn="1"/>
        </p:nvSpPr>
        <p:spPr>
          <a:xfrm>
            <a:off x="0" y="6237288"/>
            <a:ext cx="6876256" cy="620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6" name="Rectangle 5"/>
          <p:cNvSpPr/>
          <p:nvPr userDrawn="1"/>
        </p:nvSpPr>
        <p:spPr>
          <a:xfrm>
            <a:off x="0" y="549275"/>
            <a:ext cx="9144000" cy="620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1640" y="1916832"/>
            <a:ext cx="6048672" cy="1519808"/>
          </a:xfrm>
        </p:spPr>
        <p:txBody>
          <a:bodyPr/>
          <a:lstStyle>
            <a:lvl1pPr algn="r">
              <a:defRPr sz="4000">
                <a:solidFill>
                  <a:srgbClr val="E2001A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et modifiez le titre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11760" y="3518712"/>
            <a:ext cx="6480720" cy="1278440"/>
          </a:xfrm>
        </p:spPr>
        <p:txBody>
          <a:bodyPr/>
          <a:lstStyle>
            <a:lvl1pPr marL="0" indent="0" algn="r">
              <a:buFontTx/>
              <a:buNone/>
              <a:defRPr sz="2600" i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pour modifier le style des sous-titres du masque</a:t>
            </a:r>
          </a:p>
        </p:txBody>
      </p:sp>
      <p:cxnSp>
        <p:nvCxnSpPr>
          <p:cNvPr id="19" name="Connecteur en angle 18"/>
          <p:cNvCxnSpPr/>
          <p:nvPr userDrawn="1"/>
        </p:nvCxnSpPr>
        <p:spPr>
          <a:xfrm>
            <a:off x="211138" y="1484784"/>
            <a:ext cx="8681342" cy="3869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en angle 23"/>
          <p:cNvCxnSpPr/>
          <p:nvPr userDrawn="1"/>
        </p:nvCxnSpPr>
        <p:spPr>
          <a:xfrm flipV="1">
            <a:off x="210443" y="1440160"/>
            <a:ext cx="8682037" cy="123178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Arrondir un rectangle avec un coin diagonal 26"/>
          <p:cNvSpPr/>
          <p:nvPr userDrawn="1"/>
        </p:nvSpPr>
        <p:spPr>
          <a:xfrm>
            <a:off x="35496" y="4899724"/>
            <a:ext cx="3960440" cy="292606"/>
          </a:xfrm>
          <a:prstGeom prst="round2Diag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" y="551579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ZoneTexte 28"/>
          <p:cNvSpPr txBox="1"/>
          <p:nvPr userDrawn="1"/>
        </p:nvSpPr>
        <p:spPr>
          <a:xfrm>
            <a:off x="35496" y="4859868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 Force de l’Engagement et de l’Expertise</a:t>
            </a:r>
          </a:p>
        </p:txBody>
      </p:sp>
      <p:pic>
        <p:nvPicPr>
          <p:cNvPr id="21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5877272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3587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659591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0648"/>
            <a:ext cx="2298552" cy="108608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79450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9325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2588" y="-100013"/>
            <a:ext cx="2016125" cy="59769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79450" y="-100013"/>
            <a:ext cx="5900738" cy="59769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-188913"/>
            <a:ext cx="8208962" cy="1143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et modifiez le titre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49" y="1125538"/>
            <a:ext cx="821372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 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</a:p>
        </p:txBody>
      </p:sp>
      <p:cxnSp>
        <p:nvCxnSpPr>
          <p:cNvPr id="10" name="Connecteur en angle 9"/>
          <p:cNvCxnSpPr/>
          <p:nvPr userDrawn="1"/>
        </p:nvCxnSpPr>
        <p:spPr>
          <a:xfrm flipV="1">
            <a:off x="679450" y="764704"/>
            <a:ext cx="8213725" cy="7200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en angle 10"/>
          <p:cNvCxnSpPr/>
          <p:nvPr userDrawn="1"/>
        </p:nvCxnSpPr>
        <p:spPr>
          <a:xfrm flipV="1">
            <a:off x="679450" y="686150"/>
            <a:ext cx="8213725" cy="7855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Espace réservé pour une image  4" descr="Nouvelle notificatio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8344" y="6416675"/>
            <a:ext cx="1296144" cy="38833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296962"/>
            <a:ext cx="679450" cy="3957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400">
          <a:solidFill>
            <a:srgbClr val="001523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1523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453336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6301BB6-AEF3-4BDF-B8AB-15484F399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378" y="116632"/>
            <a:ext cx="2320758" cy="1257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BE8AC3-2515-43CB-9089-C1E6D9007D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29C277DC-CA85-4F4B-92F7-66515D6D0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688" y="1916832"/>
            <a:ext cx="5472608" cy="2520280"/>
          </a:xfrm>
        </p:spPr>
        <p:txBody>
          <a:bodyPr/>
          <a:lstStyle/>
          <a:p>
            <a:pPr algn="ctr"/>
            <a:r>
              <a:rPr lang="fr-FR" sz="4800" dirty="0" smtClean="0"/>
              <a:t>THEME: Génériques et Collections (1)</a:t>
            </a:r>
            <a:endParaRPr lang="fr-FR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5688124" y="5445224"/>
            <a:ext cx="309634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 smtClean="0"/>
              <a:t>Presente</a:t>
            </a:r>
            <a:r>
              <a:rPr lang="en-US" b="1" dirty="0" smtClean="0"/>
              <a:t> par: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Ibrahim SAVADOGO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300" cap="none" dirty="0">
                <a:solidFill>
                  <a:srgbClr val="FF0000"/>
                </a:solidFill>
                <a:latin typeface="+mn-lt"/>
              </a:rPr>
              <a:t>SOMMAIRE</a:t>
            </a:r>
          </a:p>
        </p:txBody>
      </p:sp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14F53A-C3CD-418C-B4AE-2BA500832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5576" y="1268760"/>
            <a:ext cx="4666662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INTRODUCTION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GÉNÉRIQUE (SYNTAXE DE BASE)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COLLECTION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en-US" b="1" dirty="0" smtClean="0"/>
              <a:t> </a:t>
            </a:r>
            <a:r>
              <a:rPr lang="el-GR" b="1" dirty="0"/>
              <a:t>λ</a:t>
            </a:r>
            <a:r>
              <a:rPr lang="el-GR" b="1" dirty="0" smtClean="0"/>
              <a:t>  </a:t>
            </a:r>
            <a:r>
              <a:rPr lang="fr-CA" b="1" dirty="0" smtClean="0"/>
              <a:t>EXPRESSIONS LAMBDA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INNER CLASSE (CLASSE INTERNE) 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ANONYMOUS CLASS </a:t>
            </a:r>
          </a:p>
          <a:p>
            <a:pPr marL="400050" indent="-400050">
              <a:lnSpc>
                <a:spcPct val="200000"/>
              </a:lnSpc>
              <a:buAutoNum type="romanUcPeriod"/>
            </a:pPr>
            <a:r>
              <a:rPr lang="fr-CA" b="1" dirty="0" smtClean="0"/>
              <a:t> CONCLUSION</a:t>
            </a:r>
          </a:p>
          <a:p>
            <a:pPr marL="400050" indent="-400050">
              <a:buAutoNum type="romanUcPeriod"/>
            </a:pPr>
            <a:endParaRPr lang="fr-CA" dirty="0" smtClean="0">
              <a:solidFill>
                <a:srgbClr val="FF0000"/>
              </a:solidFill>
            </a:endParaRPr>
          </a:p>
          <a:p>
            <a:pPr marL="400050" indent="-400050"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1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I. INTRODUCTION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4183" y="2983393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génériques ?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67543" y="897203"/>
            <a:ext cx="81223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Java Collections Framework (JCF)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Introduit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1998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avec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2 (JDK 1.2)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C'est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moment-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qu'apparaissent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interfaces List, Set, Map et les classes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hangingPunct="0"/>
            <a:endParaRPr lang="en-US" altLang="en-US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Generics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Introduits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avec </a:t>
            </a:r>
            <a:r>
              <a:rPr lang="en-US" altLang="en-US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5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Avant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cette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date, on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pouvait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mettre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n'importe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objet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altLang="en-US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</a:t>
            </a:r>
            <a:r>
              <a:rPr lang="en-US" altLang="en-US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endParaRPr lang="en-US" altLang="en-US" b="1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2641681" y="3501008"/>
            <a:ext cx="3931920" cy="2997416"/>
          </a:xfrm>
          <a:prstGeom prst="rect">
            <a:avLst/>
          </a:prstGeom>
          <a:solidFill>
            <a:schemeClr val="bg1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"/>
          <p:cNvSpPr/>
          <p:nvPr/>
        </p:nvSpPr>
        <p:spPr>
          <a:xfrm>
            <a:off x="3726990" y="3596756"/>
            <a:ext cx="1603423" cy="38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 Avant Java 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2733121" y="4095368"/>
            <a:ext cx="3749040" cy="96487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5"/>
          <p:cNvSpPr/>
          <p:nvPr/>
        </p:nvSpPr>
        <p:spPr>
          <a:xfrm>
            <a:off x="2824561" y="4122800"/>
            <a:ext cx="3566160" cy="121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 liste = new ArrayList();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liste.add("Bonjour");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s = (String) liste.get(0</a:t>
            </a:r>
            <a:r>
              <a:rPr lang="en-US" sz="1400" dirty="0" smtClean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2824561" y="5283393"/>
            <a:ext cx="201168" cy="1861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7"/>
          <p:cNvSpPr/>
          <p:nvPr/>
        </p:nvSpPr>
        <p:spPr>
          <a:xfrm>
            <a:off x="3120004" y="5246945"/>
            <a:ext cx="3291840" cy="23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Cast manuel obligatoire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824561" y="5702182"/>
            <a:ext cx="201168" cy="1861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9"/>
          <p:cNvSpPr/>
          <p:nvPr/>
        </p:nvSpPr>
        <p:spPr>
          <a:xfrm>
            <a:off x="3098881" y="5673464"/>
            <a:ext cx="3291840" cy="23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Erreurs seulement à l'exécution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2824561" y="6116228"/>
            <a:ext cx="201168" cy="1861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11"/>
          <p:cNvSpPr/>
          <p:nvPr/>
        </p:nvSpPr>
        <p:spPr>
          <a:xfrm>
            <a:off x="3098881" y="6116228"/>
            <a:ext cx="3291840" cy="23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peu lisible et fragile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9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9" grpId="0" animBg="1"/>
      <p:bldP spid="41" grpId="0" animBg="1"/>
      <p:bldP spid="43" grpId="0" animBg="1"/>
      <p:bldP spid="45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I. INTRODUCTION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1" name="Shape 12"/>
          <p:cNvSpPr/>
          <p:nvPr/>
        </p:nvSpPr>
        <p:spPr>
          <a:xfrm>
            <a:off x="5342696" y="1340768"/>
            <a:ext cx="3236640" cy="178177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3"/>
          <p:cNvSpPr/>
          <p:nvPr/>
        </p:nvSpPr>
        <p:spPr>
          <a:xfrm>
            <a:off x="5583469" y="1321048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4"/>
          <p:cNvSpPr/>
          <p:nvPr/>
        </p:nvSpPr>
        <p:spPr>
          <a:xfrm>
            <a:off x="5605228" y="1556143"/>
            <a:ext cx="2016224" cy="30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Sécurité à la compilation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6"/>
          <p:cNvSpPr/>
          <p:nvPr/>
        </p:nvSpPr>
        <p:spPr>
          <a:xfrm>
            <a:off x="5342696" y="3142265"/>
            <a:ext cx="3236640" cy="14145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5673124" y="19722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 erreurs de type sont détectées avant </a:t>
            </a:r>
            <a:r>
              <a:rPr lang="en-US" sz="1400" dirty="0" smtClean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l’exécution du </a:t>
            </a: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programme, pas pendant.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8"/>
          <p:cNvSpPr/>
          <p:nvPr/>
        </p:nvSpPr>
        <p:spPr>
          <a:xfrm>
            <a:off x="6156176" y="3425147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Lisibilité du code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5706947" y="365062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sait exactement quel type est attendu sans lire toute la logique.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605228" y="3268771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20"/>
          <p:cNvSpPr/>
          <p:nvPr/>
        </p:nvSpPr>
        <p:spPr>
          <a:xfrm>
            <a:off x="5342696" y="4683344"/>
            <a:ext cx="3236640" cy="15430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22"/>
          <p:cNvSpPr/>
          <p:nvPr/>
        </p:nvSpPr>
        <p:spPr>
          <a:xfrm>
            <a:off x="6156176" y="5020179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 des casts manuels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5636668" y="4865790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3"/>
          <p:cNvSpPr/>
          <p:nvPr/>
        </p:nvSpPr>
        <p:spPr>
          <a:xfrm>
            <a:off x="5812069" y="5357331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 compilateur insère lui-même les conversions nécessaires, de manière sûre.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715424" y="1321048"/>
            <a:ext cx="3931920" cy="3474720"/>
          </a:xfrm>
          <a:prstGeom prst="rect">
            <a:avLst/>
          </a:prstGeom>
          <a:solidFill>
            <a:schemeClr val="bg1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898304" y="14582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Avec les Génériques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806864" y="1915408"/>
            <a:ext cx="37490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898304" y="1942840"/>
            <a:ext cx="3566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List&lt;String&gt; liste = new ArrayList&lt;&gt;();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liste.add("Bonjour");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s = liste.get(0);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✔️ Vérifié à la compilation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898304" y="340588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1172624" y="337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Vérification à la compilation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898304" y="379907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1172624" y="377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 de cast manuel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898304" y="419226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1172624" y="416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clair et réutilisable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8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II. Générique (Syntaxe de base) 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flipH="1">
            <a:off x="395536" y="1124744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le mot générique (ou Generics) désigne un mécanisme qui permet d’écrire des classes, interfaces ou méthodes paramétrées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 des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39411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9"/>
          <p:cNvSpPr/>
          <p:nvPr/>
        </p:nvSpPr>
        <p:spPr>
          <a:xfrm>
            <a:off x="39411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10"/>
          <p:cNvSpPr/>
          <p:nvPr/>
        </p:nvSpPr>
        <p:spPr>
          <a:xfrm>
            <a:off x="48555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endParaRPr lang="en-US" sz="2000" dirty="0"/>
          </a:p>
        </p:txBody>
      </p:sp>
      <p:sp>
        <p:nvSpPr>
          <p:cNvPr id="35" name="Text 11"/>
          <p:cNvSpPr/>
          <p:nvPr/>
        </p:nvSpPr>
        <p:spPr>
          <a:xfrm>
            <a:off x="46726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paramètre générique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249723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13"/>
          <p:cNvSpPr/>
          <p:nvPr/>
        </p:nvSpPr>
        <p:spPr>
          <a:xfrm>
            <a:off x="249723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14"/>
          <p:cNvSpPr/>
          <p:nvPr/>
        </p:nvSpPr>
        <p:spPr>
          <a:xfrm>
            <a:off x="258867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&lt;E&gt;</a:t>
            </a:r>
            <a:endParaRPr lang="en-US" sz="2000" dirty="0"/>
          </a:p>
        </p:txBody>
      </p:sp>
      <p:sp>
        <p:nvSpPr>
          <p:cNvPr id="39" name="Text 15"/>
          <p:cNvSpPr/>
          <p:nvPr/>
        </p:nvSpPr>
        <p:spPr>
          <a:xfrm>
            <a:off x="257038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Élement (utilisé dans List)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460035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17"/>
          <p:cNvSpPr/>
          <p:nvPr/>
        </p:nvSpPr>
        <p:spPr>
          <a:xfrm>
            <a:off x="460035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18"/>
          <p:cNvSpPr/>
          <p:nvPr/>
        </p:nvSpPr>
        <p:spPr>
          <a:xfrm>
            <a:off x="469179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&lt;K,V&gt;</a:t>
            </a:r>
            <a:endParaRPr lang="en-US" sz="2000" dirty="0"/>
          </a:p>
        </p:txBody>
      </p:sp>
      <p:sp>
        <p:nvSpPr>
          <p:cNvPr id="43" name="Text 19"/>
          <p:cNvSpPr/>
          <p:nvPr/>
        </p:nvSpPr>
        <p:spPr>
          <a:xfrm>
            <a:off x="467350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Clé / Valeur (Map)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20"/>
          <p:cNvSpPr/>
          <p:nvPr/>
        </p:nvSpPr>
        <p:spPr>
          <a:xfrm>
            <a:off x="6703475" y="3254921"/>
            <a:ext cx="1920240" cy="146304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21"/>
          <p:cNvSpPr/>
          <p:nvPr/>
        </p:nvSpPr>
        <p:spPr>
          <a:xfrm>
            <a:off x="6703475" y="3254921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22"/>
          <p:cNvSpPr/>
          <p:nvPr/>
        </p:nvSpPr>
        <p:spPr>
          <a:xfrm>
            <a:off x="6794915" y="3346361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&lt;?&gt;</a:t>
            </a:r>
            <a:endParaRPr lang="en-US" sz="2000" dirty="0"/>
          </a:p>
        </p:txBody>
      </p:sp>
      <p:sp>
        <p:nvSpPr>
          <p:cNvPr id="47" name="Text 23"/>
          <p:cNvSpPr/>
          <p:nvPr/>
        </p:nvSpPr>
        <p:spPr>
          <a:xfrm>
            <a:off x="6776627" y="3895001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inconnu (wildcard)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86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6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II. </a:t>
            </a:r>
            <a:r>
              <a:rPr lang="fr-CA" sz="2400" cap="none" dirty="0" smtClean="0">
                <a:solidFill>
                  <a:srgbClr val="FF0000"/>
                </a:solidFill>
              </a:rPr>
              <a:t>Générique </a:t>
            </a:r>
            <a:r>
              <a:rPr lang="fr-CA" sz="2400" cap="none" dirty="0">
                <a:solidFill>
                  <a:srgbClr val="FF0000"/>
                </a:solidFill>
              </a:rPr>
              <a:t>(Syntaxe de base)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430932" y="1130729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 paramètre de type T est déclaré entre chevrons après le nom de la classe. T est un alias qui sera remplacé par un type réel à l'utilisation.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95536" y="1916832"/>
            <a:ext cx="4846320" cy="2468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5" name="Text 5"/>
          <p:cNvSpPr/>
          <p:nvPr/>
        </p:nvSpPr>
        <p:spPr>
          <a:xfrm>
            <a:off x="505264" y="1989984"/>
            <a:ext cx="462686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Declaration : &lt;T&gt; apres le nom de la classe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Boite&lt;T&gt;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private T contenu;          // T est utilise comme un vrai type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public void mettre(T valeur)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this.contenu = valeur;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public T prendre()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return contenu;         // retourne exactement le bon type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6"/>
          <p:cNvSpPr/>
          <p:nvPr/>
        </p:nvSpPr>
        <p:spPr>
          <a:xfrm flipV="1">
            <a:off x="5260144" y="2114550"/>
            <a:ext cx="388181" cy="345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7" name="Text 7"/>
          <p:cNvSpPr/>
          <p:nvPr/>
        </p:nvSpPr>
        <p:spPr>
          <a:xfrm>
            <a:off x="5744776" y="2008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= paramètre de type (convention : T, E, K, V...)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5260144" y="2556912"/>
            <a:ext cx="4572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9" name="Text 9"/>
          <p:cNvSpPr/>
          <p:nvPr/>
        </p:nvSpPr>
        <p:spPr>
          <a:xfrm>
            <a:off x="5744776" y="2447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utilisé comme n'importe quel autre type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0"/>
          <p:cNvSpPr/>
          <p:nvPr/>
        </p:nvSpPr>
        <p:spPr>
          <a:xfrm flipV="1">
            <a:off x="5260143" y="3114697"/>
            <a:ext cx="1718445" cy="36575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1" name="Text 11"/>
          <p:cNvSpPr/>
          <p:nvPr/>
        </p:nvSpPr>
        <p:spPr>
          <a:xfrm>
            <a:off x="6978589" y="2979853"/>
            <a:ext cx="2016224" cy="21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Méthode qui reçoit un 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2"/>
          <p:cNvSpPr/>
          <p:nvPr/>
        </p:nvSpPr>
        <p:spPr>
          <a:xfrm flipV="1">
            <a:off x="5260144" y="3769943"/>
            <a:ext cx="1443676" cy="21409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3" name="Text 13"/>
          <p:cNvSpPr/>
          <p:nvPr/>
        </p:nvSpPr>
        <p:spPr>
          <a:xfrm>
            <a:off x="6703820" y="3647077"/>
            <a:ext cx="2139592" cy="21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Méthode qui retourne un 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395536" y="4495440"/>
            <a:ext cx="8412480" cy="256032"/>
          </a:xfrm>
          <a:prstGeom prst="rect">
            <a:avLst/>
          </a:prstGeom>
          <a:solidFill>
            <a:schemeClr val="bg1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15"/>
          <p:cNvSpPr/>
          <p:nvPr/>
        </p:nvSpPr>
        <p:spPr>
          <a:xfrm>
            <a:off x="395536" y="4495440"/>
            <a:ext cx="8412480" cy="25603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Utilisation — T est remplacé par le type concret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395536" y="4797191"/>
            <a:ext cx="8412480" cy="1527047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7" name="Text 17"/>
          <p:cNvSpPr/>
          <p:nvPr/>
        </p:nvSpPr>
        <p:spPr>
          <a:xfrm>
            <a:off x="505264" y="4870344"/>
            <a:ext cx="8193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Boite&lt;String&gt;  boiteTexte  = new Boite&lt;&gt;();  // T = String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Boite&lt;Integer&gt; boiteNombre = new Boite&lt;&gt;();  // T = Integer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Boite&lt;Boolean&gt; boiteBool   = new Boite&lt;&gt;();  // T = Boolean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boiteTexte.mettre("Bonjour");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s = boiteTexte.prendre();  // pas de cast, c'est deja un String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87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II. </a:t>
            </a:r>
            <a:r>
              <a:rPr lang="fr-CA" sz="2400" cap="none" dirty="0" smtClean="0">
                <a:solidFill>
                  <a:srgbClr val="FF0000"/>
                </a:solidFill>
              </a:rPr>
              <a:t>Générique </a:t>
            </a:r>
            <a:r>
              <a:rPr lang="fr-CA" sz="2400" cap="none" dirty="0">
                <a:solidFill>
                  <a:srgbClr val="FF0000"/>
                </a:solidFill>
              </a:rPr>
              <a:t>(Syntaxe de base)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3" name="Text 2"/>
          <p:cNvSpPr/>
          <p:nvPr/>
        </p:nvSpPr>
        <p:spPr>
          <a:xfrm>
            <a:off x="477606" y="1341521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</a:t>
            </a: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</a:t>
            </a:r>
            <a:r>
              <a:rPr lang="en-US" sz="1400" b="1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&lt;T&gt; </a:t>
            </a:r>
            <a:r>
              <a:rPr lang="en-US" sz="14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c'est comme une boîte de livraison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511660" y="1710592"/>
            <a:ext cx="6696744" cy="510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carton est toujours le même — seul le contenu change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fonction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qu'on y met.</a:t>
            </a:r>
          </a:p>
        </p:txBody>
      </p:sp>
      <p:sp>
        <p:nvSpPr>
          <p:cNvPr id="25" name="Shape 4"/>
          <p:cNvSpPr/>
          <p:nvPr/>
        </p:nvSpPr>
        <p:spPr>
          <a:xfrm>
            <a:off x="294726" y="2639224"/>
            <a:ext cx="2743200" cy="2926080"/>
          </a:xfrm>
          <a:prstGeom prst="rect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26" name="Shape 5"/>
          <p:cNvSpPr/>
          <p:nvPr/>
        </p:nvSpPr>
        <p:spPr>
          <a:xfrm>
            <a:off x="294726" y="2639224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6"/>
          <p:cNvSpPr/>
          <p:nvPr/>
        </p:nvSpPr>
        <p:spPr>
          <a:xfrm>
            <a:off x="386166" y="27763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8" name="Shape 7"/>
          <p:cNvSpPr/>
          <p:nvPr/>
        </p:nvSpPr>
        <p:spPr>
          <a:xfrm>
            <a:off x="431886" y="3462184"/>
            <a:ext cx="24688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8"/>
          <p:cNvSpPr/>
          <p:nvPr/>
        </p:nvSpPr>
        <p:spPr>
          <a:xfrm>
            <a:off x="431886" y="34621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Boite&lt;Telephone&gt;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86166" y="393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 de téléphone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418982" y="4374072"/>
            <a:ext cx="2523744" cy="71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sait que c'est un téléphone à l'intérieur. Pas besoin de 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verifier</a:t>
            </a:r>
          </a:p>
          <a:p>
            <a:pPr marL="0" indent="0" algn="l">
              <a:buNone/>
            </a:pP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 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garantit le contenu.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3266526" y="2639224"/>
            <a:ext cx="2743200" cy="2926080"/>
          </a:xfrm>
          <a:prstGeom prst="rect">
            <a:avLst/>
          </a:prstGeom>
          <a:noFill/>
          <a:ln w="190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2"/>
          <p:cNvSpPr/>
          <p:nvPr/>
        </p:nvSpPr>
        <p:spPr>
          <a:xfrm>
            <a:off x="3266526" y="2639224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13"/>
          <p:cNvSpPr/>
          <p:nvPr/>
        </p:nvSpPr>
        <p:spPr>
          <a:xfrm>
            <a:off x="3357966" y="27763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🍕</a:t>
            </a:r>
            <a:endParaRPr lang="en-US" sz="3200" dirty="0"/>
          </a:p>
        </p:txBody>
      </p:sp>
      <p:sp>
        <p:nvSpPr>
          <p:cNvPr id="35" name="Shape 14"/>
          <p:cNvSpPr/>
          <p:nvPr/>
        </p:nvSpPr>
        <p:spPr>
          <a:xfrm>
            <a:off x="3403686" y="3462184"/>
            <a:ext cx="24688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15"/>
          <p:cNvSpPr/>
          <p:nvPr/>
        </p:nvSpPr>
        <p:spPr>
          <a:xfrm>
            <a:off x="3403686" y="34621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Boite&lt;Pizza&gt;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3357966" y="393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</a:t>
            </a:r>
            <a:r>
              <a:rPr lang="en-US" sz="1400" b="1" dirty="0" smtClean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à pizza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3348822" y="43628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Même boîte, autre contenu. On ne peut pas mettre un téléphone dans une boîte à 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pizza, le 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l'interdit.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6238326" y="2639224"/>
            <a:ext cx="2743200" cy="2926080"/>
          </a:xfrm>
          <a:prstGeom prst="rect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40" name="Shape 19"/>
          <p:cNvSpPr/>
          <p:nvPr/>
        </p:nvSpPr>
        <p:spPr>
          <a:xfrm>
            <a:off x="6238326" y="2639224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21"/>
          <p:cNvSpPr/>
          <p:nvPr/>
        </p:nvSpPr>
        <p:spPr>
          <a:xfrm>
            <a:off x="6375486" y="3462184"/>
            <a:ext cx="24688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22"/>
          <p:cNvSpPr/>
          <p:nvPr/>
        </p:nvSpPr>
        <p:spPr>
          <a:xfrm>
            <a:off x="6375486" y="34621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Boite&lt;Medicament&gt;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6329766" y="393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Boîte de médicaments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348054" y="4293963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Sans générique, n'importe quoi pourrait entrer. Avec &lt;T&gt;, seul le bon type 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accepté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sécurité</a:t>
            </a:r>
            <a:r>
              <a:rPr lang="en-US" sz="1400" dirty="0" smtClean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garantie.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375110" y="5912776"/>
            <a:ext cx="841248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6" name="Text 26"/>
          <p:cNvSpPr/>
          <p:nvPr/>
        </p:nvSpPr>
        <p:spPr>
          <a:xfrm>
            <a:off x="466550" y="59127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 En Java : T = le type du contenu. Une fois défini, impossible de mettre le mauvais objet dedans — le compilateur le refuse 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91880" y="920201"/>
            <a:ext cx="15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6206937" y="2773141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💊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6423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42" grpId="0" animBg="1"/>
      <p:bldP spid="43" grpId="0" animBg="1"/>
      <p:bldP spid="44" grpId="0" animBg="1"/>
      <p:bldP spid="46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III. Collection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520" y="967016"/>
            <a:ext cx="8784976" cy="123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boîte fixe : tu dois décider la taille à l'avance. Une Collection, c'est comme un sac à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dos,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peux y mettre autant d'objets que tu veux, chercher dedans, trier, filtrer, etc.</a:t>
            </a:r>
          </a:p>
        </p:txBody>
      </p:sp>
      <p:sp>
        <p:nvSpPr>
          <p:cNvPr id="11" name="Text 7"/>
          <p:cNvSpPr/>
          <p:nvPr/>
        </p:nvSpPr>
        <p:spPr>
          <a:xfrm>
            <a:off x="387536" y="223659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 Problème avec les tableaux ordinaires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1520" y="2803768"/>
            <a:ext cx="4049648" cy="2449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7264" y="3083088"/>
            <a:ext cx="3803904" cy="171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Taille fixe — on doit tout prévoir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String[] etudiants = new String[30];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etudiants[0] = "Alice";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etudiants[1] = "Bob";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Et si on a 31 étudiants ? ❌ Impossible !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Pas de méthode pour chercher, trier...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22376" y="220260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Solution avec ArrayList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30936" y="2756794"/>
            <a:ext cx="4031747" cy="249646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958779" y="3094158"/>
            <a:ext cx="38039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Taille dynamique — s'adapte automatiquement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List&lt;String&gt; etudiants = new ArrayList&lt;&gt;();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etudiants.add("Alice");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etudiants.add("Bob");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etudiants.add("Clara"); // Autant qu'on veut ✅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etudiants.contains("Alice"); // true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etudiants.size();            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766085" y="5507200"/>
            <a:ext cx="283464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02077" y="5509248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08971" y="5587961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dynamique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564332" y="5507200"/>
            <a:ext cx="640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15637" y="5794619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add, remove, sort, contains, size…</a:t>
            </a:r>
          </a:p>
        </p:txBody>
      </p:sp>
    </p:spTree>
    <p:extLst>
      <p:ext uri="{BB962C8B-B14F-4D97-AF65-F5344CB8AC3E}">
        <p14:creationId xmlns:p14="http://schemas.microsoft.com/office/powerpoint/2010/main" val="353806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7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III.1. </a:t>
            </a:r>
            <a:r>
              <a:rPr lang="fr-CA" sz="2400" cap="none" dirty="0" err="1" smtClean="0">
                <a:solidFill>
                  <a:srgbClr val="FF0000"/>
                </a:solidFill>
              </a:rPr>
              <a:t>Hierachie</a:t>
            </a:r>
            <a:r>
              <a:rPr lang="fr-CA" sz="2400" cap="none" dirty="0" smtClean="0">
                <a:solidFill>
                  <a:srgbClr val="FF0000"/>
                </a:solidFill>
              </a:rPr>
              <a:t>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12776"/>
            <a:ext cx="74888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0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III.1. </a:t>
            </a:r>
            <a:r>
              <a:rPr lang="fr-CA" sz="2400" cap="none" dirty="0" err="1" smtClean="0">
                <a:solidFill>
                  <a:srgbClr val="FF0000"/>
                </a:solidFill>
              </a:rPr>
              <a:t>Hierachie</a:t>
            </a:r>
            <a:r>
              <a:rPr lang="fr-CA" sz="2400" cap="none" dirty="0" smtClean="0">
                <a:solidFill>
                  <a:srgbClr val="FF0000"/>
                </a:solidFill>
              </a:rPr>
              <a:t> des collections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92" y="1484784"/>
            <a:ext cx="7488832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3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568" y="260648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III.2. Implementation 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principale</a:t>
            </a:r>
            <a:endParaRPr lang="en-US" sz="28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377200" y="1585328"/>
            <a:ext cx="16002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5" name="Text 3"/>
          <p:cNvSpPr/>
          <p:nvPr/>
        </p:nvSpPr>
        <p:spPr>
          <a:xfrm>
            <a:off x="450352" y="1585328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86" name="Shape 4"/>
          <p:cNvSpPr/>
          <p:nvPr/>
        </p:nvSpPr>
        <p:spPr>
          <a:xfrm>
            <a:off x="2023120" y="1585328"/>
            <a:ext cx="178308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7" name="Text 5"/>
          <p:cNvSpPr/>
          <p:nvPr/>
        </p:nvSpPr>
        <p:spPr>
          <a:xfrm>
            <a:off x="2096272" y="158532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400" dirty="0"/>
          </a:p>
        </p:txBody>
      </p:sp>
      <p:sp>
        <p:nvSpPr>
          <p:cNvPr id="88" name="Shape 6"/>
          <p:cNvSpPr/>
          <p:nvPr/>
        </p:nvSpPr>
        <p:spPr>
          <a:xfrm>
            <a:off x="3851920" y="1585328"/>
            <a:ext cx="25146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9" name="Text 7"/>
          <p:cNvSpPr/>
          <p:nvPr/>
        </p:nvSpPr>
        <p:spPr>
          <a:xfrm>
            <a:off x="3925072" y="1585328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400" dirty="0"/>
          </a:p>
        </p:txBody>
      </p:sp>
      <p:sp>
        <p:nvSpPr>
          <p:cNvPr id="90" name="Shape 8"/>
          <p:cNvSpPr/>
          <p:nvPr/>
        </p:nvSpPr>
        <p:spPr>
          <a:xfrm>
            <a:off x="6412240" y="1585328"/>
            <a:ext cx="224028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1" name="Text 9"/>
          <p:cNvSpPr/>
          <p:nvPr/>
        </p:nvSpPr>
        <p:spPr>
          <a:xfrm>
            <a:off x="6485392" y="1585328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400" dirty="0"/>
          </a:p>
        </p:txBody>
      </p:sp>
      <p:sp>
        <p:nvSpPr>
          <p:cNvPr id="92" name="Shape 10"/>
          <p:cNvSpPr/>
          <p:nvPr/>
        </p:nvSpPr>
        <p:spPr>
          <a:xfrm>
            <a:off x="377200" y="1987664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11"/>
          <p:cNvSpPr/>
          <p:nvPr/>
        </p:nvSpPr>
        <p:spPr>
          <a:xfrm>
            <a:off x="468640" y="2024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List&lt;E&gt;</a:t>
            </a:r>
            <a:endParaRPr lang="en-US" sz="1400" dirty="0"/>
          </a:p>
        </p:txBody>
      </p:sp>
      <p:sp>
        <p:nvSpPr>
          <p:cNvPr id="94" name="Shape 12"/>
          <p:cNvSpPr/>
          <p:nvPr/>
        </p:nvSpPr>
        <p:spPr>
          <a:xfrm>
            <a:off x="2023120" y="198766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13"/>
          <p:cNvSpPr/>
          <p:nvPr/>
        </p:nvSpPr>
        <p:spPr>
          <a:xfrm>
            <a:off x="2114560" y="2024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1400" dirty="0"/>
          </a:p>
        </p:txBody>
      </p:sp>
      <p:sp>
        <p:nvSpPr>
          <p:cNvPr id="96" name="Shape 14"/>
          <p:cNvSpPr/>
          <p:nvPr/>
        </p:nvSpPr>
        <p:spPr>
          <a:xfrm>
            <a:off x="3851920" y="198766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15"/>
          <p:cNvSpPr/>
          <p:nvPr/>
        </p:nvSpPr>
        <p:spPr>
          <a:xfrm>
            <a:off x="3943360" y="2024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par index, O(1)</a:t>
            </a:r>
            <a:endParaRPr lang="en-US" sz="1400" dirty="0"/>
          </a:p>
        </p:txBody>
      </p:sp>
      <p:sp>
        <p:nvSpPr>
          <p:cNvPr id="98" name="Shape 16"/>
          <p:cNvSpPr/>
          <p:nvPr/>
        </p:nvSpPr>
        <p:spPr>
          <a:xfrm>
            <a:off x="6412240" y="1987664"/>
            <a:ext cx="2240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17"/>
          <p:cNvSpPr/>
          <p:nvPr/>
        </p:nvSpPr>
        <p:spPr>
          <a:xfrm>
            <a:off x="6503680" y="2024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ordonnées</a:t>
            </a:r>
            <a:endParaRPr lang="en-US" sz="1400" dirty="0"/>
          </a:p>
        </p:txBody>
      </p:sp>
      <p:sp>
        <p:nvSpPr>
          <p:cNvPr id="100" name="Shape 18"/>
          <p:cNvSpPr/>
          <p:nvPr/>
        </p:nvSpPr>
        <p:spPr>
          <a:xfrm>
            <a:off x="377200" y="2463152"/>
            <a:ext cx="16002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19"/>
          <p:cNvSpPr/>
          <p:nvPr/>
        </p:nvSpPr>
        <p:spPr>
          <a:xfrm>
            <a:off x="468640" y="2499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List&lt;E&gt;</a:t>
            </a:r>
            <a:endParaRPr lang="en-US" sz="1400" dirty="0"/>
          </a:p>
        </p:txBody>
      </p:sp>
      <p:sp>
        <p:nvSpPr>
          <p:cNvPr id="102" name="Shape 20"/>
          <p:cNvSpPr/>
          <p:nvPr/>
        </p:nvSpPr>
        <p:spPr>
          <a:xfrm>
            <a:off x="2023120" y="2463152"/>
            <a:ext cx="17830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21"/>
          <p:cNvSpPr/>
          <p:nvPr/>
        </p:nvSpPr>
        <p:spPr>
          <a:xfrm>
            <a:off x="2114560" y="24997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</a:t>
            </a:r>
            <a:endParaRPr lang="en-US" sz="1400" dirty="0"/>
          </a:p>
        </p:txBody>
      </p:sp>
      <p:sp>
        <p:nvSpPr>
          <p:cNvPr id="104" name="Shape 22"/>
          <p:cNvSpPr/>
          <p:nvPr/>
        </p:nvSpPr>
        <p:spPr>
          <a:xfrm>
            <a:off x="3851920" y="2463152"/>
            <a:ext cx="25146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23"/>
          <p:cNvSpPr/>
          <p:nvPr/>
        </p:nvSpPr>
        <p:spPr>
          <a:xfrm>
            <a:off x="3943360" y="2499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Insertion/suppression rapide</a:t>
            </a:r>
            <a:endParaRPr lang="en-US" sz="1400" dirty="0"/>
          </a:p>
        </p:txBody>
      </p:sp>
      <p:sp>
        <p:nvSpPr>
          <p:cNvPr id="106" name="Shape 24"/>
          <p:cNvSpPr/>
          <p:nvPr/>
        </p:nvSpPr>
        <p:spPr>
          <a:xfrm>
            <a:off x="6412240" y="2463152"/>
            <a:ext cx="22402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25"/>
          <p:cNvSpPr/>
          <p:nvPr/>
        </p:nvSpPr>
        <p:spPr>
          <a:xfrm>
            <a:off x="6503680" y="2499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piles</a:t>
            </a:r>
            <a:endParaRPr lang="en-US" sz="1400" dirty="0"/>
          </a:p>
        </p:txBody>
      </p:sp>
      <p:sp>
        <p:nvSpPr>
          <p:cNvPr id="108" name="Shape 26"/>
          <p:cNvSpPr/>
          <p:nvPr/>
        </p:nvSpPr>
        <p:spPr>
          <a:xfrm>
            <a:off x="377200" y="293864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27"/>
          <p:cNvSpPr/>
          <p:nvPr/>
        </p:nvSpPr>
        <p:spPr>
          <a:xfrm>
            <a:off x="468640" y="2975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Set&lt;E&gt;</a:t>
            </a:r>
            <a:endParaRPr lang="en-US" sz="1400" dirty="0"/>
          </a:p>
        </p:txBody>
      </p:sp>
      <p:sp>
        <p:nvSpPr>
          <p:cNvPr id="110" name="Shape 28"/>
          <p:cNvSpPr/>
          <p:nvPr/>
        </p:nvSpPr>
        <p:spPr>
          <a:xfrm>
            <a:off x="2023120" y="2995790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29"/>
          <p:cNvSpPr/>
          <p:nvPr/>
        </p:nvSpPr>
        <p:spPr>
          <a:xfrm>
            <a:off x="2114560" y="29752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</a:t>
            </a:r>
            <a:endParaRPr lang="en-US" sz="1400" dirty="0"/>
          </a:p>
        </p:txBody>
      </p:sp>
      <p:sp>
        <p:nvSpPr>
          <p:cNvPr id="112" name="Shape 30"/>
          <p:cNvSpPr/>
          <p:nvPr/>
        </p:nvSpPr>
        <p:spPr>
          <a:xfrm>
            <a:off x="3851920" y="293864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31"/>
          <p:cNvSpPr/>
          <p:nvPr/>
        </p:nvSpPr>
        <p:spPr>
          <a:xfrm>
            <a:off x="3943360" y="29752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doublons, O(1)</a:t>
            </a:r>
            <a:endParaRPr lang="en-US" sz="1400" dirty="0"/>
          </a:p>
        </p:txBody>
      </p:sp>
      <p:sp>
        <p:nvSpPr>
          <p:cNvPr id="114" name="Shape 32"/>
          <p:cNvSpPr/>
          <p:nvPr/>
        </p:nvSpPr>
        <p:spPr>
          <a:xfrm>
            <a:off x="6412240" y="2938640"/>
            <a:ext cx="2240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33"/>
          <p:cNvSpPr/>
          <p:nvPr/>
        </p:nvSpPr>
        <p:spPr>
          <a:xfrm>
            <a:off x="6503680" y="2975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d'éléments</a:t>
            </a:r>
            <a:endParaRPr lang="en-US" sz="1400" dirty="0"/>
          </a:p>
        </p:txBody>
      </p:sp>
      <p:sp>
        <p:nvSpPr>
          <p:cNvPr id="116" name="Shape 34"/>
          <p:cNvSpPr/>
          <p:nvPr/>
        </p:nvSpPr>
        <p:spPr>
          <a:xfrm>
            <a:off x="377200" y="3414128"/>
            <a:ext cx="16002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35"/>
          <p:cNvSpPr/>
          <p:nvPr/>
        </p:nvSpPr>
        <p:spPr>
          <a:xfrm>
            <a:off x="468640" y="34507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Set&lt;E&gt;</a:t>
            </a:r>
            <a:endParaRPr lang="en-US" sz="1400" dirty="0"/>
          </a:p>
        </p:txBody>
      </p:sp>
      <p:sp>
        <p:nvSpPr>
          <p:cNvPr id="118" name="Shape 36"/>
          <p:cNvSpPr/>
          <p:nvPr/>
        </p:nvSpPr>
        <p:spPr>
          <a:xfrm>
            <a:off x="2023120" y="3414128"/>
            <a:ext cx="17830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37"/>
          <p:cNvSpPr/>
          <p:nvPr/>
        </p:nvSpPr>
        <p:spPr>
          <a:xfrm>
            <a:off x="2114560" y="3450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TreeSet</a:t>
            </a:r>
            <a:endParaRPr lang="en-US" sz="1400" dirty="0"/>
          </a:p>
        </p:txBody>
      </p:sp>
      <p:sp>
        <p:nvSpPr>
          <p:cNvPr id="120" name="Shape 38"/>
          <p:cNvSpPr/>
          <p:nvPr/>
        </p:nvSpPr>
        <p:spPr>
          <a:xfrm>
            <a:off x="3851920" y="3414128"/>
            <a:ext cx="25146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39"/>
          <p:cNvSpPr/>
          <p:nvPr/>
        </p:nvSpPr>
        <p:spPr>
          <a:xfrm>
            <a:off x="3943360" y="3450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 naturellement, O(log n)</a:t>
            </a:r>
            <a:endParaRPr lang="en-US" sz="1400" dirty="0"/>
          </a:p>
        </p:txBody>
      </p:sp>
      <p:sp>
        <p:nvSpPr>
          <p:cNvPr id="122" name="Shape 40"/>
          <p:cNvSpPr/>
          <p:nvPr/>
        </p:nvSpPr>
        <p:spPr>
          <a:xfrm>
            <a:off x="6412240" y="3414128"/>
            <a:ext cx="22402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41"/>
          <p:cNvSpPr/>
          <p:nvPr/>
        </p:nvSpPr>
        <p:spPr>
          <a:xfrm>
            <a:off x="6503680" y="34507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triées</a:t>
            </a:r>
            <a:endParaRPr lang="en-US" sz="1400" dirty="0"/>
          </a:p>
        </p:txBody>
      </p:sp>
      <p:sp>
        <p:nvSpPr>
          <p:cNvPr id="124" name="Shape 42"/>
          <p:cNvSpPr/>
          <p:nvPr/>
        </p:nvSpPr>
        <p:spPr>
          <a:xfrm>
            <a:off x="377200" y="3889616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43"/>
          <p:cNvSpPr/>
          <p:nvPr/>
        </p:nvSpPr>
        <p:spPr>
          <a:xfrm>
            <a:off x="468640" y="392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Map&lt;K,V&gt;</a:t>
            </a:r>
            <a:endParaRPr lang="en-US" sz="1400" dirty="0"/>
          </a:p>
        </p:txBody>
      </p:sp>
      <p:sp>
        <p:nvSpPr>
          <p:cNvPr id="126" name="Shape 44"/>
          <p:cNvSpPr/>
          <p:nvPr/>
        </p:nvSpPr>
        <p:spPr>
          <a:xfrm>
            <a:off x="2023120" y="388961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45"/>
          <p:cNvSpPr/>
          <p:nvPr/>
        </p:nvSpPr>
        <p:spPr>
          <a:xfrm>
            <a:off x="2114560" y="3926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endParaRPr lang="en-US" sz="1400" dirty="0"/>
          </a:p>
        </p:txBody>
      </p:sp>
      <p:sp>
        <p:nvSpPr>
          <p:cNvPr id="128" name="Shape 46"/>
          <p:cNvSpPr/>
          <p:nvPr/>
        </p:nvSpPr>
        <p:spPr>
          <a:xfrm>
            <a:off x="3851920" y="3889616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47"/>
          <p:cNvSpPr/>
          <p:nvPr/>
        </p:nvSpPr>
        <p:spPr>
          <a:xfrm>
            <a:off x="3943360" y="392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Clé→Valeur, O(1)</a:t>
            </a:r>
            <a:endParaRPr lang="en-US" sz="1400" dirty="0"/>
          </a:p>
        </p:txBody>
      </p:sp>
      <p:sp>
        <p:nvSpPr>
          <p:cNvPr id="130" name="Shape 48"/>
          <p:cNvSpPr/>
          <p:nvPr/>
        </p:nvSpPr>
        <p:spPr>
          <a:xfrm>
            <a:off x="6412240" y="3889616"/>
            <a:ext cx="2240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49"/>
          <p:cNvSpPr/>
          <p:nvPr/>
        </p:nvSpPr>
        <p:spPr>
          <a:xfrm>
            <a:off x="6503680" y="3926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</a:t>
            </a:r>
            <a:endParaRPr lang="en-US" sz="1400" dirty="0"/>
          </a:p>
        </p:txBody>
      </p:sp>
      <p:sp>
        <p:nvSpPr>
          <p:cNvPr id="132" name="Shape 50"/>
          <p:cNvSpPr/>
          <p:nvPr/>
        </p:nvSpPr>
        <p:spPr>
          <a:xfrm>
            <a:off x="377200" y="4365104"/>
            <a:ext cx="16002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51"/>
          <p:cNvSpPr/>
          <p:nvPr/>
        </p:nvSpPr>
        <p:spPr>
          <a:xfrm>
            <a:off x="468640" y="440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Queue&lt;E&gt;</a:t>
            </a:r>
            <a:endParaRPr lang="en-US" sz="1400" dirty="0"/>
          </a:p>
        </p:txBody>
      </p:sp>
      <p:sp>
        <p:nvSpPr>
          <p:cNvPr id="134" name="Shape 52"/>
          <p:cNvSpPr/>
          <p:nvPr/>
        </p:nvSpPr>
        <p:spPr>
          <a:xfrm>
            <a:off x="2023120" y="4365104"/>
            <a:ext cx="17830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53"/>
          <p:cNvSpPr/>
          <p:nvPr/>
        </p:nvSpPr>
        <p:spPr>
          <a:xfrm>
            <a:off x="2114560" y="4401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</a:t>
            </a:r>
            <a:endParaRPr lang="en-US" sz="1400" dirty="0"/>
          </a:p>
        </p:txBody>
      </p:sp>
      <p:sp>
        <p:nvSpPr>
          <p:cNvPr id="136" name="Shape 54"/>
          <p:cNvSpPr/>
          <p:nvPr/>
        </p:nvSpPr>
        <p:spPr>
          <a:xfrm>
            <a:off x="3851920" y="4365104"/>
            <a:ext cx="251460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55"/>
          <p:cNvSpPr/>
          <p:nvPr/>
        </p:nvSpPr>
        <p:spPr>
          <a:xfrm>
            <a:off x="3943360" y="440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priorité</a:t>
            </a:r>
            <a:endParaRPr lang="en-US" sz="1400" dirty="0"/>
          </a:p>
        </p:txBody>
      </p:sp>
      <p:sp>
        <p:nvSpPr>
          <p:cNvPr id="138" name="Shape 56"/>
          <p:cNvSpPr/>
          <p:nvPr/>
        </p:nvSpPr>
        <p:spPr>
          <a:xfrm>
            <a:off x="6412240" y="4365104"/>
            <a:ext cx="22402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57"/>
          <p:cNvSpPr/>
          <p:nvPr/>
        </p:nvSpPr>
        <p:spPr>
          <a:xfrm>
            <a:off x="6503680" y="4401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ordonnés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cap="none" dirty="0" smtClean="0">
                <a:solidFill>
                  <a:srgbClr val="FF0000"/>
                </a:solidFill>
              </a:rPr>
              <a:t>IV. </a:t>
            </a:r>
            <a:r>
              <a:rPr lang="el-GR" sz="2400" cap="none" dirty="0" smtClean="0">
                <a:solidFill>
                  <a:srgbClr val="FF0000"/>
                </a:solidFill>
              </a:rPr>
              <a:t>λ  </a:t>
            </a:r>
            <a:r>
              <a:rPr lang="fr-CA" sz="2400" cap="none" dirty="0">
                <a:solidFill>
                  <a:srgbClr val="FF0000"/>
                </a:solidFill>
              </a:rPr>
              <a:t>Expressions Lambda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67" name="Text 7"/>
          <p:cNvSpPr/>
          <p:nvPr/>
        </p:nvSpPr>
        <p:spPr>
          <a:xfrm>
            <a:off x="2339940" y="1095286"/>
            <a:ext cx="478812" cy="63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9"/>
          <p:cNvSpPr/>
          <p:nvPr/>
        </p:nvSpPr>
        <p:spPr>
          <a:xfrm>
            <a:off x="2822770" y="1093386"/>
            <a:ext cx="1723722" cy="63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corps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250611" y="1185890"/>
            <a:ext cx="8595360" cy="594360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109" name="Shape 3"/>
          <p:cNvSpPr/>
          <p:nvPr/>
        </p:nvSpPr>
        <p:spPr>
          <a:xfrm>
            <a:off x="250611" y="1161343"/>
            <a:ext cx="64008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0" name="Text 4"/>
          <p:cNvSpPr/>
          <p:nvPr/>
        </p:nvSpPr>
        <p:spPr>
          <a:xfrm>
            <a:off x="433491" y="1161343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 lambda est une fonction anonyme courte qu'on peut passer </a:t>
            </a:r>
            <a:r>
              <a:rPr lang="en-US" sz="1400" dirty="0" err="1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argument. Elle remplace les classes anonymes pour les interfaces fonctionnelles (1 seule méthode abstraite).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292881" y="208350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Évolution de la syntaxe 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151422" y="2589434"/>
            <a:ext cx="4206240" cy="320040"/>
          </a:xfrm>
          <a:prstGeom prst="rect">
            <a:avLst/>
          </a:prstGeom>
          <a:solidFill>
            <a:schemeClr val="bg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3" name="Text 7"/>
          <p:cNvSpPr/>
          <p:nvPr/>
        </p:nvSpPr>
        <p:spPr>
          <a:xfrm>
            <a:off x="447630" y="258204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Avant Java 8 — Classe Anonyme</a:t>
            </a:r>
          </a:p>
        </p:txBody>
      </p:sp>
      <p:sp>
        <p:nvSpPr>
          <p:cNvPr id="114" name="Shape 8"/>
          <p:cNvSpPr/>
          <p:nvPr/>
        </p:nvSpPr>
        <p:spPr>
          <a:xfrm>
            <a:off x="247161" y="2937965"/>
            <a:ext cx="4206240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5" name="Text 9"/>
          <p:cNvSpPr/>
          <p:nvPr/>
        </p:nvSpPr>
        <p:spPr>
          <a:xfrm>
            <a:off x="356889" y="302940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Runnable r = new Runnable() {</a:t>
            </a:r>
          </a:p>
        </p:txBody>
      </p:sp>
      <p:sp>
        <p:nvSpPr>
          <p:cNvPr id="116" name="Text 10"/>
          <p:cNvSpPr/>
          <p:nvPr/>
        </p:nvSpPr>
        <p:spPr>
          <a:xfrm>
            <a:off x="356889" y="333115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</p:txBody>
      </p:sp>
      <p:sp>
        <p:nvSpPr>
          <p:cNvPr id="117" name="Text 11"/>
          <p:cNvSpPr/>
          <p:nvPr/>
        </p:nvSpPr>
        <p:spPr>
          <a:xfrm>
            <a:off x="356889" y="3632909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run() {</a:t>
            </a:r>
          </a:p>
        </p:txBody>
      </p:sp>
      <p:sp>
        <p:nvSpPr>
          <p:cNvPr id="118" name="Text 12"/>
          <p:cNvSpPr/>
          <p:nvPr/>
        </p:nvSpPr>
        <p:spPr>
          <a:xfrm>
            <a:off x="356889" y="393466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System.out.println("Bonjour!");</a:t>
            </a:r>
          </a:p>
        </p:txBody>
      </p:sp>
      <p:sp>
        <p:nvSpPr>
          <p:cNvPr id="119" name="Text 13"/>
          <p:cNvSpPr/>
          <p:nvPr/>
        </p:nvSpPr>
        <p:spPr>
          <a:xfrm>
            <a:off x="356889" y="423641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20" name="Text 14"/>
          <p:cNvSpPr/>
          <p:nvPr/>
        </p:nvSpPr>
        <p:spPr>
          <a:xfrm>
            <a:off x="356889" y="4538165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121" name="Shape 15"/>
          <p:cNvSpPr/>
          <p:nvPr/>
        </p:nvSpPr>
        <p:spPr>
          <a:xfrm>
            <a:off x="4727721" y="2589434"/>
            <a:ext cx="4206240" cy="320040"/>
          </a:xfrm>
          <a:prstGeom prst="rect">
            <a:avLst/>
          </a:prstGeom>
          <a:solidFill>
            <a:schemeClr val="bg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2" name="Text 16"/>
          <p:cNvSpPr/>
          <p:nvPr/>
        </p:nvSpPr>
        <p:spPr>
          <a:xfrm>
            <a:off x="5120640" y="2617925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Java 8+ — Lambda Expression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4727721" y="2937965"/>
            <a:ext cx="4206240" cy="76751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8" name="Text 22"/>
          <p:cNvSpPr/>
          <p:nvPr/>
        </p:nvSpPr>
        <p:spPr>
          <a:xfrm>
            <a:off x="4837449" y="423641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4748107" y="4041323"/>
            <a:ext cx="4545375" cy="15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Runnable r2 = () -&gt; </a:t>
            </a:r>
            <a:r>
              <a:rPr lang="en-US" sz="16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("Bonjour!");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6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3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2" grpId="0" animBg="1"/>
      <p:bldP spid="1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226846"/>
            <a:ext cx="8856984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400" cap="none" dirty="0">
                <a:solidFill>
                  <a:srgbClr val="FF0000"/>
                </a:solidFill>
              </a:rPr>
              <a:t>IV. </a:t>
            </a:r>
            <a:r>
              <a:rPr lang="en-US" sz="2400" cap="none" dirty="0" smtClean="0">
                <a:solidFill>
                  <a:srgbClr val="FF0000"/>
                </a:solidFill>
              </a:rPr>
              <a:t>1.</a:t>
            </a:r>
            <a:r>
              <a:rPr lang="en-US" sz="2000" cap="none" dirty="0" smtClean="0">
                <a:solidFill>
                  <a:srgbClr val="FF0000"/>
                </a:solidFill>
              </a:rPr>
              <a:t> </a:t>
            </a:r>
            <a:r>
              <a:rPr lang="fr-FR" sz="2000" cap="none" dirty="0" smtClean="0">
                <a:solidFill>
                  <a:srgbClr val="FF0000"/>
                </a:solidFill>
              </a:rPr>
              <a:t>λ  </a:t>
            </a:r>
            <a:r>
              <a:rPr lang="fr-FR" sz="2000" cap="none" dirty="0">
                <a:solidFill>
                  <a:srgbClr val="FF0000"/>
                </a:solidFill>
              </a:rPr>
              <a:t>Syntaxe Lambda — Formes &amp; Interfaces Fonctionnelles</a:t>
            </a:r>
            <a:endParaRPr lang="fr-FR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30" name="Text 2"/>
          <p:cNvSpPr/>
          <p:nvPr/>
        </p:nvSpPr>
        <p:spPr>
          <a:xfrm>
            <a:off x="532696" y="121817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de lambda :</a:t>
            </a:r>
            <a:endParaRPr lang="en-US" sz="1400" dirty="0"/>
          </a:p>
        </p:txBody>
      </p:sp>
      <p:sp>
        <p:nvSpPr>
          <p:cNvPr id="31" name="Shape 3"/>
          <p:cNvSpPr/>
          <p:nvPr/>
        </p:nvSpPr>
        <p:spPr>
          <a:xfrm>
            <a:off x="395536" y="1705178"/>
            <a:ext cx="4206240" cy="3520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2" name="Text 4"/>
          <p:cNvSpPr/>
          <p:nvPr/>
        </p:nvSpPr>
        <p:spPr>
          <a:xfrm>
            <a:off x="532696" y="177833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Aucun paramètre</a:t>
            </a:r>
            <a:endParaRPr lang="en-US" sz="1400" dirty="0"/>
          </a:p>
        </p:txBody>
      </p:sp>
      <p:sp>
        <p:nvSpPr>
          <p:cNvPr id="33" name="Text 5"/>
          <p:cNvSpPr/>
          <p:nvPr/>
        </p:nvSpPr>
        <p:spPr>
          <a:xfrm>
            <a:off x="532696" y="197492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System.out.println(42)</a:t>
            </a:r>
            <a:endParaRPr lang="en-US" sz="1400" dirty="0"/>
          </a:p>
        </p:txBody>
      </p:sp>
      <p:sp>
        <p:nvSpPr>
          <p:cNvPr id="34" name="Text 6"/>
          <p:cNvSpPr/>
          <p:nvPr/>
        </p:nvSpPr>
        <p:spPr>
          <a:xfrm>
            <a:off x="532696" y="217152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Text 7"/>
          <p:cNvSpPr/>
          <p:nvPr/>
        </p:nvSpPr>
        <p:spPr>
          <a:xfrm>
            <a:off x="532696" y="236811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paramètre</a:t>
            </a:r>
            <a:endParaRPr lang="en-US" sz="1400" dirty="0"/>
          </a:p>
        </p:txBody>
      </p:sp>
      <p:sp>
        <p:nvSpPr>
          <p:cNvPr id="36" name="Text 8"/>
          <p:cNvSpPr/>
          <p:nvPr/>
        </p:nvSpPr>
        <p:spPr>
          <a:xfrm>
            <a:off x="532696" y="256471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-&gt; x * x</a:t>
            </a:r>
            <a:endParaRPr lang="en-US" sz="1400" dirty="0"/>
          </a:p>
        </p:txBody>
      </p:sp>
      <p:sp>
        <p:nvSpPr>
          <p:cNvPr id="37" name="Text 9"/>
          <p:cNvSpPr/>
          <p:nvPr/>
        </p:nvSpPr>
        <p:spPr>
          <a:xfrm>
            <a:off x="532696" y="276131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8" name="Text 10"/>
          <p:cNvSpPr/>
          <p:nvPr/>
        </p:nvSpPr>
        <p:spPr>
          <a:xfrm>
            <a:off x="532696" y="295790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Deux paramètres</a:t>
            </a:r>
            <a:endParaRPr lang="en-US" sz="1400" dirty="0"/>
          </a:p>
        </p:txBody>
      </p:sp>
      <p:sp>
        <p:nvSpPr>
          <p:cNvPr id="39" name="Text 11"/>
          <p:cNvSpPr/>
          <p:nvPr/>
        </p:nvSpPr>
        <p:spPr>
          <a:xfrm>
            <a:off x="532696" y="315450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a + b</a:t>
            </a:r>
            <a:endParaRPr lang="en-US" sz="1400" dirty="0"/>
          </a:p>
        </p:txBody>
      </p:sp>
      <p:sp>
        <p:nvSpPr>
          <p:cNvPr id="40" name="Text 12"/>
          <p:cNvSpPr/>
          <p:nvPr/>
        </p:nvSpPr>
        <p:spPr>
          <a:xfrm>
            <a:off x="532696" y="335109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1" name="Text 13"/>
          <p:cNvSpPr/>
          <p:nvPr/>
        </p:nvSpPr>
        <p:spPr>
          <a:xfrm>
            <a:off x="532696" y="354769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Bloc de code</a:t>
            </a:r>
            <a:endParaRPr lang="en-US" sz="1400" dirty="0"/>
          </a:p>
        </p:txBody>
      </p:sp>
      <p:sp>
        <p:nvSpPr>
          <p:cNvPr id="42" name="Text 14"/>
          <p:cNvSpPr/>
          <p:nvPr/>
        </p:nvSpPr>
        <p:spPr>
          <a:xfrm>
            <a:off x="532696" y="374429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{</a:t>
            </a:r>
            <a:endParaRPr lang="en-US" sz="1400" dirty="0"/>
          </a:p>
        </p:txBody>
      </p:sp>
      <p:sp>
        <p:nvSpPr>
          <p:cNvPr id="43" name="Text 15"/>
          <p:cNvSpPr/>
          <p:nvPr/>
        </p:nvSpPr>
        <p:spPr>
          <a:xfrm>
            <a:off x="532696" y="394088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res = a + b;</a:t>
            </a:r>
            <a:endParaRPr lang="en-US" sz="1400" dirty="0"/>
          </a:p>
        </p:txBody>
      </p:sp>
      <p:sp>
        <p:nvSpPr>
          <p:cNvPr id="44" name="Text 16"/>
          <p:cNvSpPr/>
          <p:nvPr/>
        </p:nvSpPr>
        <p:spPr>
          <a:xfrm>
            <a:off x="532696" y="413748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res;</a:t>
            </a:r>
            <a:endParaRPr lang="en-US" sz="1400" dirty="0"/>
          </a:p>
        </p:txBody>
      </p:sp>
      <p:sp>
        <p:nvSpPr>
          <p:cNvPr id="45" name="Text 17"/>
          <p:cNvSpPr/>
          <p:nvPr/>
        </p:nvSpPr>
        <p:spPr>
          <a:xfrm>
            <a:off x="532696" y="433407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46" name="Text 18"/>
          <p:cNvSpPr/>
          <p:nvPr/>
        </p:nvSpPr>
        <p:spPr>
          <a:xfrm>
            <a:off x="532696" y="453067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7" name="Text 19"/>
          <p:cNvSpPr/>
          <p:nvPr/>
        </p:nvSpPr>
        <p:spPr>
          <a:xfrm>
            <a:off x="532696" y="472727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Méthode référence</a:t>
            </a:r>
            <a:endParaRPr lang="en-US" sz="1400" dirty="0"/>
          </a:p>
        </p:txBody>
      </p:sp>
      <p:sp>
        <p:nvSpPr>
          <p:cNvPr id="48" name="Text 20"/>
          <p:cNvSpPr/>
          <p:nvPr/>
        </p:nvSpPr>
        <p:spPr>
          <a:xfrm>
            <a:off x="532696" y="492386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String::toUpperCase</a:t>
            </a:r>
            <a:endParaRPr lang="en-US" sz="1400" dirty="0"/>
          </a:p>
        </p:txBody>
      </p:sp>
      <p:sp>
        <p:nvSpPr>
          <p:cNvPr id="49" name="Text 21"/>
          <p:cNvSpPr/>
          <p:nvPr/>
        </p:nvSpPr>
        <p:spPr>
          <a:xfrm>
            <a:off x="4838700" y="1286590"/>
            <a:ext cx="4189592" cy="21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Fonctionnelles (java.util.function) :</a:t>
            </a:r>
            <a:endParaRPr lang="en-US" sz="1400" dirty="0"/>
          </a:p>
        </p:txBody>
      </p:sp>
      <p:sp>
        <p:nvSpPr>
          <p:cNvPr id="50" name="Shape 22"/>
          <p:cNvSpPr/>
          <p:nvPr/>
        </p:nvSpPr>
        <p:spPr>
          <a:xfrm>
            <a:off x="4830376" y="1705178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23"/>
          <p:cNvSpPr/>
          <p:nvPr/>
        </p:nvSpPr>
        <p:spPr>
          <a:xfrm>
            <a:off x="4830503" y="1773936"/>
            <a:ext cx="63754" cy="5025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2" name="Text 24"/>
          <p:cNvSpPr/>
          <p:nvPr/>
        </p:nvSpPr>
        <p:spPr>
          <a:xfrm>
            <a:off x="4952867" y="1776437"/>
            <a:ext cx="1821562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Predicate&lt;T&gt;</a:t>
            </a:r>
            <a:endParaRPr lang="en-US" sz="1400" dirty="0"/>
          </a:p>
        </p:txBody>
      </p:sp>
      <p:sp>
        <p:nvSpPr>
          <p:cNvPr id="53" name="Text 25"/>
          <p:cNvSpPr/>
          <p:nvPr/>
        </p:nvSpPr>
        <p:spPr>
          <a:xfrm>
            <a:off x="6800498" y="1776437"/>
            <a:ext cx="20947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boolean</a:t>
            </a:r>
            <a:endParaRPr lang="en-US" sz="1400" dirty="0"/>
          </a:p>
        </p:txBody>
      </p:sp>
      <p:sp>
        <p:nvSpPr>
          <p:cNvPr id="54" name="Text 26"/>
          <p:cNvSpPr/>
          <p:nvPr/>
        </p:nvSpPr>
        <p:spPr>
          <a:xfrm>
            <a:off x="4957120" y="2050757"/>
            <a:ext cx="39618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s -&gt; s.length() &gt; 3</a:t>
            </a:r>
            <a:endParaRPr lang="en-US" sz="1400" dirty="0"/>
          </a:p>
        </p:txBody>
      </p:sp>
      <p:sp>
        <p:nvSpPr>
          <p:cNvPr id="55" name="Shape 27"/>
          <p:cNvSpPr/>
          <p:nvPr/>
        </p:nvSpPr>
        <p:spPr>
          <a:xfrm>
            <a:off x="4838700" y="2534793"/>
            <a:ext cx="4189592" cy="5025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Shape 28"/>
          <p:cNvSpPr/>
          <p:nvPr/>
        </p:nvSpPr>
        <p:spPr>
          <a:xfrm>
            <a:off x="4830376" y="2418410"/>
            <a:ext cx="64008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7" name="Text 29"/>
          <p:cNvSpPr/>
          <p:nvPr/>
        </p:nvSpPr>
        <p:spPr>
          <a:xfrm>
            <a:off x="4952867" y="2489669"/>
            <a:ext cx="1821562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Function&lt;T,R&gt;</a:t>
            </a:r>
            <a:endParaRPr lang="en-US" sz="1400" dirty="0"/>
          </a:p>
        </p:txBody>
      </p:sp>
      <p:sp>
        <p:nvSpPr>
          <p:cNvPr id="58" name="Text 30"/>
          <p:cNvSpPr/>
          <p:nvPr/>
        </p:nvSpPr>
        <p:spPr>
          <a:xfrm>
            <a:off x="6800498" y="2489669"/>
            <a:ext cx="20947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R</a:t>
            </a:r>
            <a:endParaRPr lang="en-US" sz="1400" dirty="0"/>
          </a:p>
        </p:txBody>
      </p:sp>
      <p:sp>
        <p:nvSpPr>
          <p:cNvPr id="59" name="Text 31"/>
          <p:cNvSpPr/>
          <p:nvPr/>
        </p:nvSpPr>
        <p:spPr>
          <a:xfrm>
            <a:off x="4957120" y="2763989"/>
            <a:ext cx="3961896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s -&gt; s.toUpperCase()</a:t>
            </a:r>
            <a:endParaRPr lang="en-US" sz="1400" dirty="0"/>
          </a:p>
        </p:txBody>
      </p:sp>
      <p:sp>
        <p:nvSpPr>
          <p:cNvPr id="60" name="Shape 32"/>
          <p:cNvSpPr/>
          <p:nvPr/>
        </p:nvSpPr>
        <p:spPr>
          <a:xfrm>
            <a:off x="4838700" y="3200400"/>
            <a:ext cx="4189592" cy="5025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1" name="Shape 33"/>
          <p:cNvSpPr/>
          <p:nvPr/>
        </p:nvSpPr>
        <p:spPr>
          <a:xfrm>
            <a:off x="4830376" y="3131642"/>
            <a:ext cx="64008" cy="640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2" name="Text 34"/>
          <p:cNvSpPr/>
          <p:nvPr/>
        </p:nvSpPr>
        <p:spPr>
          <a:xfrm>
            <a:off x="4952867" y="3202901"/>
            <a:ext cx="1821562" cy="18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Consumer&lt;T&gt;</a:t>
            </a:r>
            <a:endParaRPr lang="en-US" sz="1400" dirty="0"/>
          </a:p>
        </p:txBody>
      </p:sp>
      <p:sp>
        <p:nvSpPr>
          <p:cNvPr id="63" name="Text 35"/>
          <p:cNvSpPr/>
          <p:nvPr/>
        </p:nvSpPr>
        <p:spPr>
          <a:xfrm>
            <a:off x="6800498" y="3177362"/>
            <a:ext cx="2094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void</a:t>
            </a:r>
            <a:endParaRPr lang="en-US" sz="1400" dirty="0"/>
          </a:p>
        </p:txBody>
      </p:sp>
      <p:sp>
        <p:nvSpPr>
          <p:cNvPr id="64" name="Text 36"/>
          <p:cNvSpPr/>
          <p:nvPr/>
        </p:nvSpPr>
        <p:spPr>
          <a:xfrm>
            <a:off x="4957120" y="3451682"/>
            <a:ext cx="396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s -&gt; System.out.println(s)</a:t>
            </a:r>
            <a:endParaRPr lang="en-US" sz="1400" dirty="0"/>
          </a:p>
        </p:txBody>
      </p:sp>
      <p:sp>
        <p:nvSpPr>
          <p:cNvPr id="65" name="Shape 37"/>
          <p:cNvSpPr/>
          <p:nvPr/>
        </p:nvSpPr>
        <p:spPr>
          <a:xfrm>
            <a:off x="4838700" y="3844874"/>
            <a:ext cx="4189592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6" name="Shape 38"/>
          <p:cNvSpPr/>
          <p:nvPr/>
        </p:nvSpPr>
        <p:spPr>
          <a:xfrm>
            <a:off x="4830376" y="3844874"/>
            <a:ext cx="64008" cy="640080"/>
          </a:xfrm>
          <a:prstGeom prst="rect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</p:sp>
      <p:sp>
        <p:nvSpPr>
          <p:cNvPr id="68" name="Text 39"/>
          <p:cNvSpPr/>
          <p:nvPr/>
        </p:nvSpPr>
        <p:spPr>
          <a:xfrm>
            <a:off x="4952867" y="3890594"/>
            <a:ext cx="1821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Supplier&lt;T&gt;</a:t>
            </a:r>
            <a:endParaRPr lang="en-US" sz="1400" dirty="0"/>
          </a:p>
        </p:txBody>
      </p:sp>
      <p:sp>
        <p:nvSpPr>
          <p:cNvPr id="70" name="Text 40"/>
          <p:cNvSpPr/>
          <p:nvPr/>
        </p:nvSpPr>
        <p:spPr>
          <a:xfrm>
            <a:off x="6800498" y="3890594"/>
            <a:ext cx="2094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→ T</a:t>
            </a:r>
            <a:endParaRPr lang="en-US" sz="1400" dirty="0"/>
          </a:p>
        </p:txBody>
      </p:sp>
      <p:sp>
        <p:nvSpPr>
          <p:cNvPr id="71" name="Text 41"/>
          <p:cNvSpPr/>
          <p:nvPr/>
        </p:nvSpPr>
        <p:spPr>
          <a:xfrm>
            <a:off x="4957120" y="4164914"/>
            <a:ext cx="396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= () -&gt; "Bonjour"</a:t>
            </a:r>
            <a:endParaRPr lang="en-US" sz="1400" dirty="0"/>
          </a:p>
        </p:txBody>
      </p:sp>
      <p:sp>
        <p:nvSpPr>
          <p:cNvPr id="72" name="Shape 42"/>
          <p:cNvSpPr/>
          <p:nvPr/>
        </p:nvSpPr>
        <p:spPr>
          <a:xfrm>
            <a:off x="4838700" y="4558106"/>
            <a:ext cx="4189592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3" name="Shape 43"/>
          <p:cNvSpPr/>
          <p:nvPr/>
        </p:nvSpPr>
        <p:spPr>
          <a:xfrm>
            <a:off x="4830376" y="4558106"/>
            <a:ext cx="64008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4" name="Text 44"/>
          <p:cNvSpPr/>
          <p:nvPr/>
        </p:nvSpPr>
        <p:spPr>
          <a:xfrm>
            <a:off x="4952867" y="4603826"/>
            <a:ext cx="1821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BiFunction&lt;T,U,R&gt;</a:t>
            </a:r>
            <a:endParaRPr lang="en-US" sz="1400" dirty="0"/>
          </a:p>
        </p:txBody>
      </p:sp>
      <p:sp>
        <p:nvSpPr>
          <p:cNvPr id="75" name="Text 45"/>
          <p:cNvSpPr/>
          <p:nvPr/>
        </p:nvSpPr>
        <p:spPr>
          <a:xfrm>
            <a:off x="6796336" y="460382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(T,U) → R</a:t>
            </a:r>
            <a:endParaRPr lang="en-US" sz="1400" dirty="0"/>
          </a:p>
        </p:txBody>
      </p:sp>
      <p:sp>
        <p:nvSpPr>
          <p:cNvPr id="76" name="Text 46"/>
          <p:cNvSpPr/>
          <p:nvPr/>
        </p:nvSpPr>
        <p:spPr>
          <a:xfrm>
            <a:off x="4949248" y="487814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 = (a,b) -&gt; a + 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502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7" grpId="0" animBg="1"/>
      <p:bldP spid="58" grpId="0" animBg="1"/>
      <p:bldP spid="59" grpId="0" animBg="1"/>
      <p:bldP spid="62" grpId="0" animBg="1"/>
      <p:bldP spid="63" grpId="0" animBg="1"/>
      <p:bldP spid="64" grpId="0" animBg="1"/>
      <p:bldP spid="68" grpId="0" animBg="1"/>
      <p:bldP spid="70" grpId="0" animBg="1"/>
      <p:bldP spid="71" grpId="0" animBg="1"/>
      <p:bldP spid="74" grpId="0" animBg="1"/>
      <p:bldP spid="7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sz="2400" cap="none" dirty="0">
                <a:solidFill>
                  <a:srgbClr val="FF0000"/>
                </a:solidFill>
              </a:rPr>
              <a:t>IV. </a:t>
            </a:r>
            <a:r>
              <a:rPr lang="en-US" sz="2400" cap="none" dirty="0" smtClean="0">
                <a:solidFill>
                  <a:srgbClr val="FF0000"/>
                </a:solidFill>
              </a:rPr>
              <a:t>2.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Stream API — Pipeline de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5843571" y="2168683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Collection / Array</a:t>
            </a:r>
          </a:p>
        </p:txBody>
      </p:sp>
      <p:sp>
        <p:nvSpPr>
          <p:cNvPr id="39" name="Text 17"/>
          <p:cNvSpPr/>
          <p:nvPr/>
        </p:nvSpPr>
        <p:spPr>
          <a:xfrm>
            <a:off x="5843571" y="2945923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Opération intermédiaire</a:t>
            </a:r>
          </a:p>
        </p:txBody>
      </p:sp>
      <p:sp>
        <p:nvSpPr>
          <p:cNvPr id="43" name="Text 21"/>
          <p:cNvSpPr/>
          <p:nvPr/>
        </p:nvSpPr>
        <p:spPr>
          <a:xfrm>
            <a:off x="5816462" y="3663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map()</a:t>
            </a:r>
            <a:endParaRPr lang="en-US" sz="1300" dirty="0"/>
          </a:p>
        </p:txBody>
      </p:sp>
      <p:sp>
        <p:nvSpPr>
          <p:cNvPr id="44" name="Text 22"/>
          <p:cNvSpPr/>
          <p:nvPr/>
        </p:nvSpPr>
        <p:spPr>
          <a:xfrm>
            <a:off x="5816462" y="3956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Opération intermédiaire</a:t>
            </a:r>
          </a:p>
        </p:txBody>
      </p:sp>
      <p:sp>
        <p:nvSpPr>
          <p:cNvPr id="49" name="Text 27"/>
          <p:cNvSpPr/>
          <p:nvPr/>
        </p:nvSpPr>
        <p:spPr>
          <a:xfrm>
            <a:off x="5816462" y="4733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Opération terminale</a:t>
            </a:r>
          </a:p>
        </p:txBody>
      </p:sp>
      <p:sp>
        <p:nvSpPr>
          <p:cNvPr id="50" name="Shape 2"/>
          <p:cNvSpPr/>
          <p:nvPr/>
        </p:nvSpPr>
        <p:spPr>
          <a:xfrm>
            <a:off x="369787" y="1069902"/>
            <a:ext cx="8595360" cy="548640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51" name="Shape 3"/>
          <p:cNvSpPr/>
          <p:nvPr/>
        </p:nvSpPr>
        <p:spPr>
          <a:xfrm>
            <a:off x="369787" y="1069902"/>
            <a:ext cx="64008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4"/>
          <p:cNvSpPr/>
          <p:nvPr/>
        </p:nvSpPr>
        <p:spPr>
          <a:xfrm>
            <a:off x="552667" y="106990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Stream est une séquence d'éléments sur laquelle on applique des opérations </a:t>
            </a:r>
            <a:r>
              <a:rPr lang="en-US" sz="1400" dirty="0" err="1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chaîne (pipeline). Il ne modifie pas la collection source — il produit un nouveau résultat.</a:t>
            </a:r>
            <a:endParaRPr lang="en-US" sz="1400" dirty="0"/>
          </a:p>
        </p:txBody>
      </p:sp>
      <p:sp>
        <p:nvSpPr>
          <p:cNvPr id="53" name="Shape 5"/>
          <p:cNvSpPr/>
          <p:nvPr/>
        </p:nvSpPr>
        <p:spPr>
          <a:xfrm>
            <a:off x="344158" y="1885343"/>
            <a:ext cx="1554480" cy="1188720"/>
          </a:xfrm>
          <a:prstGeom prst="rect">
            <a:avLst/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6"/>
          <p:cNvSpPr/>
          <p:nvPr/>
        </p:nvSpPr>
        <p:spPr>
          <a:xfrm>
            <a:off x="34415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55" name="Text 7"/>
          <p:cNvSpPr/>
          <p:nvPr/>
        </p:nvSpPr>
        <p:spPr>
          <a:xfrm>
            <a:off x="34415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400" dirty="0"/>
          </a:p>
        </p:txBody>
      </p:sp>
      <p:sp>
        <p:nvSpPr>
          <p:cNvPr id="56" name="Text 8"/>
          <p:cNvSpPr/>
          <p:nvPr/>
        </p:nvSpPr>
        <p:spPr>
          <a:xfrm>
            <a:off x="34415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Array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fichier</a:t>
            </a:r>
            <a:endParaRPr lang="en-US" sz="1400" dirty="0"/>
          </a:p>
        </p:txBody>
      </p:sp>
      <p:sp>
        <p:nvSpPr>
          <p:cNvPr id="57" name="Text 9"/>
          <p:cNvSpPr/>
          <p:nvPr/>
        </p:nvSpPr>
        <p:spPr>
          <a:xfrm>
            <a:off x="191692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10"/>
          <p:cNvSpPr/>
          <p:nvPr/>
        </p:nvSpPr>
        <p:spPr>
          <a:xfrm>
            <a:off x="2081518" y="1885343"/>
            <a:ext cx="1554480" cy="1188720"/>
          </a:xfrm>
          <a:prstGeom prst="rect">
            <a:avLst/>
          </a:prstGeom>
          <a:solidFill>
            <a:srgbClr val="1E844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11"/>
          <p:cNvSpPr/>
          <p:nvPr/>
        </p:nvSpPr>
        <p:spPr>
          <a:xfrm>
            <a:off x="208151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60" name="Text 12"/>
          <p:cNvSpPr/>
          <p:nvPr/>
        </p:nvSpPr>
        <p:spPr>
          <a:xfrm>
            <a:off x="208151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400" dirty="0"/>
          </a:p>
        </p:txBody>
      </p:sp>
      <p:sp>
        <p:nvSpPr>
          <p:cNvPr id="61" name="Text 13"/>
          <p:cNvSpPr/>
          <p:nvPr/>
        </p:nvSpPr>
        <p:spPr>
          <a:xfrm>
            <a:off x="208151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400" dirty="0"/>
          </a:p>
        </p:txBody>
      </p:sp>
      <p:sp>
        <p:nvSpPr>
          <p:cNvPr id="62" name="Text 14"/>
          <p:cNvSpPr/>
          <p:nvPr/>
        </p:nvSpPr>
        <p:spPr>
          <a:xfrm>
            <a:off x="365428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63" name="Shape 15"/>
          <p:cNvSpPr/>
          <p:nvPr/>
        </p:nvSpPr>
        <p:spPr>
          <a:xfrm>
            <a:off x="3818878" y="1885343"/>
            <a:ext cx="1554480" cy="118872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Text 16"/>
          <p:cNvSpPr/>
          <p:nvPr/>
        </p:nvSpPr>
        <p:spPr>
          <a:xfrm>
            <a:off x="381887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65" name="Text 17"/>
          <p:cNvSpPr/>
          <p:nvPr/>
        </p:nvSpPr>
        <p:spPr>
          <a:xfrm>
            <a:off x="381887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400" dirty="0"/>
          </a:p>
        </p:txBody>
      </p:sp>
      <p:sp>
        <p:nvSpPr>
          <p:cNvPr id="66" name="Text 18"/>
          <p:cNvSpPr/>
          <p:nvPr/>
        </p:nvSpPr>
        <p:spPr>
          <a:xfrm>
            <a:off x="381887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400" dirty="0"/>
          </a:p>
        </p:txBody>
      </p:sp>
      <p:sp>
        <p:nvSpPr>
          <p:cNvPr id="67" name="Text 19"/>
          <p:cNvSpPr/>
          <p:nvPr/>
        </p:nvSpPr>
        <p:spPr>
          <a:xfrm>
            <a:off x="539164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68" name="Shape 20"/>
          <p:cNvSpPr/>
          <p:nvPr/>
        </p:nvSpPr>
        <p:spPr>
          <a:xfrm>
            <a:off x="5556238" y="1885343"/>
            <a:ext cx="1554480" cy="1188720"/>
          </a:xfrm>
          <a:prstGeom prst="rect">
            <a:avLst/>
          </a:prstGeom>
          <a:solidFill>
            <a:srgbClr val="2ECC7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Text 21"/>
          <p:cNvSpPr/>
          <p:nvPr/>
        </p:nvSpPr>
        <p:spPr>
          <a:xfrm>
            <a:off x="555623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↕️</a:t>
            </a:r>
            <a:endParaRPr lang="en-US" sz="1400" dirty="0"/>
          </a:p>
        </p:txBody>
      </p:sp>
      <p:sp>
        <p:nvSpPr>
          <p:cNvPr id="70" name="Text 22"/>
          <p:cNvSpPr/>
          <p:nvPr/>
        </p:nvSpPr>
        <p:spPr>
          <a:xfrm>
            <a:off x="555623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400" dirty="0"/>
          </a:p>
        </p:txBody>
      </p:sp>
      <p:sp>
        <p:nvSpPr>
          <p:cNvPr id="71" name="Text 23"/>
          <p:cNvSpPr/>
          <p:nvPr/>
        </p:nvSpPr>
        <p:spPr>
          <a:xfrm>
            <a:off x="555623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400" dirty="0"/>
          </a:p>
        </p:txBody>
      </p:sp>
      <p:sp>
        <p:nvSpPr>
          <p:cNvPr id="72" name="Text 24"/>
          <p:cNvSpPr/>
          <p:nvPr/>
        </p:nvSpPr>
        <p:spPr>
          <a:xfrm>
            <a:off x="7129006" y="2251103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73" name="Shape 25"/>
          <p:cNvSpPr/>
          <p:nvPr/>
        </p:nvSpPr>
        <p:spPr>
          <a:xfrm>
            <a:off x="7293598" y="1885343"/>
            <a:ext cx="1554480" cy="1188720"/>
          </a:xfrm>
          <a:prstGeom prst="rect">
            <a:avLst/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4" name="Text 26"/>
          <p:cNvSpPr/>
          <p:nvPr/>
        </p:nvSpPr>
        <p:spPr>
          <a:xfrm>
            <a:off x="7293598" y="193106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75" name="Text 27"/>
          <p:cNvSpPr/>
          <p:nvPr/>
        </p:nvSpPr>
        <p:spPr>
          <a:xfrm>
            <a:off x="7293598" y="2251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400" dirty="0"/>
          </a:p>
        </p:txBody>
      </p:sp>
      <p:sp>
        <p:nvSpPr>
          <p:cNvPr id="76" name="Text 28"/>
          <p:cNvSpPr/>
          <p:nvPr/>
        </p:nvSpPr>
        <p:spPr>
          <a:xfrm>
            <a:off x="7293598" y="254371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</a:t>
            </a:r>
            <a:endParaRPr lang="en-US" sz="1400" dirty="0"/>
          </a:p>
        </p:txBody>
      </p:sp>
      <p:sp>
        <p:nvSpPr>
          <p:cNvPr id="77" name="Text 29"/>
          <p:cNvSpPr/>
          <p:nvPr/>
        </p:nvSpPr>
        <p:spPr>
          <a:xfrm>
            <a:off x="1121398" y="3305011"/>
            <a:ext cx="6913842" cy="33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intermédiaires (lazy)                                    Opérations terminales (eager)</a:t>
            </a:r>
            <a:endParaRPr lang="en-US" sz="1400" dirty="0"/>
          </a:p>
        </p:txBody>
      </p:sp>
      <p:sp>
        <p:nvSpPr>
          <p:cNvPr id="78" name="Shape 30"/>
          <p:cNvSpPr/>
          <p:nvPr/>
        </p:nvSpPr>
        <p:spPr>
          <a:xfrm>
            <a:off x="317049" y="3782972"/>
            <a:ext cx="4160520" cy="310896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79" name="Text 31"/>
          <p:cNvSpPr/>
          <p:nvPr/>
        </p:nvSpPr>
        <p:spPr>
          <a:xfrm>
            <a:off x="408489" y="38012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filter(Predicate)</a:t>
            </a:r>
            <a:endParaRPr lang="en-US" sz="1400" dirty="0"/>
          </a:p>
        </p:txBody>
      </p:sp>
      <p:sp>
        <p:nvSpPr>
          <p:cNvPr id="80" name="Text 32"/>
          <p:cNvSpPr/>
          <p:nvPr/>
        </p:nvSpPr>
        <p:spPr>
          <a:xfrm>
            <a:off x="2164137" y="38012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éléments qui correspondent</a:t>
            </a:r>
            <a:endParaRPr lang="en-US" sz="1400" dirty="0"/>
          </a:p>
        </p:txBody>
      </p:sp>
      <p:sp>
        <p:nvSpPr>
          <p:cNvPr id="81" name="Shape 33"/>
          <p:cNvSpPr/>
          <p:nvPr/>
        </p:nvSpPr>
        <p:spPr>
          <a:xfrm>
            <a:off x="317049" y="4130444"/>
            <a:ext cx="4160520" cy="310896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82" name="Text 34"/>
          <p:cNvSpPr/>
          <p:nvPr/>
        </p:nvSpPr>
        <p:spPr>
          <a:xfrm>
            <a:off x="408489" y="41487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map(Function)</a:t>
            </a:r>
            <a:endParaRPr lang="en-US" sz="1400" dirty="0"/>
          </a:p>
        </p:txBody>
      </p:sp>
      <p:sp>
        <p:nvSpPr>
          <p:cNvPr id="83" name="Text 35"/>
          <p:cNvSpPr/>
          <p:nvPr/>
        </p:nvSpPr>
        <p:spPr>
          <a:xfrm>
            <a:off x="2164137" y="41487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chaque élément</a:t>
            </a:r>
            <a:endParaRPr lang="en-US" sz="1400" dirty="0"/>
          </a:p>
        </p:txBody>
      </p:sp>
      <p:sp>
        <p:nvSpPr>
          <p:cNvPr id="84" name="Shape 36"/>
          <p:cNvSpPr/>
          <p:nvPr/>
        </p:nvSpPr>
        <p:spPr>
          <a:xfrm>
            <a:off x="317049" y="4477916"/>
            <a:ext cx="4160520" cy="310896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85" name="Text 37"/>
          <p:cNvSpPr/>
          <p:nvPr/>
        </p:nvSpPr>
        <p:spPr>
          <a:xfrm>
            <a:off x="408489" y="44962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400" dirty="0"/>
          </a:p>
        </p:txBody>
      </p:sp>
      <p:sp>
        <p:nvSpPr>
          <p:cNvPr id="86" name="Text 38"/>
          <p:cNvSpPr/>
          <p:nvPr/>
        </p:nvSpPr>
        <p:spPr>
          <a:xfrm>
            <a:off x="2164137" y="44962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les éléments</a:t>
            </a:r>
            <a:endParaRPr lang="en-US" sz="1400" dirty="0"/>
          </a:p>
        </p:txBody>
      </p:sp>
      <p:sp>
        <p:nvSpPr>
          <p:cNvPr id="87" name="Shape 39"/>
          <p:cNvSpPr/>
          <p:nvPr/>
        </p:nvSpPr>
        <p:spPr>
          <a:xfrm>
            <a:off x="317049" y="4825388"/>
            <a:ext cx="4160520" cy="310896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88" name="Text 40"/>
          <p:cNvSpPr/>
          <p:nvPr/>
        </p:nvSpPr>
        <p:spPr>
          <a:xfrm>
            <a:off x="408489" y="48436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distinct()</a:t>
            </a:r>
            <a:endParaRPr lang="en-US" sz="1400" dirty="0"/>
          </a:p>
        </p:txBody>
      </p:sp>
      <p:sp>
        <p:nvSpPr>
          <p:cNvPr id="89" name="Text 41"/>
          <p:cNvSpPr/>
          <p:nvPr/>
        </p:nvSpPr>
        <p:spPr>
          <a:xfrm>
            <a:off x="2164137" y="48436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les doublons</a:t>
            </a:r>
            <a:endParaRPr lang="en-US" sz="1400" dirty="0"/>
          </a:p>
        </p:txBody>
      </p:sp>
      <p:sp>
        <p:nvSpPr>
          <p:cNvPr id="90" name="Shape 42"/>
          <p:cNvSpPr/>
          <p:nvPr/>
        </p:nvSpPr>
        <p:spPr>
          <a:xfrm>
            <a:off x="317049" y="5172860"/>
            <a:ext cx="4160520" cy="310896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91" name="Text 43"/>
          <p:cNvSpPr/>
          <p:nvPr/>
        </p:nvSpPr>
        <p:spPr>
          <a:xfrm>
            <a:off x="408489" y="51911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limit(n)</a:t>
            </a:r>
            <a:endParaRPr lang="en-US" sz="1400" dirty="0"/>
          </a:p>
        </p:txBody>
      </p:sp>
      <p:sp>
        <p:nvSpPr>
          <p:cNvPr id="92" name="Text 44"/>
          <p:cNvSpPr/>
          <p:nvPr/>
        </p:nvSpPr>
        <p:spPr>
          <a:xfrm>
            <a:off x="2164137" y="51911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n premiers éléments</a:t>
            </a:r>
            <a:endParaRPr lang="en-US" sz="1400" dirty="0"/>
          </a:p>
        </p:txBody>
      </p:sp>
      <p:sp>
        <p:nvSpPr>
          <p:cNvPr id="93" name="Shape 45"/>
          <p:cNvSpPr/>
          <p:nvPr/>
        </p:nvSpPr>
        <p:spPr>
          <a:xfrm>
            <a:off x="4751889" y="3782972"/>
            <a:ext cx="4160520" cy="31089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4" name="Text 46"/>
          <p:cNvSpPr/>
          <p:nvPr/>
        </p:nvSpPr>
        <p:spPr>
          <a:xfrm>
            <a:off x="4843329" y="38012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400" dirty="0"/>
          </a:p>
        </p:txBody>
      </p:sp>
      <p:sp>
        <p:nvSpPr>
          <p:cNvPr id="95" name="Text 47"/>
          <p:cNvSpPr/>
          <p:nvPr/>
        </p:nvSpPr>
        <p:spPr>
          <a:xfrm>
            <a:off x="6598977" y="38012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</a:t>
            </a:r>
            <a:r>
              <a:rPr lang="en-US" sz="14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List, Set, Map...</a:t>
            </a:r>
            <a:endParaRPr lang="en-US" sz="1400" dirty="0"/>
          </a:p>
        </p:txBody>
      </p:sp>
      <p:sp>
        <p:nvSpPr>
          <p:cNvPr id="96" name="Shape 48"/>
          <p:cNvSpPr/>
          <p:nvPr/>
        </p:nvSpPr>
        <p:spPr>
          <a:xfrm>
            <a:off x="4751889" y="4130444"/>
            <a:ext cx="4160520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7" name="Text 49"/>
          <p:cNvSpPr/>
          <p:nvPr/>
        </p:nvSpPr>
        <p:spPr>
          <a:xfrm>
            <a:off x="4843329" y="41487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forEach()</a:t>
            </a:r>
            <a:endParaRPr lang="en-US" sz="1400" dirty="0"/>
          </a:p>
        </p:txBody>
      </p:sp>
      <p:sp>
        <p:nvSpPr>
          <p:cNvPr id="98" name="Text 50"/>
          <p:cNvSpPr/>
          <p:nvPr/>
        </p:nvSpPr>
        <p:spPr>
          <a:xfrm>
            <a:off x="6598977" y="41487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Itère sur chaque élément</a:t>
            </a:r>
            <a:endParaRPr lang="en-US" sz="1400" dirty="0"/>
          </a:p>
        </p:txBody>
      </p:sp>
      <p:sp>
        <p:nvSpPr>
          <p:cNvPr id="99" name="Shape 51"/>
          <p:cNvSpPr/>
          <p:nvPr/>
        </p:nvSpPr>
        <p:spPr>
          <a:xfrm>
            <a:off x="4751889" y="4477916"/>
            <a:ext cx="4160520" cy="31089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00" name="Text 52"/>
          <p:cNvSpPr/>
          <p:nvPr/>
        </p:nvSpPr>
        <p:spPr>
          <a:xfrm>
            <a:off x="4843329" y="44962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400" dirty="0"/>
          </a:p>
        </p:txBody>
      </p:sp>
      <p:sp>
        <p:nvSpPr>
          <p:cNvPr id="101" name="Text 53"/>
          <p:cNvSpPr/>
          <p:nvPr/>
        </p:nvSpPr>
        <p:spPr>
          <a:xfrm>
            <a:off x="6598977" y="44962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 nombre d'éléments</a:t>
            </a:r>
            <a:endParaRPr lang="en-US" sz="1400" dirty="0"/>
          </a:p>
        </p:txBody>
      </p:sp>
      <p:sp>
        <p:nvSpPr>
          <p:cNvPr id="102" name="Shape 54"/>
          <p:cNvSpPr/>
          <p:nvPr/>
        </p:nvSpPr>
        <p:spPr>
          <a:xfrm>
            <a:off x="4751889" y="4825388"/>
            <a:ext cx="4160520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3" name="Text 55"/>
          <p:cNvSpPr/>
          <p:nvPr/>
        </p:nvSpPr>
        <p:spPr>
          <a:xfrm>
            <a:off x="4843329" y="48436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findFirst()</a:t>
            </a:r>
            <a:endParaRPr lang="en-US" sz="1400" dirty="0"/>
          </a:p>
        </p:txBody>
      </p:sp>
      <p:sp>
        <p:nvSpPr>
          <p:cNvPr id="104" name="Text 56"/>
          <p:cNvSpPr/>
          <p:nvPr/>
        </p:nvSpPr>
        <p:spPr>
          <a:xfrm>
            <a:off x="6598977" y="48436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 premier élément (Optional)</a:t>
            </a:r>
            <a:endParaRPr lang="en-US" sz="1400" dirty="0"/>
          </a:p>
        </p:txBody>
      </p:sp>
      <p:sp>
        <p:nvSpPr>
          <p:cNvPr id="105" name="Shape 57"/>
          <p:cNvSpPr/>
          <p:nvPr/>
        </p:nvSpPr>
        <p:spPr>
          <a:xfrm>
            <a:off x="4751889" y="5172860"/>
            <a:ext cx="4160520" cy="31089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06" name="Text 58"/>
          <p:cNvSpPr/>
          <p:nvPr/>
        </p:nvSpPr>
        <p:spPr>
          <a:xfrm>
            <a:off x="4843329" y="51911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endParaRPr lang="en-US" sz="1400" dirty="0"/>
          </a:p>
        </p:txBody>
      </p:sp>
      <p:sp>
        <p:nvSpPr>
          <p:cNvPr id="107" name="Text 59"/>
          <p:cNvSpPr/>
          <p:nvPr/>
        </p:nvSpPr>
        <p:spPr>
          <a:xfrm>
            <a:off x="6598977" y="51911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à une seule valeur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535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9" grpId="0" animBg="1"/>
      <p:bldP spid="70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79" grpId="0" animBg="1"/>
      <p:bldP spid="80" grpId="0" animBg="1"/>
      <p:bldP spid="82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91" grpId="0" animBg="1"/>
      <p:bldP spid="92" grpId="0" animBg="1"/>
      <p:bldP spid="94" grpId="0" animBg="1"/>
      <p:bldP spid="95" grpId="0" animBg="1"/>
      <p:bldP spid="97" grpId="0" animBg="1"/>
      <p:bldP spid="98" grpId="0" animBg="1"/>
      <p:bldP spid="100" grpId="0" animBg="1"/>
      <p:bldP spid="101" grpId="0" animBg="1"/>
      <p:bldP spid="103" grpId="0" animBg="1"/>
      <p:bldP spid="104" grpId="0" animBg="1"/>
      <p:bldP spid="106" grpId="0" animBg="1"/>
      <p:bldP spid="10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sz="2400" cap="none" dirty="0">
                <a:solidFill>
                  <a:srgbClr val="FF0000"/>
                </a:solidFill>
              </a:rPr>
              <a:t>IV. </a:t>
            </a:r>
            <a:r>
              <a:rPr lang="en-US" sz="2400" cap="none" dirty="0" smtClean="0">
                <a:solidFill>
                  <a:srgbClr val="FF0000"/>
                </a:solidFill>
              </a:rPr>
              <a:t>2.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 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Stream API — Pipeline de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90" name="Shape 2"/>
          <p:cNvSpPr/>
          <p:nvPr/>
        </p:nvSpPr>
        <p:spPr>
          <a:xfrm>
            <a:off x="250626" y="1045074"/>
            <a:ext cx="8595360" cy="50292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Text 3"/>
          <p:cNvSpPr/>
          <p:nvPr/>
        </p:nvSpPr>
        <p:spPr>
          <a:xfrm>
            <a:off x="592705" y="945772"/>
            <a:ext cx="8229600" cy="64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👨‍💼  Scénario : Filtrer les employés seniors (salaire &gt; 50 000€), extraire leurs noms, trier et afficher — </a:t>
            </a:r>
            <a:r>
              <a:rPr lang="en-US" sz="1400" dirty="0" err="1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400" dirty="0">
                <a:solidFill>
                  <a:srgbClr val="1A3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quelques lignes avec Lambda + Stream.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336673" y="2126298"/>
            <a:ext cx="5303520" cy="3429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Text 5"/>
          <p:cNvSpPr/>
          <p:nvPr/>
        </p:nvSpPr>
        <p:spPr>
          <a:xfrm>
            <a:off x="473833" y="219945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Modèle</a:t>
            </a:r>
            <a:endParaRPr lang="en-US" sz="1400" b="1" dirty="0"/>
          </a:p>
        </p:txBody>
      </p:sp>
      <p:sp>
        <p:nvSpPr>
          <p:cNvPr id="194" name="Text 6"/>
          <p:cNvSpPr/>
          <p:nvPr/>
        </p:nvSpPr>
        <p:spPr>
          <a:xfrm>
            <a:off x="473833" y="237318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Employe {</a:t>
            </a:r>
            <a:endParaRPr lang="en-US" sz="1400" b="1" dirty="0"/>
          </a:p>
        </p:txBody>
      </p:sp>
      <p:sp>
        <p:nvSpPr>
          <p:cNvPr id="195" name="Text 7"/>
          <p:cNvSpPr/>
          <p:nvPr/>
        </p:nvSpPr>
        <p:spPr>
          <a:xfrm>
            <a:off x="473833" y="254692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nom;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96" name="Text 8"/>
          <p:cNvSpPr/>
          <p:nvPr/>
        </p:nvSpPr>
        <p:spPr>
          <a:xfrm>
            <a:off x="473833" y="272065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salaire;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97" name="Text 9"/>
          <p:cNvSpPr/>
          <p:nvPr/>
        </p:nvSpPr>
        <p:spPr>
          <a:xfrm>
            <a:off x="473833" y="289439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departement;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98" name="Text 10"/>
          <p:cNvSpPr/>
          <p:nvPr/>
        </p:nvSpPr>
        <p:spPr>
          <a:xfrm>
            <a:off x="473833" y="306813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/>
          </a:p>
        </p:txBody>
      </p:sp>
      <p:sp>
        <p:nvSpPr>
          <p:cNvPr id="199" name="Text 11"/>
          <p:cNvSpPr/>
          <p:nvPr/>
        </p:nvSpPr>
        <p:spPr>
          <a:xfrm>
            <a:off x="473833" y="324186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200" name="Text 12"/>
          <p:cNvSpPr/>
          <p:nvPr/>
        </p:nvSpPr>
        <p:spPr>
          <a:xfrm>
            <a:off x="473833" y="341560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Traitement avec Lambda + Stream</a:t>
            </a:r>
            <a:endParaRPr lang="en-US" sz="1400" b="1" dirty="0"/>
          </a:p>
        </p:txBody>
      </p:sp>
      <p:sp>
        <p:nvSpPr>
          <p:cNvPr id="201" name="Text 13"/>
          <p:cNvSpPr/>
          <p:nvPr/>
        </p:nvSpPr>
        <p:spPr>
          <a:xfrm>
            <a:off x="473833" y="358933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nomsSeniors = employes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202" name="Text 14"/>
          <p:cNvSpPr/>
          <p:nvPr/>
        </p:nvSpPr>
        <p:spPr>
          <a:xfrm>
            <a:off x="473833" y="376307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.stream()</a:t>
            </a:r>
            <a:endParaRPr lang="en-US" sz="1400" b="1" dirty="0"/>
          </a:p>
        </p:txBody>
      </p:sp>
      <p:sp>
        <p:nvSpPr>
          <p:cNvPr id="203" name="Text 15"/>
          <p:cNvSpPr/>
          <p:nvPr/>
        </p:nvSpPr>
        <p:spPr>
          <a:xfrm>
            <a:off x="473833" y="393681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.filter(e -&gt; e.salaire &gt; 50_000)</a:t>
            </a:r>
            <a:endParaRPr lang="en-US" sz="1400" b="1" dirty="0"/>
          </a:p>
        </p:txBody>
      </p:sp>
      <p:sp>
        <p:nvSpPr>
          <p:cNvPr id="204" name="Text 16"/>
          <p:cNvSpPr/>
          <p:nvPr/>
        </p:nvSpPr>
        <p:spPr>
          <a:xfrm>
            <a:off x="473833" y="411054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sorted(Comparator.comparing(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205" name="Text 17"/>
          <p:cNvSpPr/>
          <p:nvPr/>
        </p:nvSpPr>
        <p:spPr>
          <a:xfrm>
            <a:off x="473833" y="428428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 -&gt; e.nom))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206" name="Text 18"/>
          <p:cNvSpPr/>
          <p:nvPr/>
        </p:nvSpPr>
        <p:spPr>
          <a:xfrm>
            <a:off x="473833" y="445801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.map(e -&gt; e.nom)</a:t>
            </a:r>
            <a:endParaRPr lang="en-US" sz="1400" b="1" dirty="0"/>
          </a:p>
        </p:txBody>
      </p:sp>
      <p:sp>
        <p:nvSpPr>
          <p:cNvPr id="207" name="Text 19"/>
          <p:cNvSpPr/>
          <p:nvPr/>
        </p:nvSpPr>
        <p:spPr>
          <a:xfrm>
            <a:off x="473833" y="463175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.collect(Collectors.toList());</a:t>
            </a:r>
            <a:endParaRPr lang="en-US" sz="1400" b="1" dirty="0"/>
          </a:p>
        </p:txBody>
      </p:sp>
      <p:sp>
        <p:nvSpPr>
          <p:cNvPr id="208" name="Text 20"/>
          <p:cNvSpPr/>
          <p:nvPr/>
        </p:nvSpPr>
        <p:spPr>
          <a:xfrm>
            <a:off x="473833" y="480549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209" name="Text 21"/>
          <p:cNvSpPr/>
          <p:nvPr/>
        </p:nvSpPr>
        <p:spPr>
          <a:xfrm>
            <a:off x="473833" y="497922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Affichage</a:t>
            </a:r>
            <a:endParaRPr lang="en-US" sz="1400" b="1" dirty="0"/>
          </a:p>
        </p:txBody>
      </p:sp>
      <p:sp>
        <p:nvSpPr>
          <p:cNvPr id="210" name="Text 22"/>
          <p:cNvSpPr/>
          <p:nvPr/>
        </p:nvSpPr>
        <p:spPr>
          <a:xfrm>
            <a:off x="473833" y="515296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nomsSeniors.forEach(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211" name="Text 23"/>
          <p:cNvSpPr/>
          <p:nvPr/>
        </p:nvSpPr>
        <p:spPr>
          <a:xfrm>
            <a:off x="473833" y="532669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System.out::println);</a:t>
            </a:r>
            <a:endParaRPr lang="en-US" sz="1400" b="1" dirty="0"/>
          </a:p>
        </p:txBody>
      </p:sp>
      <p:sp>
        <p:nvSpPr>
          <p:cNvPr id="212" name="Shape 24"/>
          <p:cNvSpPr/>
          <p:nvPr/>
        </p:nvSpPr>
        <p:spPr>
          <a:xfrm>
            <a:off x="5868793" y="21262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3" name="Shape 25"/>
          <p:cNvSpPr/>
          <p:nvPr/>
        </p:nvSpPr>
        <p:spPr>
          <a:xfrm>
            <a:off x="5868793" y="2126298"/>
            <a:ext cx="64008" cy="6126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4" name="Text 26"/>
          <p:cNvSpPr/>
          <p:nvPr/>
        </p:nvSpPr>
        <p:spPr>
          <a:xfrm>
            <a:off x="6005953" y="21720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1️⃣ .stream()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 27"/>
          <p:cNvSpPr/>
          <p:nvPr/>
        </p:nvSpPr>
        <p:spPr>
          <a:xfrm>
            <a:off x="6005953" y="24280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Crée un Stream depuis la List&lt;Employe&gt;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Shape 28"/>
          <p:cNvSpPr/>
          <p:nvPr/>
        </p:nvSpPr>
        <p:spPr>
          <a:xfrm>
            <a:off x="5868793" y="28120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7" name="Shape 29"/>
          <p:cNvSpPr/>
          <p:nvPr/>
        </p:nvSpPr>
        <p:spPr>
          <a:xfrm>
            <a:off x="5868793" y="2812098"/>
            <a:ext cx="64008" cy="6126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8" name="Text 30"/>
          <p:cNvSpPr/>
          <p:nvPr/>
        </p:nvSpPr>
        <p:spPr>
          <a:xfrm>
            <a:off x="6005953" y="28578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2️⃣ .filter()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Text 31"/>
          <p:cNvSpPr/>
          <p:nvPr/>
        </p:nvSpPr>
        <p:spPr>
          <a:xfrm>
            <a:off x="6005953" y="31138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Garde uniquement les employés avec salaire &gt; 50 000€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Shape 32"/>
          <p:cNvSpPr/>
          <p:nvPr/>
        </p:nvSpPr>
        <p:spPr>
          <a:xfrm>
            <a:off x="5868793" y="34978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1" name="Shape 33"/>
          <p:cNvSpPr/>
          <p:nvPr/>
        </p:nvSpPr>
        <p:spPr>
          <a:xfrm>
            <a:off x="5868793" y="3497898"/>
            <a:ext cx="64008" cy="6126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2" name="Text 34"/>
          <p:cNvSpPr/>
          <p:nvPr/>
        </p:nvSpPr>
        <p:spPr>
          <a:xfrm>
            <a:off x="6005953" y="35436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3️⃣ .sorted()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 35"/>
          <p:cNvSpPr/>
          <p:nvPr/>
        </p:nvSpPr>
        <p:spPr>
          <a:xfrm>
            <a:off x="6005953" y="37996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Trie alphabétiquement par nom (Comparator lambda)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Shape 36"/>
          <p:cNvSpPr/>
          <p:nvPr/>
        </p:nvSpPr>
        <p:spPr>
          <a:xfrm>
            <a:off x="5868793" y="41836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5" name="Shape 37"/>
          <p:cNvSpPr/>
          <p:nvPr/>
        </p:nvSpPr>
        <p:spPr>
          <a:xfrm>
            <a:off x="5868793" y="4183698"/>
            <a:ext cx="64008" cy="6126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6" name="Text 38"/>
          <p:cNvSpPr/>
          <p:nvPr/>
        </p:nvSpPr>
        <p:spPr>
          <a:xfrm>
            <a:off x="6005953" y="42294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4️⃣ .map()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 39"/>
          <p:cNvSpPr/>
          <p:nvPr/>
        </p:nvSpPr>
        <p:spPr>
          <a:xfrm>
            <a:off x="6005953" y="44854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Transforme chaque Employe </a:t>
            </a:r>
            <a:r>
              <a:rPr lang="en-US" sz="1200" dirty="0" err="1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String (son nom)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Shape 40"/>
          <p:cNvSpPr/>
          <p:nvPr/>
        </p:nvSpPr>
        <p:spPr>
          <a:xfrm>
            <a:off x="5868793" y="4869498"/>
            <a:ext cx="3063240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9" name="Shape 41"/>
          <p:cNvSpPr/>
          <p:nvPr/>
        </p:nvSpPr>
        <p:spPr>
          <a:xfrm>
            <a:off x="5868793" y="4869498"/>
            <a:ext cx="64008" cy="6126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0" name="Text 42"/>
          <p:cNvSpPr/>
          <p:nvPr/>
        </p:nvSpPr>
        <p:spPr>
          <a:xfrm>
            <a:off x="6005953" y="491521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5️⃣ .collect()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 43"/>
          <p:cNvSpPr/>
          <p:nvPr/>
        </p:nvSpPr>
        <p:spPr>
          <a:xfrm>
            <a:off x="6005953" y="517125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Collecte les noms dans une List&lt;String&gt;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3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9" grpId="0" animBg="1"/>
      <p:bldP spid="210" grpId="0" animBg="1"/>
      <p:bldP spid="211" grpId="0" animBg="1"/>
      <p:bldP spid="214" grpId="0" animBg="1"/>
      <p:bldP spid="215" grpId="0" animBg="1"/>
      <p:bldP spid="218" grpId="0" animBg="1"/>
      <p:bldP spid="219" grpId="0" animBg="1"/>
      <p:bldP spid="222" grpId="0" animBg="1"/>
      <p:bldP spid="223" grpId="0" animBg="1"/>
      <p:bldP spid="226" grpId="0" animBg="1"/>
      <p:bldP spid="227" grpId="0" animBg="1"/>
      <p:bldP spid="230" grpId="0" animBg="1"/>
      <p:bldP spid="2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V. INNER CLASSE (CLASSE INTERN)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2051720" y="1772816"/>
            <a:ext cx="6029013" cy="36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Voiture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marque = "Toyota";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vitesse = 0;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──── Inner Class ────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Moteur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demarrer()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Accès direct aux membres privés de Voiture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System.out.println(marque + " démarre...");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vitesse = 10;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accelerer(int delta)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vitesse += delta;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System.out.println("Vitesse: " + vitesse + " km/h");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rouler()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Moteur m = new Moteur(); // Instanciation depuis l'extérieur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m.demarrer();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m.accelerer(50);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"/>
          <p:cNvSpPr/>
          <p:nvPr/>
        </p:nvSpPr>
        <p:spPr>
          <a:xfrm>
            <a:off x="295345" y="1641169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3"/>
          <p:cNvSpPr/>
          <p:nvPr/>
        </p:nvSpPr>
        <p:spPr>
          <a:xfrm>
            <a:off x="295345" y="1641169"/>
            <a:ext cx="416052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4"/>
          <p:cNvSpPr/>
          <p:nvPr/>
        </p:nvSpPr>
        <p:spPr>
          <a:xfrm>
            <a:off x="459937" y="176918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Classe Membre</a:t>
            </a:r>
            <a:endParaRPr lang="en-US" sz="1400" dirty="0"/>
          </a:p>
        </p:txBody>
      </p:sp>
      <p:sp>
        <p:nvSpPr>
          <p:cNvPr id="27" name="Text 5"/>
          <p:cNvSpPr/>
          <p:nvPr/>
        </p:nvSpPr>
        <p:spPr>
          <a:xfrm>
            <a:off x="459937" y="2116657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Non-static inner class</a:t>
            </a:r>
            <a:endParaRPr lang="en-US" sz="1400" dirty="0"/>
          </a:p>
        </p:txBody>
      </p:sp>
      <p:sp>
        <p:nvSpPr>
          <p:cNvPr id="28" name="Shape 6"/>
          <p:cNvSpPr/>
          <p:nvPr/>
        </p:nvSpPr>
        <p:spPr>
          <a:xfrm>
            <a:off x="459937" y="2390977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29" name="Text 7"/>
          <p:cNvSpPr/>
          <p:nvPr/>
        </p:nvSpPr>
        <p:spPr>
          <a:xfrm>
            <a:off x="459937" y="2482417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dans une autre classe. Accède aux membres privés de la classe externe.</a:t>
            </a:r>
            <a:endParaRPr lang="en-US" sz="1400" dirty="0"/>
          </a:p>
        </p:txBody>
      </p:sp>
      <p:sp>
        <p:nvSpPr>
          <p:cNvPr id="30" name="Shape 8"/>
          <p:cNvSpPr/>
          <p:nvPr/>
        </p:nvSpPr>
        <p:spPr>
          <a:xfrm>
            <a:off x="4730185" y="1641169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9"/>
          <p:cNvSpPr/>
          <p:nvPr/>
        </p:nvSpPr>
        <p:spPr>
          <a:xfrm>
            <a:off x="4730185" y="1641169"/>
            <a:ext cx="4160520" cy="731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2" name="Text 10"/>
          <p:cNvSpPr/>
          <p:nvPr/>
        </p:nvSpPr>
        <p:spPr>
          <a:xfrm>
            <a:off x="4894777" y="176918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Classe Statique</a:t>
            </a:r>
            <a:endParaRPr lang="en-US" sz="1400" dirty="0"/>
          </a:p>
        </p:txBody>
      </p:sp>
      <p:sp>
        <p:nvSpPr>
          <p:cNvPr id="33" name="Text 11"/>
          <p:cNvSpPr/>
          <p:nvPr/>
        </p:nvSpPr>
        <p:spPr>
          <a:xfrm>
            <a:off x="4894777" y="2116657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nested class</a:t>
            </a:r>
            <a:endParaRPr lang="en-US" sz="1400" dirty="0"/>
          </a:p>
        </p:txBody>
      </p:sp>
      <p:sp>
        <p:nvSpPr>
          <p:cNvPr id="34" name="Shape 12"/>
          <p:cNvSpPr/>
          <p:nvPr/>
        </p:nvSpPr>
        <p:spPr>
          <a:xfrm>
            <a:off x="4894777" y="2390977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35" name="Text 13"/>
          <p:cNvSpPr/>
          <p:nvPr/>
        </p:nvSpPr>
        <p:spPr>
          <a:xfrm>
            <a:off x="4894777" y="2482417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avec static. N'a pas besoin d'une instance de la classe externe.</a:t>
            </a:r>
            <a:endParaRPr lang="en-US" sz="1400" dirty="0"/>
          </a:p>
        </p:txBody>
      </p:sp>
      <p:sp>
        <p:nvSpPr>
          <p:cNvPr id="36" name="Shape 14"/>
          <p:cNvSpPr/>
          <p:nvPr/>
        </p:nvSpPr>
        <p:spPr>
          <a:xfrm>
            <a:off x="295345" y="3671137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15"/>
          <p:cNvSpPr/>
          <p:nvPr/>
        </p:nvSpPr>
        <p:spPr>
          <a:xfrm>
            <a:off x="295345" y="3671137"/>
            <a:ext cx="4160520" cy="73152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prstDash val="solid"/>
          </a:ln>
        </p:spPr>
      </p:sp>
      <p:sp>
        <p:nvSpPr>
          <p:cNvPr id="38" name="Text 16"/>
          <p:cNvSpPr/>
          <p:nvPr/>
        </p:nvSpPr>
        <p:spPr>
          <a:xfrm>
            <a:off x="459937" y="379915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Classe Locale</a:t>
            </a:r>
            <a:endParaRPr lang="en-US" sz="1400" dirty="0"/>
          </a:p>
        </p:txBody>
      </p:sp>
      <p:sp>
        <p:nvSpPr>
          <p:cNvPr id="39" name="Text 17"/>
          <p:cNvSpPr/>
          <p:nvPr/>
        </p:nvSpPr>
        <p:spPr>
          <a:xfrm>
            <a:off x="459937" y="414662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4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inner class</a:t>
            </a:r>
            <a:endParaRPr lang="en-US" sz="1400" dirty="0"/>
          </a:p>
        </p:txBody>
      </p:sp>
      <p:sp>
        <p:nvSpPr>
          <p:cNvPr id="40" name="Shape 18"/>
          <p:cNvSpPr/>
          <p:nvPr/>
        </p:nvSpPr>
        <p:spPr>
          <a:xfrm>
            <a:off x="459937" y="4420945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41" name="Text 19"/>
          <p:cNvSpPr/>
          <p:nvPr/>
        </p:nvSpPr>
        <p:spPr>
          <a:xfrm>
            <a:off x="459937" y="4512385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à l'intérieur d'une méthode. Visible uniquement dans cette méthode.</a:t>
            </a:r>
            <a:endParaRPr lang="en-US" sz="1400" dirty="0"/>
          </a:p>
        </p:txBody>
      </p:sp>
      <p:sp>
        <p:nvSpPr>
          <p:cNvPr id="42" name="Shape 20"/>
          <p:cNvSpPr/>
          <p:nvPr/>
        </p:nvSpPr>
        <p:spPr>
          <a:xfrm>
            <a:off x="4730185" y="3671137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21"/>
          <p:cNvSpPr/>
          <p:nvPr/>
        </p:nvSpPr>
        <p:spPr>
          <a:xfrm>
            <a:off x="4730185" y="3671137"/>
            <a:ext cx="4160520" cy="7315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4" name="Text 22"/>
          <p:cNvSpPr/>
          <p:nvPr/>
        </p:nvSpPr>
        <p:spPr>
          <a:xfrm>
            <a:off x="4894777" y="379915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Classe Anonyme</a:t>
            </a:r>
            <a:endParaRPr lang="en-US" sz="1400" dirty="0"/>
          </a:p>
        </p:txBody>
      </p:sp>
      <p:sp>
        <p:nvSpPr>
          <p:cNvPr id="45" name="Text 23"/>
          <p:cNvSpPr/>
          <p:nvPr/>
        </p:nvSpPr>
        <p:spPr>
          <a:xfrm>
            <a:off x="4894777" y="414662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class</a:t>
            </a:r>
            <a:endParaRPr lang="en-US" sz="1400" dirty="0"/>
          </a:p>
        </p:txBody>
      </p:sp>
      <p:sp>
        <p:nvSpPr>
          <p:cNvPr id="46" name="Shape 24"/>
          <p:cNvSpPr/>
          <p:nvPr/>
        </p:nvSpPr>
        <p:spPr>
          <a:xfrm>
            <a:off x="4894777" y="4420945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47" name="Text 25"/>
          <p:cNvSpPr/>
          <p:nvPr/>
        </p:nvSpPr>
        <p:spPr>
          <a:xfrm>
            <a:off x="4894777" y="4512385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nom, déclarée et instanciée </a:t>
            </a:r>
            <a:r>
              <a:rPr lang="en-US" sz="140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une seule expression. Usage unique.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322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V. INNER CLASSE (CLASSE INTERN)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79512" y="1638546"/>
            <a:ext cx="4160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9" name="Text 3"/>
          <p:cNvSpPr/>
          <p:nvPr/>
        </p:nvSpPr>
        <p:spPr>
          <a:xfrm>
            <a:off x="179512" y="163854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 Membre (non-static)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179512" y="1986018"/>
            <a:ext cx="4160520" cy="33832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1" name="Text 5"/>
          <p:cNvSpPr/>
          <p:nvPr/>
        </p:nvSpPr>
        <p:spPr>
          <a:xfrm>
            <a:off x="316672" y="20591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Voiture {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6"/>
          <p:cNvSpPr/>
          <p:nvPr/>
        </p:nvSpPr>
        <p:spPr>
          <a:xfrm>
            <a:off x="316672" y="22649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private String marque;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7"/>
          <p:cNvSpPr/>
          <p:nvPr/>
        </p:nvSpPr>
        <p:spPr>
          <a:xfrm>
            <a:off x="316672" y="24706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8"/>
          <p:cNvSpPr/>
          <p:nvPr/>
        </p:nvSpPr>
        <p:spPr>
          <a:xfrm>
            <a:off x="316672" y="26763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// </a:t>
            </a:r>
            <a:r>
              <a:rPr lang="en-US" b="1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Classe interne membre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9"/>
          <p:cNvSpPr/>
          <p:nvPr/>
        </p:nvSpPr>
        <p:spPr>
          <a:xfrm>
            <a:off x="316672" y="28821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class Moteur 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316672" y="30878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int chevaux</a:t>
            </a: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316672" y="32936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316672" y="34993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DCA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void demarrer() {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316672" y="37050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// accède à marque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316672" y="39108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System.out.println(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316672" y="41165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marque);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316672" y="43223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316672" y="45280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316672" y="47337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19"/>
          <p:cNvSpPr/>
          <p:nvPr/>
        </p:nvSpPr>
        <p:spPr>
          <a:xfrm>
            <a:off x="4614352" y="1638546"/>
            <a:ext cx="416052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6" name="Text 20"/>
          <p:cNvSpPr/>
          <p:nvPr/>
        </p:nvSpPr>
        <p:spPr>
          <a:xfrm>
            <a:off x="4614352" y="163854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 Statique (static nested)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4614352" y="1986018"/>
            <a:ext cx="4160520" cy="33832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8" name="Text 22"/>
          <p:cNvSpPr/>
          <p:nvPr/>
        </p:nvSpPr>
        <p:spPr>
          <a:xfrm>
            <a:off x="4751512" y="20591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Universite {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4751512" y="22649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nom;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4751512" y="24706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4751512" y="26763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// </a:t>
            </a:r>
            <a:r>
              <a:rPr lang="en-US" b="1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Classe statique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4751512" y="28821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static class Etudiant {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4751512" y="30878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String prenom;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4751512" y="32936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age;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29"/>
          <p:cNvSpPr/>
          <p:nvPr/>
        </p:nvSpPr>
        <p:spPr>
          <a:xfrm>
            <a:off x="4751512" y="34993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4751512" y="37050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void afficher() {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31"/>
          <p:cNvSpPr/>
          <p:nvPr/>
        </p:nvSpPr>
        <p:spPr>
          <a:xfrm>
            <a:off x="4751512" y="391083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System.out.println(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32"/>
          <p:cNvSpPr/>
          <p:nvPr/>
        </p:nvSpPr>
        <p:spPr>
          <a:xfrm>
            <a:off x="4751512" y="411657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prenom);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33"/>
          <p:cNvSpPr/>
          <p:nvPr/>
        </p:nvSpPr>
        <p:spPr>
          <a:xfrm>
            <a:off x="4751512" y="432231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34"/>
          <p:cNvSpPr/>
          <p:nvPr/>
        </p:nvSpPr>
        <p:spPr>
          <a:xfrm>
            <a:off x="4751512" y="452805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35"/>
          <p:cNvSpPr/>
          <p:nvPr/>
        </p:nvSpPr>
        <p:spPr>
          <a:xfrm>
            <a:off x="4751512" y="473379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5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V. INNER CLASSE (CLASSE INTERN)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49" name="Text 3"/>
          <p:cNvSpPr/>
          <p:nvPr/>
        </p:nvSpPr>
        <p:spPr>
          <a:xfrm>
            <a:off x="283276" y="1735753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 Membre (non-static)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208494" y="1280067"/>
            <a:ext cx="859536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0" name="Text 3"/>
          <p:cNvSpPr/>
          <p:nvPr/>
        </p:nvSpPr>
        <p:spPr>
          <a:xfrm>
            <a:off x="425256" y="124991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🏦  Scénario : Un compte bancaire contient des transactions. La classe Transaction est interne à CompteBancaire car elle n'a de sens que dans ce contexte.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251520" y="2397672"/>
            <a:ext cx="5303520" cy="336499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2" name="Text 5"/>
          <p:cNvSpPr/>
          <p:nvPr/>
        </p:nvSpPr>
        <p:spPr>
          <a:xfrm>
            <a:off x="388680" y="2470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CompteBancaire {</a:t>
            </a:r>
            <a:endParaRPr lang="en-US" sz="1600" b="1" dirty="0">
              <a:solidFill>
                <a:srgbClr val="00B0F0"/>
              </a:solidFill>
            </a:endParaRPr>
          </a:p>
        </p:txBody>
      </p:sp>
      <p:sp>
        <p:nvSpPr>
          <p:cNvPr id="43" name="Text 6"/>
          <p:cNvSpPr/>
          <p:nvPr/>
        </p:nvSpPr>
        <p:spPr>
          <a:xfrm>
            <a:off x="388680" y="2644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double solde;</a:t>
            </a:r>
            <a:endParaRPr lang="en-US" sz="1600" b="1" dirty="0"/>
          </a:p>
        </p:txBody>
      </p:sp>
      <p:sp>
        <p:nvSpPr>
          <p:cNvPr id="44" name="Text 7"/>
          <p:cNvSpPr/>
          <p:nvPr/>
        </p:nvSpPr>
        <p:spPr>
          <a:xfrm>
            <a:off x="388680" y="28182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 titulaire;</a:t>
            </a:r>
            <a:endParaRPr lang="en-US" sz="1600" b="1" dirty="0"/>
          </a:p>
        </p:txBody>
      </p:sp>
      <p:sp>
        <p:nvSpPr>
          <p:cNvPr id="45" name="Text 8"/>
          <p:cNvSpPr/>
          <p:nvPr/>
        </p:nvSpPr>
        <p:spPr>
          <a:xfrm>
            <a:off x="388680" y="29920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46" name="Text 9"/>
          <p:cNvSpPr/>
          <p:nvPr/>
        </p:nvSpPr>
        <p:spPr>
          <a:xfrm>
            <a:off x="388680" y="3165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Classe interne membre</a:t>
            </a:r>
            <a:endParaRPr lang="en-US" sz="1600" b="1" dirty="0"/>
          </a:p>
        </p:txBody>
      </p:sp>
      <p:sp>
        <p:nvSpPr>
          <p:cNvPr id="47" name="Text 10"/>
          <p:cNvSpPr/>
          <p:nvPr/>
        </p:nvSpPr>
        <p:spPr>
          <a:xfrm>
            <a:off x="388680" y="33395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Transaction {</a:t>
            </a:r>
            <a:endParaRPr lang="en-US" sz="1600" b="1" dirty="0"/>
          </a:p>
        </p:txBody>
      </p:sp>
      <p:sp>
        <p:nvSpPr>
          <p:cNvPr id="82" name="Text 11"/>
          <p:cNvSpPr/>
          <p:nvPr/>
        </p:nvSpPr>
        <p:spPr>
          <a:xfrm>
            <a:off x="388680" y="3513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montant;</a:t>
            </a:r>
            <a:endParaRPr lang="en-US" sz="1600" b="1" dirty="0"/>
          </a:p>
        </p:txBody>
      </p:sp>
      <p:sp>
        <p:nvSpPr>
          <p:cNvPr id="83" name="Text 12"/>
          <p:cNvSpPr/>
          <p:nvPr/>
        </p:nvSpPr>
        <p:spPr>
          <a:xfrm>
            <a:off x="388680" y="36869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type; // "debit"/"credit"</a:t>
            </a:r>
            <a:endParaRPr lang="en-US" sz="1600" b="1" dirty="0"/>
          </a:p>
        </p:txBody>
      </p:sp>
      <p:sp>
        <p:nvSpPr>
          <p:cNvPr id="84" name="Text 13"/>
          <p:cNvSpPr/>
          <p:nvPr/>
        </p:nvSpPr>
        <p:spPr>
          <a:xfrm>
            <a:off x="388680" y="38607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85" name="Text 14"/>
          <p:cNvSpPr/>
          <p:nvPr/>
        </p:nvSpPr>
        <p:spPr>
          <a:xfrm>
            <a:off x="388680" y="40344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executer() {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6" name="Text 15"/>
          <p:cNvSpPr/>
          <p:nvPr/>
        </p:nvSpPr>
        <p:spPr>
          <a:xfrm>
            <a:off x="388680" y="42081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(type.equals("credit")) {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7" name="Text 16"/>
          <p:cNvSpPr/>
          <p:nvPr/>
        </p:nvSpPr>
        <p:spPr>
          <a:xfrm>
            <a:off x="388680" y="4381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solde += montant;</a:t>
            </a:r>
            <a:endParaRPr lang="en-US" sz="1600" b="1" dirty="0"/>
          </a:p>
        </p:txBody>
      </p:sp>
      <p:sp>
        <p:nvSpPr>
          <p:cNvPr id="88" name="Text 17"/>
          <p:cNvSpPr/>
          <p:nvPr/>
        </p:nvSpPr>
        <p:spPr>
          <a:xfrm>
            <a:off x="388680" y="45556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600" b="1" dirty="0"/>
          </a:p>
        </p:txBody>
      </p:sp>
      <p:sp>
        <p:nvSpPr>
          <p:cNvPr id="89" name="Text 18"/>
          <p:cNvSpPr/>
          <p:nvPr/>
        </p:nvSpPr>
        <p:spPr>
          <a:xfrm>
            <a:off x="388680" y="4729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solde -= montant;</a:t>
            </a:r>
            <a:endParaRPr lang="en-US" sz="1600" b="1" dirty="0"/>
          </a:p>
        </p:txBody>
      </p:sp>
      <p:sp>
        <p:nvSpPr>
          <p:cNvPr id="90" name="Text 19"/>
          <p:cNvSpPr/>
          <p:nvPr/>
        </p:nvSpPr>
        <p:spPr>
          <a:xfrm>
            <a:off x="388680" y="4903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600" b="1" dirty="0"/>
          </a:p>
        </p:txBody>
      </p:sp>
      <p:sp>
        <p:nvSpPr>
          <p:cNvPr id="91" name="Text 20"/>
          <p:cNvSpPr/>
          <p:nvPr/>
        </p:nvSpPr>
        <p:spPr>
          <a:xfrm>
            <a:off x="388680" y="5076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b="1" dirty="0"/>
          </a:p>
        </p:txBody>
      </p:sp>
      <p:sp>
        <p:nvSpPr>
          <p:cNvPr id="92" name="Text 21"/>
          <p:cNvSpPr/>
          <p:nvPr/>
        </p:nvSpPr>
        <p:spPr>
          <a:xfrm>
            <a:off x="388680" y="525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b="1" dirty="0"/>
          </a:p>
        </p:txBody>
      </p:sp>
      <p:sp>
        <p:nvSpPr>
          <p:cNvPr id="93" name="Text 22"/>
          <p:cNvSpPr/>
          <p:nvPr/>
        </p:nvSpPr>
        <p:spPr>
          <a:xfrm>
            <a:off x="388680" y="54243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b="1" dirty="0"/>
          </a:p>
        </p:txBody>
      </p:sp>
      <p:sp>
        <p:nvSpPr>
          <p:cNvPr id="94" name="Shape 23"/>
          <p:cNvSpPr/>
          <p:nvPr/>
        </p:nvSpPr>
        <p:spPr>
          <a:xfrm>
            <a:off x="5829240" y="2320632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5" name="Shape 24"/>
          <p:cNvSpPr/>
          <p:nvPr/>
        </p:nvSpPr>
        <p:spPr>
          <a:xfrm>
            <a:off x="5875080" y="2562264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6" name="Text 25"/>
          <p:cNvSpPr/>
          <p:nvPr/>
        </p:nvSpPr>
        <p:spPr>
          <a:xfrm>
            <a:off x="5875080" y="256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7" name="Text 26"/>
          <p:cNvSpPr/>
          <p:nvPr/>
        </p:nvSpPr>
        <p:spPr>
          <a:xfrm>
            <a:off x="6364728" y="1967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forte</a:t>
            </a:r>
            <a:endParaRPr lang="en-US" sz="1600" dirty="0"/>
          </a:p>
        </p:txBody>
      </p:sp>
      <p:sp>
        <p:nvSpPr>
          <p:cNvPr id="98" name="Text 27"/>
          <p:cNvSpPr/>
          <p:nvPr/>
        </p:nvSpPr>
        <p:spPr>
          <a:xfrm>
            <a:off x="6415184" y="2404213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ne peut exister sans CompteBancaire. Logique métier respectée.</a:t>
            </a:r>
            <a:endParaRPr lang="en-US" sz="1600" dirty="0"/>
          </a:p>
        </p:txBody>
      </p:sp>
      <p:sp>
        <p:nvSpPr>
          <p:cNvPr id="99" name="Shape 28"/>
          <p:cNvSpPr/>
          <p:nvPr/>
        </p:nvSpPr>
        <p:spPr>
          <a:xfrm>
            <a:off x="5783640" y="3238920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0" name="Shape 29"/>
          <p:cNvSpPr/>
          <p:nvPr/>
        </p:nvSpPr>
        <p:spPr>
          <a:xfrm>
            <a:off x="5875080" y="3403512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1" name="Text 30"/>
          <p:cNvSpPr/>
          <p:nvPr/>
        </p:nvSpPr>
        <p:spPr>
          <a:xfrm>
            <a:off x="5875080" y="340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2" name="Text 31"/>
          <p:cNvSpPr/>
          <p:nvPr/>
        </p:nvSpPr>
        <p:spPr>
          <a:xfrm>
            <a:off x="6468944" y="3110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privilégié</a:t>
            </a:r>
            <a:endParaRPr lang="en-US" sz="1600" dirty="0"/>
          </a:p>
        </p:txBody>
      </p:sp>
      <p:sp>
        <p:nvSpPr>
          <p:cNvPr id="103" name="Text 32"/>
          <p:cNvSpPr/>
          <p:nvPr/>
        </p:nvSpPr>
        <p:spPr>
          <a:xfrm>
            <a:off x="6479180" y="34570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interne accède directement à solde (private) de la classe externe.</a:t>
            </a:r>
            <a:endParaRPr lang="en-US" sz="1600" dirty="0"/>
          </a:p>
        </p:txBody>
      </p:sp>
      <p:sp>
        <p:nvSpPr>
          <p:cNvPr id="104" name="Shape 33"/>
          <p:cNvSpPr/>
          <p:nvPr/>
        </p:nvSpPr>
        <p:spPr>
          <a:xfrm>
            <a:off x="5783640" y="4080168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5" name="Shape 34"/>
          <p:cNvSpPr/>
          <p:nvPr/>
        </p:nvSpPr>
        <p:spPr>
          <a:xfrm>
            <a:off x="5875080" y="4244760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6" name="Text 35"/>
          <p:cNvSpPr/>
          <p:nvPr/>
        </p:nvSpPr>
        <p:spPr>
          <a:xfrm>
            <a:off x="5875080" y="424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7" name="Text 36"/>
          <p:cNvSpPr/>
          <p:nvPr/>
        </p:nvSpPr>
        <p:spPr>
          <a:xfrm>
            <a:off x="6468944" y="4017567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600" dirty="0"/>
          </a:p>
        </p:txBody>
      </p:sp>
      <p:sp>
        <p:nvSpPr>
          <p:cNvPr id="108" name="Text 37"/>
          <p:cNvSpPr/>
          <p:nvPr/>
        </p:nvSpPr>
        <p:spPr>
          <a:xfrm>
            <a:off x="6479180" y="451302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groupé logiquement — tout ce qui concerne le compte est dans la même classe.</a:t>
            </a:r>
            <a:endParaRPr lang="en-US" sz="1600" dirty="0"/>
          </a:p>
        </p:txBody>
      </p:sp>
      <p:sp>
        <p:nvSpPr>
          <p:cNvPr id="109" name="Shape 38"/>
          <p:cNvSpPr/>
          <p:nvPr/>
        </p:nvSpPr>
        <p:spPr>
          <a:xfrm>
            <a:off x="5723956" y="5447919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0" name="Shape 39"/>
          <p:cNvSpPr/>
          <p:nvPr/>
        </p:nvSpPr>
        <p:spPr>
          <a:xfrm>
            <a:off x="5931858" y="5583252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1" name="Text 40"/>
          <p:cNvSpPr/>
          <p:nvPr/>
        </p:nvSpPr>
        <p:spPr>
          <a:xfrm>
            <a:off x="5931858" y="55613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2" name="Text 41"/>
          <p:cNvSpPr/>
          <p:nvPr/>
        </p:nvSpPr>
        <p:spPr>
          <a:xfrm>
            <a:off x="6345201" y="51854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600" dirty="0"/>
          </a:p>
        </p:txBody>
      </p:sp>
      <p:sp>
        <p:nvSpPr>
          <p:cNvPr id="113" name="Text 42"/>
          <p:cNvSpPr/>
          <p:nvPr/>
        </p:nvSpPr>
        <p:spPr>
          <a:xfrm>
            <a:off x="6468944" y="5725971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CompteBancaire cb = new CompteBancaire();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 = cb.new Transaction();</a:t>
            </a:r>
            <a:endParaRPr 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13853" y="891605"/>
            <a:ext cx="38423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Réel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Système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VI. </a:t>
            </a:r>
            <a:r>
              <a:rPr lang="fr-CA" sz="2400" cap="none" dirty="0" err="1" smtClean="0">
                <a:solidFill>
                  <a:srgbClr val="FF0000"/>
                </a:solidFill>
              </a:rPr>
              <a:t>Anonymos</a:t>
            </a:r>
            <a:r>
              <a:rPr lang="fr-CA" sz="2400" cap="none" dirty="0" smtClean="0">
                <a:solidFill>
                  <a:srgbClr val="FF0000"/>
                </a:solidFill>
              </a:rPr>
              <a:t> Class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274320" y="868680"/>
            <a:ext cx="3840480" cy="17910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3"/>
          <p:cNvSpPr/>
          <p:nvPr/>
        </p:nvSpPr>
        <p:spPr>
          <a:xfrm>
            <a:off x="274320" y="868680"/>
            <a:ext cx="64008" cy="17910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4"/>
          <p:cNvSpPr/>
          <p:nvPr/>
        </p:nvSpPr>
        <p:spPr>
          <a:xfrm>
            <a:off x="457200" y="941831"/>
            <a:ext cx="3566160" cy="54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📌  Définition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307591"/>
            <a:ext cx="3566160" cy="9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Une classe sans nom déclarée et instanciée </a:t>
            </a:r>
            <a:r>
              <a:rPr lang="en-US" sz="1600" dirty="0" err="1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une seule expression.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274320" y="2194560"/>
            <a:ext cx="3840480" cy="17910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7"/>
          <p:cNvSpPr/>
          <p:nvPr/>
        </p:nvSpPr>
        <p:spPr>
          <a:xfrm>
            <a:off x="274320" y="2194560"/>
            <a:ext cx="64008" cy="17910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8"/>
          <p:cNvSpPr/>
          <p:nvPr/>
        </p:nvSpPr>
        <p:spPr>
          <a:xfrm>
            <a:off x="457200" y="2267711"/>
            <a:ext cx="3566160" cy="54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Utilisation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2633471"/>
            <a:ext cx="3566160" cy="9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Étendre une classe abstraite ou implémenter une interface à la volée.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274320" y="3520440"/>
            <a:ext cx="3840480" cy="17910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1"/>
          <p:cNvSpPr/>
          <p:nvPr/>
        </p:nvSpPr>
        <p:spPr>
          <a:xfrm>
            <a:off x="274320" y="3520440"/>
            <a:ext cx="64008" cy="179100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457200" y="3593591"/>
            <a:ext cx="3566160" cy="54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🚫  Limite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57200" y="3959351"/>
            <a:ext cx="3566160" cy="9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Utilisée une seule fois. Pour la réutilisation, préférez une classe nommée.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251960" y="892690"/>
            <a:ext cx="4434840" cy="4431385"/>
          </a:xfrm>
          <a:prstGeom prst="rect">
            <a:avLst/>
          </a:prstGeom>
          <a:solidFill>
            <a:schemeClr val="bg1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5"/>
          <p:cNvSpPr/>
          <p:nvPr/>
        </p:nvSpPr>
        <p:spPr>
          <a:xfrm>
            <a:off x="4572000" y="960119"/>
            <a:ext cx="4114800" cy="50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8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 générale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4617720" y="1371599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4617720" y="1627631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monObjet = new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6300192" y="1625998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Interface()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4617720" y="2139695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4617720" y="2395727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4617720" y="2651759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4617720" y="2907791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methode() {</a:t>
            </a:r>
            <a:endParaRPr lang="en-US" sz="1400" b="1" dirty="0"/>
          </a:p>
        </p:txBody>
      </p:sp>
      <p:sp>
        <p:nvSpPr>
          <p:cNvPr id="33" name="Text 23"/>
          <p:cNvSpPr/>
          <p:nvPr/>
        </p:nvSpPr>
        <p:spPr>
          <a:xfrm>
            <a:off x="4617720" y="3163823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Code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4617720" y="3419855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4617720" y="3675887"/>
            <a:ext cx="4160520" cy="40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734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VI. </a:t>
            </a:r>
            <a:r>
              <a:rPr lang="fr-CA" sz="2400" cap="none" dirty="0" err="1">
                <a:solidFill>
                  <a:srgbClr val="FF0000"/>
                </a:solidFill>
              </a:rPr>
              <a:t>Anonymos</a:t>
            </a:r>
            <a:r>
              <a:rPr lang="fr-CA" sz="2400" cap="none" dirty="0">
                <a:solidFill>
                  <a:srgbClr val="FF0000"/>
                </a:solidFill>
              </a:rPr>
              <a:t> Class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516696" y="102757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  Scénario : Gérer le clic d'un bouton dans une application Android sans créer une classe séparée.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1520" y="1916832"/>
            <a:ext cx="5303520" cy="33375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5"/>
          <p:cNvSpPr/>
          <p:nvPr/>
        </p:nvSpPr>
        <p:spPr>
          <a:xfrm>
            <a:off x="388680" y="200827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Classe Anonyme — clic bouton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8680" y="219572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Button btn = findViewById(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88680" y="238317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R.id.monBouton);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8680" y="257062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8680" y="27580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btn.setOnClickListener(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8680" y="294553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new View.OnClickListener() {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8680" y="31329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8680" y="332043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@Override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8680" y="35078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69CD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public void onClick(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8680" y="36953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View v) {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8680" y="388279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Toast.makeText(ctx,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88680" y="40702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E917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"Bouton cliqué !",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8680" y="425769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Toast.LENGTH_SHORT)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8680" y="444514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</a:t>
            </a:r>
            <a:r>
              <a:rPr lang="en-US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.show();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88680" y="46326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8680" y="48200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8680" y="500750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75080" y="2081424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5080" y="2081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59128" y="19716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Sans nom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59128" y="22460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 besoin de déclarer une classe séparée OnClickListener.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5875080" y="2922672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9"/>
          <p:cNvSpPr/>
          <p:nvPr/>
        </p:nvSpPr>
        <p:spPr>
          <a:xfrm>
            <a:off x="5875080" y="2922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6259128" y="28129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À la volée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6259128" y="30872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L'interface View.OnClickListener est implémentée directement.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5875080" y="3763920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5875080" y="3763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5"/>
          <p:cNvSpPr/>
          <p:nvPr/>
        </p:nvSpPr>
        <p:spPr>
          <a:xfrm>
            <a:off x="6259128" y="3654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6"/>
          <p:cNvSpPr/>
          <p:nvPr/>
        </p:nvSpPr>
        <p:spPr>
          <a:xfrm>
            <a:off x="6259128" y="392851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Logique du clic localisée → code plus lisible et maintenable.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8"/>
          <p:cNvSpPr/>
          <p:nvPr/>
        </p:nvSpPr>
        <p:spPr>
          <a:xfrm>
            <a:off x="5875080" y="4605168"/>
            <a:ext cx="329184" cy="32918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8" name="Text 39"/>
          <p:cNvSpPr/>
          <p:nvPr/>
        </p:nvSpPr>
        <p:spPr>
          <a:xfrm>
            <a:off x="5875080" y="4605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40"/>
          <p:cNvSpPr/>
          <p:nvPr/>
        </p:nvSpPr>
        <p:spPr>
          <a:xfrm>
            <a:off x="6259128" y="44954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Usage unique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41"/>
          <p:cNvSpPr/>
          <p:nvPr/>
        </p:nvSpPr>
        <p:spPr>
          <a:xfrm>
            <a:off x="6259128" y="4769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Parfait car ce listener ne sera pas réutilisé ailleurs.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9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VII. </a:t>
            </a:r>
            <a:r>
              <a:rPr lang="fr-CA" sz="2400" cap="none" dirty="0" smtClean="0">
                <a:solidFill>
                  <a:srgbClr val="FF0000"/>
                </a:solidFill>
              </a:rPr>
              <a:t>Conclusion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99119"/>
            <a:ext cx="8064500" cy="665585"/>
          </a:xfrm>
        </p:spPr>
        <p:txBody>
          <a:bodyPr/>
          <a:lstStyle/>
          <a:p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310710" y="2780928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fr-CA" sz="9600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Merci !</a:t>
            </a:r>
            <a:r>
              <a:rPr lang="fr-CA" sz="9600" b="1" dirty="0">
                <a:ln w="11430"/>
                <a:solidFill>
                  <a:schemeClr val="bg1">
                    <a:lumMod val="5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421D6F-C5F1-42E4-86F1-5ED2F5C6A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44624"/>
            <a:ext cx="8208962" cy="837456"/>
          </a:xfrm>
        </p:spPr>
        <p:txBody>
          <a:bodyPr/>
          <a:lstStyle/>
          <a:p>
            <a:r>
              <a:rPr lang="fr-CA">
                <a:solidFill>
                  <a:srgbClr val="C00000"/>
                </a:solidFill>
              </a:rPr>
              <a:t>Questions …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627784" y="2708920"/>
            <a:ext cx="34563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www.osositechnologies.com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119313"/>
            <a:ext cx="89630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744949" y="2691713"/>
            <a:ext cx="7416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CA" sz="2800" b="1" dirty="0">
                <a:solidFill>
                  <a:schemeClr val="bg1"/>
                </a:solidFill>
              </a:rPr>
              <a:t>www.osistechnologies.com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8C955B-5C10-4975-B7E2-47CF609D4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2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OIM">
  <a:themeElements>
    <a:clrScheme name="Section OI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ction OIM">
      <a:majorFont>
        <a:latin typeface="Arial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ection OI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14979</TotalTime>
  <Words>2195</Words>
  <Application>Microsoft Office PowerPoint</Application>
  <PresentationFormat>On-screen Show (4:3)</PresentationFormat>
  <Paragraphs>427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MS PGothic</vt:lpstr>
      <vt:lpstr>Arial</vt:lpstr>
      <vt:lpstr>Arial Narrow</vt:lpstr>
      <vt:lpstr>Calibri</vt:lpstr>
      <vt:lpstr>Consolas</vt:lpstr>
      <vt:lpstr>Times New Roman</vt:lpstr>
      <vt:lpstr>Trebuchet MS</vt:lpstr>
      <vt:lpstr>Wingdings</vt:lpstr>
      <vt:lpstr>Section OIM</vt:lpstr>
      <vt:lpstr>THEME: Génériques et Collections (1)</vt:lpstr>
      <vt:lpstr>SOMMAIRE</vt:lpstr>
      <vt:lpstr>I. INTRODUCTION</vt:lpstr>
      <vt:lpstr>I. INTRODUCTION</vt:lpstr>
      <vt:lpstr>II. Générique (Syntaxe de base) </vt:lpstr>
      <vt:lpstr>II. Générique (Syntaxe de base) </vt:lpstr>
      <vt:lpstr>II. Générique (Syntaxe de base) </vt:lpstr>
      <vt:lpstr>III. Collection</vt:lpstr>
      <vt:lpstr>III.1. Hierachie des collections</vt:lpstr>
      <vt:lpstr>III.1. Hierachie des collections</vt:lpstr>
      <vt:lpstr>PowerPoint Presentation</vt:lpstr>
      <vt:lpstr>IV. λ  Expressions Lambda</vt:lpstr>
      <vt:lpstr>IV. 1. λ  Syntaxe Lambda — Formes &amp; Interfaces Fonctionnelles</vt:lpstr>
      <vt:lpstr>IV. 2. Stream API — Pipeline de Données</vt:lpstr>
      <vt:lpstr>IV. 2.  Stream API — Pipeline de Données</vt:lpstr>
      <vt:lpstr>V. INNER CLASSE (CLASSE INTERN)</vt:lpstr>
      <vt:lpstr>V. INNER CLASSE (CLASSE INTERN)</vt:lpstr>
      <vt:lpstr>V. INNER CLASSE (CLASSE INTERN)</vt:lpstr>
      <vt:lpstr>VI. Anonymos Class</vt:lpstr>
      <vt:lpstr>VI. Anonymos Class</vt:lpstr>
      <vt:lpstr>VII. Conclusion</vt:lpstr>
      <vt:lpstr>PowerPoint Presentation</vt:lpstr>
      <vt:lpstr>Questions …</vt:lpstr>
    </vt:vector>
  </TitlesOfParts>
  <Company>Momentum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Maxime Yapi</dc:creator>
  <cp:lastModifiedBy>Ibrahim SAVADOGO</cp:lastModifiedBy>
  <cp:revision>739</cp:revision>
  <dcterms:created xsi:type="dcterms:W3CDTF">2010-02-03T20:06:36Z</dcterms:created>
  <dcterms:modified xsi:type="dcterms:W3CDTF">2026-04-23T18:41:50Z</dcterms:modified>
</cp:coreProperties>
</file>