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25"/>
  </p:notesMasterIdLst>
  <p:handoutMasterIdLst>
    <p:handoutMasterId r:id="rId26"/>
  </p:handoutMasterIdLst>
  <p:sldIdLst>
    <p:sldId id="256" r:id="rId2"/>
    <p:sldId id="356" r:id="rId3"/>
    <p:sldId id="357" r:id="rId4"/>
    <p:sldId id="372" r:id="rId5"/>
    <p:sldId id="373" r:id="rId6"/>
    <p:sldId id="374" r:id="rId7"/>
    <p:sldId id="375" r:id="rId8"/>
    <p:sldId id="376" r:id="rId9"/>
    <p:sldId id="377" r:id="rId10"/>
    <p:sldId id="379" r:id="rId11"/>
    <p:sldId id="388" r:id="rId12"/>
    <p:sldId id="378" r:id="rId13"/>
    <p:sldId id="380" r:id="rId14"/>
    <p:sldId id="381" r:id="rId15"/>
    <p:sldId id="382" r:id="rId16"/>
    <p:sldId id="383" r:id="rId17"/>
    <p:sldId id="384" r:id="rId18"/>
    <p:sldId id="385" r:id="rId19"/>
    <p:sldId id="386" r:id="rId20"/>
    <p:sldId id="387" r:id="rId21"/>
    <p:sldId id="371" r:id="rId22"/>
    <p:sldId id="327" r:id="rId23"/>
    <p:sldId id="345" r:id="rId24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 autoAdjust="0"/>
    <p:restoredTop sz="94687" autoAdjust="0"/>
  </p:normalViewPr>
  <p:slideViewPr>
    <p:cSldViewPr>
      <p:cViewPr varScale="1">
        <p:scale>
          <a:sx n="78" d="100"/>
          <a:sy n="78" d="100"/>
        </p:scale>
        <p:origin x="940" y="64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453336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3688" y="1916832"/>
            <a:ext cx="5472608" cy="2520280"/>
          </a:xfrm>
        </p:spPr>
        <p:txBody>
          <a:bodyPr/>
          <a:lstStyle/>
          <a:p>
            <a:pPr algn="ctr"/>
            <a:r>
              <a:rPr lang="fr-FR" sz="4800" dirty="0" smtClean="0"/>
              <a:t>THEME: Génériques et Collections (1)</a:t>
            </a:r>
            <a:endParaRPr lang="fr-FR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54183" y="2983393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génériques ?</a:t>
            </a:r>
            <a:endParaRPr lang="en-US" sz="2400" dirty="0"/>
          </a:p>
        </p:txBody>
      </p:sp>
      <p:sp>
        <p:nvSpPr>
          <p:cNvPr id="5" name="Rectangle 4"/>
          <p:cNvSpPr/>
          <p:nvPr/>
        </p:nvSpPr>
        <p:spPr>
          <a:xfrm>
            <a:off x="467543" y="897203"/>
            <a:ext cx="812231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/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Les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Generics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2004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5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Avant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cette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date, on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pouvait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mettre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n'importe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objet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fallait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effectuer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"cast"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chaque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fois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qu'on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veut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récupérer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élément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endParaRPr lang="en-US" altLang="en-US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Collections Framework (JCF)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1998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2 (JDK 1.2)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C'est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moment-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qu'apparaissent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les interfaces List, Set, Map et les classes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HashMap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 eaLnBrk="0" hangingPunct="0">
              <a:buFontTx/>
              <a:buAutoNum type="arabicPeriod"/>
            </a:pPr>
            <a:endParaRPr lang="en-US" altLang="en-US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2641681" y="3501008"/>
            <a:ext cx="3931920" cy="2997416"/>
          </a:xfrm>
          <a:prstGeom prst="rect">
            <a:avLst/>
          </a:prstGeom>
          <a:solidFill>
            <a:srgbClr val="FFF5F5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9" name="Text 3"/>
          <p:cNvSpPr/>
          <p:nvPr/>
        </p:nvSpPr>
        <p:spPr>
          <a:xfrm>
            <a:off x="2824561" y="3638168"/>
            <a:ext cx="3566160" cy="380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❌  Avant Java 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2733121" y="4095368"/>
            <a:ext cx="3749040" cy="96487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1" name="Text 5"/>
          <p:cNvSpPr/>
          <p:nvPr/>
        </p:nvSpPr>
        <p:spPr>
          <a:xfrm>
            <a:off x="2824561" y="4122800"/>
            <a:ext cx="3566160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 liste = new ArrayList();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(String) liste.get(0);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⚠️ ClassCastException possible !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2824561" y="5283393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7"/>
          <p:cNvSpPr/>
          <p:nvPr/>
        </p:nvSpPr>
        <p:spPr>
          <a:xfrm>
            <a:off x="3120004" y="5246945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Cast manuel obligatoire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8"/>
          <p:cNvSpPr/>
          <p:nvPr/>
        </p:nvSpPr>
        <p:spPr>
          <a:xfrm>
            <a:off x="2824561" y="5702182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Text 9"/>
          <p:cNvSpPr/>
          <p:nvPr/>
        </p:nvSpPr>
        <p:spPr>
          <a:xfrm>
            <a:off x="3098881" y="5673464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Erreurs seulement à l'exécution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2824561" y="6116228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7" name="Text 11"/>
          <p:cNvSpPr/>
          <p:nvPr/>
        </p:nvSpPr>
        <p:spPr>
          <a:xfrm>
            <a:off x="3098881" y="6116228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peu lisible et fragile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1" name="Shape 12"/>
          <p:cNvSpPr/>
          <p:nvPr/>
        </p:nvSpPr>
        <p:spPr>
          <a:xfrm>
            <a:off x="5342696" y="1340768"/>
            <a:ext cx="3236640" cy="178177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3"/>
          <p:cNvSpPr/>
          <p:nvPr/>
        </p:nvSpPr>
        <p:spPr>
          <a:xfrm>
            <a:off x="5583469" y="1321048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14"/>
          <p:cNvSpPr/>
          <p:nvPr/>
        </p:nvSpPr>
        <p:spPr>
          <a:xfrm>
            <a:off x="5605228" y="1556143"/>
            <a:ext cx="2016224" cy="30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6"/>
          <p:cNvSpPr/>
          <p:nvPr/>
        </p:nvSpPr>
        <p:spPr>
          <a:xfrm>
            <a:off x="5342696" y="3142265"/>
            <a:ext cx="3236640" cy="141457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5673124" y="19722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Les erreurs de type sont détectées avant </a:t>
            </a:r>
            <a:r>
              <a:rPr lang="en-US" sz="1400" dirty="0" smtClean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l’exécution du </a:t>
            </a: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programme, pas pendant.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8"/>
          <p:cNvSpPr/>
          <p:nvPr/>
        </p:nvSpPr>
        <p:spPr>
          <a:xfrm>
            <a:off x="6156176" y="3425147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Lisibilité du code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9"/>
          <p:cNvSpPr/>
          <p:nvPr/>
        </p:nvSpPr>
        <p:spPr>
          <a:xfrm>
            <a:off x="5706947" y="3650626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exactement quel type est attendu sans lire toute la logique.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5605228" y="3268771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Shape 20"/>
          <p:cNvSpPr/>
          <p:nvPr/>
        </p:nvSpPr>
        <p:spPr>
          <a:xfrm>
            <a:off x="5342696" y="4683344"/>
            <a:ext cx="3236640" cy="1543005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22"/>
          <p:cNvSpPr/>
          <p:nvPr/>
        </p:nvSpPr>
        <p:spPr>
          <a:xfrm>
            <a:off x="6156176" y="5020179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 des casts manuels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3"/>
          <p:cNvSpPr/>
          <p:nvPr/>
        </p:nvSpPr>
        <p:spPr>
          <a:xfrm>
            <a:off x="5636668" y="4865790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3"/>
          <p:cNvSpPr/>
          <p:nvPr/>
        </p:nvSpPr>
        <p:spPr>
          <a:xfrm>
            <a:off x="5812069" y="5357331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compilateur insère lui-même les conversions nécessaires, de manière sûre.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715424" y="1321048"/>
            <a:ext cx="3931920" cy="3474720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898304" y="1458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 Avec les Génériques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14"/>
          <p:cNvSpPr/>
          <p:nvPr/>
        </p:nvSpPr>
        <p:spPr>
          <a:xfrm>
            <a:off x="806864" y="1915408"/>
            <a:ext cx="374904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15"/>
          <p:cNvSpPr/>
          <p:nvPr/>
        </p:nvSpPr>
        <p:spPr>
          <a:xfrm>
            <a:off x="898304" y="1942840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liste = new ArrayList&lt;&gt;();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liste.get(0);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✔️ Vérifié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16"/>
          <p:cNvSpPr/>
          <p:nvPr/>
        </p:nvSpPr>
        <p:spPr>
          <a:xfrm>
            <a:off x="898304" y="340588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17"/>
          <p:cNvSpPr/>
          <p:nvPr/>
        </p:nvSpPr>
        <p:spPr>
          <a:xfrm>
            <a:off x="1172624" y="3378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Vérification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8"/>
          <p:cNvSpPr/>
          <p:nvPr/>
        </p:nvSpPr>
        <p:spPr>
          <a:xfrm>
            <a:off x="898304" y="3799072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1172624" y="3771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de cast manuel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898304" y="4192264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1172624" y="41648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clair et réutilisable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641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Générique 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 flipH="1">
            <a:off x="395536" y="1124744"/>
            <a:ext cx="8568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fr-FR" dirty="0"/>
              <a:t>Java, le mot générique (ou </a:t>
            </a:r>
            <a:r>
              <a:rPr lang="fr-FR" dirty="0" err="1"/>
              <a:t>Generics</a:t>
            </a:r>
            <a:r>
              <a:rPr lang="fr-FR" dirty="0"/>
              <a:t>) désigne un mécanisme qui permet d’écrire des classes, interfaces ou méthodes paramétrées</a:t>
            </a:r>
            <a:r>
              <a:rPr lang="en-US" dirty="0" smtClean="0"/>
              <a:t> par des types </a:t>
            </a:r>
            <a:endParaRPr lang="en-US" dirty="0"/>
          </a:p>
        </p:txBody>
      </p:sp>
      <p:sp>
        <p:nvSpPr>
          <p:cNvPr id="32" name="Shape 8"/>
          <p:cNvSpPr/>
          <p:nvPr/>
        </p:nvSpPr>
        <p:spPr>
          <a:xfrm>
            <a:off x="39411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9"/>
          <p:cNvSpPr/>
          <p:nvPr/>
        </p:nvSpPr>
        <p:spPr>
          <a:xfrm>
            <a:off x="39411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10"/>
          <p:cNvSpPr/>
          <p:nvPr/>
        </p:nvSpPr>
        <p:spPr>
          <a:xfrm>
            <a:off x="48555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&lt;T&gt;</a:t>
            </a:r>
            <a:endParaRPr lang="en-US" sz="2000" dirty="0"/>
          </a:p>
        </p:txBody>
      </p:sp>
      <p:sp>
        <p:nvSpPr>
          <p:cNvPr id="35" name="Text 11"/>
          <p:cNvSpPr/>
          <p:nvPr/>
        </p:nvSpPr>
        <p:spPr>
          <a:xfrm>
            <a:off x="46726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paramètre générique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249723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13"/>
          <p:cNvSpPr/>
          <p:nvPr/>
        </p:nvSpPr>
        <p:spPr>
          <a:xfrm>
            <a:off x="249723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8" name="Text 14"/>
          <p:cNvSpPr/>
          <p:nvPr/>
        </p:nvSpPr>
        <p:spPr>
          <a:xfrm>
            <a:off x="258867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&lt;E&gt;</a:t>
            </a:r>
            <a:endParaRPr lang="en-US" sz="2000" dirty="0"/>
          </a:p>
        </p:txBody>
      </p:sp>
      <p:sp>
        <p:nvSpPr>
          <p:cNvPr id="39" name="Text 15"/>
          <p:cNvSpPr/>
          <p:nvPr/>
        </p:nvSpPr>
        <p:spPr>
          <a:xfrm>
            <a:off x="257038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Élement (utilisé dans List)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460035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17"/>
          <p:cNvSpPr/>
          <p:nvPr/>
        </p:nvSpPr>
        <p:spPr>
          <a:xfrm>
            <a:off x="460035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2" name="Text 18"/>
          <p:cNvSpPr/>
          <p:nvPr/>
        </p:nvSpPr>
        <p:spPr>
          <a:xfrm>
            <a:off x="469179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&lt;K,V&gt;</a:t>
            </a:r>
            <a:endParaRPr lang="en-US" sz="2000" dirty="0"/>
          </a:p>
        </p:txBody>
      </p:sp>
      <p:sp>
        <p:nvSpPr>
          <p:cNvPr id="43" name="Text 19"/>
          <p:cNvSpPr/>
          <p:nvPr/>
        </p:nvSpPr>
        <p:spPr>
          <a:xfrm>
            <a:off x="467350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Clé / Valeur (Map)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20"/>
          <p:cNvSpPr/>
          <p:nvPr/>
        </p:nvSpPr>
        <p:spPr>
          <a:xfrm>
            <a:off x="670347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21"/>
          <p:cNvSpPr/>
          <p:nvPr/>
        </p:nvSpPr>
        <p:spPr>
          <a:xfrm>
            <a:off x="670347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6" name="Text 22"/>
          <p:cNvSpPr/>
          <p:nvPr/>
        </p:nvSpPr>
        <p:spPr>
          <a:xfrm>
            <a:off x="679491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&lt;?&gt;</a:t>
            </a:r>
            <a:endParaRPr lang="en-US" sz="2000" dirty="0"/>
          </a:p>
        </p:txBody>
      </p:sp>
      <p:sp>
        <p:nvSpPr>
          <p:cNvPr id="47" name="Text 23"/>
          <p:cNvSpPr/>
          <p:nvPr/>
        </p:nvSpPr>
        <p:spPr>
          <a:xfrm>
            <a:off x="677662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inconnu (wildcard)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866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Générique 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3"/>
          <p:cNvSpPr/>
          <p:nvPr/>
        </p:nvSpPr>
        <p:spPr>
          <a:xfrm>
            <a:off x="389045" y="1465656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paramètre de type T est déclaré entre chevrons après le nom de la classe. T est un alias qui sera remplacé par un type réel à l'utilisation.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395536" y="1916832"/>
            <a:ext cx="4846320" cy="2468880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5" name="Text 5"/>
          <p:cNvSpPr/>
          <p:nvPr/>
        </p:nvSpPr>
        <p:spPr>
          <a:xfrm>
            <a:off x="505264" y="1989984"/>
            <a:ext cx="462686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Declaration : &lt;T&gt; apres le nom de la classe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Boite&lt;T&gt;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T contenu;          // T est utilise comme un vrai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void mettre(T valeur)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this.contenu = valeur;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T prendre()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return contenu;         // retourne exactement le bon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5260144" y="2118000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7" name="Text 7"/>
          <p:cNvSpPr/>
          <p:nvPr/>
        </p:nvSpPr>
        <p:spPr>
          <a:xfrm>
            <a:off x="5744776" y="2008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= paramètre de type (convention : T, E, K, V...)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5260144" y="2556912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9" name="Text 9"/>
          <p:cNvSpPr/>
          <p:nvPr/>
        </p:nvSpPr>
        <p:spPr>
          <a:xfrm>
            <a:off x="5744776" y="24471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utilisé comme n'importe quel autre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0"/>
          <p:cNvSpPr/>
          <p:nvPr/>
        </p:nvSpPr>
        <p:spPr>
          <a:xfrm flipV="1">
            <a:off x="5260143" y="3114697"/>
            <a:ext cx="1718445" cy="36575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1" name="Text 11"/>
          <p:cNvSpPr/>
          <p:nvPr/>
        </p:nvSpPr>
        <p:spPr>
          <a:xfrm>
            <a:off x="6978589" y="2979853"/>
            <a:ext cx="2016224" cy="21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reçoit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2"/>
          <p:cNvSpPr/>
          <p:nvPr/>
        </p:nvSpPr>
        <p:spPr>
          <a:xfrm flipV="1">
            <a:off x="5260144" y="3769943"/>
            <a:ext cx="1443676" cy="21409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3" name="Text 13"/>
          <p:cNvSpPr/>
          <p:nvPr/>
        </p:nvSpPr>
        <p:spPr>
          <a:xfrm>
            <a:off x="6703820" y="3647077"/>
            <a:ext cx="2139592" cy="217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retourne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14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15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Utilisation — T est remplacé par le type concret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395536" y="4797191"/>
            <a:ext cx="8412480" cy="1527047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7" name="Text 17"/>
          <p:cNvSpPr/>
          <p:nvPr/>
        </p:nvSpPr>
        <p:spPr>
          <a:xfrm>
            <a:off x="505264" y="4870344"/>
            <a:ext cx="8193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Boite&lt;String&gt;  boiteTexte  = new Boite&lt;&gt;();  // T =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Boite&lt;Integer&gt; boiteNombre = new Boite&lt;&gt;();  // T = Integer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Boite&lt;Boolean&gt; boiteBool   = new Boite&lt;&gt;();  // T = Boolean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boiteTexte.mettre("Bonjour");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boiteTexte.prendre();  // pas de cast, c'est deja un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875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Générique 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2"/>
          <p:cNvSpPr/>
          <p:nvPr/>
        </p:nvSpPr>
        <p:spPr>
          <a:xfrm>
            <a:off x="375111" y="1581519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Boite&lt;T&gt; c'est comme une boîte de livraison :</a:t>
            </a:r>
            <a:endParaRPr lang="en-US" sz="1400" dirty="0"/>
          </a:p>
        </p:txBody>
      </p:sp>
      <p:sp>
        <p:nvSpPr>
          <p:cNvPr id="24" name="Text 3"/>
          <p:cNvSpPr/>
          <p:nvPr/>
        </p:nvSpPr>
        <p:spPr>
          <a:xfrm>
            <a:off x="375110" y="2031703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carton est toujours le même — seul le contenu change selon ce qu'on y met.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4"/>
          <p:cNvSpPr/>
          <p:nvPr/>
        </p:nvSpPr>
        <p:spPr>
          <a:xfrm>
            <a:off x="294726" y="2639224"/>
            <a:ext cx="2743200" cy="2926080"/>
          </a:xfrm>
          <a:prstGeom prst="rect">
            <a:avLst/>
          </a:prstGeom>
          <a:noFill/>
          <a:ln w="19050">
            <a:solidFill>
              <a:srgbClr val="C4B5FD"/>
            </a:solidFill>
            <a:prstDash val="solid"/>
          </a:ln>
        </p:spPr>
      </p:sp>
      <p:sp>
        <p:nvSpPr>
          <p:cNvPr id="26" name="Shape 5"/>
          <p:cNvSpPr/>
          <p:nvPr/>
        </p:nvSpPr>
        <p:spPr>
          <a:xfrm>
            <a:off x="294726" y="2639224"/>
            <a:ext cx="27432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6"/>
          <p:cNvSpPr/>
          <p:nvPr/>
        </p:nvSpPr>
        <p:spPr>
          <a:xfrm>
            <a:off x="3861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28" name="Shape 7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8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Boite&lt;Telephone&gt;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9"/>
          <p:cNvSpPr/>
          <p:nvPr/>
        </p:nvSpPr>
        <p:spPr>
          <a:xfrm>
            <a:off x="3861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téléphone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418982" y="4374072"/>
            <a:ext cx="2523744" cy="71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que c'est un téléphone à l'intérieur. Pas besoin de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verifier</a:t>
            </a:r>
          </a:p>
          <a:p>
            <a:pPr marL="0" indent="0" algn="l">
              <a:buNone/>
            </a:pP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garantit le contenu.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3266526" y="2639224"/>
            <a:ext cx="2743200" cy="2926080"/>
          </a:xfrm>
          <a:prstGeom prst="rect">
            <a:avLst/>
          </a:prstGeom>
          <a:noFill/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2"/>
          <p:cNvSpPr/>
          <p:nvPr/>
        </p:nvSpPr>
        <p:spPr>
          <a:xfrm>
            <a:off x="3266526" y="2639224"/>
            <a:ext cx="27432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13"/>
          <p:cNvSpPr/>
          <p:nvPr/>
        </p:nvSpPr>
        <p:spPr>
          <a:xfrm>
            <a:off x="33579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🍕</a:t>
            </a:r>
            <a:endParaRPr lang="en-US" sz="3200" dirty="0"/>
          </a:p>
        </p:txBody>
      </p:sp>
      <p:sp>
        <p:nvSpPr>
          <p:cNvPr id="35" name="Shape 14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15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Boite&lt;Pizza&gt;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16"/>
          <p:cNvSpPr/>
          <p:nvPr/>
        </p:nvSpPr>
        <p:spPr>
          <a:xfrm>
            <a:off x="33579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à pizza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17"/>
          <p:cNvSpPr/>
          <p:nvPr/>
        </p:nvSpPr>
        <p:spPr>
          <a:xfrm>
            <a:off x="3348822" y="436286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Même boîte, autre contenu. On ne peut pas mettre un téléphone dans une boîte à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pizza, 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l'interdit.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8"/>
          <p:cNvSpPr/>
          <p:nvPr/>
        </p:nvSpPr>
        <p:spPr>
          <a:xfrm>
            <a:off x="6238326" y="2639224"/>
            <a:ext cx="2743200" cy="2926080"/>
          </a:xfrm>
          <a:prstGeom prst="rect">
            <a:avLst/>
          </a:prstGeom>
          <a:noFill/>
          <a:ln w="19050">
            <a:solidFill>
              <a:srgbClr val="86EFAC"/>
            </a:solidFill>
            <a:prstDash val="solid"/>
          </a:ln>
        </p:spPr>
      </p:sp>
      <p:sp>
        <p:nvSpPr>
          <p:cNvPr id="40" name="Shape 19"/>
          <p:cNvSpPr/>
          <p:nvPr/>
        </p:nvSpPr>
        <p:spPr>
          <a:xfrm>
            <a:off x="6238326" y="2639224"/>
            <a:ext cx="274320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Shape 21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22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Boite&lt;Medicament&gt;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 23"/>
          <p:cNvSpPr/>
          <p:nvPr/>
        </p:nvSpPr>
        <p:spPr>
          <a:xfrm>
            <a:off x="63297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médicaments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24"/>
          <p:cNvSpPr/>
          <p:nvPr/>
        </p:nvSpPr>
        <p:spPr>
          <a:xfrm>
            <a:off x="6348054" y="4293963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Sans générique, n'importe quoi pourrait entrer. Avec &lt;T&gt;, seul le bon type </a:t>
            </a:r>
            <a:r>
              <a:rPr lang="en-US" sz="1400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est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accepté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garantie.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hape 25"/>
          <p:cNvSpPr/>
          <p:nvPr/>
        </p:nvSpPr>
        <p:spPr>
          <a:xfrm>
            <a:off x="375110" y="5912776"/>
            <a:ext cx="8412480" cy="292608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6" name="Text 26"/>
          <p:cNvSpPr/>
          <p:nvPr/>
        </p:nvSpPr>
        <p:spPr>
          <a:xfrm>
            <a:off x="466550" y="59127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En Java : T = le type du contenu. Une fois défini, impossible de mettre le mauvais objet dedans — le compilateur le refuse !</a:t>
            </a:r>
            <a:endParaRPr lang="en-US" sz="1100" dirty="0"/>
          </a:p>
        </p:txBody>
      </p:sp>
      <p:sp>
        <p:nvSpPr>
          <p:cNvPr id="2" name="TextBox 1"/>
          <p:cNvSpPr txBox="1"/>
          <p:nvPr/>
        </p:nvSpPr>
        <p:spPr>
          <a:xfrm>
            <a:off x="3804598" y="1036959"/>
            <a:ext cx="1553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6206937" y="2773141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💊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64232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Générique 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469401" y="1580792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3"/>
          <p:cNvSpPr/>
          <p:nvPr/>
        </p:nvSpPr>
        <p:spPr>
          <a:xfrm>
            <a:off x="498426" y="1533734"/>
            <a:ext cx="4005072" cy="3377649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4" name="Text 4"/>
          <p:cNvSpPr/>
          <p:nvPr/>
        </p:nvSpPr>
        <p:spPr>
          <a:xfrm>
            <a:off x="579129" y="1772816"/>
            <a:ext cx="3895344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Interface avec un parametre de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interface Transformable&lt;T&gt;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T transformer(T valeur);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Implementation : String -&gt;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Majuscule implements Transformable&lt;String&gt;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String transformer(String v)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return v.toUpperCase();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Transformable&lt;String&gt; t = new Majuscule();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t.transformer("bonjour"); // "BONJOUR"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687205" y="1532187"/>
            <a:ext cx="4269415" cy="4676589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6"/>
          <p:cNvSpPr/>
          <p:nvPr/>
        </p:nvSpPr>
        <p:spPr>
          <a:xfrm>
            <a:off x="4870085" y="1580792"/>
            <a:ext cx="3895344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Deux parametres de type independants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Paire&lt;A, B&gt;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A premier;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B second;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Paire(A premier, B second)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this.premier = premier;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this.second  = second;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A getPremier() { return premier;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B getSecond()  { return second;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Utilisations variees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Paire&lt;String, Integer&gt; note  = new Paire&lt;&gt;("Alice", 18);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Paire&lt;Integer, Boolean&gt; flag = new Paire&lt;&gt;(404, false);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nom = note.getPremier();  // "Alice"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    val = note.getSecond();   // 18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487707" y="5093208"/>
            <a:ext cx="4114800" cy="1115568"/>
          </a:xfrm>
          <a:prstGeom prst="rect">
            <a:avLst/>
          </a:prstGeom>
          <a:solidFill>
            <a:srgbClr val="EDE9FE"/>
          </a:solidFill>
          <a:ln w="6350">
            <a:solidFill>
              <a:srgbClr val="DDD6FE"/>
            </a:solidFill>
            <a:prstDash val="solid"/>
          </a:ln>
        </p:spPr>
      </p:sp>
      <p:sp>
        <p:nvSpPr>
          <p:cNvPr id="18" name="Text 8"/>
          <p:cNvSpPr/>
          <p:nvPr/>
        </p:nvSpPr>
        <p:spPr>
          <a:xfrm>
            <a:off x="498426" y="50932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À retenir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98426" y="536752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interface générique est implémentée en précisant le type concret. Une classe peut avoir autant de paramètres de type que nécessaire : Paire&lt;A,B&gt;, Triple&lt;A,B,C&gt;, etc.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"/>
          <p:cNvSpPr/>
          <p:nvPr/>
        </p:nvSpPr>
        <p:spPr>
          <a:xfrm>
            <a:off x="544140" y="826749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générique &amp; paramètres multiples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489359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Collection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1520" y="967016"/>
            <a:ext cx="8784976" cy="123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=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est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comme une boîte fixe : tu dois décider la taille à l'avance. Une Collection, c'est comme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 sac à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dos,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peux y mettre autant d'objets que tu veux, chercher dedans, trier, filtrer, etc.</a:t>
            </a:r>
          </a:p>
        </p:txBody>
      </p:sp>
      <p:sp>
        <p:nvSpPr>
          <p:cNvPr id="11" name="Text 7"/>
          <p:cNvSpPr/>
          <p:nvPr/>
        </p:nvSpPr>
        <p:spPr>
          <a:xfrm>
            <a:off x="387536" y="2236597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❌  Problème avec les tableaux ordinaires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1520" y="2803768"/>
            <a:ext cx="4049648" cy="24494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97264" y="3083088"/>
            <a:ext cx="3803904" cy="171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fixe — on doit tout prévoir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String[] etudiants = new String[30];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etudiants[0] = "Alice";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etudiants[1] = "Bob";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Et si on a 31 étudiants ? ❌ Impossible !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Pas de méthode pour chercher, trier...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822376" y="220260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</a:rPr>
              <a:t>✅  Solution avec ArrayList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730936" y="2756794"/>
            <a:ext cx="4031747" cy="249646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4958779" y="3094158"/>
            <a:ext cx="38039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dynamique — s'adapte automatiquement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etudiants = new ArrayList&lt;&gt;();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etudiants.add("Alice");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etudiants.add("Bob");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etudiants.add("Clara"); // Autant qu'on veut ✅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etudiants.contains("Alice"); // true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etudiants.size();             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1542669" y="5538587"/>
            <a:ext cx="2834640" cy="502920"/>
          </a:xfrm>
          <a:prstGeom prst="rect">
            <a:avLst/>
          </a:prstGeom>
          <a:solidFill>
            <a:schemeClr val="bg1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542669" y="5538587"/>
            <a:ext cx="64008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725549" y="5556875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Taille dynamique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4532756" y="5538587"/>
            <a:ext cx="3495628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532757" y="5538587"/>
            <a:ext cx="6400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15637" y="5556875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</a:rPr>
              <a:t>Méthodes intégrées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0" name="Text 26"/>
          <p:cNvSpPr/>
          <p:nvPr/>
        </p:nvSpPr>
        <p:spPr>
          <a:xfrm>
            <a:off x="4715637" y="5794619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add, remove, sort, contains, size…</a:t>
            </a:r>
          </a:p>
        </p:txBody>
      </p:sp>
    </p:spTree>
    <p:extLst>
      <p:ext uri="{BB962C8B-B14F-4D97-AF65-F5344CB8AC3E}">
        <p14:creationId xmlns:p14="http://schemas.microsoft.com/office/powerpoint/2010/main" val="3538060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12776"/>
            <a:ext cx="7488832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705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92" y="1484784"/>
            <a:ext cx="7488832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1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3568" y="260648"/>
            <a:ext cx="5184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Implementation </a:t>
            </a:r>
            <a:r>
              <a:rPr lang="en-US" sz="2800" dirty="0" err="1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principale</a:t>
            </a:r>
            <a:endParaRPr lang="en-US" sz="2800" dirty="0">
              <a:solidFill>
                <a:srgbClr val="FF0000"/>
              </a:solidFill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9114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Lambda Expression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79512" y="980728"/>
            <a:ext cx="8851276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lambda,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c'est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fonction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jetable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 lieu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créer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entière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pour faire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seule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action,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l'écris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ligne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directement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besoin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5968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352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221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3485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4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75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190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1784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9180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13529</TotalTime>
  <Words>1057</Words>
  <Application>Microsoft Office PowerPoint</Application>
  <PresentationFormat>On-screen Show (4:3)</PresentationFormat>
  <Paragraphs>159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MS PGothic</vt:lpstr>
      <vt:lpstr>Arial</vt:lpstr>
      <vt:lpstr>Arial Narrow</vt:lpstr>
      <vt:lpstr>Calibri</vt:lpstr>
      <vt:lpstr>Consolas</vt:lpstr>
      <vt:lpstr>Times New Roman</vt:lpstr>
      <vt:lpstr>Trebuchet MS</vt:lpstr>
      <vt:lpstr>Wingdings</vt:lpstr>
      <vt:lpstr>Section OIM</vt:lpstr>
      <vt:lpstr>THEME: Génériques et Collections (1)</vt:lpstr>
      <vt:lpstr>SOMMAIRE</vt:lpstr>
      <vt:lpstr>INTRODUCTION</vt:lpstr>
      <vt:lpstr>INTRODUCTION</vt:lpstr>
      <vt:lpstr>Générique (Syntaxe de base) </vt:lpstr>
      <vt:lpstr>Générique (Syntaxe de base) </vt:lpstr>
      <vt:lpstr>Générique (Syntaxe de base) </vt:lpstr>
      <vt:lpstr>Générique (Syntaxe de base) </vt:lpstr>
      <vt:lpstr>Collection</vt:lpstr>
      <vt:lpstr>Hierachie des collections</vt:lpstr>
      <vt:lpstr>Hierachie des collections</vt:lpstr>
      <vt:lpstr>PowerPoint Presentation</vt:lpstr>
      <vt:lpstr>Lambda Expression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PowerPoint Presentation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666</cp:revision>
  <dcterms:created xsi:type="dcterms:W3CDTF">2010-02-03T20:06:36Z</dcterms:created>
  <dcterms:modified xsi:type="dcterms:W3CDTF">2026-04-22T18:25:09Z</dcterms:modified>
</cp:coreProperties>
</file>