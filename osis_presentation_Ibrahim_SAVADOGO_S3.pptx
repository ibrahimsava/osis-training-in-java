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1"/>
  </p:sldMasterIdLst>
  <p:notesMasterIdLst>
    <p:notesMasterId r:id="rId26"/>
  </p:notesMasterIdLst>
  <p:handoutMasterIdLst>
    <p:handoutMasterId r:id="rId27"/>
  </p:handoutMasterIdLst>
  <p:sldIdLst>
    <p:sldId id="256" r:id="rId2"/>
    <p:sldId id="356" r:id="rId3"/>
    <p:sldId id="357" r:id="rId4"/>
    <p:sldId id="372" r:id="rId5"/>
    <p:sldId id="373" r:id="rId6"/>
    <p:sldId id="374" r:id="rId7"/>
    <p:sldId id="375" r:id="rId8"/>
    <p:sldId id="376" r:id="rId9"/>
    <p:sldId id="377" r:id="rId10"/>
    <p:sldId id="379" r:id="rId11"/>
    <p:sldId id="388" r:id="rId12"/>
    <p:sldId id="378" r:id="rId13"/>
    <p:sldId id="380" r:id="rId14"/>
    <p:sldId id="391" r:id="rId15"/>
    <p:sldId id="381" r:id="rId16"/>
    <p:sldId id="392" r:id="rId17"/>
    <p:sldId id="382" r:id="rId18"/>
    <p:sldId id="389" r:id="rId19"/>
    <p:sldId id="390" r:id="rId20"/>
    <p:sldId id="383" r:id="rId21"/>
    <p:sldId id="384" r:id="rId22"/>
    <p:sldId id="385" r:id="rId23"/>
    <p:sldId id="327" r:id="rId24"/>
    <p:sldId id="345" r:id="rId25"/>
  </p:sldIdLst>
  <p:sldSz cx="9144000" cy="6858000" type="screen4x3"/>
  <p:notesSz cx="7010400" cy="9296400"/>
  <p:defaultTextStyle>
    <a:defPPr>
      <a:defRPr lang="fr-CA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001A"/>
    <a:srgbClr val="777777"/>
    <a:srgbClr val="006600"/>
    <a:srgbClr val="E3CDD0"/>
    <a:srgbClr val="FFFF99"/>
    <a:srgbClr val="FF6600"/>
    <a:srgbClr val="FF33CC"/>
    <a:srgbClr val="002C56"/>
    <a:srgbClr val="CBD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 autoAdjust="0"/>
    <p:restoredTop sz="85550" autoAdjust="0"/>
  </p:normalViewPr>
  <p:slideViewPr>
    <p:cSldViewPr>
      <p:cViewPr varScale="1">
        <p:scale>
          <a:sx n="67" d="100"/>
          <a:sy n="67" d="100"/>
        </p:scale>
        <p:origin x="1260" y="52"/>
      </p:cViewPr>
      <p:guideLst/>
    </p:cSldViewPr>
  </p:slideViewPr>
  <p:outlineViewPr>
    <p:cViewPr>
      <p:scale>
        <a:sx n="33" d="100"/>
        <a:sy n="33" d="100"/>
      </p:scale>
      <p:origin x="0" y="1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4" d="100"/>
          <a:sy n="54" d="100"/>
        </p:scale>
        <p:origin x="2540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EFB73F57-00A7-4824-AB68-DA8CEE9E7E80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385719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843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126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/>
              <a:t>Cliquez pour modifier les styles du texte du masque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/>
              <a:t>Cinquième niveau</a:t>
            </a:r>
          </a:p>
        </p:txBody>
      </p:sp>
      <p:sp>
        <p:nvSpPr>
          <p:cNvPr id="1127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endParaRPr lang="fr-CA"/>
          </a:p>
        </p:txBody>
      </p:sp>
      <p:sp>
        <p:nvSpPr>
          <p:cNvPr id="1127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defTabSz="931863">
              <a:defRPr sz="1200">
                <a:latin typeface="Arial" charset="0"/>
                <a:ea typeface="+mn-ea"/>
              </a:defRPr>
            </a:lvl1pPr>
          </a:lstStyle>
          <a:p>
            <a:pPr>
              <a:defRPr/>
            </a:pPr>
            <a:fld id="{4824BCD5-7DB3-4570-95FB-D6BD68920CD5}" type="slidenum">
              <a:rPr lang="fr-CA"/>
              <a:pPr>
                <a:defRPr/>
              </a:pPr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2130821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41517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Collection </a:t>
            </a:r>
            <a:r>
              <a:rPr lang="en-US" dirty="0" err="1" smtClean="0"/>
              <a:t>etais</a:t>
            </a:r>
            <a:r>
              <a:rPr lang="en-US" dirty="0" smtClean="0"/>
              <a:t> pas</a:t>
            </a:r>
            <a:r>
              <a:rPr lang="en-US" baseline="0" dirty="0" smtClean="0"/>
              <a:t> la </a:t>
            </a:r>
            <a:r>
              <a:rPr lang="en-US" baseline="0" dirty="0" err="1" smtClean="0"/>
              <a:t>en</a:t>
            </a:r>
            <a:r>
              <a:rPr lang="en-US" baseline="0" dirty="0" smtClean="0"/>
              <a:t> 1.0</a:t>
            </a:r>
          </a:p>
          <a:p>
            <a:r>
              <a:rPr lang="en-US" baseline="0" dirty="0" smtClean="0"/>
              <a:t>Vu jour 1.2</a:t>
            </a:r>
          </a:p>
          <a:p>
            <a:r>
              <a:rPr lang="en-US" baseline="0" dirty="0" smtClean="0"/>
              <a:t>Et generic en1.5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380601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Bien</a:t>
            </a:r>
            <a:r>
              <a:rPr lang="en-US" baseline="0" dirty="0" smtClean="0"/>
              <a:t> </a:t>
            </a:r>
            <a:r>
              <a:rPr lang="en-US" baseline="0" dirty="0" err="1" smtClean="0"/>
              <a:t>vrai</a:t>
            </a:r>
            <a:r>
              <a:rPr lang="en-US" baseline="0" dirty="0" smtClean="0"/>
              <a:t> que Map fait </a:t>
            </a:r>
            <a:r>
              <a:rPr lang="en-US" baseline="0" dirty="0" err="1" smtClean="0"/>
              <a:t>partie</a:t>
            </a:r>
            <a:r>
              <a:rPr lang="en-US" baseline="0" dirty="0" smtClean="0"/>
              <a:t> du </a:t>
            </a:r>
            <a:r>
              <a:rPr lang="en-US" baseline="0" dirty="0" err="1" smtClean="0"/>
              <a:t>frsmewok</a:t>
            </a:r>
            <a:r>
              <a:rPr lang="en-US" baseline="0" dirty="0" smtClean="0"/>
              <a:t> </a:t>
            </a:r>
            <a:r>
              <a:rPr lang="en-US" baseline="0" dirty="0" err="1" smtClean="0"/>
              <a:t>mais</a:t>
            </a:r>
            <a:r>
              <a:rPr lang="en-US" baseline="0" dirty="0" smtClean="0"/>
              <a:t> </a:t>
            </a:r>
            <a:r>
              <a:rPr lang="en-US" baseline="0" dirty="0" err="1" smtClean="0"/>
              <a:t>elle</a:t>
            </a:r>
            <a:r>
              <a:rPr lang="en-US" baseline="0" dirty="0" smtClean="0"/>
              <a:t> </a:t>
            </a:r>
            <a:r>
              <a:rPr lang="en-US" baseline="0" dirty="0" err="1" smtClean="0"/>
              <a:t>nherite</a:t>
            </a:r>
            <a:r>
              <a:rPr lang="en-US" baseline="0" dirty="0" smtClean="0"/>
              <a:t> pas de collections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824BCD5-7DB3-4570-95FB-D6BD68920CD5}" type="slidenum">
              <a:rPr lang="fr-CA" smtClean="0"/>
              <a:pPr>
                <a:defRPr/>
              </a:pPr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79087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115888"/>
            <a:ext cx="971550" cy="5762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5" name="Rectangle 4"/>
          <p:cNvSpPr/>
          <p:nvPr userDrawn="1"/>
        </p:nvSpPr>
        <p:spPr>
          <a:xfrm>
            <a:off x="0" y="6237288"/>
            <a:ext cx="6876256" cy="620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6" name="Rectangle 5"/>
          <p:cNvSpPr/>
          <p:nvPr userDrawn="1"/>
        </p:nvSpPr>
        <p:spPr>
          <a:xfrm>
            <a:off x="0" y="549275"/>
            <a:ext cx="9144000" cy="6207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fr-CA"/>
          </a:p>
        </p:txBody>
      </p:sp>
      <p:sp>
        <p:nvSpPr>
          <p:cNvPr id="23554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31640" y="1916832"/>
            <a:ext cx="6048672" cy="1519808"/>
          </a:xfrm>
        </p:spPr>
        <p:txBody>
          <a:bodyPr/>
          <a:lstStyle>
            <a:lvl1pPr algn="r">
              <a:defRPr sz="4000">
                <a:solidFill>
                  <a:srgbClr val="E2001A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et modifiez le titre</a:t>
            </a:r>
          </a:p>
        </p:txBody>
      </p:sp>
      <p:sp>
        <p:nvSpPr>
          <p:cNvPr id="23555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11760" y="3518712"/>
            <a:ext cx="6480720" cy="1278440"/>
          </a:xfrm>
        </p:spPr>
        <p:txBody>
          <a:bodyPr/>
          <a:lstStyle>
            <a:lvl1pPr marL="0" indent="0" algn="r">
              <a:buFontTx/>
              <a:buNone/>
              <a:defRPr sz="2600" i="1">
                <a:solidFill>
                  <a:schemeClr val="tx1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pPr lvl="0"/>
            <a:r>
              <a:rPr lang="fr-CA" noProof="0" dirty="0"/>
              <a:t>Cliquez pour modifier le style des sous-titres du masque</a:t>
            </a:r>
          </a:p>
        </p:txBody>
      </p:sp>
      <p:cxnSp>
        <p:nvCxnSpPr>
          <p:cNvPr id="19" name="Connecteur en angle 18"/>
          <p:cNvCxnSpPr/>
          <p:nvPr userDrawn="1"/>
        </p:nvCxnSpPr>
        <p:spPr>
          <a:xfrm>
            <a:off x="211138" y="1484784"/>
            <a:ext cx="8681342" cy="3869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Connecteur en angle 23"/>
          <p:cNvCxnSpPr/>
          <p:nvPr userDrawn="1"/>
        </p:nvCxnSpPr>
        <p:spPr>
          <a:xfrm flipV="1">
            <a:off x="210443" y="1440160"/>
            <a:ext cx="8682037" cy="123178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Arrondir un rectangle avec un coin diagonal 26"/>
          <p:cNvSpPr/>
          <p:nvPr userDrawn="1"/>
        </p:nvSpPr>
        <p:spPr>
          <a:xfrm>
            <a:off x="35496" y="4899724"/>
            <a:ext cx="3960440" cy="292606"/>
          </a:xfrm>
          <a:prstGeom prst="round2Diag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0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" y="551579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ZoneTexte 28"/>
          <p:cNvSpPr txBox="1"/>
          <p:nvPr userDrawn="1"/>
        </p:nvSpPr>
        <p:spPr>
          <a:xfrm>
            <a:off x="35496" y="4859868"/>
            <a:ext cx="39604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i="1" dirty="0">
                <a:solidFill>
                  <a:schemeClr val="bg1"/>
                </a:solidFill>
                <a:latin typeface="Arial Narrow" panose="020B0606020202030204" pitchFamily="34" charset="0"/>
                <a:cs typeface="Times New Roman" panose="02020603050405020304" pitchFamily="18" charset="0"/>
              </a:rPr>
              <a:t>La Force de l’Engagement et de l’Expertise</a:t>
            </a:r>
          </a:p>
        </p:txBody>
      </p:sp>
      <p:pic>
        <p:nvPicPr>
          <p:cNvPr id="21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5877272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2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23587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3" name="Espace réservé pour une image  4" descr="Début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9" y="6595913"/>
            <a:ext cx="452965" cy="145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1880" y="260648"/>
            <a:ext cx="2298552" cy="1086087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79450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759325" y="1484313"/>
            <a:ext cx="3927475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Modifiez le style du titre</a:t>
            </a:r>
            <a:endParaRPr lang="fr-CA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CA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732588" y="-100013"/>
            <a:ext cx="2016125" cy="59769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79450" y="-100013"/>
            <a:ext cx="5900738" cy="59769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4213" y="-188913"/>
            <a:ext cx="8208962" cy="11430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et modifiez le titre</a:t>
            </a:r>
          </a:p>
        </p:txBody>
      </p:sp>
      <p:sp>
        <p:nvSpPr>
          <p:cNvPr id="1027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449" y="1125538"/>
            <a:ext cx="8213725" cy="4751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dirty="0"/>
              <a:t>Cliquez pour modifier les styles du texte du masque</a:t>
            </a:r>
          </a:p>
          <a:p>
            <a:pPr lvl="1"/>
            <a:r>
              <a:rPr lang="fr-CA" dirty="0"/>
              <a:t>Deuxième niveau</a:t>
            </a:r>
          </a:p>
          <a:p>
            <a:pPr lvl="2"/>
            <a:r>
              <a:rPr lang="fr-CA" dirty="0"/>
              <a:t> Troisième niveau</a:t>
            </a:r>
          </a:p>
          <a:p>
            <a:pPr lvl="3"/>
            <a:r>
              <a:rPr lang="fr-CA" dirty="0"/>
              <a:t>Quatrième niveau</a:t>
            </a:r>
          </a:p>
          <a:p>
            <a:pPr lvl="4"/>
            <a:r>
              <a:rPr lang="fr-CA" dirty="0"/>
              <a:t>Cinquième niveau</a:t>
            </a:r>
          </a:p>
        </p:txBody>
      </p:sp>
      <p:cxnSp>
        <p:nvCxnSpPr>
          <p:cNvPr id="10" name="Connecteur en angle 9"/>
          <p:cNvCxnSpPr/>
          <p:nvPr userDrawn="1"/>
        </p:nvCxnSpPr>
        <p:spPr>
          <a:xfrm flipV="1">
            <a:off x="679450" y="764704"/>
            <a:ext cx="8213725" cy="72008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Connecteur en angle 10"/>
          <p:cNvCxnSpPr/>
          <p:nvPr userDrawn="1"/>
        </p:nvCxnSpPr>
        <p:spPr>
          <a:xfrm flipV="1">
            <a:off x="679450" y="686150"/>
            <a:ext cx="8213725" cy="78554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" name="Espace réservé pour une image  4" descr="Nouvelle notification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668344" y="6416675"/>
            <a:ext cx="1296144" cy="388330"/>
          </a:xfrm>
          <a:prstGeom prst="rect">
            <a:avLst/>
          </a:prstGeom>
        </p:spPr>
      </p:pic>
      <p:sp>
        <p:nvSpPr>
          <p:cNvPr id="3" name="Rectangle 2"/>
          <p:cNvSpPr/>
          <p:nvPr userDrawn="1"/>
        </p:nvSpPr>
        <p:spPr>
          <a:xfrm>
            <a:off x="0" y="296962"/>
            <a:ext cx="679450" cy="395734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5" name="Image 1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002C56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ＭＳ Ｐゴシック" pitchFamily="2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400">
          <a:solidFill>
            <a:srgbClr val="001523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ü"/>
        <a:defRPr sz="2000">
          <a:solidFill>
            <a:srgbClr val="001523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6453336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D6301BB6-AEF3-4BDF-B8AB-15484F3999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5378" y="116632"/>
            <a:ext cx="2320758" cy="12570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8BE8AC3-2515-43CB-9089-C1E6D9007D9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8" name="Titre 7">
            <a:extLst>
              <a:ext uri="{FF2B5EF4-FFF2-40B4-BE49-F238E27FC236}">
                <a16:creationId xmlns:a16="http://schemas.microsoft.com/office/drawing/2014/main" id="{29C277DC-CA85-4F4B-92F7-66515D6D0B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3688" y="1916832"/>
            <a:ext cx="5472608" cy="2520280"/>
          </a:xfrm>
        </p:spPr>
        <p:txBody>
          <a:bodyPr/>
          <a:lstStyle/>
          <a:p>
            <a:pPr algn="ctr"/>
            <a:r>
              <a:rPr lang="fr-FR" sz="4800" dirty="0" smtClean="0"/>
              <a:t>THEME: Génériques et Collections (1)</a:t>
            </a:r>
            <a:endParaRPr lang="fr-FR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300" cap="none" dirty="0">
                <a:solidFill>
                  <a:srgbClr val="FF0000"/>
                </a:solidFill>
                <a:latin typeface="+mn-lt"/>
              </a:rPr>
              <a:t>SOMMAIRE</a:t>
            </a:r>
          </a:p>
        </p:txBody>
      </p:sp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F14F53A-C3CD-418C-B4AE-2BA5008321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55576" y="1268760"/>
            <a:ext cx="4666662" cy="452431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> INTRODUCTION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> GÉNÉRIQUE (SYNTAXE DE BASE)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> COLLECTION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en-US" b="1" dirty="0" smtClean="0"/>
              <a:t> </a:t>
            </a:r>
            <a:r>
              <a:rPr lang="el-GR" b="1" dirty="0"/>
              <a:t>λ</a:t>
            </a:r>
            <a:r>
              <a:rPr lang="el-GR" b="1" dirty="0" smtClean="0"/>
              <a:t>  </a:t>
            </a:r>
            <a:r>
              <a:rPr lang="fr-CA" b="1" dirty="0" smtClean="0"/>
              <a:t>EXPRESSIONS LAMBDA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> INNER CLASSE (CLASSE INTERNE) 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> ANONYMOUS CLASS </a:t>
            </a:r>
          </a:p>
          <a:p>
            <a:pPr marL="400050" indent="-400050">
              <a:lnSpc>
                <a:spcPct val="200000"/>
              </a:lnSpc>
              <a:buAutoNum type="romanUcPeriod"/>
            </a:pPr>
            <a:r>
              <a:rPr lang="fr-CA" b="1" dirty="0" smtClean="0"/>
              <a:t> CONCLUSION</a:t>
            </a:r>
          </a:p>
          <a:p>
            <a:pPr marL="400050" indent="-400050">
              <a:buAutoNum type="romanUcPeriod"/>
            </a:pPr>
            <a:endParaRPr lang="fr-CA" dirty="0" smtClean="0">
              <a:solidFill>
                <a:srgbClr val="FF0000"/>
              </a:solidFill>
            </a:endParaRPr>
          </a:p>
          <a:p>
            <a:pPr marL="400050" indent="-400050">
              <a:buAutoNum type="romanU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717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I. INTRODUCTION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654183" y="2983393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les génériques ?</a:t>
            </a:r>
            <a:endParaRPr lang="en-US" sz="2400" dirty="0"/>
          </a:p>
        </p:txBody>
      </p:sp>
      <p:sp>
        <p:nvSpPr>
          <p:cNvPr id="5" name="Rectangle 4"/>
          <p:cNvSpPr/>
          <p:nvPr/>
        </p:nvSpPr>
        <p:spPr>
          <a:xfrm>
            <a:off x="467543" y="897203"/>
            <a:ext cx="812231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0" hangingPunct="0"/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Java Collections Framework (JCF)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: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1998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avec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2 (JDK 1.2)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C'est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à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moment-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qu'apparaissent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les interfaces List, Set, Map et les classes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ArrayList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HashMap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 eaLnBrk="0" hangingPunct="0"/>
            <a:endParaRPr lang="en-US" altLang="en-US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r>
              <a:rPr lang="en-US" altLang="en-US" b="1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Les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Generics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: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Introduits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2004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avec 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 5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Avant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cette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date, on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pouvait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mettre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n'importe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objet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fallait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effectuer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lang="en-US" altLang="en-US" b="1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"cast"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manuel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à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chaque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fois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qu'on</a:t>
            </a:r>
            <a:r>
              <a:rPr lang="en-US" altLang="en-US" dirty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veut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récupérer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lang="en-US" altLang="en-US" dirty="0" err="1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élément</a:t>
            </a:r>
            <a:r>
              <a:rPr lang="en-US" altLang="en-US" dirty="0" smtClean="0">
                <a:solidFill>
                  <a:srgbClr val="0A0A0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b="1" dirty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hangingPunct="0"/>
            <a:endParaRPr lang="en-US" altLang="en-US" b="1" dirty="0" smtClean="0">
              <a:solidFill>
                <a:srgbClr val="0A0A0A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2641681" y="3501008"/>
            <a:ext cx="3931920" cy="2997416"/>
          </a:xfrm>
          <a:prstGeom prst="rect">
            <a:avLst/>
          </a:prstGeom>
          <a:solidFill>
            <a:schemeClr val="bg1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9" name="Text 3"/>
          <p:cNvSpPr/>
          <p:nvPr/>
        </p:nvSpPr>
        <p:spPr>
          <a:xfrm>
            <a:off x="3726990" y="3596756"/>
            <a:ext cx="1603423" cy="380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❌  Avant Java 5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4"/>
          <p:cNvSpPr/>
          <p:nvPr/>
        </p:nvSpPr>
        <p:spPr>
          <a:xfrm>
            <a:off x="2733121" y="4095368"/>
            <a:ext cx="3749040" cy="96487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1" name="Text 5"/>
          <p:cNvSpPr/>
          <p:nvPr/>
        </p:nvSpPr>
        <p:spPr>
          <a:xfrm>
            <a:off x="2824561" y="4122800"/>
            <a:ext cx="3566160" cy="1218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 liste = new ArrayList();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liste.add("Bonjour");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(String) </a:t>
            </a:r>
            <a:r>
              <a:rPr lang="en-US" sz="1400" dirty="0" err="1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liste.get</a:t>
            </a: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(0</a:t>
            </a:r>
            <a:r>
              <a:rPr lang="en-US" sz="1400" dirty="0" smtClean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Shape 6"/>
          <p:cNvSpPr/>
          <p:nvPr/>
        </p:nvSpPr>
        <p:spPr>
          <a:xfrm>
            <a:off x="2824561" y="5283393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3" name="Text 7"/>
          <p:cNvSpPr/>
          <p:nvPr/>
        </p:nvSpPr>
        <p:spPr>
          <a:xfrm>
            <a:off x="3120004" y="5246945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Cast manuel obligatoire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8"/>
          <p:cNvSpPr/>
          <p:nvPr/>
        </p:nvSpPr>
        <p:spPr>
          <a:xfrm>
            <a:off x="2824561" y="5702182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Text 9"/>
          <p:cNvSpPr/>
          <p:nvPr/>
        </p:nvSpPr>
        <p:spPr>
          <a:xfrm>
            <a:off x="3098881" y="5673464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Erreurs seulement à l'exécution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2824561" y="6116228"/>
            <a:ext cx="201168" cy="18615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7" name="Text 11"/>
          <p:cNvSpPr/>
          <p:nvPr/>
        </p:nvSpPr>
        <p:spPr>
          <a:xfrm>
            <a:off x="3098881" y="6116228"/>
            <a:ext cx="3291840" cy="236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Code peu lisible et fragile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3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I. INTRODUCTION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1" name="Shape 12"/>
          <p:cNvSpPr/>
          <p:nvPr/>
        </p:nvSpPr>
        <p:spPr>
          <a:xfrm>
            <a:off x="5342696" y="1340768"/>
            <a:ext cx="3236640" cy="178177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3"/>
          <p:cNvSpPr/>
          <p:nvPr/>
        </p:nvSpPr>
        <p:spPr>
          <a:xfrm>
            <a:off x="5583469" y="1321048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Text 14"/>
          <p:cNvSpPr/>
          <p:nvPr/>
        </p:nvSpPr>
        <p:spPr>
          <a:xfrm>
            <a:off x="5605228" y="1556143"/>
            <a:ext cx="2016224" cy="30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Sécurité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6"/>
          <p:cNvSpPr/>
          <p:nvPr/>
        </p:nvSpPr>
        <p:spPr>
          <a:xfrm>
            <a:off x="5342696" y="3142265"/>
            <a:ext cx="3236640" cy="141457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5673124" y="197222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Les erreurs de type sont détectées avant </a:t>
            </a:r>
            <a:r>
              <a:rPr lang="en-US" sz="1400" dirty="0" smtClean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l’exécution du </a:t>
            </a: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programme, pas pendant.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8"/>
          <p:cNvSpPr/>
          <p:nvPr/>
        </p:nvSpPr>
        <p:spPr>
          <a:xfrm>
            <a:off x="6156176" y="3425147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Lisibilité du code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9"/>
          <p:cNvSpPr/>
          <p:nvPr/>
        </p:nvSpPr>
        <p:spPr>
          <a:xfrm>
            <a:off x="5706947" y="3650626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 sait exactement quel type est attendu sans lire toute la logique.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5605228" y="3268771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0" name="Shape 20"/>
          <p:cNvSpPr/>
          <p:nvPr/>
        </p:nvSpPr>
        <p:spPr>
          <a:xfrm>
            <a:off x="5342696" y="4683344"/>
            <a:ext cx="3236640" cy="1543005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22"/>
          <p:cNvSpPr/>
          <p:nvPr/>
        </p:nvSpPr>
        <p:spPr>
          <a:xfrm>
            <a:off x="6156176" y="5020179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 des casts manuels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3"/>
          <p:cNvSpPr/>
          <p:nvPr/>
        </p:nvSpPr>
        <p:spPr>
          <a:xfrm>
            <a:off x="5636668" y="4865790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3"/>
          <p:cNvSpPr/>
          <p:nvPr/>
        </p:nvSpPr>
        <p:spPr>
          <a:xfrm>
            <a:off x="5812069" y="5357331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compilateur insère lui-même les conversions nécessaires, de manière sûre.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2"/>
          <p:cNvSpPr/>
          <p:nvPr/>
        </p:nvSpPr>
        <p:spPr>
          <a:xfrm>
            <a:off x="715424" y="1321048"/>
            <a:ext cx="3931920" cy="3474720"/>
          </a:xfrm>
          <a:prstGeom prst="rect">
            <a:avLst/>
          </a:prstGeom>
          <a:solidFill>
            <a:schemeClr val="bg1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898304" y="14582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A34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 Avec les Génériques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14"/>
          <p:cNvSpPr/>
          <p:nvPr/>
        </p:nvSpPr>
        <p:spPr>
          <a:xfrm>
            <a:off x="806864" y="1915408"/>
            <a:ext cx="374904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15"/>
          <p:cNvSpPr/>
          <p:nvPr/>
        </p:nvSpPr>
        <p:spPr>
          <a:xfrm>
            <a:off x="898304" y="1942840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List&lt;String&gt; liste = new ArrayList&lt;&gt;();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liste.add("Bonjour");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liste.get(0);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7DD3FC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✔️ Vérifié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16"/>
          <p:cNvSpPr/>
          <p:nvPr/>
        </p:nvSpPr>
        <p:spPr>
          <a:xfrm>
            <a:off x="898304" y="3405880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17"/>
          <p:cNvSpPr/>
          <p:nvPr/>
        </p:nvSpPr>
        <p:spPr>
          <a:xfrm>
            <a:off x="1172624" y="33784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Vérification à la compilation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8"/>
          <p:cNvSpPr/>
          <p:nvPr/>
        </p:nvSpPr>
        <p:spPr>
          <a:xfrm>
            <a:off x="898304" y="3799072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19"/>
          <p:cNvSpPr/>
          <p:nvPr/>
        </p:nvSpPr>
        <p:spPr>
          <a:xfrm>
            <a:off x="1172624" y="3771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Pas de cast manuel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898304" y="4192264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3" name="Text 21"/>
          <p:cNvSpPr/>
          <p:nvPr/>
        </p:nvSpPr>
        <p:spPr>
          <a:xfrm>
            <a:off x="1172624" y="41648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Code clair et réutilisable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641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II. Générique (Syntaxe de base) 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 flipH="1">
            <a:off x="395536" y="1124744"/>
            <a:ext cx="8568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En </a:t>
            </a:r>
            <a:r>
              <a:rPr lang="fr-FR" dirty="0"/>
              <a:t>Java, le mot générique (ou Generics) désigne un mécanisme qui permet d’écrire des classes, interfaces ou méthodes paramétrées</a:t>
            </a:r>
            <a:r>
              <a:rPr lang="en-US" dirty="0" smtClean="0"/>
              <a:t> par des types </a:t>
            </a:r>
            <a:endParaRPr lang="en-US" dirty="0"/>
          </a:p>
        </p:txBody>
      </p:sp>
      <p:sp>
        <p:nvSpPr>
          <p:cNvPr id="32" name="Shape 8"/>
          <p:cNvSpPr/>
          <p:nvPr/>
        </p:nvSpPr>
        <p:spPr>
          <a:xfrm>
            <a:off x="39411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9"/>
          <p:cNvSpPr/>
          <p:nvPr/>
        </p:nvSpPr>
        <p:spPr>
          <a:xfrm>
            <a:off x="39411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10"/>
          <p:cNvSpPr/>
          <p:nvPr/>
        </p:nvSpPr>
        <p:spPr>
          <a:xfrm>
            <a:off x="48555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&lt;T&gt;</a:t>
            </a:r>
            <a:endParaRPr lang="en-US" sz="2000" dirty="0"/>
          </a:p>
        </p:txBody>
      </p:sp>
      <p:sp>
        <p:nvSpPr>
          <p:cNvPr id="35" name="Text 11"/>
          <p:cNvSpPr/>
          <p:nvPr/>
        </p:nvSpPr>
        <p:spPr>
          <a:xfrm>
            <a:off x="46726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paramètre générique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249723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13"/>
          <p:cNvSpPr/>
          <p:nvPr/>
        </p:nvSpPr>
        <p:spPr>
          <a:xfrm>
            <a:off x="249723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8" name="Text 14"/>
          <p:cNvSpPr/>
          <p:nvPr/>
        </p:nvSpPr>
        <p:spPr>
          <a:xfrm>
            <a:off x="258867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&lt;E&gt;</a:t>
            </a:r>
            <a:endParaRPr lang="en-US" sz="2000" dirty="0"/>
          </a:p>
        </p:txBody>
      </p:sp>
      <p:sp>
        <p:nvSpPr>
          <p:cNvPr id="39" name="Text 15"/>
          <p:cNvSpPr/>
          <p:nvPr/>
        </p:nvSpPr>
        <p:spPr>
          <a:xfrm>
            <a:off x="257038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Élement (utilisé dans List)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Shape 16"/>
          <p:cNvSpPr/>
          <p:nvPr/>
        </p:nvSpPr>
        <p:spPr>
          <a:xfrm>
            <a:off x="460035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17"/>
          <p:cNvSpPr/>
          <p:nvPr/>
        </p:nvSpPr>
        <p:spPr>
          <a:xfrm>
            <a:off x="460035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2" name="Text 18"/>
          <p:cNvSpPr/>
          <p:nvPr/>
        </p:nvSpPr>
        <p:spPr>
          <a:xfrm>
            <a:off x="469179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&lt;K,V&gt;</a:t>
            </a:r>
            <a:endParaRPr lang="en-US" sz="2000" dirty="0"/>
          </a:p>
        </p:txBody>
      </p:sp>
      <p:sp>
        <p:nvSpPr>
          <p:cNvPr id="43" name="Text 19"/>
          <p:cNvSpPr/>
          <p:nvPr/>
        </p:nvSpPr>
        <p:spPr>
          <a:xfrm>
            <a:off x="467350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Clé / Valeur (Map)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Shape 20"/>
          <p:cNvSpPr/>
          <p:nvPr/>
        </p:nvSpPr>
        <p:spPr>
          <a:xfrm>
            <a:off x="6703475" y="3254921"/>
            <a:ext cx="1920240" cy="1463040"/>
          </a:xfrm>
          <a:prstGeom prst="rect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21"/>
          <p:cNvSpPr/>
          <p:nvPr/>
        </p:nvSpPr>
        <p:spPr>
          <a:xfrm>
            <a:off x="6703475" y="3254921"/>
            <a:ext cx="19202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6" name="Text 22"/>
          <p:cNvSpPr/>
          <p:nvPr/>
        </p:nvSpPr>
        <p:spPr>
          <a:xfrm>
            <a:off x="6794915" y="3346361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&lt;?&gt;</a:t>
            </a:r>
            <a:endParaRPr lang="en-US" sz="2000" dirty="0"/>
          </a:p>
        </p:txBody>
      </p:sp>
      <p:sp>
        <p:nvSpPr>
          <p:cNvPr id="47" name="Text 23"/>
          <p:cNvSpPr/>
          <p:nvPr/>
        </p:nvSpPr>
        <p:spPr>
          <a:xfrm>
            <a:off x="6776627" y="3895001"/>
            <a:ext cx="1773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inconnu (wildcard)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866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II. </a:t>
            </a:r>
            <a:r>
              <a:rPr lang="fr-CA" sz="2400" cap="none" dirty="0" smtClean="0">
                <a:solidFill>
                  <a:srgbClr val="FF0000"/>
                </a:solidFill>
              </a:rPr>
              <a:t>Générique </a:t>
            </a:r>
            <a:r>
              <a:rPr lang="fr-CA" sz="2400" cap="none" dirty="0">
                <a:solidFill>
                  <a:srgbClr val="FF0000"/>
                </a:solidFill>
              </a:rPr>
              <a:t>(Syntaxe de base)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3" name="Text 3"/>
          <p:cNvSpPr/>
          <p:nvPr/>
        </p:nvSpPr>
        <p:spPr>
          <a:xfrm>
            <a:off x="430932" y="1130729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paramètre de type T est déclaré entre chevrons après le nom de la classe. T est un alias qui sera remplacé par un type réel à l'utilisation.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395536" y="1916832"/>
            <a:ext cx="4846320" cy="2468880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25" name="Text 5"/>
          <p:cNvSpPr/>
          <p:nvPr/>
        </p:nvSpPr>
        <p:spPr>
          <a:xfrm>
            <a:off x="505264" y="1989984"/>
            <a:ext cx="462686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Declaration : &lt;T&gt; apres le nom de la classe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Boite&lt;T&gt;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T contenu;          // T est utilise comme un vrai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void mettre(T valeur)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this.contenu = valeur;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T prendre()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return contenu;         // retourne exactement le bon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5260144" y="2118000"/>
            <a:ext cx="45720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27" name="Text 7"/>
          <p:cNvSpPr/>
          <p:nvPr/>
        </p:nvSpPr>
        <p:spPr>
          <a:xfrm>
            <a:off x="5744776" y="20082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 = paramètre de type (convention : T, E, K, V...)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Shape 8"/>
          <p:cNvSpPr/>
          <p:nvPr/>
        </p:nvSpPr>
        <p:spPr>
          <a:xfrm>
            <a:off x="5260144" y="2556912"/>
            <a:ext cx="457200" cy="0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29" name="Text 9"/>
          <p:cNvSpPr/>
          <p:nvPr/>
        </p:nvSpPr>
        <p:spPr>
          <a:xfrm>
            <a:off x="5744776" y="24471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 utilisé comme n'importe quel autre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0"/>
          <p:cNvSpPr/>
          <p:nvPr/>
        </p:nvSpPr>
        <p:spPr>
          <a:xfrm flipV="1">
            <a:off x="5260143" y="3114697"/>
            <a:ext cx="1718445" cy="36575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31" name="Text 11"/>
          <p:cNvSpPr/>
          <p:nvPr/>
        </p:nvSpPr>
        <p:spPr>
          <a:xfrm>
            <a:off x="6978589" y="2979853"/>
            <a:ext cx="2016224" cy="21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Méthode qui reçoit un 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2"/>
          <p:cNvSpPr/>
          <p:nvPr/>
        </p:nvSpPr>
        <p:spPr>
          <a:xfrm flipV="1">
            <a:off x="5260144" y="3769943"/>
            <a:ext cx="1443676" cy="21409"/>
          </a:xfrm>
          <a:prstGeom prst="line">
            <a:avLst/>
          </a:prstGeom>
          <a:noFill/>
          <a:ln w="6350">
            <a:solidFill>
              <a:srgbClr val="94A3B8"/>
            </a:solidFill>
            <a:prstDash val="dash"/>
          </a:ln>
        </p:spPr>
      </p:sp>
      <p:sp>
        <p:nvSpPr>
          <p:cNvPr id="33" name="Text 13"/>
          <p:cNvSpPr/>
          <p:nvPr/>
        </p:nvSpPr>
        <p:spPr>
          <a:xfrm>
            <a:off x="6703820" y="3647077"/>
            <a:ext cx="2139592" cy="217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Méthode qui retourne un 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14"/>
          <p:cNvSpPr/>
          <p:nvPr/>
        </p:nvSpPr>
        <p:spPr>
          <a:xfrm>
            <a:off x="395536" y="4495440"/>
            <a:ext cx="8412480" cy="256032"/>
          </a:xfrm>
          <a:prstGeom prst="rect">
            <a:avLst/>
          </a:prstGeom>
          <a:solidFill>
            <a:schemeClr val="bg1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15"/>
          <p:cNvSpPr/>
          <p:nvPr/>
        </p:nvSpPr>
        <p:spPr>
          <a:xfrm>
            <a:off x="395536" y="4495440"/>
            <a:ext cx="8412480" cy="256032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Utilisation — T est remplacé par le type concret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16"/>
          <p:cNvSpPr/>
          <p:nvPr/>
        </p:nvSpPr>
        <p:spPr>
          <a:xfrm>
            <a:off x="395536" y="4797191"/>
            <a:ext cx="8412480" cy="1527047"/>
          </a:xfrm>
          <a:prstGeom prst="rect">
            <a:avLst/>
          </a:prstGeom>
          <a:solidFill>
            <a:srgbClr val="1E293B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37" name="Text 17"/>
          <p:cNvSpPr/>
          <p:nvPr/>
        </p:nvSpPr>
        <p:spPr>
          <a:xfrm>
            <a:off x="505264" y="4870344"/>
            <a:ext cx="81930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Boite&lt;String&gt;  boiteTexte  = new Boite&lt;&gt;();  // T =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Boite&lt;Integer&gt; boiteNombre = new Boite&lt;&gt;();  // T = Integer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Boite&lt;Boolean&gt; boiteBool   = new Boite&lt;&gt;();  // T = Boolean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boiteTexte.mettre("Bonjour");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s = boiteTexte.prendre();  // pas de cast, c'est deja un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875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II. </a:t>
            </a:r>
            <a:r>
              <a:rPr lang="fr-CA" sz="2400" cap="none" dirty="0" smtClean="0">
                <a:solidFill>
                  <a:srgbClr val="FF0000"/>
                </a:solidFill>
              </a:rPr>
              <a:t>Générique </a:t>
            </a:r>
            <a:r>
              <a:rPr lang="fr-CA" sz="2400" cap="none" dirty="0">
                <a:solidFill>
                  <a:srgbClr val="FF0000"/>
                </a:solidFill>
              </a:rPr>
              <a:t>(Syntaxe de base)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23" name="Text 2"/>
          <p:cNvSpPr/>
          <p:nvPr/>
        </p:nvSpPr>
        <p:spPr>
          <a:xfrm>
            <a:off x="477606" y="1341521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</a:t>
            </a: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b="1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</a:t>
            </a:r>
            <a:r>
              <a:rPr lang="en-US" sz="1400" b="1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&lt;T&gt; </a:t>
            </a:r>
            <a:r>
              <a:rPr lang="en-US" sz="1400" b="1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c'est comme une boîte de livraison :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3"/>
          <p:cNvSpPr/>
          <p:nvPr/>
        </p:nvSpPr>
        <p:spPr>
          <a:xfrm>
            <a:off x="1331640" y="1799311"/>
            <a:ext cx="6696744" cy="510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carton est toujours le même — seul le contenu change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fonction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 qu'on y met.</a:t>
            </a:r>
          </a:p>
        </p:txBody>
      </p:sp>
      <p:sp>
        <p:nvSpPr>
          <p:cNvPr id="25" name="Shape 4"/>
          <p:cNvSpPr/>
          <p:nvPr/>
        </p:nvSpPr>
        <p:spPr>
          <a:xfrm>
            <a:off x="294726" y="2639224"/>
            <a:ext cx="2743200" cy="2926080"/>
          </a:xfrm>
          <a:prstGeom prst="rect">
            <a:avLst/>
          </a:prstGeom>
          <a:noFill/>
          <a:ln w="19050">
            <a:solidFill>
              <a:srgbClr val="C4B5FD"/>
            </a:solidFill>
            <a:prstDash val="solid"/>
          </a:ln>
        </p:spPr>
      </p:sp>
      <p:sp>
        <p:nvSpPr>
          <p:cNvPr id="26" name="Shape 5"/>
          <p:cNvSpPr/>
          <p:nvPr/>
        </p:nvSpPr>
        <p:spPr>
          <a:xfrm>
            <a:off x="294726" y="2639224"/>
            <a:ext cx="2743200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Text 6"/>
          <p:cNvSpPr/>
          <p:nvPr/>
        </p:nvSpPr>
        <p:spPr>
          <a:xfrm>
            <a:off x="386166" y="27763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28" name="Shape 7"/>
          <p:cNvSpPr/>
          <p:nvPr/>
        </p:nvSpPr>
        <p:spPr>
          <a:xfrm>
            <a:off x="431886" y="3462184"/>
            <a:ext cx="246888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8"/>
          <p:cNvSpPr/>
          <p:nvPr/>
        </p:nvSpPr>
        <p:spPr>
          <a:xfrm>
            <a:off x="4318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Boite&lt;Telephone&gt;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9"/>
          <p:cNvSpPr/>
          <p:nvPr/>
        </p:nvSpPr>
        <p:spPr>
          <a:xfrm>
            <a:off x="3861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 de téléphone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10"/>
          <p:cNvSpPr/>
          <p:nvPr/>
        </p:nvSpPr>
        <p:spPr>
          <a:xfrm>
            <a:off x="418982" y="4374072"/>
            <a:ext cx="2523744" cy="719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On sait que c'est un téléphone à l'intérieur. Pas besoin de 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verifier</a:t>
            </a:r>
          </a:p>
          <a:p>
            <a:pPr marL="0" indent="0" algn="l">
              <a:buNone/>
            </a:pP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le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garantit le contenu.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11"/>
          <p:cNvSpPr/>
          <p:nvPr/>
        </p:nvSpPr>
        <p:spPr>
          <a:xfrm>
            <a:off x="3266526" y="2639224"/>
            <a:ext cx="2743200" cy="2926080"/>
          </a:xfrm>
          <a:prstGeom prst="rect">
            <a:avLst/>
          </a:prstGeom>
          <a:noFill/>
          <a:ln w="190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2"/>
          <p:cNvSpPr/>
          <p:nvPr/>
        </p:nvSpPr>
        <p:spPr>
          <a:xfrm>
            <a:off x="3266526" y="2639224"/>
            <a:ext cx="2743200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13"/>
          <p:cNvSpPr/>
          <p:nvPr/>
        </p:nvSpPr>
        <p:spPr>
          <a:xfrm>
            <a:off x="3357966" y="2776384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🍕</a:t>
            </a:r>
            <a:endParaRPr lang="en-US" sz="3200" dirty="0"/>
          </a:p>
        </p:txBody>
      </p:sp>
      <p:sp>
        <p:nvSpPr>
          <p:cNvPr id="35" name="Shape 14"/>
          <p:cNvSpPr/>
          <p:nvPr/>
        </p:nvSpPr>
        <p:spPr>
          <a:xfrm>
            <a:off x="3403686" y="3462184"/>
            <a:ext cx="2468880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6" name="Text 15"/>
          <p:cNvSpPr/>
          <p:nvPr/>
        </p:nvSpPr>
        <p:spPr>
          <a:xfrm>
            <a:off x="34036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Boite&lt;Pizza&gt;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16"/>
          <p:cNvSpPr/>
          <p:nvPr/>
        </p:nvSpPr>
        <p:spPr>
          <a:xfrm>
            <a:off x="33579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 smtClean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</a:t>
            </a:r>
            <a:r>
              <a:rPr lang="en-US" sz="1400" b="1" dirty="0" smtClean="0">
                <a:solidFill>
                  <a:srgbClr val="DC262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à pizza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17"/>
          <p:cNvSpPr/>
          <p:nvPr/>
        </p:nvSpPr>
        <p:spPr>
          <a:xfrm>
            <a:off x="3348822" y="4362868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Même boîte, autre contenu. On ne peut pas mettre un téléphone dans une boîte à 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pizza, le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type l'interdit.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18"/>
          <p:cNvSpPr/>
          <p:nvPr/>
        </p:nvSpPr>
        <p:spPr>
          <a:xfrm>
            <a:off x="6238326" y="2639224"/>
            <a:ext cx="2743200" cy="2926080"/>
          </a:xfrm>
          <a:prstGeom prst="rect">
            <a:avLst/>
          </a:prstGeom>
          <a:noFill/>
          <a:ln w="19050">
            <a:solidFill>
              <a:srgbClr val="86EFAC"/>
            </a:solidFill>
            <a:prstDash val="solid"/>
          </a:ln>
        </p:spPr>
      </p:sp>
      <p:sp>
        <p:nvSpPr>
          <p:cNvPr id="40" name="Shape 19"/>
          <p:cNvSpPr/>
          <p:nvPr/>
        </p:nvSpPr>
        <p:spPr>
          <a:xfrm>
            <a:off x="6238326" y="2639224"/>
            <a:ext cx="2743200" cy="640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Shape 21"/>
          <p:cNvSpPr/>
          <p:nvPr/>
        </p:nvSpPr>
        <p:spPr>
          <a:xfrm>
            <a:off x="6375486" y="3462184"/>
            <a:ext cx="246888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2" name="Text 22"/>
          <p:cNvSpPr/>
          <p:nvPr/>
        </p:nvSpPr>
        <p:spPr>
          <a:xfrm>
            <a:off x="6375486" y="3462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Boite&lt;Medicament&gt;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 23"/>
          <p:cNvSpPr/>
          <p:nvPr/>
        </p:nvSpPr>
        <p:spPr>
          <a:xfrm>
            <a:off x="6329766" y="39376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59669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Boîte de médicaments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 24"/>
          <p:cNvSpPr/>
          <p:nvPr/>
        </p:nvSpPr>
        <p:spPr>
          <a:xfrm>
            <a:off x="6348054" y="4293963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Sans générique, n'importe quoi pourrait entrer. Avec &lt;T&gt;, seul le bon type </a:t>
            </a:r>
            <a:r>
              <a:rPr lang="en-US" sz="1400" dirty="0" err="1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est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accepté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, </a:t>
            </a:r>
            <a:r>
              <a:rPr lang="en-US" sz="1400" dirty="0" err="1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sécurité</a:t>
            </a:r>
            <a:r>
              <a:rPr lang="en-US" sz="1400" dirty="0" smtClean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400" dirty="0">
                <a:solidFill>
                  <a:srgbClr val="1E293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garantie.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Shape 25"/>
          <p:cNvSpPr/>
          <p:nvPr/>
        </p:nvSpPr>
        <p:spPr>
          <a:xfrm>
            <a:off x="375110" y="5912776"/>
            <a:ext cx="8412480" cy="292608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46" name="Text 26"/>
          <p:cNvSpPr/>
          <p:nvPr/>
        </p:nvSpPr>
        <p:spPr>
          <a:xfrm>
            <a:off x="466550" y="59127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💡  En Java : T = le type du contenu. Une fois défini, impossible de mettre le mauvais objet dedans — le compilateur le refuse !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3491880" y="920201"/>
            <a:ext cx="1553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Text 20"/>
          <p:cNvSpPr/>
          <p:nvPr/>
        </p:nvSpPr>
        <p:spPr>
          <a:xfrm>
            <a:off x="6206937" y="2773141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💊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864232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II. </a:t>
            </a:r>
            <a:r>
              <a:rPr lang="fr-CA" sz="2400" cap="none" dirty="0" smtClean="0">
                <a:solidFill>
                  <a:srgbClr val="FF0000"/>
                </a:solidFill>
              </a:rPr>
              <a:t>Générique </a:t>
            </a:r>
            <a:r>
              <a:rPr lang="fr-CA" sz="2400" cap="none" dirty="0">
                <a:solidFill>
                  <a:srgbClr val="FF0000"/>
                </a:solidFill>
              </a:rPr>
              <a:t>(Syntaxe de base)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469401" y="1580792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3"/>
          <p:cNvSpPr/>
          <p:nvPr/>
        </p:nvSpPr>
        <p:spPr>
          <a:xfrm>
            <a:off x="498426" y="1533734"/>
            <a:ext cx="4005072" cy="3377649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4" name="Text 4"/>
          <p:cNvSpPr/>
          <p:nvPr/>
        </p:nvSpPr>
        <p:spPr>
          <a:xfrm>
            <a:off x="579129" y="1772816"/>
            <a:ext cx="3895344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Interface avec un parametre de type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interface Transformable&lt;T&gt;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T transformer(T valeur);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Implementation : String -&gt; String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Majuscule implements Transformable&lt;String&gt;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String transformer(String v)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return v.toUpperCase();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Transformable&lt;String&gt; t = new Majuscule();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t.transformer("bonjour"); // "BONJOUR"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4687205" y="1532187"/>
            <a:ext cx="4269415" cy="4676589"/>
          </a:xfrm>
          <a:prstGeom prst="rect">
            <a:avLst/>
          </a:prstGeom>
          <a:solidFill>
            <a:srgbClr val="0F172A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6" name="Text 6"/>
          <p:cNvSpPr/>
          <p:nvPr/>
        </p:nvSpPr>
        <p:spPr>
          <a:xfrm>
            <a:off x="4870085" y="1580792"/>
            <a:ext cx="3895344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Deux parametres de type independants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Paire&lt;A, B&gt;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A premier;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private B second;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Paire(A premier, B second)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this.premier = premier;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this.second  = second;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A getPremier() { return premier;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B getSecond()  { return second;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Utilisations variees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Paire&lt;String, Integer&gt; note  = new Paire&lt;&gt;("Alice", 18);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Paire&lt;Integer, Boolean&gt; flag = new Paire&lt;&gt;(404, false);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nom = note.getPremier();  // "Alice"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int    val = note.getSecond();   // 18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487707" y="5093208"/>
            <a:ext cx="4114800" cy="1115568"/>
          </a:xfrm>
          <a:prstGeom prst="rect">
            <a:avLst/>
          </a:prstGeom>
          <a:solidFill>
            <a:srgbClr val="EDE9FE"/>
          </a:solidFill>
          <a:ln w="6350">
            <a:solidFill>
              <a:srgbClr val="DDD6FE"/>
            </a:solidFill>
            <a:prstDash val="solid"/>
          </a:ln>
        </p:spPr>
      </p:sp>
      <p:sp>
        <p:nvSpPr>
          <p:cNvPr id="18" name="Text 8"/>
          <p:cNvSpPr/>
          <p:nvPr/>
        </p:nvSpPr>
        <p:spPr>
          <a:xfrm>
            <a:off x="498426" y="50932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À retenir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9"/>
          <p:cNvSpPr/>
          <p:nvPr/>
        </p:nvSpPr>
        <p:spPr>
          <a:xfrm>
            <a:off x="498426" y="5367528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 interface générique est implémentée </a:t>
            </a:r>
            <a:r>
              <a:rPr lang="en-US" sz="1400" dirty="0" err="1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400" dirty="0">
                <a:solidFill>
                  <a:srgbClr val="7C3AED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précisant le type concret. Une classe peut avoir autant de paramètres de type que nécessaire : Paire&lt;A,B&gt;, Triple&lt;A,B,C&gt;, etc.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"/>
          <p:cNvSpPr/>
          <p:nvPr/>
        </p:nvSpPr>
        <p:spPr>
          <a:xfrm>
            <a:off x="544140" y="826749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générique &amp; paramètres multiples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4893594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III. Collection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1520" y="967016"/>
            <a:ext cx="8784976" cy="1237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Collection =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une boîte fixe : tu dois décider la taille à l'avance. Une Collection, c'est comme un sac à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dos,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tu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peux y mettre autant d'objets que tu veux, chercher dedans, trier, filtrer, etc.</a:t>
            </a:r>
          </a:p>
        </p:txBody>
      </p:sp>
      <p:sp>
        <p:nvSpPr>
          <p:cNvPr id="11" name="Text 7"/>
          <p:cNvSpPr/>
          <p:nvPr/>
        </p:nvSpPr>
        <p:spPr>
          <a:xfrm>
            <a:off x="387536" y="2236597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</a:rPr>
              <a:t>❌  Problème avec les tableaux ordinaires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1520" y="2803768"/>
            <a:ext cx="4049648" cy="244948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97264" y="3083088"/>
            <a:ext cx="3803904" cy="1714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Taille fixe — on doit tout prévoir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String[] etudiants = new String[30];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etudiants[0] = "Alice";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etudiants[1] = "Bob";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Et si on a 31 étudiants ? ❌ Impossible !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Pas de méthode pour chercher, trier...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822376" y="220260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</a:rPr>
              <a:t>✅  Solution avec ArrayList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730936" y="2756794"/>
            <a:ext cx="4031747" cy="2496462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4958779" y="3094158"/>
            <a:ext cx="38039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Taille dynamique — s'adapte automatiquement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List&lt;String&gt; etudiants = new ArrayList&lt;&gt;();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etudiants.add("Alice");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etudiants.add("Bob");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etudiants.add("Clara"); // Autant qu'on veut ✅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etudiants.contains("Alice"); // true</a:t>
            </a:r>
            <a:endParaRPr lang="en-US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etudiants.size();             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1542669" y="5538587"/>
            <a:ext cx="2834640" cy="502920"/>
          </a:xfrm>
          <a:prstGeom prst="rect">
            <a:avLst/>
          </a:prstGeom>
          <a:solidFill>
            <a:schemeClr val="bg1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1542669" y="5538587"/>
            <a:ext cx="64008" cy="5029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725549" y="5556875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Taille dynamique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/>
          <p:cNvSpPr/>
          <p:nvPr/>
        </p:nvSpPr>
        <p:spPr>
          <a:xfrm>
            <a:off x="4532756" y="5538587"/>
            <a:ext cx="3495628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532757" y="5538587"/>
            <a:ext cx="64008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15637" y="5556875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bg1"/>
                </a:solidFill>
              </a:rPr>
              <a:t>Méthodes intégrées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30" name="Text 26"/>
          <p:cNvSpPr/>
          <p:nvPr/>
        </p:nvSpPr>
        <p:spPr>
          <a:xfrm>
            <a:off x="4715637" y="5794619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add, remove, sort, contains, size…</a:t>
            </a:r>
          </a:p>
        </p:txBody>
      </p:sp>
    </p:spTree>
    <p:extLst>
      <p:ext uri="{BB962C8B-B14F-4D97-AF65-F5344CB8AC3E}">
        <p14:creationId xmlns:p14="http://schemas.microsoft.com/office/powerpoint/2010/main" val="3538060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III.1.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Hierachie</a:t>
            </a:r>
            <a:r>
              <a:rPr lang="fr-CA" sz="2400" cap="none" dirty="0" smtClean="0">
                <a:solidFill>
                  <a:srgbClr val="FF0000"/>
                </a:solidFill>
              </a:rPr>
              <a:t> des collections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412776"/>
            <a:ext cx="7488832" cy="47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705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III.1.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Hierachie</a:t>
            </a:r>
            <a:r>
              <a:rPr lang="fr-CA" sz="2400" cap="none" dirty="0" smtClean="0">
                <a:solidFill>
                  <a:srgbClr val="FF0000"/>
                </a:solidFill>
              </a:rPr>
              <a:t> des collections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792" y="1484784"/>
            <a:ext cx="7488832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631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3568" y="260648"/>
            <a:ext cx="66967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>
                <a:solidFill>
                  <a:srgbClr val="FF0000"/>
                </a:solidFill>
                <a:latin typeface="+mn-lt"/>
                <a:cs typeface="Times New Roman" panose="02020603050405020304" pitchFamily="18" charset="0"/>
              </a:rPr>
              <a:t>III.2. Implementation </a:t>
            </a:r>
            <a:r>
              <a:rPr lang="en-US" sz="2800" dirty="0" err="1" smtClean="0">
                <a:solidFill>
                  <a:srgbClr val="FF0000"/>
                </a:solidFill>
                <a:latin typeface="+mn-lt"/>
                <a:cs typeface="Times New Roman" panose="02020603050405020304" pitchFamily="18" charset="0"/>
              </a:rPr>
              <a:t>principale</a:t>
            </a:r>
            <a:endParaRPr lang="en-US" sz="2800" dirty="0">
              <a:solidFill>
                <a:srgbClr val="FF0000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4" name="Shape 2"/>
          <p:cNvSpPr/>
          <p:nvPr/>
        </p:nvSpPr>
        <p:spPr>
          <a:xfrm>
            <a:off x="377200" y="1585328"/>
            <a:ext cx="160020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5" name="Text 3"/>
          <p:cNvSpPr/>
          <p:nvPr/>
        </p:nvSpPr>
        <p:spPr>
          <a:xfrm>
            <a:off x="450352" y="1585328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400" dirty="0"/>
          </a:p>
        </p:txBody>
      </p:sp>
      <p:sp>
        <p:nvSpPr>
          <p:cNvPr id="86" name="Shape 4"/>
          <p:cNvSpPr/>
          <p:nvPr/>
        </p:nvSpPr>
        <p:spPr>
          <a:xfrm>
            <a:off x="2023120" y="1585328"/>
            <a:ext cx="178308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7" name="Text 5"/>
          <p:cNvSpPr/>
          <p:nvPr/>
        </p:nvSpPr>
        <p:spPr>
          <a:xfrm>
            <a:off x="2096272" y="1585328"/>
            <a:ext cx="1709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</a:t>
            </a:r>
            <a:endParaRPr lang="en-US" sz="1400" dirty="0"/>
          </a:p>
        </p:txBody>
      </p:sp>
      <p:sp>
        <p:nvSpPr>
          <p:cNvPr id="88" name="Shape 6"/>
          <p:cNvSpPr/>
          <p:nvPr/>
        </p:nvSpPr>
        <p:spPr>
          <a:xfrm>
            <a:off x="3851920" y="1585328"/>
            <a:ext cx="251460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9" name="Text 7"/>
          <p:cNvSpPr/>
          <p:nvPr/>
        </p:nvSpPr>
        <p:spPr>
          <a:xfrm>
            <a:off x="3925072" y="1585328"/>
            <a:ext cx="2441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</a:t>
            </a:r>
            <a:endParaRPr lang="en-US" sz="1400" dirty="0"/>
          </a:p>
        </p:txBody>
      </p:sp>
      <p:sp>
        <p:nvSpPr>
          <p:cNvPr id="90" name="Shape 8"/>
          <p:cNvSpPr/>
          <p:nvPr/>
        </p:nvSpPr>
        <p:spPr>
          <a:xfrm>
            <a:off x="6412240" y="1585328"/>
            <a:ext cx="2240280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1" name="Text 9"/>
          <p:cNvSpPr/>
          <p:nvPr/>
        </p:nvSpPr>
        <p:spPr>
          <a:xfrm>
            <a:off x="6485392" y="1585328"/>
            <a:ext cx="2167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d'usage</a:t>
            </a:r>
            <a:endParaRPr lang="en-US" sz="1400" dirty="0"/>
          </a:p>
        </p:txBody>
      </p:sp>
      <p:sp>
        <p:nvSpPr>
          <p:cNvPr id="92" name="Shape 10"/>
          <p:cNvSpPr/>
          <p:nvPr/>
        </p:nvSpPr>
        <p:spPr>
          <a:xfrm>
            <a:off x="377200" y="1987664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11"/>
          <p:cNvSpPr/>
          <p:nvPr/>
        </p:nvSpPr>
        <p:spPr>
          <a:xfrm>
            <a:off x="468640" y="2024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List&lt;E&gt;</a:t>
            </a:r>
            <a:endParaRPr lang="en-US" sz="1400" dirty="0"/>
          </a:p>
        </p:txBody>
      </p:sp>
      <p:sp>
        <p:nvSpPr>
          <p:cNvPr id="94" name="Shape 12"/>
          <p:cNvSpPr/>
          <p:nvPr/>
        </p:nvSpPr>
        <p:spPr>
          <a:xfrm>
            <a:off x="2023120" y="1987664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13"/>
          <p:cNvSpPr/>
          <p:nvPr/>
        </p:nvSpPr>
        <p:spPr>
          <a:xfrm>
            <a:off x="2114560" y="2024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ArrayList</a:t>
            </a:r>
            <a:endParaRPr lang="en-US" sz="1400" dirty="0"/>
          </a:p>
        </p:txBody>
      </p:sp>
      <p:sp>
        <p:nvSpPr>
          <p:cNvPr id="96" name="Shape 14"/>
          <p:cNvSpPr/>
          <p:nvPr/>
        </p:nvSpPr>
        <p:spPr>
          <a:xfrm>
            <a:off x="3851920" y="1987664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15"/>
          <p:cNvSpPr/>
          <p:nvPr/>
        </p:nvSpPr>
        <p:spPr>
          <a:xfrm>
            <a:off x="3943360" y="2024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rapide par index, O(1)</a:t>
            </a:r>
            <a:endParaRPr lang="en-US" sz="1400" dirty="0"/>
          </a:p>
        </p:txBody>
      </p:sp>
      <p:sp>
        <p:nvSpPr>
          <p:cNvPr id="98" name="Shape 16"/>
          <p:cNvSpPr/>
          <p:nvPr/>
        </p:nvSpPr>
        <p:spPr>
          <a:xfrm>
            <a:off x="6412240" y="1987664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17"/>
          <p:cNvSpPr/>
          <p:nvPr/>
        </p:nvSpPr>
        <p:spPr>
          <a:xfrm>
            <a:off x="6503680" y="20242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Listes ordonnées</a:t>
            </a:r>
            <a:endParaRPr lang="en-US" sz="1400" dirty="0"/>
          </a:p>
        </p:txBody>
      </p:sp>
      <p:sp>
        <p:nvSpPr>
          <p:cNvPr id="100" name="Shape 18"/>
          <p:cNvSpPr/>
          <p:nvPr/>
        </p:nvSpPr>
        <p:spPr>
          <a:xfrm>
            <a:off x="377200" y="2463152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19"/>
          <p:cNvSpPr/>
          <p:nvPr/>
        </p:nvSpPr>
        <p:spPr>
          <a:xfrm>
            <a:off x="468640" y="24997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List&lt;E&gt;</a:t>
            </a:r>
            <a:endParaRPr lang="en-US" sz="1400" dirty="0"/>
          </a:p>
        </p:txBody>
      </p:sp>
      <p:sp>
        <p:nvSpPr>
          <p:cNvPr id="102" name="Shape 20"/>
          <p:cNvSpPr/>
          <p:nvPr/>
        </p:nvSpPr>
        <p:spPr>
          <a:xfrm>
            <a:off x="2023120" y="2463152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21"/>
          <p:cNvSpPr/>
          <p:nvPr/>
        </p:nvSpPr>
        <p:spPr>
          <a:xfrm>
            <a:off x="2114560" y="24997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LinkedList</a:t>
            </a:r>
            <a:endParaRPr lang="en-US" sz="1400" dirty="0"/>
          </a:p>
        </p:txBody>
      </p:sp>
      <p:sp>
        <p:nvSpPr>
          <p:cNvPr id="104" name="Shape 22"/>
          <p:cNvSpPr/>
          <p:nvPr/>
        </p:nvSpPr>
        <p:spPr>
          <a:xfrm>
            <a:off x="3851920" y="2463152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23"/>
          <p:cNvSpPr/>
          <p:nvPr/>
        </p:nvSpPr>
        <p:spPr>
          <a:xfrm>
            <a:off x="3943360" y="24997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Insertion/suppression rapide</a:t>
            </a:r>
            <a:endParaRPr lang="en-US" sz="1400" dirty="0"/>
          </a:p>
        </p:txBody>
      </p:sp>
      <p:sp>
        <p:nvSpPr>
          <p:cNvPr id="106" name="Shape 24"/>
          <p:cNvSpPr/>
          <p:nvPr/>
        </p:nvSpPr>
        <p:spPr>
          <a:xfrm>
            <a:off x="6412240" y="2463152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25"/>
          <p:cNvSpPr/>
          <p:nvPr/>
        </p:nvSpPr>
        <p:spPr>
          <a:xfrm>
            <a:off x="6503680" y="249972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Files, piles</a:t>
            </a:r>
            <a:endParaRPr lang="en-US" sz="1400" dirty="0"/>
          </a:p>
        </p:txBody>
      </p:sp>
      <p:sp>
        <p:nvSpPr>
          <p:cNvPr id="108" name="Shape 26"/>
          <p:cNvSpPr/>
          <p:nvPr/>
        </p:nvSpPr>
        <p:spPr>
          <a:xfrm>
            <a:off x="377200" y="2938640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9" name="Text 27"/>
          <p:cNvSpPr/>
          <p:nvPr/>
        </p:nvSpPr>
        <p:spPr>
          <a:xfrm>
            <a:off x="468640" y="297521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Set&lt;E&gt;</a:t>
            </a:r>
            <a:endParaRPr lang="en-US" sz="1400" dirty="0"/>
          </a:p>
        </p:txBody>
      </p:sp>
      <p:sp>
        <p:nvSpPr>
          <p:cNvPr id="110" name="Shape 28"/>
          <p:cNvSpPr/>
          <p:nvPr/>
        </p:nvSpPr>
        <p:spPr>
          <a:xfrm>
            <a:off x="2023120" y="2995790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1" name="Text 29"/>
          <p:cNvSpPr/>
          <p:nvPr/>
        </p:nvSpPr>
        <p:spPr>
          <a:xfrm>
            <a:off x="2114560" y="297521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HashSet</a:t>
            </a:r>
            <a:endParaRPr lang="en-US" sz="1400" dirty="0"/>
          </a:p>
        </p:txBody>
      </p:sp>
      <p:sp>
        <p:nvSpPr>
          <p:cNvPr id="112" name="Shape 30"/>
          <p:cNvSpPr/>
          <p:nvPr/>
        </p:nvSpPr>
        <p:spPr>
          <a:xfrm>
            <a:off x="3851920" y="293864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3" name="Text 31"/>
          <p:cNvSpPr/>
          <p:nvPr/>
        </p:nvSpPr>
        <p:spPr>
          <a:xfrm>
            <a:off x="3943360" y="297521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doublons, O(1)</a:t>
            </a:r>
            <a:endParaRPr lang="en-US" sz="1400" dirty="0"/>
          </a:p>
        </p:txBody>
      </p:sp>
      <p:sp>
        <p:nvSpPr>
          <p:cNvPr id="114" name="Shape 32"/>
          <p:cNvSpPr/>
          <p:nvPr/>
        </p:nvSpPr>
        <p:spPr>
          <a:xfrm>
            <a:off x="6412240" y="2938640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5" name="Text 33"/>
          <p:cNvSpPr/>
          <p:nvPr/>
        </p:nvSpPr>
        <p:spPr>
          <a:xfrm>
            <a:off x="6503680" y="29752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Unicité d'éléments</a:t>
            </a:r>
            <a:endParaRPr lang="en-US" sz="1400" dirty="0"/>
          </a:p>
        </p:txBody>
      </p:sp>
      <p:sp>
        <p:nvSpPr>
          <p:cNvPr id="116" name="Shape 34"/>
          <p:cNvSpPr/>
          <p:nvPr/>
        </p:nvSpPr>
        <p:spPr>
          <a:xfrm>
            <a:off x="377200" y="3414128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7" name="Text 35"/>
          <p:cNvSpPr/>
          <p:nvPr/>
        </p:nvSpPr>
        <p:spPr>
          <a:xfrm>
            <a:off x="468640" y="345070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Set&lt;E&gt;</a:t>
            </a:r>
            <a:endParaRPr lang="en-US" sz="1400" dirty="0"/>
          </a:p>
        </p:txBody>
      </p:sp>
      <p:sp>
        <p:nvSpPr>
          <p:cNvPr id="118" name="Shape 36"/>
          <p:cNvSpPr/>
          <p:nvPr/>
        </p:nvSpPr>
        <p:spPr>
          <a:xfrm>
            <a:off x="2023120" y="3414128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9" name="Text 37"/>
          <p:cNvSpPr/>
          <p:nvPr/>
        </p:nvSpPr>
        <p:spPr>
          <a:xfrm>
            <a:off x="2114560" y="345070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TreeSet</a:t>
            </a:r>
            <a:endParaRPr lang="en-US" sz="1400" dirty="0"/>
          </a:p>
        </p:txBody>
      </p:sp>
      <p:sp>
        <p:nvSpPr>
          <p:cNvPr id="120" name="Shape 38"/>
          <p:cNvSpPr/>
          <p:nvPr/>
        </p:nvSpPr>
        <p:spPr>
          <a:xfrm>
            <a:off x="3851920" y="3414128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1" name="Text 39"/>
          <p:cNvSpPr/>
          <p:nvPr/>
        </p:nvSpPr>
        <p:spPr>
          <a:xfrm>
            <a:off x="3943360" y="34507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Trié naturellement, O(log n)</a:t>
            </a:r>
            <a:endParaRPr lang="en-US" sz="1400" dirty="0"/>
          </a:p>
        </p:txBody>
      </p:sp>
      <p:sp>
        <p:nvSpPr>
          <p:cNvPr id="122" name="Shape 40"/>
          <p:cNvSpPr/>
          <p:nvPr/>
        </p:nvSpPr>
        <p:spPr>
          <a:xfrm>
            <a:off x="6412240" y="3414128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3" name="Text 41"/>
          <p:cNvSpPr/>
          <p:nvPr/>
        </p:nvSpPr>
        <p:spPr>
          <a:xfrm>
            <a:off x="6503680" y="34507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triées</a:t>
            </a:r>
            <a:endParaRPr lang="en-US" sz="1400" dirty="0"/>
          </a:p>
        </p:txBody>
      </p:sp>
      <p:sp>
        <p:nvSpPr>
          <p:cNvPr id="124" name="Shape 42"/>
          <p:cNvSpPr/>
          <p:nvPr/>
        </p:nvSpPr>
        <p:spPr>
          <a:xfrm>
            <a:off x="377200" y="3889616"/>
            <a:ext cx="1600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5" name="Text 43"/>
          <p:cNvSpPr/>
          <p:nvPr/>
        </p:nvSpPr>
        <p:spPr>
          <a:xfrm>
            <a:off x="468640" y="39261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Map&lt;K,V&gt;</a:t>
            </a:r>
            <a:endParaRPr lang="en-US" sz="1400" dirty="0"/>
          </a:p>
        </p:txBody>
      </p:sp>
      <p:sp>
        <p:nvSpPr>
          <p:cNvPr id="126" name="Shape 44"/>
          <p:cNvSpPr/>
          <p:nvPr/>
        </p:nvSpPr>
        <p:spPr>
          <a:xfrm>
            <a:off x="2023120" y="3889616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7" name="Text 45"/>
          <p:cNvSpPr/>
          <p:nvPr/>
        </p:nvSpPr>
        <p:spPr>
          <a:xfrm>
            <a:off x="2114560" y="39261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HashMap</a:t>
            </a:r>
            <a:endParaRPr lang="en-US" sz="1400" dirty="0"/>
          </a:p>
        </p:txBody>
      </p:sp>
      <p:sp>
        <p:nvSpPr>
          <p:cNvPr id="128" name="Shape 46"/>
          <p:cNvSpPr/>
          <p:nvPr/>
        </p:nvSpPr>
        <p:spPr>
          <a:xfrm>
            <a:off x="3851920" y="3889616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9" name="Text 47"/>
          <p:cNvSpPr/>
          <p:nvPr/>
        </p:nvSpPr>
        <p:spPr>
          <a:xfrm>
            <a:off x="3943360" y="39261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Clé→Valeur, O(1)</a:t>
            </a:r>
            <a:endParaRPr lang="en-US" sz="1400" dirty="0"/>
          </a:p>
        </p:txBody>
      </p:sp>
      <p:sp>
        <p:nvSpPr>
          <p:cNvPr id="130" name="Shape 48"/>
          <p:cNvSpPr/>
          <p:nvPr/>
        </p:nvSpPr>
        <p:spPr>
          <a:xfrm>
            <a:off x="6412240" y="3889616"/>
            <a:ext cx="2240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1" name="Text 49"/>
          <p:cNvSpPr/>
          <p:nvPr/>
        </p:nvSpPr>
        <p:spPr>
          <a:xfrm>
            <a:off x="6503680" y="3926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Dictionnaires</a:t>
            </a:r>
            <a:endParaRPr lang="en-US" sz="1400" dirty="0"/>
          </a:p>
        </p:txBody>
      </p:sp>
      <p:sp>
        <p:nvSpPr>
          <p:cNvPr id="132" name="Shape 50"/>
          <p:cNvSpPr/>
          <p:nvPr/>
        </p:nvSpPr>
        <p:spPr>
          <a:xfrm>
            <a:off x="377200" y="4365104"/>
            <a:ext cx="16002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3" name="Text 51"/>
          <p:cNvSpPr/>
          <p:nvPr/>
        </p:nvSpPr>
        <p:spPr>
          <a:xfrm>
            <a:off x="468640" y="44016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Queue&lt;E&gt;</a:t>
            </a:r>
            <a:endParaRPr lang="en-US" sz="1400" dirty="0"/>
          </a:p>
        </p:txBody>
      </p:sp>
      <p:sp>
        <p:nvSpPr>
          <p:cNvPr id="134" name="Shape 52"/>
          <p:cNvSpPr/>
          <p:nvPr/>
        </p:nvSpPr>
        <p:spPr>
          <a:xfrm>
            <a:off x="2023120" y="4365104"/>
            <a:ext cx="17830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5" name="Text 53"/>
          <p:cNvSpPr/>
          <p:nvPr/>
        </p:nvSpPr>
        <p:spPr>
          <a:xfrm>
            <a:off x="2114560" y="44016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PriorityQueue</a:t>
            </a:r>
            <a:endParaRPr lang="en-US" sz="1400" dirty="0"/>
          </a:p>
        </p:txBody>
      </p:sp>
      <p:sp>
        <p:nvSpPr>
          <p:cNvPr id="136" name="Shape 54"/>
          <p:cNvSpPr/>
          <p:nvPr/>
        </p:nvSpPr>
        <p:spPr>
          <a:xfrm>
            <a:off x="3851920" y="4365104"/>
            <a:ext cx="251460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7" name="Text 55"/>
          <p:cNvSpPr/>
          <p:nvPr/>
        </p:nvSpPr>
        <p:spPr>
          <a:xfrm>
            <a:off x="3943360" y="4401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de priorité</a:t>
            </a:r>
            <a:endParaRPr lang="en-US" sz="1400" dirty="0"/>
          </a:p>
        </p:txBody>
      </p:sp>
      <p:sp>
        <p:nvSpPr>
          <p:cNvPr id="138" name="Shape 56"/>
          <p:cNvSpPr/>
          <p:nvPr/>
        </p:nvSpPr>
        <p:spPr>
          <a:xfrm>
            <a:off x="6412240" y="4365104"/>
            <a:ext cx="2240280" cy="438912"/>
          </a:xfrm>
          <a:prstGeom prst="rect">
            <a:avLst/>
          </a:prstGeom>
          <a:solidFill>
            <a:srgbClr val="F0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9" name="Text 57"/>
          <p:cNvSpPr/>
          <p:nvPr/>
        </p:nvSpPr>
        <p:spPr>
          <a:xfrm>
            <a:off x="6503680" y="44016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Traitements ordonnés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19114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2400" cap="none" dirty="0" smtClean="0">
                <a:solidFill>
                  <a:srgbClr val="FF0000"/>
                </a:solidFill>
              </a:rPr>
              <a:t>IV. </a:t>
            </a:r>
            <a:r>
              <a:rPr lang="el-GR" sz="2400" cap="none" dirty="0" smtClean="0">
                <a:solidFill>
                  <a:srgbClr val="FF0000"/>
                </a:solidFill>
              </a:rPr>
              <a:t>λ  </a:t>
            </a:r>
            <a:r>
              <a:rPr lang="fr-CA" sz="2400" cap="none" dirty="0">
                <a:solidFill>
                  <a:srgbClr val="FF0000"/>
                </a:solidFill>
              </a:rPr>
              <a:t>Expressions Lambda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67" name="Text 7"/>
          <p:cNvSpPr/>
          <p:nvPr/>
        </p:nvSpPr>
        <p:spPr>
          <a:xfrm>
            <a:off x="2339940" y="1095286"/>
            <a:ext cx="478812" cy="63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 9"/>
          <p:cNvSpPr/>
          <p:nvPr/>
        </p:nvSpPr>
        <p:spPr>
          <a:xfrm>
            <a:off x="2822770" y="1093386"/>
            <a:ext cx="1723722" cy="6338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corps }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Shape 2"/>
          <p:cNvSpPr/>
          <p:nvPr/>
        </p:nvSpPr>
        <p:spPr>
          <a:xfrm>
            <a:off x="250611" y="1185890"/>
            <a:ext cx="8595360" cy="594360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109" name="Shape 3"/>
          <p:cNvSpPr/>
          <p:nvPr/>
        </p:nvSpPr>
        <p:spPr>
          <a:xfrm>
            <a:off x="250611" y="1161343"/>
            <a:ext cx="64008" cy="59436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0" name="Text 4"/>
          <p:cNvSpPr/>
          <p:nvPr/>
        </p:nvSpPr>
        <p:spPr>
          <a:xfrm>
            <a:off x="433491" y="1161343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 lambda est une fonction anonyme courte qu'on peut passer </a:t>
            </a:r>
            <a:r>
              <a:rPr lang="en-US" sz="1400" dirty="0" err="1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argument. Elle remplace les classes anonymes pour les interfaces fonctionnelles (1 seule méthode abstraite).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292881" y="2083501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1628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Évolution de la syntaxe 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Shape 6"/>
          <p:cNvSpPr/>
          <p:nvPr/>
        </p:nvSpPr>
        <p:spPr>
          <a:xfrm>
            <a:off x="247161" y="2617925"/>
            <a:ext cx="4206240" cy="320040"/>
          </a:xfrm>
          <a:prstGeom prst="rect">
            <a:avLst/>
          </a:prstGeom>
          <a:solidFill>
            <a:schemeClr val="bg1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13" name="Text 7"/>
          <p:cNvSpPr/>
          <p:nvPr/>
        </p:nvSpPr>
        <p:spPr>
          <a:xfrm>
            <a:off x="338601" y="2617925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❌ Avant Java 8 — Classe Anonyme</a:t>
            </a:r>
          </a:p>
        </p:txBody>
      </p:sp>
      <p:sp>
        <p:nvSpPr>
          <p:cNvPr id="114" name="Shape 8"/>
          <p:cNvSpPr/>
          <p:nvPr/>
        </p:nvSpPr>
        <p:spPr>
          <a:xfrm>
            <a:off x="247161" y="2937965"/>
            <a:ext cx="4206240" cy="26517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15" name="Text 9"/>
          <p:cNvSpPr/>
          <p:nvPr/>
        </p:nvSpPr>
        <p:spPr>
          <a:xfrm>
            <a:off x="356889" y="3029405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Runnable r = new Runnable() {</a:t>
            </a:r>
          </a:p>
        </p:txBody>
      </p:sp>
      <p:sp>
        <p:nvSpPr>
          <p:cNvPr id="116" name="Text 10"/>
          <p:cNvSpPr/>
          <p:nvPr/>
        </p:nvSpPr>
        <p:spPr>
          <a:xfrm>
            <a:off x="356889" y="3331157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@Override</a:t>
            </a:r>
          </a:p>
        </p:txBody>
      </p:sp>
      <p:sp>
        <p:nvSpPr>
          <p:cNvPr id="117" name="Text 11"/>
          <p:cNvSpPr/>
          <p:nvPr/>
        </p:nvSpPr>
        <p:spPr>
          <a:xfrm>
            <a:off x="356889" y="3632909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public void run() {</a:t>
            </a:r>
          </a:p>
        </p:txBody>
      </p:sp>
      <p:sp>
        <p:nvSpPr>
          <p:cNvPr id="118" name="Text 12"/>
          <p:cNvSpPr/>
          <p:nvPr/>
        </p:nvSpPr>
        <p:spPr>
          <a:xfrm>
            <a:off x="356889" y="3934661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System.out.println("Bonjour!");</a:t>
            </a:r>
          </a:p>
        </p:txBody>
      </p:sp>
      <p:sp>
        <p:nvSpPr>
          <p:cNvPr id="119" name="Text 13"/>
          <p:cNvSpPr/>
          <p:nvPr/>
        </p:nvSpPr>
        <p:spPr>
          <a:xfrm>
            <a:off x="356889" y="4236413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</a:p>
        </p:txBody>
      </p:sp>
      <p:sp>
        <p:nvSpPr>
          <p:cNvPr id="120" name="Text 14"/>
          <p:cNvSpPr/>
          <p:nvPr/>
        </p:nvSpPr>
        <p:spPr>
          <a:xfrm>
            <a:off x="356889" y="4538165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};</a:t>
            </a:r>
          </a:p>
        </p:txBody>
      </p:sp>
      <p:sp>
        <p:nvSpPr>
          <p:cNvPr id="121" name="Shape 15"/>
          <p:cNvSpPr/>
          <p:nvPr/>
        </p:nvSpPr>
        <p:spPr>
          <a:xfrm>
            <a:off x="4727721" y="2617925"/>
            <a:ext cx="4206240" cy="320040"/>
          </a:xfrm>
          <a:prstGeom prst="rect">
            <a:avLst/>
          </a:prstGeom>
          <a:solidFill>
            <a:schemeClr val="bg1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22" name="Text 16"/>
          <p:cNvSpPr/>
          <p:nvPr/>
        </p:nvSpPr>
        <p:spPr>
          <a:xfrm>
            <a:off x="4819161" y="2617925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AE6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✅ Java 8+ — Lambda Expression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Shape 17"/>
          <p:cNvSpPr/>
          <p:nvPr/>
        </p:nvSpPr>
        <p:spPr>
          <a:xfrm>
            <a:off x="4727721" y="2937965"/>
            <a:ext cx="4206240" cy="767514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28" name="Text 22"/>
          <p:cNvSpPr/>
          <p:nvPr/>
        </p:nvSpPr>
        <p:spPr>
          <a:xfrm>
            <a:off x="4837449" y="4236413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Text 24"/>
          <p:cNvSpPr/>
          <p:nvPr/>
        </p:nvSpPr>
        <p:spPr>
          <a:xfrm>
            <a:off x="4748107" y="4041323"/>
            <a:ext cx="4545375" cy="156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 smtClean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Runnable r2 = () -&gt; </a:t>
            </a:r>
            <a:r>
              <a:rPr lang="en-US" sz="1600" dirty="0" err="1" smtClean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System.out.println</a:t>
            </a:r>
            <a:r>
              <a:rPr lang="en-US" sz="1600" dirty="0" smtClean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("Bonjour!");</a:t>
            </a:r>
            <a:endParaRPr lang="en-US" sz="16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968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226846"/>
            <a:ext cx="8856984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sz="2400" cap="none" dirty="0">
                <a:solidFill>
                  <a:srgbClr val="FF0000"/>
                </a:solidFill>
              </a:rPr>
              <a:t>IV. </a:t>
            </a:r>
            <a:r>
              <a:rPr lang="en-US" sz="2400" cap="none" dirty="0" smtClean="0">
                <a:solidFill>
                  <a:srgbClr val="FF0000"/>
                </a:solidFill>
              </a:rPr>
              <a:t>1.</a:t>
            </a:r>
            <a:r>
              <a:rPr lang="en-US" sz="2000" cap="none" dirty="0" smtClean="0">
                <a:solidFill>
                  <a:srgbClr val="FF0000"/>
                </a:solidFill>
              </a:rPr>
              <a:t> </a:t>
            </a:r>
            <a:r>
              <a:rPr lang="fr-FR" sz="2000" cap="none" dirty="0" smtClean="0">
                <a:solidFill>
                  <a:srgbClr val="FF0000"/>
                </a:solidFill>
              </a:rPr>
              <a:t>λ  </a:t>
            </a:r>
            <a:r>
              <a:rPr lang="fr-FR" sz="2000" cap="none" dirty="0">
                <a:solidFill>
                  <a:srgbClr val="FF0000"/>
                </a:solidFill>
              </a:rPr>
              <a:t>Syntaxe Lambda — Formes &amp; Interfaces Fonctionnelles</a:t>
            </a:r>
            <a:endParaRPr lang="fr-FR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30" name="Text 2"/>
          <p:cNvSpPr/>
          <p:nvPr/>
        </p:nvSpPr>
        <p:spPr>
          <a:xfrm>
            <a:off x="532696" y="1218171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Formes de lambda :</a:t>
            </a:r>
            <a:endParaRPr lang="en-US" sz="1400" dirty="0"/>
          </a:p>
        </p:txBody>
      </p:sp>
      <p:sp>
        <p:nvSpPr>
          <p:cNvPr id="31" name="Shape 3"/>
          <p:cNvSpPr/>
          <p:nvPr/>
        </p:nvSpPr>
        <p:spPr>
          <a:xfrm>
            <a:off x="395536" y="1705178"/>
            <a:ext cx="4206240" cy="35204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32" name="Text 4"/>
          <p:cNvSpPr/>
          <p:nvPr/>
        </p:nvSpPr>
        <p:spPr>
          <a:xfrm>
            <a:off x="532696" y="177833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Aucun paramètre</a:t>
            </a:r>
            <a:endParaRPr lang="en-US" sz="1400" dirty="0"/>
          </a:p>
        </p:txBody>
      </p:sp>
      <p:sp>
        <p:nvSpPr>
          <p:cNvPr id="33" name="Text 5"/>
          <p:cNvSpPr/>
          <p:nvPr/>
        </p:nvSpPr>
        <p:spPr>
          <a:xfrm>
            <a:off x="532696" y="197492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-&gt; System.out.println(42)</a:t>
            </a:r>
            <a:endParaRPr lang="en-US" sz="1400" dirty="0"/>
          </a:p>
        </p:txBody>
      </p:sp>
      <p:sp>
        <p:nvSpPr>
          <p:cNvPr id="34" name="Text 6"/>
          <p:cNvSpPr/>
          <p:nvPr/>
        </p:nvSpPr>
        <p:spPr>
          <a:xfrm>
            <a:off x="532696" y="217152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5" name="Text 7"/>
          <p:cNvSpPr/>
          <p:nvPr/>
        </p:nvSpPr>
        <p:spPr>
          <a:xfrm>
            <a:off x="532696" y="236811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Un paramètre</a:t>
            </a:r>
            <a:endParaRPr lang="en-US" sz="1400" dirty="0"/>
          </a:p>
        </p:txBody>
      </p:sp>
      <p:sp>
        <p:nvSpPr>
          <p:cNvPr id="36" name="Text 8"/>
          <p:cNvSpPr/>
          <p:nvPr/>
        </p:nvSpPr>
        <p:spPr>
          <a:xfrm>
            <a:off x="532696" y="256471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-&gt; x * x</a:t>
            </a:r>
            <a:endParaRPr lang="en-US" sz="1400" dirty="0"/>
          </a:p>
        </p:txBody>
      </p:sp>
      <p:sp>
        <p:nvSpPr>
          <p:cNvPr id="37" name="Text 9"/>
          <p:cNvSpPr/>
          <p:nvPr/>
        </p:nvSpPr>
        <p:spPr>
          <a:xfrm>
            <a:off x="532696" y="276131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38" name="Text 10"/>
          <p:cNvSpPr/>
          <p:nvPr/>
        </p:nvSpPr>
        <p:spPr>
          <a:xfrm>
            <a:off x="532696" y="295790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Deux paramètres</a:t>
            </a:r>
            <a:endParaRPr lang="en-US" sz="1400" dirty="0"/>
          </a:p>
        </p:txBody>
      </p:sp>
      <p:sp>
        <p:nvSpPr>
          <p:cNvPr id="39" name="Text 11"/>
          <p:cNvSpPr/>
          <p:nvPr/>
        </p:nvSpPr>
        <p:spPr>
          <a:xfrm>
            <a:off x="532696" y="315450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b) -&gt; a + b</a:t>
            </a:r>
            <a:endParaRPr lang="en-US" sz="1400" dirty="0"/>
          </a:p>
        </p:txBody>
      </p:sp>
      <p:sp>
        <p:nvSpPr>
          <p:cNvPr id="40" name="Text 12"/>
          <p:cNvSpPr/>
          <p:nvPr/>
        </p:nvSpPr>
        <p:spPr>
          <a:xfrm>
            <a:off x="532696" y="335109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1" name="Text 13"/>
          <p:cNvSpPr/>
          <p:nvPr/>
        </p:nvSpPr>
        <p:spPr>
          <a:xfrm>
            <a:off x="532696" y="354769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Bloc de code</a:t>
            </a:r>
            <a:endParaRPr lang="en-US" sz="1400" dirty="0"/>
          </a:p>
        </p:txBody>
      </p:sp>
      <p:sp>
        <p:nvSpPr>
          <p:cNvPr id="42" name="Text 14"/>
          <p:cNvSpPr/>
          <p:nvPr/>
        </p:nvSpPr>
        <p:spPr>
          <a:xfrm>
            <a:off x="532696" y="374429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b) -&gt; {</a:t>
            </a:r>
            <a:endParaRPr lang="en-US" sz="1400" dirty="0"/>
          </a:p>
        </p:txBody>
      </p:sp>
      <p:sp>
        <p:nvSpPr>
          <p:cNvPr id="43" name="Text 15"/>
          <p:cNvSpPr/>
          <p:nvPr/>
        </p:nvSpPr>
        <p:spPr>
          <a:xfrm>
            <a:off x="532696" y="394088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 res = a + b;</a:t>
            </a:r>
            <a:endParaRPr lang="en-US" sz="1400" dirty="0"/>
          </a:p>
        </p:txBody>
      </p:sp>
      <p:sp>
        <p:nvSpPr>
          <p:cNvPr id="44" name="Text 16"/>
          <p:cNvSpPr/>
          <p:nvPr/>
        </p:nvSpPr>
        <p:spPr>
          <a:xfrm>
            <a:off x="532696" y="413748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res;</a:t>
            </a:r>
            <a:endParaRPr lang="en-US" sz="1400" dirty="0"/>
          </a:p>
        </p:txBody>
      </p:sp>
      <p:sp>
        <p:nvSpPr>
          <p:cNvPr id="45" name="Text 17"/>
          <p:cNvSpPr/>
          <p:nvPr/>
        </p:nvSpPr>
        <p:spPr>
          <a:xfrm>
            <a:off x="532696" y="4334078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46" name="Text 18"/>
          <p:cNvSpPr/>
          <p:nvPr/>
        </p:nvSpPr>
        <p:spPr>
          <a:xfrm>
            <a:off x="532696" y="453067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7" name="Text 19"/>
          <p:cNvSpPr/>
          <p:nvPr/>
        </p:nvSpPr>
        <p:spPr>
          <a:xfrm>
            <a:off x="532696" y="472727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Méthode référence</a:t>
            </a:r>
            <a:endParaRPr lang="en-US" sz="1400" dirty="0"/>
          </a:p>
        </p:txBody>
      </p:sp>
      <p:sp>
        <p:nvSpPr>
          <p:cNvPr id="48" name="Text 20"/>
          <p:cNvSpPr/>
          <p:nvPr/>
        </p:nvSpPr>
        <p:spPr>
          <a:xfrm>
            <a:off x="532696" y="492386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String::toUpperCase</a:t>
            </a:r>
            <a:endParaRPr lang="en-US" sz="1400" dirty="0"/>
          </a:p>
        </p:txBody>
      </p:sp>
      <p:sp>
        <p:nvSpPr>
          <p:cNvPr id="49" name="Text 21"/>
          <p:cNvSpPr/>
          <p:nvPr/>
        </p:nvSpPr>
        <p:spPr>
          <a:xfrm>
            <a:off x="4830376" y="125712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Fonctionnelles (java.util.function) :</a:t>
            </a:r>
            <a:endParaRPr lang="en-US" sz="1400" dirty="0"/>
          </a:p>
        </p:txBody>
      </p:sp>
      <p:sp>
        <p:nvSpPr>
          <p:cNvPr id="50" name="Shape 22"/>
          <p:cNvSpPr/>
          <p:nvPr/>
        </p:nvSpPr>
        <p:spPr>
          <a:xfrm>
            <a:off x="4830376" y="1705178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1" name="Shape 23"/>
          <p:cNvSpPr/>
          <p:nvPr/>
        </p:nvSpPr>
        <p:spPr>
          <a:xfrm>
            <a:off x="4830376" y="1705178"/>
            <a:ext cx="64008" cy="64008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52" name="Text 24"/>
          <p:cNvSpPr/>
          <p:nvPr/>
        </p:nvSpPr>
        <p:spPr>
          <a:xfrm>
            <a:off x="4949248" y="175089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Predicate&lt;T&gt;</a:t>
            </a:r>
            <a:endParaRPr lang="en-US" sz="1400" dirty="0"/>
          </a:p>
        </p:txBody>
      </p:sp>
      <p:sp>
        <p:nvSpPr>
          <p:cNvPr id="53" name="Text 25"/>
          <p:cNvSpPr/>
          <p:nvPr/>
        </p:nvSpPr>
        <p:spPr>
          <a:xfrm>
            <a:off x="6796336" y="175089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boolean</a:t>
            </a:r>
            <a:endParaRPr lang="en-US" sz="1400" dirty="0"/>
          </a:p>
        </p:txBody>
      </p:sp>
      <p:sp>
        <p:nvSpPr>
          <p:cNvPr id="54" name="Text 26"/>
          <p:cNvSpPr/>
          <p:nvPr/>
        </p:nvSpPr>
        <p:spPr>
          <a:xfrm>
            <a:off x="4949248" y="202521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s -&gt; s.length() &gt; 3</a:t>
            </a:r>
            <a:endParaRPr lang="en-US" sz="1400" dirty="0"/>
          </a:p>
        </p:txBody>
      </p:sp>
      <p:sp>
        <p:nvSpPr>
          <p:cNvPr id="55" name="Shape 27"/>
          <p:cNvSpPr/>
          <p:nvPr/>
        </p:nvSpPr>
        <p:spPr>
          <a:xfrm>
            <a:off x="4830376" y="2466035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6" name="Shape 28"/>
          <p:cNvSpPr/>
          <p:nvPr/>
        </p:nvSpPr>
        <p:spPr>
          <a:xfrm>
            <a:off x="4830376" y="2418410"/>
            <a:ext cx="64008" cy="6400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7" name="Text 29"/>
          <p:cNvSpPr/>
          <p:nvPr/>
        </p:nvSpPr>
        <p:spPr>
          <a:xfrm>
            <a:off x="4949248" y="246413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Function&lt;T,R&gt;</a:t>
            </a:r>
            <a:endParaRPr lang="en-US" sz="1400" dirty="0"/>
          </a:p>
        </p:txBody>
      </p:sp>
      <p:sp>
        <p:nvSpPr>
          <p:cNvPr id="58" name="Text 30"/>
          <p:cNvSpPr/>
          <p:nvPr/>
        </p:nvSpPr>
        <p:spPr>
          <a:xfrm>
            <a:off x="6796336" y="246413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R</a:t>
            </a:r>
            <a:endParaRPr lang="en-US" sz="1400" dirty="0"/>
          </a:p>
        </p:txBody>
      </p:sp>
      <p:sp>
        <p:nvSpPr>
          <p:cNvPr id="59" name="Text 31"/>
          <p:cNvSpPr/>
          <p:nvPr/>
        </p:nvSpPr>
        <p:spPr>
          <a:xfrm>
            <a:off x="4949248" y="273845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s -&gt; s.toUpperCase()</a:t>
            </a:r>
            <a:endParaRPr lang="en-US" sz="1400" dirty="0"/>
          </a:p>
        </p:txBody>
      </p:sp>
      <p:sp>
        <p:nvSpPr>
          <p:cNvPr id="60" name="Shape 32"/>
          <p:cNvSpPr/>
          <p:nvPr/>
        </p:nvSpPr>
        <p:spPr>
          <a:xfrm>
            <a:off x="4830376" y="3131642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1" name="Shape 33"/>
          <p:cNvSpPr/>
          <p:nvPr/>
        </p:nvSpPr>
        <p:spPr>
          <a:xfrm>
            <a:off x="4830376" y="3131642"/>
            <a:ext cx="64008" cy="64008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62" name="Text 34"/>
          <p:cNvSpPr/>
          <p:nvPr/>
        </p:nvSpPr>
        <p:spPr>
          <a:xfrm>
            <a:off x="4949248" y="317736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Consumer&lt;T&gt;</a:t>
            </a:r>
            <a:endParaRPr lang="en-US" sz="1400" dirty="0"/>
          </a:p>
        </p:txBody>
      </p:sp>
      <p:sp>
        <p:nvSpPr>
          <p:cNvPr id="63" name="Text 35"/>
          <p:cNvSpPr/>
          <p:nvPr/>
        </p:nvSpPr>
        <p:spPr>
          <a:xfrm>
            <a:off x="6796336" y="317736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→ void</a:t>
            </a:r>
            <a:endParaRPr lang="en-US" sz="1400" dirty="0"/>
          </a:p>
        </p:txBody>
      </p:sp>
      <p:sp>
        <p:nvSpPr>
          <p:cNvPr id="64" name="Text 36"/>
          <p:cNvSpPr/>
          <p:nvPr/>
        </p:nvSpPr>
        <p:spPr>
          <a:xfrm>
            <a:off x="4949248" y="345168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s -&gt; System.out.println(s)</a:t>
            </a:r>
            <a:endParaRPr lang="en-US" sz="1400" dirty="0"/>
          </a:p>
        </p:txBody>
      </p:sp>
      <p:sp>
        <p:nvSpPr>
          <p:cNvPr id="65" name="Shape 37"/>
          <p:cNvSpPr/>
          <p:nvPr/>
        </p:nvSpPr>
        <p:spPr>
          <a:xfrm>
            <a:off x="4830376" y="3844874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6" name="Shape 38"/>
          <p:cNvSpPr/>
          <p:nvPr/>
        </p:nvSpPr>
        <p:spPr>
          <a:xfrm>
            <a:off x="4830376" y="3844874"/>
            <a:ext cx="64008" cy="640080"/>
          </a:xfrm>
          <a:prstGeom prst="rect">
            <a:avLst/>
          </a:prstGeom>
          <a:solidFill>
            <a:srgbClr val="58D68D"/>
          </a:solidFill>
          <a:ln w="12700">
            <a:solidFill>
              <a:srgbClr val="58D68D"/>
            </a:solidFill>
            <a:prstDash val="solid"/>
          </a:ln>
        </p:spPr>
      </p:sp>
      <p:sp>
        <p:nvSpPr>
          <p:cNvPr id="68" name="Text 39"/>
          <p:cNvSpPr/>
          <p:nvPr/>
        </p:nvSpPr>
        <p:spPr>
          <a:xfrm>
            <a:off x="4949248" y="389059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Supplier&lt;T&gt;</a:t>
            </a:r>
            <a:endParaRPr lang="en-US" sz="1400" dirty="0"/>
          </a:p>
        </p:txBody>
      </p:sp>
      <p:sp>
        <p:nvSpPr>
          <p:cNvPr id="70" name="Text 40"/>
          <p:cNvSpPr/>
          <p:nvPr/>
        </p:nvSpPr>
        <p:spPr>
          <a:xfrm>
            <a:off x="6796336" y="389059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() → T</a:t>
            </a:r>
            <a:endParaRPr lang="en-US" sz="1400" dirty="0"/>
          </a:p>
        </p:txBody>
      </p:sp>
      <p:sp>
        <p:nvSpPr>
          <p:cNvPr id="71" name="Text 41"/>
          <p:cNvSpPr/>
          <p:nvPr/>
        </p:nvSpPr>
        <p:spPr>
          <a:xfrm>
            <a:off x="4949248" y="416491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 = () -&gt; "Bonjour"</a:t>
            </a:r>
            <a:endParaRPr lang="en-US" sz="1400" dirty="0"/>
          </a:p>
        </p:txBody>
      </p:sp>
      <p:sp>
        <p:nvSpPr>
          <p:cNvPr id="72" name="Shape 42"/>
          <p:cNvSpPr/>
          <p:nvPr/>
        </p:nvSpPr>
        <p:spPr>
          <a:xfrm>
            <a:off x="4830376" y="4558106"/>
            <a:ext cx="42062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73" name="Shape 43"/>
          <p:cNvSpPr/>
          <p:nvPr/>
        </p:nvSpPr>
        <p:spPr>
          <a:xfrm>
            <a:off x="4830376" y="4558106"/>
            <a:ext cx="64008" cy="64008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74" name="Text 44"/>
          <p:cNvSpPr/>
          <p:nvPr/>
        </p:nvSpPr>
        <p:spPr>
          <a:xfrm>
            <a:off x="4949248" y="460382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BiFunction&lt;T,U,R&gt;</a:t>
            </a:r>
            <a:endParaRPr lang="en-US" sz="1400" dirty="0"/>
          </a:p>
        </p:txBody>
      </p:sp>
      <p:sp>
        <p:nvSpPr>
          <p:cNvPr id="75" name="Text 45"/>
          <p:cNvSpPr/>
          <p:nvPr/>
        </p:nvSpPr>
        <p:spPr>
          <a:xfrm>
            <a:off x="6796336" y="460382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52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(T,U) → R</a:t>
            </a:r>
            <a:endParaRPr lang="en-US" sz="1400" dirty="0"/>
          </a:p>
        </p:txBody>
      </p:sp>
      <p:sp>
        <p:nvSpPr>
          <p:cNvPr id="76" name="Text 46"/>
          <p:cNvSpPr/>
          <p:nvPr/>
        </p:nvSpPr>
        <p:spPr>
          <a:xfrm>
            <a:off x="4949248" y="487814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 = (a,b) -&gt; a + b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75026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>
              <a:buNone/>
            </a:pPr>
            <a:r>
              <a:rPr lang="en-US" sz="2400" cap="none" dirty="0">
                <a:solidFill>
                  <a:srgbClr val="FF0000"/>
                </a:solidFill>
              </a:rPr>
              <a:t>IV. </a:t>
            </a:r>
            <a:r>
              <a:rPr lang="en-US" sz="2400" cap="none" dirty="0" smtClean="0">
                <a:solidFill>
                  <a:srgbClr val="FF0000"/>
                </a:solidFill>
              </a:rPr>
              <a:t>2.</a:t>
            </a:r>
            <a:r>
              <a:rPr lang="fr-FR" sz="2400" dirty="0" smtClean="0">
                <a:solidFill>
                  <a:srgbClr val="FF0000"/>
                </a:solidFill>
                <a:latin typeface="+mn-lt"/>
              </a:rPr>
              <a:t> </a:t>
            </a:r>
            <a:r>
              <a:rPr lang="fr-FR" sz="2400" dirty="0">
                <a:solidFill>
                  <a:srgbClr val="FF0000"/>
                </a:solidFill>
                <a:latin typeface="+mn-lt"/>
              </a:rPr>
              <a:t>Stream API — Pipeline de Données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34" name="Text 12"/>
          <p:cNvSpPr/>
          <p:nvPr/>
        </p:nvSpPr>
        <p:spPr>
          <a:xfrm>
            <a:off x="5843571" y="2168683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Collection / Array</a:t>
            </a:r>
          </a:p>
        </p:txBody>
      </p:sp>
      <p:sp>
        <p:nvSpPr>
          <p:cNvPr id="39" name="Text 17"/>
          <p:cNvSpPr/>
          <p:nvPr/>
        </p:nvSpPr>
        <p:spPr>
          <a:xfrm>
            <a:off x="5843571" y="2945923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intermédiaire</a:t>
            </a:r>
          </a:p>
        </p:txBody>
      </p:sp>
      <p:sp>
        <p:nvSpPr>
          <p:cNvPr id="43" name="Text 21"/>
          <p:cNvSpPr/>
          <p:nvPr/>
        </p:nvSpPr>
        <p:spPr>
          <a:xfrm>
            <a:off x="5816462" y="36639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map()</a:t>
            </a:r>
            <a:endParaRPr lang="en-US" sz="1300" dirty="0"/>
          </a:p>
        </p:txBody>
      </p:sp>
      <p:sp>
        <p:nvSpPr>
          <p:cNvPr id="44" name="Text 22"/>
          <p:cNvSpPr/>
          <p:nvPr/>
        </p:nvSpPr>
        <p:spPr>
          <a:xfrm>
            <a:off x="5816462" y="395658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intermédiaire</a:t>
            </a:r>
          </a:p>
        </p:txBody>
      </p:sp>
      <p:sp>
        <p:nvSpPr>
          <p:cNvPr id="49" name="Text 27"/>
          <p:cNvSpPr/>
          <p:nvPr/>
        </p:nvSpPr>
        <p:spPr>
          <a:xfrm>
            <a:off x="5816462" y="473382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Opération terminale</a:t>
            </a:r>
          </a:p>
        </p:txBody>
      </p:sp>
      <p:sp>
        <p:nvSpPr>
          <p:cNvPr id="50" name="Shape 2"/>
          <p:cNvSpPr/>
          <p:nvPr/>
        </p:nvSpPr>
        <p:spPr>
          <a:xfrm>
            <a:off x="369787" y="1069902"/>
            <a:ext cx="8595360" cy="548640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51" name="Shape 3"/>
          <p:cNvSpPr/>
          <p:nvPr/>
        </p:nvSpPr>
        <p:spPr>
          <a:xfrm>
            <a:off x="369787" y="1069902"/>
            <a:ext cx="64008" cy="5486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2" name="Text 4"/>
          <p:cNvSpPr/>
          <p:nvPr/>
        </p:nvSpPr>
        <p:spPr>
          <a:xfrm>
            <a:off x="552667" y="106990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Stream est une séquence d'éléments sur laquelle on applique des opérations </a:t>
            </a:r>
            <a:r>
              <a:rPr lang="en-US" sz="1400" dirty="0" err="1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chaîne (pipeline). Il ne modifie pas la collection source — il produit un nouveau résultat.</a:t>
            </a:r>
            <a:endParaRPr lang="en-US" sz="1400" dirty="0"/>
          </a:p>
        </p:txBody>
      </p:sp>
      <p:sp>
        <p:nvSpPr>
          <p:cNvPr id="53" name="Shape 5"/>
          <p:cNvSpPr/>
          <p:nvPr/>
        </p:nvSpPr>
        <p:spPr>
          <a:xfrm>
            <a:off x="344158" y="1885343"/>
            <a:ext cx="1554480" cy="1188720"/>
          </a:xfrm>
          <a:prstGeom prst="rect">
            <a:avLst/>
          </a:prstGeom>
          <a:solidFill>
            <a:srgbClr val="1A527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4" name="Text 6"/>
          <p:cNvSpPr/>
          <p:nvPr/>
        </p:nvSpPr>
        <p:spPr>
          <a:xfrm>
            <a:off x="34415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📦</a:t>
            </a:r>
            <a:endParaRPr lang="en-US" sz="1400" dirty="0"/>
          </a:p>
        </p:txBody>
      </p:sp>
      <p:sp>
        <p:nvSpPr>
          <p:cNvPr id="55" name="Text 7"/>
          <p:cNvSpPr/>
          <p:nvPr/>
        </p:nvSpPr>
        <p:spPr>
          <a:xfrm>
            <a:off x="34415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</a:t>
            </a:r>
            <a:endParaRPr lang="en-US" sz="1400" dirty="0"/>
          </a:p>
        </p:txBody>
      </p:sp>
      <p:sp>
        <p:nvSpPr>
          <p:cNvPr id="56" name="Text 8"/>
          <p:cNvSpPr/>
          <p:nvPr/>
        </p:nvSpPr>
        <p:spPr>
          <a:xfrm>
            <a:off x="34415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/ Array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fichier</a:t>
            </a:r>
            <a:endParaRPr lang="en-US" sz="1400" dirty="0"/>
          </a:p>
        </p:txBody>
      </p:sp>
      <p:sp>
        <p:nvSpPr>
          <p:cNvPr id="57" name="Text 9"/>
          <p:cNvSpPr/>
          <p:nvPr/>
        </p:nvSpPr>
        <p:spPr>
          <a:xfrm>
            <a:off x="191692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58" name="Shape 10"/>
          <p:cNvSpPr/>
          <p:nvPr/>
        </p:nvSpPr>
        <p:spPr>
          <a:xfrm>
            <a:off x="2081518" y="1885343"/>
            <a:ext cx="1554480" cy="1188720"/>
          </a:xfrm>
          <a:prstGeom prst="rect">
            <a:avLst/>
          </a:prstGeom>
          <a:solidFill>
            <a:srgbClr val="1E844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9" name="Text 11"/>
          <p:cNvSpPr/>
          <p:nvPr/>
        </p:nvSpPr>
        <p:spPr>
          <a:xfrm>
            <a:off x="208151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🔍</a:t>
            </a:r>
            <a:endParaRPr lang="en-US" sz="1400" dirty="0"/>
          </a:p>
        </p:txBody>
      </p:sp>
      <p:sp>
        <p:nvSpPr>
          <p:cNvPr id="60" name="Text 12"/>
          <p:cNvSpPr/>
          <p:nvPr/>
        </p:nvSpPr>
        <p:spPr>
          <a:xfrm>
            <a:off x="208151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filter()</a:t>
            </a:r>
            <a:endParaRPr lang="en-US" sz="1400" dirty="0"/>
          </a:p>
        </p:txBody>
      </p:sp>
      <p:sp>
        <p:nvSpPr>
          <p:cNvPr id="61" name="Text 13"/>
          <p:cNvSpPr/>
          <p:nvPr/>
        </p:nvSpPr>
        <p:spPr>
          <a:xfrm>
            <a:off x="208151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62" name="Text 14"/>
          <p:cNvSpPr/>
          <p:nvPr/>
        </p:nvSpPr>
        <p:spPr>
          <a:xfrm>
            <a:off x="365428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63" name="Shape 15"/>
          <p:cNvSpPr/>
          <p:nvPr/>
        </p:nvSpPr>
        <p:spPr>
          <a:xfrm>
            <a:off x="3818878" y="1885343"/>
            <a:ext cx="1554480" cy="1188720"/>
          </a:xfrm>
          <a:prstGeom prst="rect">
            <a:avLst/>
          </a:prstGeom>
          <a:solidFill>
            <a:srgbClr val="27AE60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4" name="Text 16"/>
          <p:cNvSpPr/>
          <p:nvPr/>
        </p:nvSpPr>
        <p:spPr>
          <a:xfrm>
            <a:off x="381887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🔄</a:t>
            </a:r>
            <a:endParaRPr lang="en-US" sz="1400" dirty="0"/>
          </a:p>
        </p:txBody>
      </p:sp>
      <p:sp>
        <p:nvSpPr>
          <p:cNvPr id="65" name="Text 17"/>
          <p:cNvSpPr/>
          <p:nvPr/>
        </p:nvSpPr>
        <p:spPr>
          <a:xfrm>
            <a:off x="381887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map()</a:t>
            </a:r>
            <a:endParaRPr lang="en-US" sz="1400" dirty="0"/>
          </a:p>
        </p:txBody>
      </p:sp>
      <p:sp>
        <p:nvSpPr>
          <p:cNvPr id="66" name="Text 18"/>
          <p:cNvSpPr/>
          <p:nvPr/>
        </p:nvSpPr>
        <p:spPr>
          <a:xfrm>
            <a:off x="381887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67" name="Text 19"/>
          <p:cNvSpPr/>
          <p:nvPr/>
        </p:nvSpPr>
        <p:spPr>
          <a:xfrm>
            <a:off x="539164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68" name="Shape 20"/>
          <p:cNvSpPr/>
          <p:nvPr/>
        </p:nvSpPr>
        <p:spPr>
          <a:xfrm>
            <a:off x="5556238" y="1885343"/>
            <a:ext cx="1554480" cy="1188720"/>
          </a:xfrm>
          <a:prstGeom prst="rect">
            <a:avLst/>
          </a:prstGeom>
          <a:solidFill>
            <a:srgbClr val="2ECC71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9" name="Text 21"/>
          <p:cNvSpPr/>
          <p:nvPr/>
        </p:nvSpPr>
        <p:spPr>
          <a:xfrm>
            <a:off x="555623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↕️</a:t>
            </a:r>
            <a:endParaRPr lang="en-US" sz="1400" dirty="0"/>
          </a:p>
        </p:txBody>
      </p:sp>
      <p:sp>
        <p:nvSpPr>
          <p:cNvPr id="70" name="Text 22"/>
          <p:cNvSpPr/>
          <p:nvPr/>
        </p:nvSpPr>
        <p:spPr>
          <a:xfrm>
            <a:off x="555623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sorted()</a:t>
            </a:r>
            <a:endParaRPr lang="en-US" sz="1400" dirty="0"/>
          </a:p>
        </p:txBody>
      </p:sp>
      <p:sp>
        <p:nvSpPr>
          <p:cNvPr id="71" name="Text 23"/>
          <p:cNvSpPr/>
          <p:nvPr/>
        </p:nvSpPr>
        <p:spPr>
          <a:xfrm>
            <a:off x="555623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400" dirty="0"/>
          </a:p>
        </p:txBody>
      </p:sp>
      <p:sp>
        <p:nvSpPr>
          <p:cNvPr id="72" name="Text 24"/>
          <p:cNvSpPr/>
          <p:nvPr/>
        </p:nvSpPr>
        <p:spPr>
          <a:xfrm>
            <a:off x="7129006" y="2251103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7AE60"/>
                </a:solidFill>
              </a:rPr>
              <a:t>→</a:t>
            </a:r>
            <a:endParaRPr lang="en-US" sz="1400" dirty="0"/>
          </a:p>
        </p:txBody>
      </p:sp>
      <p:sp>
        <p:nvSpPr>
          <p:cNvPr id="73" name="Shape 25"/>
          <p:cNvSpPr/>
          <p:nvPr/>
        </p:nvSpPr>
        <p:spPr>
          <a:xfrm>
            <a:off x="7293598" y="1885343"/>
            <a:ext cx="1554480" cy="1188720"/>
          </a:xfrm>
          <a:prstGeom prst="rect">
            <a:avLst/>
          </a:prstGeom>
          <a:solidFill>
            <a:srgbClr val="C0392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4" name="Text 26"/>
          <p:cNvSpPr/>
          <p:nvPr/>
        </p:nvSpPr>
        <p:spPr>
          <a:xfrm>
            <a:off x="7293598" y="1931063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🎯</a:t>
            </a:r>
            <a:endParaRPr lang="en-US" sz="1400" dirty="0"/>
          </a:p>
        </p:txBody>
      </p:sp>
      <p:sp>
        <p:nvSpPr>
          <p:cNvPr id="75" name="Text 27"/>
          <p:cNvSpPr/>
          <p:nvPr/>
        </p:nvSpPr>
        <p:spPr>
          <a:xfrm>
            <a:off x="7293598" y="2251103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collect()</a:t>
            </a:r>
            <a:endParaRPr lang="en-US" sz="1400" dirty="0"/>
          </a:p>
        </p:txBody>
      </p:sp>
      <p:sp>
        <p:nvSpPr>
          <p:cNvPr id="76" name="Text 28"/>
          <p:cNvSpPr/>
          <p:nvPr/>
        </p:nvSpPr>
        <p:spPr>
          <a:xfrm>
            <a:off x="7293598" y="2543711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</a:t>
            </a:r>
            <a:endParaRPr lang="en-US" sz="1400" dirty="0"/>
          </a:p>
        </p:txBody>
      </p:sp>
      <p:sp>
        <p:nvSpPr>
          <p:cNvPr id="77" name="Text 29"/>
          <p:cNvSpPr/>
          <p:nvPr/>
        </p:nvSpPr>
        <p:spPr>
          <a:xfrm>
            <a:off x="1121398" y="3305011"/>
            <a:ext cx="6913842" cy="334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intermédiaires (lazy)                                    Opérations terminales (eager)</a:t>
            </a:r>
            <a:endParaRPr lang="en-US" sz="1400" dirty="0"/>
          </a:p>
        </p:txBody>
      </p:sp>
      <p:sp>
        <p:nvSpPr>
          <p:cNvPr id="78" name="Shape 30"/>
          <p:cNvSpPr/>
          <p:nvPr/>
        </p:nvSpPr>
        <p:spPr>
          <a:xfrm>
            <a:off x="317049" y="3782972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79" name="Text 31"/>
          <p:cNvSpPr/>
          <p:nvPr/>
        </p:nvSpPr>
        <p:spPr>
          <a:xfrm>
            <a:off x="408489" y="38012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filter(Predicate)</a:t>
            </a:r>
            <a:endParaRPr lang="en-US" sz="1400" dirty="0"/>
          </a:p>
        </p:txBody>
      </p:sp>
      <p:sp>
        <p:nvSpPr>
          <p:cNvPr id="80" name="Text 32"/>
          <p:cNvSpPr/>
          <p:nvPr/>
        </p:nvSpPr>
        <p:spPr>
          <a:xfrm>
            <a:off x="2164137" y="380126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 les éléments qui correspondent</a:t>
            </a:r>
            <a:endParaRPr lang="en-US" sz="1400" dirty="0"/>
          </a:p>
        </p:txBody>
      </p:sp>
      <p:sp>
        <p:nvSpPr>
          <p:cNvPr id="81" name="Shape 33"/>
          <p:cNvSpPr/>
          <p:nvPr/>
        </p:nvSpPr>
        <p:spPr>
          <a:xfrm>
            <a:off x="317049" y="4130444"/>
            <a:ext cx="4160520" cy="310896"/>
          </a:xfrm>
          <a:prstGeom prst="rect">
            <a:avLst/>
          </a:prstGeom>
          <a:solidFill>
            <a:srgbClr val="F0FFF0"/>
          </a:solidFill>
          <a:ln/>
        </p:spPr>
      </p:sp>
      <p:sp>
        <p:nvSpPr>
          <p:cNvPr id="82" name="Text 34"/>
          <p:cNvSpPr/>
          <p:nvPr/>
        </p:nvSpPr>
        <p:spPr>
          <a:xfrm>
            <a:off x="408489" y="41487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map(Function)</a:t>
            </a:r>
            <a:endParaRPr lang="en-US" sz="1400" dirty="0"/>
          </a:p>
        </p:txBody>
      </p:sp>
      <p:sp>
        <p:nvSpPr>
          <p:cNvPr id="83" name="Text 35"/>
          <p:cNvSpPr/>
          <p:nvPr/>
        </p:nvSpPr>
        <p:spPr>
          <a:xfrm>
            <a:off x="2164137" y="414873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 chaque élément</a:t>
            </a:r>
            <a:endParaRPr lang="en-US" sz="1400" dirty="0"/>
          </a:p>
        </p:txBody>
      </p:sp>
      <p:sp>
        <p:nvSpPr>
          <p:cNvPr id="84" name="Shape 36"/>
          <p:cNvSpPr/>
          <p:nvPr/>
        </p:nvSpPr>
        <p:spPr>
          <a:xfrm>
            <a:off x="317049" y="4477916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85" name="Text 37"/>
          <p:cNvSpPr/>
          <p:nvPr/>
        </p:nvSpPr>
        <p:spPr>
          <a:xfrm>
            <a:off x="408489" y="44962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sorted()</a:t>
            </a:r>
            <a:endParaRPr lang="en-US" sz="1400" dirty="0"/>
          </a:p>
        </p:txBody>
      </p:sp>
      <p:sp>
        <p:nvSpPr>
          <p:cNvPr id="86" name="Text 38"/>
          <p:cNvSpPr/>
          <p:nvPr/>
        </p:nvSpPr>
        <p:spPr>
          <a:xfrm>
            <a:off x="2164137" y="449620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 les éléments</a:t>
            </a:r>
            <a:endParaRPr lang="en-US" sz="1400" dirty="0"/>
          </a:p>
        </p:txBody>
      </p:sp>
      <p:sp>
        <p:nvSpPr>
          <p:cNvPr id="87" name="Shape 39"/>
          <p:cNvSpPr/>
          <p:nvPr/>
        </p:nvSpPr>
        <p:spPr>
          <a:xfrm>
            <a:off x="317049" y="4825388"/>
            <a:ext cx="4160520" cy="310896"/>
          </a:xfrm>
          <a:prstGeom prst="rect">
            <a:avLst/>
          </a:prstGeom>
          <a:solidFill>
            <a:srgbClr val="F0FFF0"/>
          </a:solidFill>
          <a:ln/>
        </p:spPr>
      </p:sp>
      <p:sp>
        <p:nvSpPr>
          <p:cNvPr id="88" name="Text 40"/>
          <p:cNvSpPr/>
          <p:nvPr/>
        </p:nvSpPr>
        <p:spPr>
          <a:xfrm>
            <a:off x="408489" y="48436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distinct()</a:t>
            </a:r>
            <a:endParaRPr lang="en-US" sz="1400" dirty="0"/>
          </a:p>
        </p:txBody>
      </p:sp>
      <p:sp>
        <p:nvSpPr>
          <p:cNvPr id="89" name="Text 41"/>
          <p:cNvSpPr/>
          <p:nvPr/>
        </p:nvSpPr>
        <p:spPr>
          <a:xfrm>
            <a:off x="2164137" y="484367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 les doublons</a:t>
            </a:r>
            <a:endParaRPr lang="en-US" sz="1400" dirty="0"/>
          </a:p>
        </p:txBody>
      </p:sp>
      <p:sp>
        <p:nvSpPr>
          <p:cNvPr id="90" name="Shape 42"/>
          <p:cNvSpPr/>
          <p:nvPr/>
        </p:nvSpPr>
        <p:spPr>
          <a:xfrm>
            <a:off x="317049" y="5172860"/>
            <a:ext cx="4160520" cy="310896"/>
          </a:xfrm>
          <a:prstGeom prst="rect">
            <a:avLst/>
          </a:prstGeom>
          <a:solidFill>
            <a:srgbClr val="E8F8E8"/>
          </a:solidFill>
          <a:ln/>
        </p:spPr>
      </p:sp>
      <p:sp>
        <p:nvSpPr>
          <p:cNvPr id="91" name="Text 43"/>
          <p:cNvSpPr/>
          <p:nvPr/>
        </p:nvSpPr>
        <p:spPr>
          <a:xfrm>
            <a:off x="408489" y="51911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4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limit(n)</a:t>
            </a:r>
            <a:endParaRPr lang="en-US" sz="1400" dirty="0"/>
          </a:p>
        </p:txBody>
      </p:sp>
      <p:sp>
        <p:nvSpPr>
          <p:cNvPr id="92" name="Text 44"/>
          <p:cNvSpPr/>
          <p:nvPr/>
        </p:nvSpPr>
        <p:spPr>
          <a:xfrm>
            <a:off x="2164137" y="519114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 les n premiers éléments</a:t>
            </a:r>
            <a:endParaRPr lang="en-US" sz="1400" dirty="0"/>
          </a:p>
        </p:txBody>
      </p:sp>
      <p:sp>
        <p:nvSpPr>
          <p:cNvPr id="93" name="Shape 45"/>
          <p:cNvSpPr/>
          <p:nvPr/>
        </p:nvSpPr>
        <p:spPr>
          <a:xfrm>
            <a:off x="4751889" y="3782972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94" name="Text 46"/>
          <p:cNvSpPr/>
          <p:nvPr/>
        </p:nvSpPr>
        <p:spPr>
          <a:xfrm>
            <a:off x="4843329" y="38012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collect()</a:t>
            </a:r>
            <a:endParaRPr lang="en-US" sz="1400" dirty="0"/>
          </a:p>
        </p:txBody>
      </p:sp>
      <p:sp>
        <p:nvSpPr>
          <p:cNvPr id="95" name="Text 47"/>
          <p:cNvSpPr/>
          <p:nvPr/>
        </p:nvSpPr>
        <p:spPr>
          <a:xfrm>
            <a:off x="6598977" y="3801260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</a:t>
            </a:r>
            <a:r>
              <a:rPr lang="en-US" sz="1400" dirty="0" err="1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List, Set, Map...</a:t>
            </a:r>
            <a:endParaRPr lang="en-US" sz="1400" dirty="0"/>
          </a:p>
        </p:txBody>
      </p:sp>
      <p:sp>
        <p:nvSpPr>
          <p:cNvPr id="96" name="Shape 48"/>
          <p:cNvSpPr/>
          <p:nvPr/>
        </p:nvSpPr>
        <p:spPr>
          <a:xfrm>
            <a:off x="4751889" y="4130444"/>
            <a:ext cx="4160520" cy="310896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97" name="Text 49"/>
          <p:cNvSpPr/>
          <p:nvPr/>
        </p:nvSpPr>
        <p:spPr>
          <a:xfrm>
            <a:off x="4843329" y="41487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forEach()</a:t>
            </a:r>
            <a:endParaRPr lang="en-US" sz="1400" dirty="0"/>
          </a:p>
        </p:txBody>
      </p:sp>
      <p:sp>
        <p:nvSpPr>
          <p:cNvPr id="98" name="Text 50"/>
          <p:cNvSpPr/>
          <p:nvPr/>
        </p:nvSpPr>
        <p:spPr>
          <a:xfrm>
            <a:off x="6598977" y="4148732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Itère sur chaque élément</a:t>
            </a:r>
            <a:endParaRPr lang="en-US" sz="1400" dirty="0"/>
          </a:p>
        </p:txBody>
      </p:sp>
      <p:sp>
        <p:nvSpPr>
          <p:cNvPr id="99" name="Shape 51"/>
          <p:cNvSpPr/>
          <p:nvPr/>
        </p:nvSpPr>
        <p:spPr>
          <a:xfrm>
            <a:off x="4751889" y="4477916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100" name="Text 52"/>
          <p:cNvSpPr/>
          <p:nvPr/>
        </p:nvSpPr>
        <p:spPr>
          <a:xfrm>
            <a:off x="4843329" y="44962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count()</a:t>
            </a:r>
            <a:endParaRPr lang="en-US" sz="1400" dirty="0"/>
          </a:p>
        </p:txBody>
      </p:sp>
      <p:sp>
        <p:nvSpPr>
          <p:cNvPr id="101" name="Text 53"/>
          <p:cNvSpPr/>
          <p:nvPr/>
        </p:nvSpPr>
        <p:spPr>
          <a:xfrm>
            <a:off x="6598977" y="4496204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le nombre d'éléments</a:t>
            </a:r>
            <a:endParaRPr lang="en-US" sz="1400" dirty="0"/>
          </a:p>
        </p:txBody>
      </p:sp>
      <p:sp>
        <p:nvSpPr>
          <p:cNvPr id="102" name="Shape 54"/>
          <p:cNvSpPr/>
          <p:nvPr/>
        </p:nvSpPr>
        <p:spPr>
          <a:xfrm>
            <a:off x="4751889" y="4825388"/>
            <a:ext cx="4160520" cy="310896"/>
          </a:xfrm>
          <a:prstGeom prst="rect">
            <a:avLst/>
          </a:prstGeom>
          <a:solidFill>
            <a:srgbClr val="FFF5F5"/>
          </a:solidFill>
          <a:ln/>
        </p:spPr>
      </p:sp>
      <p:sp>
        <p:nvSpPr>
          <p:cNvPr id="103" name="Text 55"/>
          <p:cNvSpPr/>
          <p:nvPr/>
        </p:nvSpPr>
        <p:spPr>
          <a:xfrm>
            <a:off x="4843329" y="48436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findFirst()</a:t>
            </a:r>
            <a:endParaRPr lang="en-US" sz="1400" dirty="0"/>
          </a:p>
        </p:txBody>
      </p:sp>
      <p:sp>
        <p:nvSpPr>
          <p:cNvPr id="104" name="Text 56"/>
          <p:cNvSpPr/>
          <p:nvPr/>
        </p:nvSpPr>
        <p:spPr>
          <a:xfrm>
            <a:off x="6598977" y="4843676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le premier élément (Optional)</a:t>
            </a:r>
            <a:endParaRPr lang="en-US" sz="1400" dirty="0"/>
          </a:p>
        </p:txBody>
      </p:sp>
      <p:sp>
        <p:nvSpPr>
          <p:cNvPr id="105" name="Shape 57"/>
          <p:cNvSpPr/>
          <p:nvPr/>
        </p:nvSpPr>
        <p:spPr>
          <a:xfrm>
            <a:off x="4751889" y="5172860"/>
            <a:ext cx="4160520" cy="310896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106" name="Text 58"/>
          <p:cNvSpPr/>
          <p:nvPr/>
        </p:nvSpPr>
        <p:spPr>
          <a:xfrm>
            <a:off x="4843329" y="51911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reduce()</a:t>
            </a:r>
            <a:endParaRPr lang="en-US" sz="1400" dirty="0"/>
          </a:p>
        </p:txBody>
      </p:sp>
      <p:sp>
        <p:nvSpPr>
          <p:cNvPr id="107" name="Text 59"/>
          <p:cNvSpPr/>
          <p:nvPr/>
        </p:nvSpPr>
        <p:spPr>
          <a:xfrm>
            <a:off x="6598977" y="519114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Réduit à une seule valeur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35352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indent="0">
              <a:buNone/>
            </a:pPr>
            <a:r>
              <a:rPr lang="en-US" sz="2400" cap="none" dirty="0">
                <a:solidFill>
                  <a:srgbClr val="FF0000"/>
                </a:solidFill>
              </a:rPr>
              <a:t>IV. </a:t>
            </a:r>
            <a:r>
              <a:rPr lang="en-US" sz="2400" cap="none" dirty="0" smtClean="0">
                <a:solidFill>
                  <a:srgbClr val="FF0000"/>
                </a:solidFill>
              </a:rPr>
              <a:t>2.</a:t>
            </a:r>
            <a:r>
              <a:rPr lang="fr-FR" sz="2400" dirty="0" smtClean="0">
                <a:solidFill>
                  <a:srgbClr val="FF0000"/>
                </a:solidFill>
                <a:latin typeface="+mn-lt"/>
              </a:rPr>
              <a:t>  </a:t>
            </a:r>
            <a:r>
              <a:rPr lang="fr-FR" sz="2400" dirty="0">
                <a:solidFill>
                  <a:srgbClr val="FF0000"/>
                </a:solidFill>
                <a:latin typeface="+mn-lt"/>
              </a:rPr>
              <a:t>Stream API — Pipeline de Données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90" name="Shape 2"/>
          <p:cNvSpPr/>
          <p:nvPr/>
        </p:nvSpPr>
        <p:spPr>
          <a:xfrm>
            <a:off x="250626" y="1045074"/>
            <a:ext cx="8595360" cy="502920"/>
          </a:xfrm>
          <a:prstGeom prst="rect">
            <a:avLst/>
          </a:prstGeom>
          <a:solidFill>
            <a:srgbClr val="E8F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1" name="Text 3"/>
          <p:cNvSpPr/>
          <p:nvPr/>
        </p:nvSpPr>
        <p:spPr>
          <a:xfrm>
            <a:off x="592705" y="945772"/>
            <a:ext cx="8229600" cy="641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👨‍💼  Scénario : Filtrer les employés seniors (salaire &gt; 50 000€), extraire leurs noms, trier et afficher — </a:t>
            </a:r>
            <a:r>
              <a:rPr lang="en-US" sz="1400" dirty="0" err="1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400" dirty="0">
                <a:solidFill>
                  <a:srgbClr val="1A3A1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quelques lignes avec Lambda + Stream.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336673" y="2126298"/>
            <a:ext cx="5303520" cy="3429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3" name="Text 5"/>
          <p:cNvSpPr/>
          <p:nvPr/>
        </p:nvSpPr>
        <p:spPr>
          <a:xfrm>
            <a:off x="473833" y="219945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Modèle</a:t>
            </a:r>
            <a:endParaRPr lang="en-US" sz="1200" b="1" dirty="0"/>
          </a:p>
        </p:txBody>
      </p:sp>
      <p:sp>
        <p:nvSpPr>
          <p:cNvPr id="194" name="Text 6"/>
          <p:cNvSpPr/>
          <p:nvPr/>
        </p:nvSpPr>
        <p:spPr>
          <a:xfrm>
            <a:off x="473833" y="237318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Employe {</a:t>
            </a:r>
            <a:endParaRPr lang="en-US" sz="1200" b="1" dirty="0"/>
          </a:p>
        </p:txBody>
      </p:sp>
      <p:sp>
        <p:nvSpPr>
          <p:cNvPr id="195" name="Text 7"/>
          <p:cNvSpPr/>
          <p:nvPr/>
        </p:nvSpPr>
        <p:spPr>
          <a:xfrm>
            <a:off x="473833" y="254692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nom;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196" name="Text 8"/>
          <p:cNvSpPr/>
          <p:nvPr/>
        </p:nvSpPr>
        <p:spPr>
          <a:xfrm>
            <a:off x="473833" y="272065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salaire;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197" name="Text 9"/>
          <p:cNvSpPr/>
          <p:nvPr/>
        </p:nvSpPr>
        <p:spPr>
          <a:xfrm>
            <a:off x="473833" y="289439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departement;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198" name="Text 10"/>
          <p:cNvSpPr/>
          <p:nvPr/>
        </p:nvSpPr>
        <p:spPr>
          <a:xfrm>
            <a:off x="473833" y="306813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b="1" dirty="0"/>
          </a:p>
        </p:txBody>
      </p:sp>
      <p:sp>
        <p:nvSpPr>
          <p:cNvPr id="199" name="Text 11"/>
          <p:cNvSpPr/>
          <p:nvPr/>
        </p:nvSpPr>
        <p:spPr>
          <a:xfrm>
            <a:off x="473833" y="324186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200" name="Text 12"/>
          <p:cNvSpPr/>
          <p:nvPr/>
        </p:nvSpPr>
        <p:spPr>
          <a:xfrm>
            <a:off x="473833" y="341560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Traitement avec Lambda + Stream</a:t>
            </a:r>
            <a:endParaRPr lang="en-US" sz="1200" b="1" dirty="0"/>
          </a:p>
        </p:txBody>
      </p:sp>
      <p:sp>
        <p:nvSpPr>
          <p:cNvPr id="201" name="Text 13"/>
          <p:cNvSpPr/>
          <p:nvPr/>
        </p:nvSpPr>
        <p:spPr>
          <a:xfrm>
            <a:off x="473833" y="358933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List&lt;String&gt; nomsSeniors = employes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202" name="Text 14"/>
          <p:cNvSpPr/>
          <p:nvPr/>
        </p:nvSpPr>
        <p:spPr>
          <a:xfrm>
            <a:off x="473833" y="376307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.stream()</a:t>
            </a:r>
            <a:endParaRPr lang="en-US" sz="1200" b="1" dirty="0"/>
          </a:p>
        </p:txBody>
      </p:sp>
      <p:sp>
        <p:nvSpPr>
          <p:cNvPr id="203" name="Text 15"/>
          <p:cNvSpPr/>
          <p:nvPr/>
        </p:nvSpPr>
        <p:spPr>
          <a:xfrm>
            <a:off x="473833" y="393681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.filter(e -&gt; e.salaire &gt; 50_000)</a:t>
            </a:r>
            <a:endParaRPr lang="en-US" sz="1200" b="1" dirty="0"/>
          </a:p>
        </p:txBody>
      </p:sp>
      <p:sp>
        <p:nvSpPr>
          <p:cNvPr id="204" name="Text 16"/>
          <p:cNvSpPr/>
          <p:nvPr/>
        </p:nvSpPr>
        <p:spPr>
          <a:xfrm>
            <a:off x="473833" y="411054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b="1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sorted(Comparator.comparing(</a:t>
            </a:r>
            <a:endParaRPr lang="en-US" sz="1200" b="1" dirty="0">
              <a:solidFill>
                <a:srgbClr val="00B050"/>
              </a:solidFill>
            </a:endParaRPr>
          </a:p>
        </p:txBody>
      </p:sp>
      <p:sp>
        <p:nvSpPr>
          <p:cNvPr id="205" name="Text 17"/>
          <p:cNvSpPr/>
          <p:nvPr/>
        </p:nvSpPr>
        <p:spPr>
          <a:xfrm>
            <a:off x="473833" y="428428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 -&gt; e.nom))</a:t>
            </a:r>
            <a:endParaRPr lang="en-US" sz="1200" b="1" dirty="0">
              <a:solidFill>
                <a:srgbClr val="00B050"/>
              </a:solidFill>
            </a:endParaRPr>
          </a:p>
        </p:txBody>
      </p:sp>
      <p:sp>
        <p:nvSpPr>
          <p:cNvPr id="206" name="Text 18"/>
          <p:cNvSpPr/>
          <p:nvPr/>
        </p:nvSpPr>
        <p:spPr>
          <a:xfrm>
            <a:off x="473833" y="445801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D6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.map(e -&gt; e.nom)</a:t>
            </a:r>
            <a:endParaRPr lang="en-US" sz="1200" b="1" dirty="0"/>
          </a:p>
        </p:txBody>
      </p:sp>
      <p:sp>
        <p:nvSpPr>
          <p:cNvPr id="207" name="Text 19"/>
          <p:cNvSpPr/>
          <p:nvPr/>
        </p:nvSpPr>
        <p:spPr>
          <a:xfrm>
            <a:off x="473833" y="463175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.collect(Collectors.toList());</a:t>
            </a:r>
            <a:endParaRPr lang="en-US" sz="1200" b="1" dirty="0"/>
          </a:p>
        </p:txBody>
      </p:sp>
      <p:sp>
        <p:nvSpPr>
          <p:cNvPr id="208" name="Text 20"/>
          <p:cNvSpPr/>
          <p:nvPr/>
        </p:nvSpPr>
        <p:spPr>
          <a:xfrm>
            <a:off x="473833" y="480549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209" name="Text 21"/>
          <p:cNvSpPr/>
          <p:nvPr/>
        </p:nvSpPr>
        <p:spPr>
          <a:xfrm>
            <a:off x="473833" y="497922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Affichage</a:t>
            </a:r>
            <a:endParaRPr lang="en-US" sz="1200" b="1" dirty="0"/>
          </a:p>
        </p:txBody>
      </p:sp>
      <p:sp>
        <p:nvSpPr>
          <p:cNvPr id="210" name="Text 22"/>
          <p:cNvSpPr/>
          <p:nvPr/>
        </p:nvSpPr>
        <p:spPr>
          <a:xfrm>
            <a:off x="473833" y="515296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nomsSeniors.forEach(</a:t>
            </a:r>
            <a:endParaRPr lang="en-US" sz="1200" b="1" dirty="0">
              <a:solidFill>
                <a:srgbClr val="00B050"/>
              </a:solidFill>
            </a:endParaRPr>
          </a:p>
        </p:txBody>
      </p:sp>
      <p:sp>
        <p:nvSpPr>
          <p:cNvPr id="211" name="Text 23"/>
          <p:cNvSpPr/>
          <p:nvPr/>
        </p:nvSpPr>
        <p:spPr>
          <a:xfrm>
            <a:off x="473833" y="532669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System.out::println);</a:t>
            </a:r>
            <a:endParaRPr lang="en-US" sz="1200" b="1" dirty="0"/>
          </a:p>
        </p:txBody>
      </p:sp>
      <p:sp>
        <p:nvSpPr>
          <p:cNvPr id="212" name="Shape 24"/>
          <p:cNvSpPr/>
          <p:nvPr/>
        </p:nvSpPr>
        <p:spPr>
          <a:xfrm>
            <a:off x="5868793" y="21262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3" name="Shape 25"/>
          <p:cNvSpPr/>
          <p:nvPr/>
        </p:nvSpPr>
        <p:spPr>
          <a:xfrm>
            <a:off x="5868793" y="2126298"/>
            <a:ext cx="64008" cy="61264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214" name="Text 26"/>
          <p:cNvSpPr/>
          <p:nvPr/>
        </p:nvSpPr>
        <p:spPr>
          <a:xfrm>
            <a:off x="6005953" y="21720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1️⃣ .stream()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" name="Text 27"/>
          <p:cNvSpPr/>
          <p:nvPr/>
        </p:nvSpPr>
        <p:spPr>
          <a:xfrm>
            <a:off x="6005953" y="24280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Crée un Stream depuis la List&lt;Employe&gt;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Shape 28"/>
          <p:cNvSpPr/>
          <p:nvPr/>
        </p:nvSpPr>
        <p:spPr>
          <a:xfrm>
            <a:off x="5868793" y="28120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7" name="Shape 29"/>
          <p:cNvSpPr/>
          <p:nvPr/>
        </p:nvSpPr>
        <p:spPr>
          <a:xfrm>
            <a:off x="5868793" y="2812098"/>
            <a:ext cx="64008" cy="612648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</p:spPr>
      </p:sp>
      <p:sp>
        <p:nvSpPr>
          <p:cNvPr id="218" name="Text 30"/>
          <p:cNvSpPr/>
          <p:nvPr/>
        </p:nvSpPr>
        <p:spPr>
          <a:xfrm>
            <a:off x="6005953" y="28578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2️⃣ .filter()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Text 31"/>
          <p:cNvSpPr/>
          <p:nvPr/>
        </p:nvSpPr>
        <p:spPr>
          <a:xfrm>
            <a:off x="6005953" y="31138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Garde uniquement les employés avec salaire &gt; 50 000€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Shape 32"/>
          <p:cNvSpPr/>
          <p:nvPr/>
        </p:nvSpPr>
        <p:spPr>
          <a:xfrm>
            <a:off x="5868793" y="34978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1" name="Shape 33"/>
          <p:cNvSpPr/>
          <p:nvPr/>
        </p:nvSpPr>
        <p:spPr>
          <a:xfrm>
            <a:off x="5868793" y="3497898"/>
            <a:ext cx="64008" cy="6126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22" name="Text 34"/>
          <p:cNvSpPr/>
          <p:nvPr/>
        </p:nvSpPr>
        <p:spPr>
          <a:xfrm>
            <a:off x="6005953" y="35436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3️⃣ .sorted()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3" name="Text 35"/>
          <p:cNvSpPr/>
          <p:nvPr/>
        </p:nvSpPr>
        <p:spPr>
          <a:xfrm>
            <a:off x="6005953" y="37996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Trie alphabétiquement par nom (Comparator lambda)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4" name="Shape 36"/>
          <p:cNvSpPr/>
          <p:nvPr/>
        </p:nvSpPr>
        <p:spPr>
          <a:xfrm>
            <a:off x="5868793" y="41836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5" name="Shape 37"/>
          <p:cNvSpPr/>
          <p:nvPr/>
        </p:nvSpPr>
        <p:spPr>
          <a:xfrm>
            <a:off x="5868793" y="4183698"/>
            <a:ext cx="64008" cy="61264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6" name="Text 38"/>
          <p:cNvSpPr/>
          <p:nvPr/>
        </p:nvSpPr>
        <p:spPr>
          <a:xfrm>
            <a:off x="6005953" y="42294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4️⃣ .map()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7" name="Text 39"/>
          <p:cNvSpPr/>
          <p:nvPr/>
        </p:nvSpPr>
        <p:spPr>
          <a:xfrm>
            <a:off x="6005953" y="44854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Transforme chaque Employe </a:t>
            </a:r>
            <a:r>
              <a:rPr lang="en-US" sz="1200" dirty="0" err="1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String (son nom)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8" name="Shape 40"/>
          <p:cNvSpPr/>
          <p:nvPr/>
        </p:nvSpPr>
        <p:spPr>
          <a:xfrm>
            <a:off x="5868793" y="4869498"/>
            <a:ext cx="3063240" cy="61264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29" name="Shape 41"/>
          <p:cNvSpPr/>
          <p:nvPr/>
        </p:nvSpPr>
        <p:spPr>
          <a:xfrm>
            <a:off x="5868793" y="4869498"/>
            <a:ext cx="64008" cy="6126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0" name="Text 42"/>
          <p:cNvSpPr/>
          <p:nvPr/>
        </p:nvSpPr>
        <p:spPr>
          <a:xfrm>
            <a:off x="6005953" y="4915218"/>
            <a:ext cx="2816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5️⃣ .collect()</a:t>
            </a:r>
            <a:endParaRPr 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1" name="Text 43"/>
          <p:cNvSpPr/>
          <p:nvPr/>
        </p:nvSpPr>
        <p:spPr>
          <a:xfrm>
            <a:off x="6005953" y="517125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Collecte les noms dans une List&lt;String&gt;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34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2051720" y="1772816"/>
            <a:ext cx="6029013" cy="36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Voiture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String marque = "Toyota";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int vitesse = 0;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──── Inner Class ────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class Moteur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demarrer()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// Accès direct aux membres privés de Voiture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System.out.println(marque + " démarre...");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vitesse = 10;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 accelerer(int delta)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vitesse += delta;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System.out.println("Vitesse: " + vitesse + " km/h");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void rouler() {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Moteur m = new Moteur(); // Instanciation depuis l'extérieur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m.demarrer();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m.accelerer(50);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endParaRPr lang="en-US" sz="1400" dirty="0">
              <a:solidFill>
                <a:schemeClr val="bg1"/>
              </a:solidFill>
            </a:endParaRPr>
          </a:p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Shape 2"/>
          <p:cNvSpPr/>
          <p:nvPr/>
        </p:nvSpPr>
        <p:spPr>
          <a:xfrm>
            <a:off x="295345" y="1641169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3"/>
          <p:cNvSpPr/>
          <p:nvPr/>
        </p:nvSpPr>
        <p:spPr>
          <a:xfrm>
            <a:off x="295345" y="1641169"/>
            <a:ext cx="4160520" cy="7315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26" name="Text 4"/>
          <p:cNvSpPr/>
          <p:nvPr/>
        </p:nvSpPr>
        <p:spPr>
          <a:xfrm>
            <a:off x="459937" y="1769185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Classe Membre</a:t>
            </a:r>
            <a:endParaRPr lang="en-US" sz="1400" dirty="0"/>
          </a:p>
        </p:txBody>
      </p:sp>
      <p:sp>
        <p:nvSpPr>
          <p:cNvPr id="27" name="Text 5"/>
          <p:cNvSpPr/>
          <p:nvPr/>
        </p:nvSpPr>
        <p:spPr>
          <a:xfrm>
            <a:off x="459937" y="2116657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E86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Non-static inner class</a:t>
            </a:r>
            <a:endParaRPr lang="en-US" sz="1400" dirty="0"/>
          </a:p>
        </p:txBody>
      </p:sp>
      <p:sp>
        <p:nvSpPr>
          <p:cNvPr id="28" name="Shape 6"/>
          <p:cNvSpPr/>
          <p:nvPr/>
        </p:nvSpPr>
        <p:spPr>
          <a:xfrm>
            <a:off x="459937" y="2390977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29" name="Text 7"/>
          <p:cNvSpPr/>
          <p:nvPr/>
        </p:nvSpPr>
        <p:spPr>
          <a:xfrm>
            <a:off x="459937" y="2482417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dans une autre classe. Accède aux membres privés de la classe externe.</a:t>
            </a:r>
            <a:endParaRPr lang="en-US" sz="1400" dirty="0"/>
          </a:p>
        </p:txBody>
      </p:sp>
      <p:sp>
        <p:nvSpPr>
          <p:cNvPr id="30" name="Shape 8"/>
          <p:cNvSpPr/>
          <p:nvPr/>
        </p:nvSpPr>
        <p:spPr>
          <a:xfrm>
            <a:off x="4730185" y="1641169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9"/>
          <p:cNvSpPr/>
          <p:nvPr/>
        </p:nvSpPr>
        <p:spPr>
          <a:xfrm>
            <a:off x="4730185" y="1641169"/>
            <a:ext cx="4160520" cy="7315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32" name="Text 10"/>
          <p:cNvSpPr/>
          <p:nvPr/>
        </p:nvSpPr>
        <p:spPr>
          <a:xfrm>
            <a:off x="4894777" y="1769185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Classe Statique</a:t>
            </a:r>
            <a:endParaRPr lang="en-US" sz="1400" dirty="0"/>
          </a:p>
        </p:txBody>
      </p:sp>
      <p:sp>
        <p:nvSpPr>
          <p:cNvPr id="33" name="Text 11"/>
          <p:cNvSpPr/>
          <p:nvPr/>
        </p:nvSpPr>
        <p:spPr>
          <a:xfrm>
            <a:off x="4894777" y="2116657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6B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nested class</a:t>
            </a:r>
            <a:endParaRPr lang="en-US" sz="1400" dirty="0"/>
          </a:p>
        </p:txBody>
      </p:sp>
      <p:sp>
        <p:nvSpPr>
          <p:cNvPr id="34" name="Shape 12"/>
          <p:cNvSpPr/>
          <p:nvPr/>
        </p:nvSpPr>
        <p:spPr>
          <a:xfrm>
            <a:off x="4894777" y="2390977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35" name="Text 13"/>
          <p:cNvSpPr/>
          <p:nvPr/>
        </p:nvSpPr>
        <p:spPr>
          <a:xfrm>
            <a:off x="4894777" y="2482417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avec static. N'a pas besoin d'une instance de la classe externe.</a:t>
            </a:r>
            <a:endParaRPr lang="en-US" sz="1400" dirty="0"/>
          </a:p>
        </p:txBody>
      </p:sp>
      <p:sp>
        <p:nvSpPr>
          <p:cNvPr id="36" name="Shape 14"/>
          <p:cNvSpPr/>
          <p:nvPr/>
        </p:nvSpPr>
        <p:spPr>
          <a:xfrm>
            <a:off x="295345" y="3671137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15"/>
          <p:cNvSpPr/>
          <p:nvPr/>
        </p:nvSpPr>
        <p:spPr>
          <a:xfrm>
            <a:off x="295345" y="3671137"/>
            <a:ext cx="4160520" cy="73152"/>
          </a:xfrm>
          <a:prstGeom prst="rect">
            <a:avLst/>
          </a:prstGeom>
          <a:solidFill>
            <a:srgbClr val="0E4D6B"/>
          </a:solidFill>
          <a:ln w="12700">
            <a:solidFill>
              <a:srgbClr val="0E4D6B"/>
            </a:solidFill>
            <a:prstDash val="solid"/>
          </a:ln>
        </p:spPr>
      </p:sp>
      <p:sp>
        <p:nvSpPr>
          <p:cNvPr id="38" name="Text 16"/>
          <p:cNvSpPr/>
          <p:nvPr/>
        </p:nvSpPr>
        <p:spPr>
          <a:xfrm>
            <a:off x="459937" y="3799153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Classe Locale</a:t>
            </a:r>
            <a:endParaRPr lang="en-US" sz="1400" dirty="0"/>
          </a:p>
        </p:txBody>
      </p:sp>
      <p:sp>
        <p:nvSpPr>
          <p:cNvPr id="39" name="Text 17"/>
          <p:cNvSpPr/>
          <p:nvPr/>
        </p:nvSpPr>
        <p:spPr>
          <a:xfrm>
            <a:off x="459937" y="4146625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E4D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inner class</a:t>
            </a:r>
            <a:endParaRPr lang="en-US" sz="1400" dirty="0"/>
          </a:p>
        </p:txBody>
      </p:sp>
      <p:sp>
        <p:nvSpPr>
          <p:cNvPr id="40" name="Shape 18"/>
          <p:cNvSpPr/>
          <p:nvPr/>
        </p:nvSpPr>
        <p:spPr>
          <a:xfrm>
            <a:off x="459937" y="4420945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41" name="Text 19"/>
          <p:cNvSpPr/>
          <p:nvPr/>
        </p:nvSpPr>
        <p:spPr>
          <a:xfrm>
            <a:off x="459937" y="4512385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Déclarée à l'intérieur d'une méthode. Visible uniquement dans cette méthode.</a:t>
            </a:r>
            <a:endParaRPr lang="en-US" sz="1400" dirty="0"/>
          </a:p>
        </p:txBody>
      </p:sp>
      <p:sp>
        <p:nvSpPr>
          <p:cNvPr id="42" name="Shape 20"/>
          <p:cNvSpPr/>
          <p:nvPr/>
        </p:nvSpPr>
        <p:spPr>
          <a:xfrm>
            <a:off x="4730185" y="3671137"/>
            <a:ext cx="41605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21"/>
          <p:cNvSpPr/>
          <p:nvPr/>
        </p:nvSpPr>
        <p:spPr>
          <a:xfrm>
            <a:off x="4730185" y="3671137"/>
            <a:ext cx="4160520" cy="73152"/>
          </a:xfrm>
          <a:prstGeom prst="rect">
            <a:avLst/>
          </a:prstGeom>
          <a:solidFill>
            <a:srgbClr val="5DADE2"/>
          </a:solidFill>
          <a:ln w="12700">
            <a:solidFill>
              <a:srgbClr val="5DADE2"/>
            </a:solidFill>
            <a:prstDash val="solid"/>
          </a:ln>
        </p:spPr>
      </p:sp>
      <p:sp>
        <p:nvSpPr>
          <p:cNvPr id="44" name="Text 22"/>
          <p:cNvSpPr/>
          <p:nvPr/>
        </p:nvSpPr>
        <p:spPr>
          <a:xfrm>
            <a:off x="4894777" y="3799153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👻  Classe Anonyme</a:t>
            </a:r>
            <a:endParaRPr lang="en-US" sz="1400" dirty="0"/>
          </a:p>
        </p:txBody>
      </p:sp>
      <p:sp>
        <p:nvSpPr>
          <p:cNvPr id="45" name="Text 23"/>
          <p:cNvSpPr/>
          <p:nvPr/>
        </p:nvSpPr>
        <p:spPr>
          <a:xfrm>
            <a:off x="4894777" y="4146625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AD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Anonymous class</a:t>
            </a:r>
            <a:endParaRPr lang="en-US" sz="1400" dirty="0"/>
          </a:p>
        </p:txBody>
      </p:sp>
      <p:sp>
        <p:nvSpPr>
          <p:cNvPr id="46" name="Shape 24"/>
          <p:cNvSpPr/>
          <p:nvPr/>
        </p:nvSpPr>
        <p:spPr>
          <a:xfrm>
            <a:off x="4894777" y="4420945"/>
            <a:ext cx="3749040" cy="18288"/>
          </a:xfrm>
          <a:prstGeom prst="rect">
            <a:avLst/>
          </a:prstGeom>
          <a:solidFill>
            <a:srgbClr val="E0EAF0"/>
          </a:solidFill>
          <a:ln w="12700">
            <a:solidFill>
              <a:srgbClr val="E0EAF0"/>
            </a:solidFill>
            <a:prstDash val="solid"/>
          </a:ln>
        </p:spPr>
      </p:sp>
      <p:sp>
        <p:nvSpPr>
          <p:cNvPr id="47" name="Text 25"/>
          <p:cNvSpPr/>
          <p:nvPr/>
        </p:nvSpPr>
        <p:spPr>
          <a:xfrm>
            <a:off x="4894777" y="4512385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nom, déclarée et instanciée </a:t>
            </a:r>
            <a:r>
              <a:rPr lang="en-US" sz="1400" dirty="0" err="1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une seule expression. Usage unique.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43221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48" name="Shape 2"/>
          <p:cNvSpPr/>
          <p:nvPr/>
        </p:nvSpPr>
        <p:spPr>
          <a:xfrm>
            <a:off x="179512" y="1638546"/>
            <a:ext cx="4160520" cy="347472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49" name="Text 3"/>
          <p:cNvSpPr/>
          <p:nvPr/>
        </p:nvSpPr>
        <p:spPr>
          <a:xfrm>
            <a:off x="179512" y="163854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Membre (non-static)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179512" y="1986018"/>
            <a:ext cx="4160520" cy="338328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51" name="Text 5"/>
          <p:cNvSpPr/>
          <p:nvPr/>
        </p:nvSpPr>
        <p:spPr>
          <a:xfrm>
            <a:off x="316672" y="20591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Voiture {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Text 6"/>
          <p:cNvSpPr/>
          <p:nvPr/>
        </p:nvSpPr>
        <p:spPr>
          <a:xfrm>
            <a:off x="316672" y="22649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</a:t>
            </a: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private String marque;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Text 7"/>
          <p:cNvSpPr/>
          <p:nvPr/>
        </p:nvSpPr>
        <p:spPr>
          <a:xfrm>
            <a:off x="316672" y="24706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Text 8"/>
          <p:cNvSpPr/>
          <p:nvPr/>
        </p:nvSpPr>
        <p:spPr>
          <a:xfrm>
            <a:off x="316672" y="26763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// </a:t>
            </a:r>
            <a:r>
              <a:rPr lang="en-US" sz="1400" b="1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Classe interne membre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Text 9"/>
          <p:cNvSpPr/>
          <p:nvPr/>
        </p:nvSpPr>
        <p:spPr>
          <a:xfrm>
            <a:off x="316672" y="28821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class Moteur {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Text 10"/>
          <p:cNvSpPr/>
          <p:nvPr/>
        </p:nvSpPr>
        <p:spPr>
          <a:xfrm>
            <a:off x="316672" y="30878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int chevaux</a:t>
            </a: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;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 11"/>
          <p:cNvSpPr/>
          <p:nvPr/>
        </p:nvSpPr>
        <p:spPr>
          <a:xfrm>
            <a:off x="316672" y="32936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Text 12"/>
          <p:cNvSpPr/>
          <p:nvPr/>
        </p:nvSpPr>
        <p:spPr>
          <a:xfrm>
            <a:off x="316672" y="34993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DCAA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</a:t>
            </a:r>
            <a:r>
              <a:rPr 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void demarrer() {</a:t>
            </a:r>
            <a:endParaRPr 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 13"/>
          <p:cNvSpPr/>
          <p:nvPr/>
        </p:nvSpPr>
        <p:spPr>
          <a:xfrm>
            <a:off x="316672" y="37050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// accède à marque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Text 14"/>
          <p:cNvSpPr/>
          <p:nvPr/>
        </p:nvSpPr>
        <p:spPr>
          <a:xfrm>
            <a:off x="316672" y="39108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</a:t>
            </a:r>
            <a:r>
              <a:rPr lang="en-US" sz="1400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System.out.println(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 15"/>
          <p:cNvSpPr/>
          <p:nvPr/>
        </p:nvSpPr>
        <p:spPr>
          <a:xfrm>
            <a:off x="316672" y="41165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</a:t>
            </a: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marque);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 16"/>
          <p:cNvSpPr/>
          <p:nvPr/>
        </p:nvSpPr>
        <p:spPr>
          <a:xfrm>
            <a:off x="316672" y="43223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 17"/>
          <p:cNvSpPr/>
          <p:nvPr/>
        </p:nvSpPr>
        <p:spPr>
          <a:xfrm>
            <a:off x="316672" y="45280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 18"/>
          <p:cNvSpPr/>
          <p:nvPr/>
        </p:nvSpPr>
        <p:spPr>
          <a:xfrm>
            <a:off x="316672" y="47337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Shape 19"/>
          <p:cNvSpPr/>
          <p:nvPr/>
        </p:nvSpPr>
        <p:spPr>
          <a:xfrm>
            <a:off x="4614352" y="1638546"/>
            <a:ext cx="4160520" cy="347472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</p:sp>
      <p:sp>
        <p:nvSpPr>
          <p:cNvPr id="66" name="Text 20"/>
          <p:cNvSpPr/>
          <p:nvPr/>
        </p:nvSpPr>
        <p:spPr>
          <a:xfrm>
            <a:off x="4614352" y="163854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Statique (static nested)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Shape 21"/>
          <p:cNvSpPr/>
          <p:nvPr/>
        </p:nvSpPr>
        <p:spPr>
          <a:xfrm>
            <a:off x="4614352" y="1986018"/>
            <a:ext cx="4160520" cy="338328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8" name="Text 22"/>
          <p:cNvSpPr/>
          <p:nvPr/>
        </p:nvSpPr>
        <p:spPr>
          <a:xfrm>
            <a:off x="4751512" y="20591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 Universite {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Text 23"/>
          <p:cNvSpPr/>
          <p:nvPr/>
        </p:nvSpPr>
        <p:spPr>
          <a:xfrm>
            <a:off x="4751512" y="22649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</a:t>
            </a: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String nom;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 24"/>
          <p:cNvSpPr/>
          <p:nvPr/>
        </p:nvSpPr>
        <p:spPr>
          <a:xfrm>
            <a:off x="4751512" y="24706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 25"/>
          <p:cNvSpPr/>
          <p:nvPr/>
        </p:nvSpPr>
        <p:spPr>
          <a:xfrm>
            <a:off x="4751512" y="26763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// </a:t>
            </a:r>
            <a:r>
              <a:rPr lang="en-US" sz="1400" b="1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Classe statique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 26"/>
          <p:cNvSpPr/>
          <p:nvPr/>
        </p:nvSpPr>
        <p:spPr>
          <a:xfrm>
            <a:off x="4751512" y="28821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static class Etudiant {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 27"/>
          <p:cNvSpPr/>
          <p:nvPr/>
        </p:nvSpPr>
        <p:spPr>
          <a:xfrm>
            <a:off x="4751512" y="30878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String prenom;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 28"/>
          <p:cNvSpPr/>
          <p:nvPr/>
        </p:nvSpPr>
        <p:spPr>
          <a:xfrm>
            <a:off x="4751512" y="32936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</a:t>
            </a: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int age;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 29"/>
          <p:cNvSpPr/>
          <p:nvPr/>
        </p:nvSpPr>
        <p:spPr>
          <a:xfrm>
            <a:off x="4751512" y="34993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 30"/>
          <p:cNvSpPr/>
          <p:nvPr/>
        </p:nvSpPr>
        <p:spPr>
          <a:xfrm>
            <a:off x="4751512" y="37050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void afficher() {</a:t>
            </a:r>
            <a:endParaRPr lang="en-US" sz="1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 31"/>
          <p:cNvSpPr/>
          <p:nvPr/>
        </p:nvSpPr>
        <p:spPr>
          <a:xfrm>
            <a:off x="4751512" y="391083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</a:t>
            </a:r>
            <a:r>
              <a:rPr lang="en-US" sz="1400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System.out.println(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 32"/>
          <p:cNvSpPr/>
          <p:nvPr/>
        </p:nvSpPr>
        <p:spPr>
          <a:xfrm>
            <a:off x="4751512" y="411657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</a:t>
            </a:r>
            <a:r>
              <a:rPr lang="en-US" sz="1400" b="1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prenom);</a:t>
            </a: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 33"/>
          <p:cNvSpPr/>
          <p:nvPr/>
        </p:nvSpPr>
        <p:spPr>
          <a:xfrm>
            <a:off x="4751512" y="432231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Text 34"/>
          <p:cNvSpPr/>
          <p:nvPr/>
        </p:nvSpPr>
        <p:spPr>
          <a:xfrm>
            <a:off x="4751512" y="452805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Text 35"/>
          <p:cNvSpPr/>
          <p:nvPr/>
        </p:nvSpPr>
        <p:spPr>
          <a:xfrm>
            <a:off x="4751512" y="473379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}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159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V. INNER CLASSE (CLASSE INTERN)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49" name="Text 3"/>
          <p:cNvSpPr/>
          <p:nvPr/>
        </p:nvSpPr>
        <p:spPr>
          <a:xfrm>
            <a:off x="283276" y="1735753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Classe Membre (non-static)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2"/>
          <p:cNvSpPr/>
          <p:nvPr/>
        </p:nvSpPr>
        <p:spPr>
          <a:xfrm>
            <a:off x="283276" y="1499674"/>
            <a:ext cx="8595360" cy="566928"/>
          </a:xfrm>
          <a:prstGeom prst="rect">
            <a:avLst/>
          </a:prstGeom>
          <a:solidFill>
            <a:srgbClr val="E8F4FD"/>
          </a:solidFill>
          <a:ln/>
        </p:spPr>
      </p:sp>
      <p:sp>
        <p:nvSpPr>
          <p:cNvPr id="40" name="Text 3"/>
          <p:cNvSpPr/>
          <p:nvPr/>
        </p:nvSpPr>
        <p:spPr>
          <a:xfrm>
            <a:off x="466156" y="1499674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🏦  Scénario : Un compte bancaire contient des transactions. La classe Transaction est interne à CompteBancaire car elle n'a de sens que dans ce contexte.</a:t>
            </a:r>
            <a:endParaRPr lang="en-US" sz="1200" dirty="0"/>
          </a:p>
        </p:txBody>
      </p:sp>
      <p:sp>
        <p:nvSpPr>
          <p:cNvPr id="41" name="Shape 4"/>
          <p:cNvSpPr/>
          <p:nvPr/>
        </p:nvSpPr>
        <p:spPr>
          <a:xfrm>
            <a:off x="251520" y="2397672"/>
            <a:ext cx="5303520" cy="3364992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2" name="Text 5"/>
          <p:cNvSpPr/>
          <p:nvPr/>
        </p:nvSpPr>
        <p:spPr>
          <a:xfrm>
            <a:off x="388680" y="247082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CompteBancaire {</a:t>
            </a:r>
            <a:endParaRPr lang="en-US" sz="1200" b="1" dirty="0">
              <a:solidFill>
                <a:srgbClr val="00B0F0"/>
              </a:solidFill>
            </a:endParaRPr>
          </a:p>
        </p:txBody>
      </p:sp>
      <p:sp>
        <p:nvSpPr>
          <p:cNvPr id="43" name="Text 6"/>
          <p:cNvSpPr/>
          <p:nvPr/>
        </p:nvSpPr>
        <p:spPr>
          <a:xfrm>
            <a:off x="388680" y="264456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double solde;</a:t>
            </a:r>
            <a:endParaRPr lang="en-US" sz="1200" b="1" dirty="0"/>
          </a:p>
        </p:txBody>
      </p:sp>
      <p:sp>
        <p:nvSpPr>
          <p:cNvPr id="44" name="Text 7"/>
          <p:cNvSpPr/>
          <p:nvPr/>
        </p:nvSpPr>
        <p:spPr>
          <a:xfrm>
            <a:off x="388680" y="281829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String titulaire;</a:t>
            </a:r>
            <a:endParaRPr lang="en-US" sz="1200" b="1" dirty="0"/>
          </a:p>
        </p:txBody>
      </p:sp>
      <p:sp>
        <p:nvSpPr>
          <p:cNvPr id="45" name="Text 8"/>
          <p:cNvSpPr/>
          <p:nvPr/>
        </p:nvSpPr>
        <p:spPr>
          <a:xfrm>
            <a:off x="388680" y="299203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46" name="Text 9"/>
          <p:cNvSpPr/>
          <p:nvPr/>
        </p:nvSpPr>
        <p:spPr>
          <a:xfrm>
            <a:off x="388680" y="316576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Classe interne membre</a:t>
            </a:r>
            <a:endParaRPr lang="en-US" sz="1200" b="1" dirty="0"/>
          </a:p>
        </p:txBody>
      </p:sp>
      <p:sp>
        <p:nvSpPr>
          <p:cNvPr id="47" name="Text 10"/>
          <p:cNvSpPr/>
          <p:nvPr/>
        </p:nvSpPr>
        <p:spPr>
          <a:xfrm>
            <a:off x="388680" y="333950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class Transaction {</a:t>
            </a:r>
            <a:endParaRPr lang="en-US" sz="1200" b="1" dirty="0"/>
          </a:p>
        </p:txBody>
      </p:sp>
      <p:sp>
        <p:nvSpPr>
          <p:cNvPr id="82" name="Text 11"/>
          <p:cNvSpPr/>
          <p:nvPr/>
        </p:nvSpPr>
        <p:spPr>
          <a:xfrm>
            <a:off x="388680" y="351324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double montant;</a:t>
            </a:r>
            <a:endParaRPr lang="en-US" sz="1200" b="1" dirty="0"/>
          </a:p>
        </p:txBody>
      </p:sp>
      <p:sp>
        <p:nvSpPr>
          <p:cNvPr id="83" name="Text 12"/>
          <p:cNvSpPr/>
          <p:nvPr/>
        </p:nvSpPr>
        <p:spPr>
          <a:xfrm>
            <a:off x="388680" y="368697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String type; // "debit"/"credit"</a:t>
            </a:r>
            <a:endParaRPr lang="en-US" sz="1200" b="1" dirty="0"/>
          </a:p>
        </p:txBody>
      </p:sp>
      <p:sp>
        <p:nvSpPr>
          <p:cNvPr id="84" name="Text 13"/>
          <p:cNvSpPr/>
          <p:nvPr/>
        </p:nvSpPr>
        <p:spPr>
          <a:xfrm>
            <a:off x="388680" y="38607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b="1" dirty="0"/>
          </a:p>
        </p:txBody>
      </p:sp>
      <p:sp>
        <p:nvSpPr>
          <p:cNvPr id="85" name="Text 14"/>
          <p:cNvSpPr/>
          <p:nvPr/>
        </p:nvSpPr>
        <p:spPr>
          <a:xfrm>
            <a:off x="388680" y="403444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executer() {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86" name="Text 15"/>
          <p:cNvSpPr/>
          <p:nvPr/>
        </p:nvSpPr>
        <p:spPr>
          <a:xfrm>
            <a:off x="388680" y="420818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(type.equals("credit")) {</a:t>
            </a:r>
            <a:endParaRPr lang="en-US" sz="1200" b="1" dirty="0">
              <a:solidFill>
                <a:srgbClr val="FF0000"/>
              </a:solidFill>
            </a:endParaRPr>
          </a:p>
        </p:txBody>
      </p:sp>
      <p:sp>
        <p:nvSpPr>
          <p:cNvPr id="87" name="Text 16"/>
          <p:cNvSpPr/>
          <p:nvPr/>
        </p:nvSpPr>
        <p:spPr>
          <a:xfrm>
            <a:off x="388680" y="438192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solde += montant;</a:t>
            </a:r>
            <a:endParaRPr lang="en-US" sz="1200" b="1" dirty="0"/>
          </a:p>
        </p:txBody>
      </p:sp>
      <p:sp>
        <p:nvSpPr>
          <p:cNvPr id="88" name="Text 17"/>
          <p:cNvSpPr/>
          <p:nvPr/>
        </p:nvSpPr>
        <p:spPr>
          <a:xfrm>
            <a:off x="388680" y="455565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} else {</a:t>
            </a:r>
            <a:endParaRPr lang="en-US" sz="1200" b="1" dirty="0"/>
          </a:p>
        </p:txBody>
      </p:sp>
      <p:sp>
        <p:nvSpPr>
          <p:cNvPr id="89" name="Text 18"/>
          <p:cNvSpPr/>
          <p:nvPr/>
        </p:nvSpPr>
        <p:spPr>
          <a:xfrm>
            <a:off x="388680" y="472939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2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solde -= montant;</a:t>
            </a:r>
            <a:endParaRPr lang="en-US" sz="1200" b="1" dirty="0"/>
          </a:p>
        </p:txBody>
      </p:sp>
      <p:sp>
        <p:nvSpPr>
          <p:cNvPr id="90" name="Text 19"/>
          <p:cNvSpPr/>
          <p:nvPr/>
        </p:nvSpPr>
        <p:spPr>
          <a:xfrm>
            <a:off x="388680" y="49031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}</a:t>
            </a:r>
            <a:endParaRPr lang="en-US" sz="1200" b="1" dirty="0"/>
          </a:p>
        </p:txBody>
      </p:sp>
      <p:sp>
        <p:nvSpPr>
          <p:cNvPr id="91" name="Text 20"/>
          <p:cNvSpPr/>
          <p:nvPr/>
        </p:nvSpPr>
        <p:spPr>
          <a:xfrm>
            <a:off x="388680" y="507686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b="1" dirty="0"/>
          </a:p>
        </p:txBody>
      </p:sp>
      <p:sp>
        <p:nvSpPr>
          <p:cNvPr id="92" name="Text 21"/>
          <p:cNvSpPr/>
          <p:nvPr/>
        </p:nvSpPr>
        <p:spPr>
          <a:xfrm>
            <a:off x="388680" y="5250600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b="1" dirty="0"/>
          </a:p>
        </p:txBody>
      </p:sp>
      <p:sp>
        <p:nvSpPr>
          <p:cNvPr id="93" name="Text 22"/>
          <p:cNvSpPr/>
          <p:nvPr/>
        </p:nvSpPr>
        <p:spPr>
          <a:xfrm>
            <a:off x="388680" y="5424336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b="1" dirty="0"/>
          </a:p>
        </p:txBody>
      </p:sp>
      <p:sp>
        <p:nvSpPr>
          <p:cNvPr id="94" name="Shape 23"/>
          <p:cNvSpPr/>
          <p:nvPr/>
        </p:nvSpPr>
        <p:spPr>
          <a:xfrm>
            <a:off x="5783640" y="2397672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5" name="Shape 24"/>
          <p:cNvSpPr/>
          <p:nvPr/>
        </p:nvSpPr>
        <p:spPr>
          <a:xfrm>
            <a:off x="5875080" y="2562264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96" name="Text 25"/>
          <p:cNvSpPr/>
          <p:nvPr/>
        </p:nvSpPr>
        <p:spPr>
          <a:xfrm>
            <a:off x="5875080" y="256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7" name="Text 26"/>
          <p:cNvSpPr/>
          <p:nvPr/>
        </p:nvSpPr>
        <p:spPr>
          <a:xfrm>
            <a:off x="6259128" y="244339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 forte</a:t>
            </a:r>
            <a:endParaRPr lang="en-US" sz="1200" dirty="0"/>
          </a:p>
        </p:txBody>
      </p:sp>
      <p:sp>
        <p:nvSpPr>
          <p:cNvPr id="98" name="Text 27"/>
          <p:cNvSpPr/>
          <p:nvPr/>
        </p:nvSpPr>
        <p:spPr>
          <a:xfrm>
            <a:off x="6259128" y="2708568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ne peut exister sans CompteBancaire. Logique métier respectée.</a:t>
            </a:r>
            <a:endParaRPr lang="en-US" sz="1200" dirty="0"/>
          </a:p>
        </p:txBody>
      </p:sp>
      <p:sp>
        <p:nvSpPr>
          <p:cNvPr id="99" name="Shape 28"/>
          <p:cNvSpPr/>
          <p:nvPr/>
        </p:nvSpPr>
        <p:spPr>
          <a:xfrm>
            <a:off x="5783640" y="3238920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0" name="Shape 29"/>
          <p:cNvSpPr/>
          <p:nvPr/>
        </p:nvSpPr>
        <p:spPr>
          <a:xfrm>
            <a:off x="5875080" y="3403512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1" name="Text 30"/>
          <p:cNvSpPr/>
          <p:nvPr/>
        </p:nvSpPr>
        <p:spPr>
          <a:xfrm>
            <a:off x="5875080" y="3403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2" name="Text 31"/>
          <p:cNvSpPr/>
          <p:nvPr/>
        </p:nvSpPr>
        <p:spPr>
          <a:xfrm>
            <a:off x="6259128" y="32846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privilégié</a:t>
            </a:r>
            <a:endParaRPr lang="en-US" sz="1200" dirty="0"/>
          </a:p>
        </p:txBody>
      </p:sp>
      <p:sp>
        <p:nvSpPr>
          <p:cNvPr id="103" name="Text 32"/>
          <p:cNvSpPr/>
          <p:nvPr/>
        </p:nvSpPr>
        <p:spPr>
          <a:xfrm>
            <a:off x="6259128" y="3549816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classe interne accède directement à solde (private) de la classe externe.</a:t>
            </a:r>
            <a:endParaRPr lang="en-US" sz="1200" dirty="0"/>
          </a:p>
        </p:txBody>
      </p:sp>
      <p:sp>
        <p:nvSpPr>
          <p:cNvPr id="104" name="Shape 33"/>
          <p:cNvSpPr/>
          <p:nvPr/>
        </p:nvSpPr>
        <p:spPr>
          <a:xfrm>
            <a:off x="5783640" y="4080168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5" name="Shape 34"/>
          <p:cNvSpPr/>
          <p:nvPr/>
        </p:nvSpPr>
        <p:spPr>
          <a:xfrm>
            <a:off x="5875080" y="4244760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6" name="Text 35"/>
          <p:cNvSpPr/>
          <p:nvPr/>
        </p:nvSpPr>
        <p:spPr>
          <a:xfrm>
            <a:off x="5875080" y="424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07" name="Text 36"/>
          <p:cNvSpPr/>
          <p:nvPr/>
        </p:nvSpPr>
        <p:spPr>
          <a:xfrm>
            <a:off x="6259128" y="412588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108" name="Text 37"/>
          <p:cNvSpPr/>
          <p:nvPr/>
        </p:nvSpPr>
        <p:spPr>
          <a:xfrm>
            <a:off x="6259128" y="4391064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groupé logiquement — tout ce qui concerne le compte est dans la même classe.</a:t>
            </a:r>
            <a:endParaRPr lang="en-US" sz="1200" dirty="0"/>
          </a:p>
        </p:txBody>
      </p:sp>
      <p:sp>
        <p:nvSpPr>
          <p:cNvPr id="109" name="Shape 38"/>
          <p:cNvSpPr/>
          <p:nvPr/>
        </p:nvSpPr>
        <p:spPr>
          <a:xfrm>
            <a:off x="5783640" y="4921416"/>
            <a:ext cx="306324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0" name="Shape 39"/>
          <p:cNvSpPr/>
          <p:nvPr/>
        </p:nvSpPr>
        <p:spPr>
          <a:xfrm>
            <a:off x="5875080" y="5086008"/>
            <a:ext cx="329184" cy="32918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11" name="Text 40"/>
          <p:cNvSpPr/>
          <p:nvPr/>
        </p:nvSpPr>
        <p:spPr>
          <a:xfrm>
            <a:off x="5875080" y="508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12" name="Text 41"/>
          <p:cNvSpPr/>
          <p:nvPr/>
        </p:nvSpPr>
        <p:spPr>
          <a:xfrm>
            <a:off x="6259128" y="496713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endParaRPr lang="en-US" sz="1200" dirty="0"/>
          </a:p>
        </p:txBody>
      </p:sp>
      <p:sp>
        <p:nvSpPr>
          <p:cNvPr id="113" name="Text 42"/>
          <p:cNvSpPr/>
          <p:nvPr/>
        </p:nvSpPr>
        <p:spPr>
          <a:xfrm>
            <a:off x="6259128" y="5232312"/>
            <a:ext cx="24871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CompteBancaire cb = new CompteBancaire();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t = cb.new Transaction();</a:t>
            </a:r>
            <a:endParaRPr lang="en-US" sz="1200" dirty="0"/>
          </a:p>
        </p:txBody>
      </p:sp>
      <p:sp>
        <p:nvSpPr>
          <p:cNvPr id="2" name="Rectangle 1"/>
          <p:cNvSpPr/>
          <p:nvPr/>
        </p:nvSpPr>
        <p:spPr>
          <a:xfrm>
            <a:off x="313853" y="891605"/>
            <a:ext cx="384234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Réel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Système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Bancaire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VI. </a:t>
            </a:r>
            <a:r>
              <a:rPr lang="fr-CA" sz="2400" cap="none" dirty="0" err="1" smtClean="0">
                <a:solidFill>
                  <a:srgbClr val="FF0000"/>
                </a:solidFill>
              </a:rPr>
              <a:t>Anonymos</a:t>
            </a:r>
            <a:r>
              <a:rPr lang="fr-CA" sz="2400" cap="none" dirty="0" smtClean="0">
                <a:solidFill>
                  <a:srgbClr val="FF0000"/>
                </a:solidFill>
              </a:rPr>
              <a:t> Class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12" name="Shape 2"/>
          <p:cNvSpPr/>
          <p:nvPr/>
        </p:nvSpPr>
        <p:spPr>
          <a:xfrm>
            <a:off x="274320" y="86868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3"/>
          <p:cNvSpPr/>
          <p:nvPr/>
        </p:nvSpPr>
        <p:spPr>
          <a:xfrm>
            <a:off x="274320" y="86868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4" name="Text 4"/>
          <p:cNvSpPr/>
          <p:nvPr/>
        </p:nvSpPr>
        <p:spPr>
          <a:xfrm>
            <a:off x="457200" y="94183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📌  Définition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5"/>
          <p:cNvSpPr/>
          <p:nvPr/>
        </p:nvSpPr>
        <p:spPr>
          <a:xfrm>
            <a:off x="457200" y="130759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Une classe sans nom déclarée et instanciée </a:t>
            </a:r>
            <a:r>
              <a:rPr lang="en-US" sz="1600" dirty="0" err="1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en</a:t>
            </a: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une seule expression.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274320" y="219456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7"/>
          <p:cNvSpPr/>
          <p:nvPr/>
        </p:nvSpPr>
        <p:spPr>
          <a:xfrm>
            <a:off x="274320" y="219456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8" name="Text 8"/>
          <p:cNvSpPr/>
          <p:nvPr/>
        </p:nvSpPr>
        <p:spPr>
          <a:xfrm>
            <a:off x="457200" y="226771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⚡  Utilisation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9"/>
          <p:cNvSpPr/>
          <p:nvPr/>
        </p:nvSpPr>
        <p:spPr>
          <a:xfrm>
            <a:off x="457200" y="263347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Étendre une classe abstraite ou implémenter une interface à la volée.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274320" y="3520440"/>
            <a:ext cx="3840480" cy="179100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1"/>
          <p:cNvSpPr/>
          <p:nvPr/>
        </p:nvSpPr>
        <p:spPr>
          <a:xfrm>
            <a:off x="274320" y="3520440"/>
            <a:ext cx="64008" cy="1791004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2" name="Text 12"/>
          <p:cNvSpPr/>
          <p:nvPr/>
        </p:nvSpPr>
        <p:spPr>
          <a:xfrm>
            <a:off x="457200" y="3593591"/>
            <a:ext cx="3566160" cy="544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🚫  Limite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457200" y="3959351"/>
            <a:ext cx="3566160" cy="931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4446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Utilisée une seule fois. Pour la réutilisation, préférez une classe nommée.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4251960" y="892690"/>
            <a:ext cx="4434840" cy="4431385"/>
          </a:xfrm>
          <a:prstGeom prst="rect">
            <a:avLst/>
          </a:prstGeom>
          <a:solidFill>
            <a:schemeClr val="bg1"/>
          </a:solidFill>
          <a:ln/>
          <a:effectLst>
            <a:outerShdw blurRad="1270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15"/>
          <p:cNvSpPr/>
          <p:nvPr/>
        </p:nvSpPr>
        <p:spPr>
          <a:xfrm>
            <a:off x="4572000" y="960119"/>
            <a:ext cx="4114800" cy="501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F8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 générale</a:t>
            </a:r>
            <a:endParaRPr lang="en-US" sz="1400" dirty="0"/>
          </a:p>
        </p:txBody>
      </p:sp>
      <p:sp>
        <p:nvSpPr>
          <p:cNvPr id="26" name="Text 16"/>
          <p:cNvSpPr/>
          <p:nvPr/>
        </p:nvSpPr>
        <p:spPr>
          <a:xfrm>
            <a:off x="4617720" y="1371599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</a:t>
            </a:r>
            <a:endParaRPr lang="en-US" sz="1400" dirty="0"/>
          </a:p>
        </p:txBody>
      </p:sp>
      <p:sp>
        <p:nvSpPr>
          <p:cNvPr id="27" name="Text 17"/>
          <p:cNvSpPr/>
          <p:nvPr/>
        </p:nvSpPr>
        <p:spPr>
          <a:xfrm>
            <a:off x="4617720" y="1627631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monObjet = new</a:t>
            </a:r>
            <a:endParaRPr lang="en-US" sz="1400" dirty="0"/>
          </a:p>
        </p:txBody>
      </p:sp>
      <p:sp>
        <p:nvSpPr>
          <p:cNvPr id="28" name="Text 18"/>
          <p:cNvSpPr/>
          <p:nvPr/>
        </p:nvSpPr>
        <p:spPr>
          <a:xfrm>
            <a:off x="6300192" y="1625998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Interface()</a:t>
            </a:r>
            <a:endParaRPr lang="en-US" sz="1400" dirty="0"/>
          </a:p>
        </p:txBody>
      </p:sp>
      <p:sp>
        <p:nvSpPr>
          <p:cNvPr id="29" name="Text 19"/>
          <p:cNvSpPr/>
          <p:nvPr/>
        </p:nvSpPr>
        <p:spPr>
          <a:xfrm>
            <a:off x="4617720" y="2139695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1400" dirty="0"/>
          </a:p>
        </p:txBody>
      </p:sp>
      <p:sp>
        <p:nvSpPr>
          <p:cNvPr id="30" name="Text 20"/>
          <p:cNvSpPr/>
          <p:nvPr/>
        </p:nvSpPr>
        <p:spPr>
          <a:xfrm>
            <a:off x="4617720" y="2395727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@Override</a:t>
            </a:r>
            <a:endParaRPr lang="en-US" sz="1400" dirty="0"/>
          </a:p>
        </p:txBody>
      </p:sp>
      <p:sp>
        <p:nvSpPr>
          <p:cNvPr id="31" name="Text 21"/>
          <p:cNvSpPr/>
          <p:nvPr/>
        </p:nvSpPr>
        <p:spPr>
          <a:xfrm>
            <a:off x="4617720" y="2651759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void</a:t>
            </a:r>
            <a:endParaRPr lang="en-US" sz="1400" dirty="0"/>
          </a:p>
        </p:txBody>
      </p:sp>
      <p:sp>
        <p:nvSpPr>
          <p:cNvPr id="32" name="Text 22"/>
          <p:cNvSpPr/>
          <p:nvPr/>
        </p:nvSpPr>
        <p:spPr>
          <a:xfrm>
            <a:off x="4617720" y="2907791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methode() {</a:t>
            </a:r>
            <a:endParaRPr lang="en-US" sz="1400" b="1" dirty="0"/>
          </a:p>
        </p:txBody>
      </p:sp>
      <p:sp>
        <p:nvSpPr>
          <p:cNvPr id="33" name="Text 23"/>
          <p:cNvSpPr/>
          <p:nvPr/>
        </p:nvSpPr>
        <p:spPr>
          <a:xfrm>
            <a:off x="4617720" y="3163823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// Code</a:t>
            </a:r>
            <a:endParaRPr lang="en-US" sz="1400" dirty="0"/>
          </a:p>
        </p:txBody>
      </p:sp>
      <p:sp>
        <p:nvSpPr>
          <p:cNvPr id="34" name="Text 24"/>
          <p:cNvSpPr/>
          <p:nvPr/>
        </p:nvSpPr>
        <p:spPr>
          <a:xfrm>
            <a:off x="4617720" y="3419855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</p:txBody>
      </p:sp>
      <p:sp>
        <p:nvSpPr>
          <p:cNvPr id="35" name="Text 25"/>
          <p:cNvSpPr/>
          <p:nvPr/>
        </p:nvSpPr>
        <p:spPr>
          <a:xfrm>
            <a:off x="4617720" y="3675887"/>
            <a:ext cx="4160520" cy="401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5734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>
                <a:solidFill>
                  <a:srgbClr val="FF0000"/>
                </a:solidFill>
              </a:rPr>
              <a:t>VI. </a:t>
            </a:r>
            <a:r>
              <a:rPr lang="fr-CA" sz="2400" cap="none" dirty="0" err="1">
                <a:solidFill>
                  <a:srgbClr val="FF0000"/>
                </a:solidFill>
              </a:rPr>
              <a:t>Anonymos</a:t>
            </a:r>
            <a:r>
              <a:rPr lang="fr-CA" sz="2400" cap="none" dirty="0">
                <a:solidFill>
                  <a:srgbClr val="FF0000"/>
                </a:solidFill>
              </a:rPr>
              <a:t> Class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  <p:sp>
        <p:nvSpPr>
          <p:cNvPr id="5" name="Text 3"/>
          <p:cNvSpPr/>
          <p:nvPr/>
        </p:nvSpPr>
        <p:spPr>
          <a:xfrm>
            <a:off x="516696" y="102757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🎯  Scénario : Gérer le clic d'un bouton dans une application Android sans créer une classe séparée.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51520" y="1916832"/>
            <a:ext cx="5303520" cy="33375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8" name="Text 5"/>
          <p:cNvSpPr/>
          <p:nvPr/>
        </p:nvSpPr>
        <p:spPr>
          <a:xfrm>
            <a:off x="388680" y="200827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6A9955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// Classe Anonyme — clic bouton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88680" y="219572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Button btn = findViewById(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8680" y="238317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</a:t>
            </a: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R.id.monBouton);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88680" y="257062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88680" y="275808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btn.setOnClickListener(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88680" y="294553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4EC9B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</a:t>
            </a:r>
            <a:r>
              <a:rPr lang="en-US" b="1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new View.OnClickListener() {</a:t>
            </a:r>
            <a:endParaRPr lang="en-US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388680" y="313298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388680" y="332043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586C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@Override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388680" y="350788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69CD6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public void onClick(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88680" y="369534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</a:t>
            </a:r>
            <a:r>
              <a:rPr lang="en-US" b="1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View v) {</a:t>
            </a:r>
            <a:endParaRPr lang="en-US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388680" y="388279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B050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Toast.makeText(ctx,</a:t>
            </a:r>
            <a:endParaRPr lang="en-US" b="1" dirty="0"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388680" y="407024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E9178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"Bouton cliqué !",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388680" y="4257696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9CDCFE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Toast.LENGTH_SHORT)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388680" y="4445148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    </a:t>
            </a:r>
            <a:r>
              <a:rPr lang="en-US" b="1" dirty="0"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.show();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388680" y="46326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  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8680" y="4820052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  }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388680" y="5007504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D4D4D4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);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875080" y="2081424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75080" y="2081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59128" y="1971696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Sans nom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59128" y="2246016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Pas besoin de déclarer une classe séparée OnClickListener.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8"/>
          <p:cNvSpPr/>
          <p:nvPr/>
        </p:nvSpPr>
        <p:spPr>
          <a:xfrm>
            <a:off x="5875080" y="2922672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0" name="Text 29"/>
          <p:cNvSpPr/>
          <p:nvPr/>
        </p:nvSpPr>
        <p:spPr>
          <a:xfrm>
            <a:off x="5875080" y="2922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2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30"/>
          <p:cNvSpPr/>
          <p:nvPr/>
        </p:nvSpPr>
        <p:spPr>
          <a:xfrm>
            <a:off x="6259128" y="281294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À la volée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31"/>
          <p:cNvSpPr/>
          <p:nvPr/>
        </p:nvSpPr>
        <p:spPr>
          <a:xfrm>
            <a:off x="6259128" y="308726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L'interface View.OnClickListener est implémentée directement.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5875080" y="3763920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4" name="Text 34"/>
          <p:cNvSpPr/>
          <p:nvPr/>
        </p:nvSpPr>
        <p:spPr>
          <a:xfrm>
            <a:off x="5875080" y="3763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35"/>
          <p:cNvSpPr/>
          <p:nvPr/>
        </p:nvSpPr>
        <p:spPr>
          <a:xfrm>
            <a:off x="6259128" y="365419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Concis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6"/>
          <p:cNvSpPr/>
          <p:nvPr/>
        </p:nvSpPr>
        <p:spPr>
          <a:xfrm>
            <a:off x="6259128" y="3928512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Logique du clic localisée → code plus lisible et maintenable.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Shape 38"/>
          <p:cNvSpPr/>
          <p:nvPr/>
        </p:nvSpPr>
        <p:spPr>
          <a:xfrm>
            <a:off x="5875080" y="4605168"/>
            <a:ext cx="329184" cy="329184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8" name="Text 39"/>
          <p:cNvSpPr/>
          <p:nvPr/>
        </p:nvSpPr>
        <p:spPr>
          <a:xfrm>
            <a:off x="5875080" y="4605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40"/>
          <p:cNvSpPr/>
          <p:nvPr/>
        </p:nvSpPr>
        <p:spPr>
          <a:xfrm>
            <a:off x="6259128" y="4495440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Usage unique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 41"/>
          <p:cNvSpPr/>
          <p:nvPr/>
        </p:nvSpPr>
        <p:spPr>
          <a:xfrm>
            <a:off x="6259128" y="4769760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5577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Parfait car ce listener ne sera pas réutilisé ailleurs.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94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8" y="6400800"/>
            <a:ext cx="1554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re 1">
            <a:extLst>
              <a:ext uri="{FF2B5EF4-FFF2-40B4-BE49-F238E27FC236}">
                <a16:creationId xmlns:a16="http://schemas.microsoft.com/office/drawing/2014/main" id="{88197348-5CC2-499B-8197-C94C5D8BC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576" y="151802"/>
            <a:ext cx="8208912" cy="540894"/>
          </a:xfr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fr-CA" sz="2400" cap="none" dirty="0" smtClean="0">
                <a:solidFill>
                  <a:srgbClr val="FF0000"/>
                </a:solidFill>
              </a:rPr>
              <a:t>VII. </a:t>
            </a:r>
            <a:r>
              <a:rPr lang="fr-CA" sz="2400" cap="none" dirty="0" smtClean="0">
                <a:solidFill>
                  <a:srgbClr val="FF0000"/>
                </a:solidFill>
              </a:rPr>
              <a:t>Conclusion</a:t>
            </a:r>
            <a:endParaRPr lang="fr-CA" sz="2400" cap="none" dirty="0">
              <a:solidFill>
                <a:srgbClr val="FF0000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C68D4D3-B500-4716-B843-F3048BF30C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336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1750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99119"/>
            <a:ext cx="8064500" cy="665585"/>
          </a:xfrm>
        </p:spPr>
        <p:txBody>
          <a:bodyPr/>
          <a:lstStyle/>
          <a:p>
            <a:endParaRPr lang="fr-CA" dirty="0">
              <a:solidFill>
                <a:srgbClr val="FF000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2310710" y="2780928"/>
            <a:ext cx="4493538" cy="156966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fr-CA" sz="9600" b="1" dirty="0">
                <a:ln w="11430"/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Merci !</a:t>
            </a:r>
            <a:r>
              <a:rPr lang="fr-CA" sz="9600" b="1" dirty="0">
                <a:ln w="11430"/>
                <a:solidFill>
                  <a:schemeClr val="bg1">
                    <a:lumMod val="50000"/>
                  </a:schemeClr>
                </a:soli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1421D6F-C5F1-42E4-86F1-5ED2F5C6A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684213" y="44624"/>
            <a:ext cx="8208962" cy="837456"/>
          </a:xfrm>
        </p:spPr>
        <p:txBody>
          <a:bodyPr/>
          <a:lstStyle/>
          <a:p>
            <a:r>
              <a:rPr lang="fr-CA">
                <a:solidFill>
                  <a:srgbClr val="C00000"/>
                </a:solidFill>
              </a:rPr>
              <a:t>Questions …</a:t>
            </a:r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2627784" y="2708920"/>
            <a:ext cx="34563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FR" b="1" dirty="0">
                <a:solidFill>
                  <a:schemeClr val="bg1"/>
                </a:solidFill>
              </a:rPr>
              <a:t>www.osositechnologies.com</a:t>
            </a: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88" y="2119313"/>
            <a:ext cx="8963025" cy="2619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ZoneTexte 1"/>
          <p:cNvSpPr txBox="1"/>
          <p:nvPr/>
        </p:nvSpPr>
        <p:spPr>
          <a:xfrm>
            <a:off x="744949" y="2691713"/>
            <a:ext cx="741682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sz="6000" b="1" dirty="0">
                <a:solidFill>
                  <a:schemeClr val="bg1"/>
                </a:solidFill>
              </a:rPr>
              <a:t>Q&amp;A</a:t>
            </a:r>
          </a:p>
          <a:p>
            <a:pPr algn="ctr"/>
            <a:r>
              <a:rPr lang="fr-CA" sz="2800" b="1" dirty="0">
                <a:solidFill>
                  <a:schemeClr val="bg1"/>
                </a:solidFill>
              </a:rPr>
              <a:t>www.osistechnologies.com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8C955B-5C10-4975-B7E2-47CF609D45A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344" y="6307338"/>
            <a:ext cx="1296144" cy="515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523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ction OIM">
  <a:themeElements>
    <a:clrScheme name="Section OIM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ection OIM">
      <a:majorFont>
        <a:latin typeface="Arial"/>
        <a:ea typeface="ＭＳ Ｐゴシック"/>
        <a:cs typeface=""/>
      </a:majorFont>
      <a:minorFont>
        <a:latin typeface="Trebuchet MS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Section OIM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ection OIM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ection OIM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14845</TotalTime>
  <Words>2397</Words>
  <Application>Microsoft Office PowerPoint</Application>
  <PresentationFormat>On-screen Show (4:3)</PresentationFormat>
  <Paragraphs>461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MS PGothic</vt:lpstr>
      <vt:lpstr>Arial</vt:lpstr>
      <vt:lpstr>Arial Narrow</vt:lpstr>
      <vt:lpstr>Calibri</vt:lpstr>
      <vt:lpstr>Consolas</vt:lpstr>
      <vt:lpstr>Times New Roman</vt:lpstr>
      <vt:lpstr>Trebuchet MS</vt:lpstr>
      <vt:lpstr>Wingdings</vt:lpstr>
      <vt:lpstr>Section OIM</vt:lpstr>
      <vt:lpstr>THEME: Génériques et Collections (1)</vt:lpstr>
      <vt:lpstr>SOMMAIRE</vt:lpstr>
      <vt:lpstr>I. INTRODUCTION</vt:lpstr>
      <vt:lpstr>I. INTRODUCTION</vt:lpstr>
      <vt:lpstr>II. Générique (Syntaxe de base) </vt:lpstr>
      <vt:lpstr>II. Générique (Syntaxe de base) </vt:lpstr>
      <vt:lpstr>II. Générique (Syntaxe de base) </vt:lpstr>
      <vt:lpstr>II. Générique (Syntaxe de base) </vt:lpstr>
      <vt:lpstr>III. Collection</vt:lpstr>
      <vt:lpstr>III.1. Hierachie des collections</vt:lpstr>
      <vt:lpstr>III.1. Hierachie des collections</vt:lpstr>
      <vt:lpstr>PowerPoint Presentation</vt:lpstr>
      <vt:lpstr>IV. λ  Expressions Lambda</vt:lpstr>
      <vt:lpstr>IV. 1. λ  Syntaxe Lambda — Formes &amp; Interfaces Fonctionnelles</vt:lpstr>
      <vt:lpstr>IV. 2. Stream API — Pipeline de Données</vt:lpstr>
      <vt:lpstr>IV. 2.  Stream API — Pipeline de Données</vt:lpstr>
      <vt:lpstr>V. INNER CLASSE (CLASSE INTERN)</vt:lpstr>
      <vt:lpstr>V. INNER CLASSE (CLASSE INTERN)</vt:lpstr>
      <vt:lpstr>V. INNER CLASSE (CLASSE INTERN)</vt:lpstr>
      <vt:lpstr>VI. Anonymos Class</vt:lpstr>
      <vt:lpstr>VI. Anonymos Class</vt:lpstr>
      <vt:lpstr>VII. Conclusion</vt:lpstr>
      <vt:lpstr>PowerPoint Presentation</vt:lpstr>
      <vt:lpstr>Questions …</vt:lpstr>
    </vt:vector>
  </TitlesOfParts>
  <Company>Momentum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Maxime Yapi</dc:creator>
  <cp:lastModifiedBy>Ibrahim SAVADOGO</cp:lastModifiedBy>
  <cp:revision>719</cp:revision>
  <dcterms:created xsi:type="dcterms:W3CDTF">2010-02-03T20:06:36Z</dcterms:created>
  <dcterms:modified xsi:type="dcterms:W3CDTF">2026-04-23T16:28:06Z</dcterms:modified>
</cp:coreProperties>
</file>