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0" r:id="rId1"/>
  </p:sldMasterIdLst>
  <p:notesMasterIdLst>
    <p:notesMasterId r:id="rId17"/>
  </p:notesMasterIdLst>
  <p:handoutMasterIdLst>
    <p:handoutMasterId r:id="rId18"/>
  </p:handoutMasterIdLst>
  <p:sldIdLst>
    <p:sldId id="256" r:id="rId2"/>
    <p:sldId id="356" r:id="rId3"/>
    <p:sldId id="357" r:id="rId4"/>
    <p:sldId id="361" r:id="rId5"/>
    <p:sldId id="362" r:id="rId6"/>
    <p:sldId id="363" r:id="rId7"/>
    <p:sldId id="366" r:id="rId8"/>
    <p:sldId id="365" r:id="rId9"/>
    <p:sldId id="369" r:id="rId10"/>
    <p:sldId id="370" r:id="rId11"/>
    <p:sldId id="371" r:id="rId12"/>
    <p:sldId id="368" r:id="rId13"/>
    <p:sldId id="372" r:id="rId14"/>
    <p:sldId id="327" r:id="rId15"/>
    <p:sldId id="345" r:id="rId16"/>
  </p:sldIdLst>
  <p:sldSz cx="9144000" cy="6858000" type="screen4x3"/>
  <p:notesSz cx="7010400" cy="9296400"/>
  <p:defaultTextStyle>
    <a:defPPr>
      <a:defRPr lang="fr-CA"/>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1A"/>
    <a:srgbClr val="777777"/>
    <a:srgbClr val="006600"/>
    <a:srgbClr val="E3CDD0"/>
    <a:srgbClr val="FFFF99"/>
    <a:srgbClr val="FF6600"/>
    <a:srgbClr val="FF33CC"/>
    <a:srgbClr val="002C56"/>
    <a:srgbClr val="CBD5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autoAdjust="0"/>
    <p:restoredTop sz="94687" autoAdjust="0"/>
  </p:normalViewPr>
  <p:slideViewPr>
    <p:cSldViewPr>
      <p:cViewPr varScale="1">
        <p:scale>
          <a:sx n="68" d="100"/>
          <a:sy n="68" d="100"/>
        </p:scale>
        <p:origin x="1240" y="48"/>
      </p:cViewPr>
      <p:guideLst/>
    </p:cSldViewPr>
  </p:slideViewPr>
  <p:outlineViewPr>
    <p:cViewPr>
      <p:scale>
        <a:sx n="33" d="100"/>
        <a:sy n="33" d="100"/>
      </p:scale>
      <p:origin x="0" y="19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540"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prstTxWarp prst="textNoShape">
              <a:avLst/>
            </a:prstTxWarp>
          </a:bodyPr>
          <a:lstStyle>
            <a:lvl1pPr defTabSz="931863">
              <a:defRPr sz="1200">
                <a:latin typeface="Arial" charset="0"/>
                <a:ea typeface="+mn-ea"/>
              </a:defRPr>
            </a:lvl1pPr>
          </a:lstStyle>
          <a:p>
            <a:pPr>
              <a:defRPr/>
            </a:pPr>
            <a:endParaRPr lang="fr-CA"/>
          </a:p>
        </p:txBody>
      </p:sp>
      <p:sp>
        <p:nvSpPr>
          <p:cNvPr id="3075" name="Rectangle 3"/>
          <p:cNvSpPr>
            <a:spLocks noGrp="1" noChangeArrowheads="1"/>
          </p:cNvSpPr>
          <p:nvPr>
            <p:ph type="dt" sz="quarter"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prstTxWarp prst="textNoShape">
              <a:avLst/>
            </a:prstTxWarp>
          </a:bodyPr>
          <a:lstStyle>
            <a:lvl1pPr algn="r" defTabSz="931863">
              <a:defRPr sz="1200">
                <a:latin typeface="Arial" charset="0"/>
                <a:ea typeface="+mn-ea"/>
              </a:defRPr>
            </a:lvl1pPr>
          </a:lstStyle>
          <a:p>
            <a:pPr>
              <a:defRPr/>
            </a:pPr>
            <a:endParaRPr lang="fr-CA"/>
          </a:p>
        </p:txBody>
      </p:sp>
      <p:sp>
        <p:nvSpPr>
          <p:cNvPr id="3076" name="Rectangle 4"/>
          <p:cNvSpPr>
            <a:spLocks noGrp="1" noChangeArrowheads="1"/>
          </p:cNvSpPr>
          <p:nvPr>
            <p:ph type="ftr" sz="quarter" idx="2"/>
          </p:nvPr>
        </p:nvSpPr>
        <p:spPr bwMode="auto">
          <a:xfrm>
            <a:off x="0" y="8829675"/>
            <a:ext cx="3038475" cy="465138"/>
          </a:xfrm>
          <a:prstGeom prst="rect">
            <a:avLst/>
          </a:prstGeom>
          <a:noFill/>
          <a:ln>
            <a:noFill/>
          </a:ln>
          <a:effectLst/>
        </p:spPr>
        <p:txBody>
          <a:bodyPr vert="horz" wrap="square" lIns="93177" tIns="46589" rIns="93177" bIns="46589" numCol="1" anchor="b" anchorCtr="0" compatLnSpc="1">
            <a:prstTxWarp prst="textNoShape">
              <a:avLst/>
            </a:prstTxWarp>
          </a:bodyPr>
          <a:lstStyle>
            <a:lvl1pPr defTabSz="931863">
              <a:defRPr sz="1200">
                <a:latin typeface="Arial" charset="0"/>
                <a:ea typeface="+mn-ea"/>
              </a:defRPr>
            </a:lvl1pPr>
          </a:lstStyle>
          <a:p>
            <a:pPr>
              <a:defRPr/>
            </a:pPr>
            <a:endParaRPr lang="fr-CA"/>
          </a:p>
        </p:txBody>
      </p:sp>
      <p:sp>
        <p:nvSpPr>
          <p:cNvPr id="3077" name="Rectangle 5"/>
          <p:cNvSpPr>
            <a:spLocks noGrp="1" noChangeArrowheads="1"/>
          </p:cNvSpPr>
          <p:nvPr>
            <p:ph type="sldNum" sz="quarter" idx="3"/>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prstTxWarp prst="textNoShape">
              <a:avLst/>
            </a:prstTxWarp>
          </a:bodyPr>
          <a:lstStyle>
            <a:lvl1pPr algn="r" defTabSz="931863">
              <a:defRPr sz="1200">
                <a:latin typeface="Arial" charset="0"/>
                <a:ea typeface="+mn-ea"/>
              </a:defRPr>
            </a:lvl1pPr>
          </a:lstStyle>
          <a:p>
            <a:pPr>
              <a:defRPr/>
            </a:pPr>
            <a:fld id="{EFB73F57-00A7-4824-AB68-DA8CEE9E7E80}" type="slidenum">
              <a:rPr lang="fr-CA"/>
              <a:pPr>
                <a:defRPr/>
              </a:pPr>
              <a:t>‹N°›</a:t>
            </a:fld>
            <a:endParaRPr lang="fr-CA"/>
          </a:p>
        </p:txBody>
      </p:sp>
    </p:spTree>
    <p:extLst>
      <p:ext uri="{BB962C8B-B14F-4D97-AF65-F5344CB8AC3E}">
        <p14:creationId xmlns:p14="http://schemas.microsoft.com/office/powerpoint/2010/main" val="33857191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prstTxWarp prst="textNoShape">
              <a:avLst/>
            </a:prstTxWarp>
          </a:bodyPr>
          <a:lstStyle>
            <a:lvl1pPr defTabSz="931863">
              <a:defRPr sz="1200">
                <a:latin typeface="Arial" charset="0"/>
                <a:ea typeface="+mn-ea"/>
              </a:defRPr>
            </a:lvl1pPr>
          </a:lstStyle>
          <a:p>
            <a:pPr>
              <a:defRPr/>
            </a:pPr>
            <a:endParaRPr lang="fr-CA"/>
          </a:p>
        </p:txBody>
      </p:sp>
      <p:sp>
        <p:nvSpPr>
          <p:cNvPr id="11267" name="Rectangle 3"/>
          <p:cNvSpPr>
            <a:spLocks noGrp="1" noChangeArrowheads="1"/>
          </p:cNvSpPr>
          <p:nvPr>
            <p:ph type="dt"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prstTxWarp prst="textNoShape">
              <a:avLst/>
            </a:prstTxWarp>
          </a:bodyPr>
          <a:lstStyle>
            <a:lvl1pPr algn="r" defTabSz="931863">
              <a:defRPr sz="1200">
                <a:latin typeface="Arial" charset="0"/>
                <a:ea typeface="+mn-ea"/>
              </a:defRPr>
            </a:lvl1pPr>
          </a:lstStyle>
          <a:p>
            <a:pPr>
              <a:defRPr/>
            </a:pPr>
            <a:endParaRPr lang="fr-CA"/>
          </a:p>
        </p:txBody>
      </p:sp>
      <p:sp>
        <p:nvSpPr>
          <p:cNvPr id="1843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11269" name="Rectangle 5"/>
          <p:cNvSpPr>
            <a:spLocks noGrp="1" noChangeArrowheads="1"/>
          </p:cNvSpPr>
          <p:nvPr>
            <p:ph type="body" sz="quarter" idx="3"/>
          </p:nvPr>
        </p:nvSpPr>
        <p:spPr bwMode="auto">
          <a:xfrm>
            <a:off x="701675" y="4416425"/>
            <a:ext cx="5607050" cy="4183063"/>
          </a:xfrm>
          <a:prstGeom prst="rect">
            <a:avLst/>
          </a:prstGeom>
          <a:noFill/>
          <a:ln>
            <a:noFill/>
          </a:ln>
          <a:effectLst/>
        </p:spPr>
        <p:txBody>
          <a:bodyPr vert="horz" wrap="square" lIns="93177" tIns="46589" rIns="93177" bIns="46589" numCol="1" anchor="t" anchorCtr="0" compatLnSpc="1">
            <a:prstTxWarp prst="textNoShape">
              <a:avLst/>
            </a:prstTxWarp>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11270" name="Rectangle 6"/>
          <p:cNvSpPr>
            <a:spLocks noGrp="1" noChangeArrowheads="1"/>
          </p:cNvSpPr>
          <p:nvPr>
            <p:ph type="ftr" sz="quarter" idx="4"/>
          </p:nvPr>
        </p:nvSpPr>
        <p:spPr bwMode="auto">
          <a:xfrm>
            <a:off x="0" y="8829675"/>
            <a:ext cx="3038475" cy="465138"/>
          </a:xfrm>
          <a:prstGeom prst="rect">
            <a:avLst/>
          </a:prstGeom>
          <a:noFill/>
          <a:ln>
            <a:noFill/>
          </a:ln>
          <a:effectLst/>
        </p:spPr>
        <p:txBody>
          <a:bodyPr vert="horz" wrap="square" lIns="93177" tIns="46589" rIns="93177" bIns="46589" numCol="1" anchor="b" anchorCtr="0" compatLnSpc="1">
            <a:prstTxWarp prst="textNoShape">
              <a:avLst/>
            </a:prstTxWarp>
          </a:bodyPr>
          <a:lstStyle>
            <a:lvl1pPr defTabSz="931863">
              <a:defRPr sz="1200">
                <a:latin typeface="Arial" charset="0"/>
                <a:ea typeface="+mn-ea"/>
              </a:defRPr>
            </a:lvl1pPr>
          </a:lstStyle>
          <a:p>
            <a:pPr>
              <a:defRPr/>
            </a:pPr>
            <a:endParaRPr lang="fr-CA"/>
          </a:p>
        </p:txBody>
      </p:sp>
      <p:sp>
        <p:nvSpPr>
          <p:cNvPr id="11271" name="Rectangle 7"/>
          <p:cNvSpPr>
            <a:spLocks noGrp="1" noChangeArrowheads="1"/>
          </p:cNvSpPr>
          <p:nvPr>
            <p:ph type="sldNum" sz="quarter" idx="5"/>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prstTxWarp prst="textNoShape">
              <a:avLst/>
            </a:prstTxWarp>
          </a:bodyPr>
          <a:lstStyle>
            <a:lvl1pPr algn="r" defTabSz="931863">
              <a:defRPr sz="1200">
                <a:latin typeface="Arial" charset="0"/>
                <a:ea typeface="+mn-ea"/>
              </a:defRPr>
            </a:lvl1pPr>
          </a:lstStyle>
          <a:p>
            <a:pPr>
              <a:defRPr/>
            </a:pPr>
            <a:fld id="{4824BCD5-7DB3-4570-95FB-D6BD68920CD5}" type="slidenum">
              <a:rPr lang="fr-CA"/>
              <a:pPr>
                <a:defRPr/>
              </a:pPr>
              <a:t>‹N°›</a:t>
            </a:fld>
            <a:endParaRPr lang="fr-CA"/>
          </a:p>
        </p:txBody>
      </p:sp>
    </p:spTree>
    <p:extLst>
      <p:ext uri="{BB962C8B-B14F-4D97-AF65-F5344CB8AC3E}">
        <p14:creationId xmlns:p14="http://schemas.microsoft.com/office/powerpoint/2010/main" val="2021308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pPr>
                <a:defRPr/>
              </a:pPr>
              <a:t>1</a:t>
            </a:fld>
            <a:endParaRPr lang="fr-CA"/>
          </a:p>
        </p:txBody>
      </p:sp>
    </p:spTree>
    <p:extLst>
      <p:ext uri="{BB962C8B-B14F-4D97-AF65-F5344CB8AC3E}">
        <p14:creationId xmlns:p14="http://schemas.microsoft.com/office/powerpoint/2010/main" val="1541517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72242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98349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129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59475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391104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5316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52650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userDrawn="1"/>
        </p:nvSpPr>
        <p:spPr>
          <a:xfrm>
            <a:off x="0" y="115888"/>
            <a:ext cx="9715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5" name="Rectangle 4"/>
          <p:cNvSpPr/>
          <p:nvPr userDrawn="1"/>
        </p:nvSpPr>
        <p:spPr>
          <a:xfrm>
            <a:off x="0" y="6237288"/>
            <a:ext cx="6876256" cy="620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6" name="Rectangle 5"/>
          <p:cNvSpPr/>
          <p:nvPr userDrawn="1"/>
        </p:nvSpPr>
        <p:spPr>
          <a:xfrm>
            <a:off x="0" y="549275"/>
            <a:ext cx="9144000" cy="620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23554" name="Rectangle 3"/>
          <p:cNvSpPr>
            <a:spLocks noGrp="1" noChangeArrowheads="1"/>
          </p:cNvSpPr>
          <p:nvPr>
            <p:ph type="ctrTitle"/>
          </p:nvPr>
        </p:nvSpPr>
        <p:spPr>
          <a:xfrm>
            <a:off x="1331640" y="1916832"/>
            <a:ext cx="6048672" cy="1519808"/>
          </a:xfrm>
        </p:spPr>
        <p:txBody>
          <a:bodyPr/>
          <a:lstStyle>
            <a:lvl1pPr algn="r">
              <a:defRPr sz="4000">
                <a:solidFill>
                  <a:srgbClr val="E2001A"/>
                </a:solidFill>
                <a:latin typeface="Calibri" pitchFamily="34" charset="0"/>
                <a:cs typeface="Calibri" pitchFamily="34" charset="0"/>
              </a:defRPr>
            </a:lvl1pPr>
          </a:lstStyle>
          <a:p>
            <a:pPr lvl="0"/>
            <a:r>
              <a:rPr lang="fr-CA" noProof="0" dirty="0"/>
              <a:t>Cliquez et modifiez le titre</a:t>
            </a:r>
          </a:p>
        </p:txBody>
      </p:sp>
      <p:sp>
        <p:nvSpPr>
          <p:cNvPr id="23555" name="Rectangle 4"/>
          <p:cNvSpPr>
            <a:spLocks noGrp="1" noChangeArrowheads="1"/>
          </p:cNvSpPr>
          <p:nvPr>
            <p:ph type="subTitle" idx="1"/>
          </p:nvPr>
        </p:nvSpPr>
        <p:spPr>
          <a:xfrm>
            <a:off x="2411760" y="3518712"/>
            <a:ext cx="6480720" cy="1278440"/>
          </a:xfrm>
        </p:spPr>
        <p:txBody>
          <a:bodyPr/>
          <a:lstStyle>
            <a:lvl1pPr marL="0" indent="0" algn="r">
              <a:buFontTx/>
              <a:buNone/>
              <a:defRPr sz="2600" i="1">
                <a:solidFill>
                  <a:schemeClr val="tx1"/>
                </a:solidFill>
                <a:latin typeface="Calibri" pitchFamily="34" charset="0"/>
                <a:cs typeface="Calibri" pitchFamily="34" charset="0"/>
              </a:defRPr>
            </a:lvl1pPr>
          </a:lstStyle>
          <a:p>
            <a:pPr lvl="0"/>
            <a:r>
              <a:rPr lang="fr-CA" noProof="0" dirty="0"/>
              <a:t>Cliquez pour modifier le style des sous-titres du masque</a:t>
            </a:r>
          </a:p>
        </p:txBody>
      </p:sp>
      <p:cxnSp>
        <p:nvCxnSpPr>
          <p:cNvPr id="19" name="Connecteur en angle 18"/>
          <p:cNvCxnSpPr/>
          <p:nvPr userDrawn="1"/>
        </p:nvCxnSpPr>
        <p:spPr>
          <a:xfrm>
            <a:off x="211138" y="1484784"/>
            <a:ext cx="8681342" cy="38698"/>
          </a:xfrm>
          <a:prstGeom prst="bentConnector3">
            <a:avLst/>
          </a:prstGeom>
        </p:spPr>
        <p:style>
          <a:lnRef idx="2">
            <a:schemeClr val="dk1"/>
          </a:lnRef>
          <a:fillRef idx="0">
            <a:schemeClr val="dk1"/>
          </a:fillRef>
          <a:effectRef idx="1">
            <a:schemeClr val="dk1"/>
          </a:effectRef>
          <a:fontRef idx="minor">
            <a:schemeClr val="tx1"/>
          </a:fontRef>
        </p:style>
      </p:cxnSp>
      <p:cxnSp>
        <p:nvCxnSpPr>
          <p:cNvPr id="24" name="Connecteur en angle 23"/>
          <p:cNvCxnSpPr/>
          <p:nvPr userDrawn="1"/>
        </p:nvCxnSpPr>
        <p:spPr>
          <a:xfrm flipV="1">
            <a:off x="210443" y="1440160"/>
            <a:ext cx="8682037" cy="123178"/>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7" name="Arrondir un rectangle avec un coin diagonal 26"/>
          <p:cNvSpPr/>
          <p:nvPr userDrawn="1"/>
        </p:nvSpPr>
        <p:spPr>
          <a:xfrm>
            <a:off x="35496" y="4899724"/>
            <a:ext cx="3960440" cy="292606"/>
          </a:xfrm>
          <a:prstGeom prst="round2Diag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56" y="5515793"/>
            <a:ext cx="452965" cy="145455"/>
          </a:xfrm>
          <a:prstGeom prst="rect">
            <a:avLst/>
          </a:prstGeom>
          <a:noFill/>
          <a:ln w="9525">
            <a:noFill/>
            <a:miter lim="800000"/>
            <a:headEnd/>
            <a:tailEnd/>
          </a:ln>
        </p:spPr>
      </p:pic>
      <p:sp>
        <p:nvSpPr>
          <p:cNvPr id="29" name="ZoneTexte 28"/>
          <p:cNvSpPr txBox="1"/>
          <p:nvPr userDrawn="1"/>
        </p:nvSpPr>
        <p:spPr>
          <a:xfrm>
            <a:off x="35496" y="4859868"/>
            <a:ext cx="3960440" cy="338554"/>
          </a:xfrm>
          <a:prstGeom prst="rect">
            <a:avLst/>
          </a:prstGeom>
          <a:noFill/>
        </p:spPr>
        <p:txBody>
          <a:bodyPr wrap="square" rtlCol="0">
            <a:spAutoFit/>
          </a:bodyPr>
          <a:lstStyle/>
          <a:p>
            <a:r>
              <a:rPr lang="fr-FR" sz="1600" b="1" i="1" dirty="0">
                <a:solidFill>
                  <a:schemeClr val="bg1"/>
                </a:solidFill>
                <a:latin typeface="Arial Narrow" panose="020B0606020202030204" pitchFamily="34" charset="0"/>
                <a:cs typeface="Times New Roman" panose="02020603050405020304" pitchFamily="18" charset="0"/>
              </a:rPr>
              <a:t>La Force de l’Engagement et de l’Expertise</a:t>
            </a:r>
          </a:p>
        </p:txBody>
      </p:sp>
      <p:pic>
        <p:nvPicPr>
          <p:cNvPr id="21"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5877272"/>
            <a:ext cx="452965" cy="145455"/>
          </a:xfrm>
          <a:prstGeom prst="rect">
            <a:avLst/>
          </a:prstGeom>
          <a:noFill/>
          <a:ln w="9525">
            <a:noFill/>
            <a:miter lim="800000"/>
            <a:headEnd/>
            <a:tailEnd/>
          </a:ln>
        </p:spPr>
      </p:pic>
      <p:pic>
        <p:nvPicPr>
          <p:cNvPr id="22"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6235873"/>
            <a:ext cx="452965" cy="145455"/>
          </a:xfrm>
          <a:prstGeom prst="rect">
            <a:avLst/>
          </a:prstGeom>
          <a:noFill/>
          <a:ln w="9525">
            <a:noFill/>
            <a:miter lim="800000"/>
            <a:headEnd/>
            <a:tailEnd/>
          </a:ln>
        </p:spPr>
      </p:pic>
      <p:pic>
        <p:nvPicPr>
          <p:cNvPr id="23"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6595913"/>
            <a:ext cx="452965" cy="145455"/>
          </a:xfrm>
          <a:prstGeom prst="rect">
            <a:avLst/>
          </a:prstGeom>
          <a:noFill/>
          <a:ln w="9525">
            <a:noFill/>
            <a:miter lim="800000"/>
            <a:headEnd/>
            <a:tailEnd/>
          </a:ln>
        </p:spPr>
      </p:pic>
      <p:pic>
        <p:nvPicPr>
          <p:cNvPr id="9" name="Imag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91880" y="260648"/>
            <a:ext cx="2298552" cy="1086087"/>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679450"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4759325"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32588" y="-100013"/>
            <a:ext cx="2016125" cy="59769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679450" y="-100013"/>
            <a:ext cx="5900738" cy="59769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507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bwMode="auto">
          <a:xfrm>
            <a:off x="684213" y="-188913"/>
            <a:ext cx="8208962" cy="1143001"/>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fr-CA" dirty="0"/>
              <a:t>Cliquez et modifiez le titre</a:t>
            </a:r>
          </a:p>
        </p:txBody>
      </p:sp>
      <p:sp>
        <p:nvSpPr>
          <p:cNvPr id="1027" name="Rectangle 4"/>
          <p:cNvSpPr>
            <a:spLocks noGrp="1" noChangeArrowheads="1"/>
          </p:cNvSpPr>
          <p:nvPr>
            <p:ph type="body" idx="1"/>
          </p:nvPr>
        </p:nvSpPr>
        <p:spPr bwMode="auto">
          <a:xfrm>
            <a:off x="679449" y="1125538"/>
            <a:ext cx="8213725" cy="47513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CA" dirty="0"/>
              <a:t>Cliquez pour modifier les styles du texte du masque</a:t>
            </a:r>
          </a:p>
          <a:p>
            <a:pPr lvl="1"/>
            <a:r>
              <a:rPr lang="fr-CA" dirty="0"/>
              <a:t>Deuxième niveau</a:t>
            </a:r>
          </a:p>
          <a:p>
            <a:pPr lvl="2"/>
            <a:r>
              <a:rPr lang="fr-CA" dirty="0"/>
              <a:t> Troisième niveau</a:t>
            </a:r>
          </a:p>
          <a:p>
            <a:pPr lvl="3"/>
            <a:r>
              <a:rPr lang="fr-CA" dirty="0"/>
              <a:t>Quatrième niveau</a:t>
            </a:r>
          </a:p>
          <a:p>
            <a:pPr lvl="4"/>
            <a:r>
              <a:rPr lang="fr-CA" dirty="0"/>
              <a:t>Cinquième niveau</a:t>
            </a:r>
          </a:p>
        </p:txBody>
      </p:sp>
      <p:cxnSp>
        <p:nvCxnSpPr>
          <p:cNvPr id="10" name="Connecteur en angle 9"/>
          <p:cNvCxnSpPr/>
          <p:nvPr userDrawn="1"/>
        </p:nvCxnSpPr>
        <p:spPr>
          <a:xfrm flipV="1">
            <a:off x="679450" y="764704"/>
            <a:ext cx="8213725" cy="72008"/>
          </a:xfrm>
          <a:prstGeom prst="bentConnector3">
            <a:avLst/>
          </a:prstGeom>
        </p:spPr>
        <p:style>
          <a:lnRef idx="2">
            <a:schemeClr val="dk1"/>
          </a:lnRef>
          <a:fillRef idx="0">
            <a:schemeClr val="dk1"/>
          </a:fillRef>
          <a:effectRef idx="1">
            <a:schemeClr val="dk1"/>
          </a:effectRef>
          <a:fontRef idx="minor">
            <a:schemeClr val="tx1"/>
          </a:fontRef>
        </p:style>
      </p:cxnSp>
      <p:cxnSp>
        <p:nvCxnSpPr>
          <p:cNvPr id="11" name="Connecteur en angle 10"/>
          <p:cNvCxnSpPr/>
          <p:nvPr userDrawn="1"/>
        </p:nvCxnSpPr>
        <p:spPr>
          <a:xfrm flipV="1">
            <a:off x="679450" y="686150"/>
            <a:ext cx="8213725" cy="78554"/>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pic>
        <p:nvPicPr>
          <p:cNvPr id="12" name="Espace réservé pour une image  4" descr="Nouvelle notification"/>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a:xfrm>
            <a:off x="7668344" y="6416675"/>
            <a:ext cx="1296144" cy="388330"/>
          </a:xfrm>
          <a:prstGeom prst="rect">
            <a:avLst/>
          </a:prstGeom>
        </p:spPr>
      </p:pic>
      <p:sp>
        <p:nvSpPr>
          <p:cNvPr id="3" name="Rectangle 2"/>
          <p:cNvSpPr/>
          <p:nvPr userDrawn="1"/>
        </p:nvSpPr>
        <p:spPr>
          <a:xfrm>
            <a:off x="0" y="296962"/>
            <a:ext cx="679450" cy="39573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1"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2" r:id="rId12"/>
  </p:sldLayoutIdLst>
  <p:hf hdr="0" ftr="0" dt="0"/>
  <p:txStyles>
    <p:title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ü"/>
        <a:defRPr sz="2400">
          <a:solidFill>
            <a:srgbClr val="001523"/>
          </a:solidFill>
          <a:latin typeface="+mn-lt"/>
          <a:ea typeface="+mn-ea"/>
        </a:defRPr>
      </a:lvl2pPr>
      <a:lvl3pPr marL="1143000" indent="-228600" algn="l" rtl="0" eaLnBrk="0" fontAlgn="base" hangingPunct="0">
        <a:spcBef>
          <a:spcPct val="20000"/>
        </a:spcBef>
        <a:spcAft>
          <a:spcPct val="0"/>
        </a:spcAft>
        <a:buFont typeface="Wingdings" pitchFamily="2" charset="2"/>
        <a:buChar char="ü"/>
        <a:defRPr sz="2000">
          <a:solidFill>
            <a:srgbClr val="001523"/>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96" y="6453336"/>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 3">
            <a:extLst>
              <a:ext uri="{FF2B5EF4-FFF2-40B4-BE49-F238E27FC236}">
                <a16:creationId xmlns:a16="http://schemas.microsoft.com/office/drawing/2014/main" id="{D6301BB6-AEF3-4BDF-B8AB-15484F3999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5378" y="116632"/>
            <a:ext cx="2320758" cy="1257008"/>
          </a:xfrm>
          <a:prstGeom prst="rect">
            <a:avLst/>
          </a:prstGeom>
        </p:spPr>
      </p:pic>
      <p:pic>
        <p:nvPicPr>
          <p:cNvPr id="7" name="Image 6">
            <a:extLst>
              <a:ext uri="{FF2B5EF4-FFF2-40B4-BE49-F238E27FC236}">
                <a16:creationId xmlns:a16="http://schemas.microsoft.com/office/drawing/2014/main" id="{98BE8AC3-2515-43CB-9089-C1E6D9007D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8" name="Titre 7">
            <a:extLst>
              <a:ext uri="{FF2B5EF4-FFF2-40B4-BE49-F238E27FC236}">
                <a16:creationId xmlns:a16="http://schemas.microsoft.com/office/drawing/2014/main" id="{29C277DC-CA85-4F4B-92F7-66515D6D0BDA}"/>
              </a:ext>
            </a:extLst>
          </p:cNvPr>
          <p:cNvSpPr>
            <a:spLocks noGrp="1"/>
          </p:cNvSpPr>
          <p:nvPr>
            <p:ph type="ctrTitle"/>
          </p:nvPr>
        </p:nvSpPr>
        <p:spPr>
          <a:xfrm>
            <a:off x="1899453" y="2276872"/>
            <a:ext cx="5472608" cy="2520280"/>
          </a:xfrm>
        </p:spPr>
        <p:txBody>
          <a:bodyPr/>
          <a:lstStyle/>
          <a:p>
            <a:pPr algn="ctr"/>
            <a:r>
              <a:rPr lang="fr-FR" sz="4800" dirty="0" smtClean="0"/>
              <a:t>MAVEN</a:t>
            </a:r>
            <a:endParaRPr lang="fr-FR" sz="4800" dirty="0"/>
          </a:p>
        </p:txBody>
      </p:sp>
      <p:sp>
        <p:nvSpPr>
          <p:cNvPr id="6" name="ZoneTexte 5"/>
          <p:cNvSpPr txBox="1"/>
          <p:nvPr/>
        </p:nvSpPr>
        <p:spPr>
          <a:xfrm>
            <a:off x="4788024" y="5233354"/>
            <a:ext cx="3095935" cy="934060"/>
          </a:xfrm>
          <a:prstGeom prst="rect">
            <a:avLst/>
          </a:prstGeom>
          <a:noFill/>
        </p:spPr>
        <p:txBody>
          <a:bodyPr wrap="square" rtlCol="0">
            <a:spAutoFit/>
          </a:bodyPr>
          <a:lstStyle/>
          <a:p>
            <a:pPr algn="just"/>
            <a:r>
              <a:rPr lang="fr-FR" dirty="0" smtClean="0">
                <a:latin typeface="Times New Roman" panose="02020603050405020304" pitchFamily="18" charset="0"/>
                <a:cs typeface="Times New Roman" panose="02020603050405020304" pitchFamily="18" charset="0"/>
              </a:rPr>
              <a:t>Présenté par : </a:t>
            </a:r>
          </a:p>
          <a:p>
            <a:pPr algn="just"/>
            <a:r>
              <a:rPr lang="fr-FR" dirty="0" smtClean="0">
                <a:latin typeface="Times New Roman" panose="02020603050405020304" pitchFamily="18" charset="0"/>
                <a:cs typeface="Times New Roman" panose="02020603050405020304" pitchFamily="18" charset="0"/>
              </a:rPr>
              <a:t>KORA AMON </a:t>
            </a:r>
          </a:p>
          <a:p>
            <a:pPr algn="just"/>
            <a:r>
              <a:rPr lang="fr-FR" dirty="0" smtClean="0">
                <a:latin typeface="Times New Roman" panose="02020603050405020304" pitchFamily="18" charset="0"/>
                <a:cs typeface="Times New Roman" panose="02020603050405020304" pitchFamily="18" charset="0"/>
              </a:rPr>
              <a:t>SAVADOGO IBRAHIM</a:t>
            </a:r>
            <a:endParaRPr lang="fr-F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151802"/>
            <a:ext cx="8208912" cy="540894"/>
          </a:xfrm>
          <a:noFill/>
          <a:ln>
            <a:noFill/>
          </a:ln>
        </p:spPr>
        <p:txBody>
          <a:bodyPr vert="horz" wrap="square" lIns="91440" tIns="45720" rIns="91440" bIns="45720" numCol="1" anchor="t" anchorCtr="0" compatLnSpc="1">
            <a:prstTxWarp prst="textNoShape">
              <a:avLst/>
            </a:prstTxWarp>
          </a:bodyPr>
          <a:lstStyle/>
          <a:p>
            <a:r>
              <a:rPr lang="fr-CA" sz="2300" cap="none" dirty="0">
                <a:solidFill>
                  <a:srgbClr val="FF0000"/>
                </a:solidFill>
                <a:latin typeface="+mn-lt"/>
              </a:rPr>
              <a:t>SOMMAIRE</a:t>
            </a:r>
          </a:p>
        </p:txBody>
      </p:sp>
      <p:pic>
        <p:nvPicPr>
          <p:cNvPr id="3" name="Imag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4" name="ZoneTexte 3"/>
          <p:cNvSpPr txBox="1"/>
          <p:nvPr/>
        </p:nvSpPr>
        <p:spPr>
          <a:xfrm>
            <a:off x="863081" y="1045281"/>
            <a:ext cx="7560840" cy="4801314"/>
          </a:xfrm>
          <a:prstGeom prst="rect">
            <a:avLst/>
          </a:prstGeom>
          <a:noFill/>
        </p:spPr>
        <p:txBody>
          <a:bodyPr wrap="square" rtlCol="0">
            <a:spAutoFit/>
          </a:bodyPr>
          <a:lstStyle/>
          <a:p>
            <a:r>
              <a:rPr lang="fr-FR" dirty="0" smtClean="0">
                <a:latin typeface="Times New Roman" panose="02020603050405020304" pitchFamily="18" charset="0"/>
                <a:cs typeface="Times New Roman" panose="02020603050405020304" pitchFamily="18" charset="0"/>
              </a:rPr>
              <a:t>INTRODUCTION</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PROJET MAVEN SIMPLE</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PROJET MULTI-MODULE</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POM</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JAVA DATE</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LES THREADS ET LE MULTITHREADING</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JAVA I/0</a:t>
            </a:r>
          </a:p>
          <a:p>
            <a:pPr marL="400050" indent="-400050">
              <a:buFont typeface="+mj-lt"/>
              <a:buAutoNum type="romanUcPeriod"/>
            </a:pPr>
            <a:endParaRPr lang="fr-FR" dirty="0" smtClean="0">
              <a:latin typeface="Times New Roman" panose="02020603050405020304" pitchFamily="18" charset="0"/>
              <a:cs typeface="Times New Roman" panose="02020603050405020304" pitchFamily="18" charset="0"/>
            </a:endParaRPr>
          </a:p>
          <a:p>
            <a:pPr marL="400050" indent="-400050">
              <a:buFont typeface="+mj-lt"/>
              <a:buAutoNum type="romanUcPeriod"/>
            </a:pPr>
            <a:r>
              <a:rPr lang="fr-FR" dirty="0" smtClean="0">
                <a:latin typeface="Times New Roman" panose="02020603050405020304" pitchFamily="18" charset="0"/>
                <a:cs typeface="Times New Roman" panose="02020603050405020304" pitchFamily="18" charset="0"/>
              </a:rPr>
              <a:t>MA PREMIERE APPLICATION</a:t>
            </a:r>
          </a:p>
          <a:p>
            <a:endParaRPr lang="fr-FR" dirty="0" smtClean="0">
              <a:latin typeface="Times New Roman" panose="02020603050405020304" pitchFamily="18" charset="0"/>
              <a:cs typeface="Times New Roman" panose="02020603050405020304" pitchFamily="18" charset="0"/>
            </a:endParaRPr>
          </a:p>
          <a:p>
            <a:r>
              <a:rPr lang="fr-FR" dirty="0" smtClean="0">
                <a:latin typeface="Times New Roman" panose="02020603050405020304" pitchFamily="18" charset="0"/>
                <a:cs typeface="Times New Roman" panose="02020603050405020304" pitchFamily="18" charset="0"/>
              </a:rPr>
              <a:t>CONCLUSION</a:t>
            </a:r>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5717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re 1">
            <a:extLst>
              <a:ext uri="{FF2B5EF4-FFF2-40B4-BE49-F238E27FC236}">
                <a16:creationId xmlns:a16="http://schemas.microsoft.com/office/drawing/2014/main" id="{88197348-5CC2-499B-8197-C94C5D8BC489}"/>
              </a:ext>
            </a:extLst>
          </p:cNvPr>
          <p:cNvSpPr>
            <a:spLocks noGrp="1"/>
          </p:cNvSpPr>
          <p:nvPr>
            <p:ph type="title"/>
          </p:nvPr>
        </p:nvSpPr>
        <p:spPr>
          <a:xfrm>
            <a:off x="755576" y="151802"/>
            <a:ext cx="8208912" cy="540894"/>
          </a:xfrm>
          <a:noFill/>
          <a:ln>
            <a:noFill/>
          </a:ln>
        </p:spPr>
        <p:txBody>
          <a:bodyPr vert="horz" wrap="square" lIns="91440" tIns="45720" rIns="91440" bIns="45720" numCol="1" anchor="t" anchorCtr="0" compatLnSpc="1">
            <a:prstTxWarp prst="textNoShape">
              <a:avLst/>
            </a:prstTxWarp>
          </a:bodyPr>
          <a:lstStyle/>
          <a:p>
            <a:r>
              <a:rPr lang="fr-CA" sz="2400" cap="none" dirty="0">
                <a:solidFill>
                  <a:srgbClr val="FF0000"/>
                </a:solidFill>
              </a:rPr>
              <a:t>INTRODUCTION</a:t>
            </a:r>
          </a:p>
        </p:txBody>
      </p:sp>
      <p:pic>
        <p:nvPicPr>
          <p:cNvPr id="6" name="Image 5">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2" name="ZoneTexte 1"/>
          <p:cNvSpPr txBox="1"/>
          <p:nvPr/>
        </p:nvSpPr>
        <p:spPr>
          <a:xfrm>
            <a:off x="539552" y="1196752"/>
            <a:ext cx="8136904" cy="3139321"/>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Apache </a:t>
            </a:r>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est un outil open source de gestion de projets Java. Il automatise des tâches essentielles comme la compilation du code, la gestion des bibliothèques externes et la construction de l'application finale</a:t>
            </a:r>
            <a:r>
              <a:rPr lang="fr-FR" dirty="0" smtClean="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Son fonctionnement repose sur un fichier central appelé pom.xml, dans lequel le développeur déclare toutes les informations du projet : son nom, sa version et ses dépendances. </a:t>
            </a:r>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se charge ensuite de tout télécharger et organiser automatiquement</a:t>
            </a:r>
            <a:r>
              <a:rPr lang="fr-FR" dirty="0" smtClean="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Très répandu en entreprise, </a:t>
            </a:r>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est aujourd'hui un incontournable de l'écosystème Java.</a:t>
            </a:r>
          </a:p>
        </p:txBody>
      </p:sp>
      <p:pic>
        <p:nvPicPr>
          <p:cNvPr id="7" name="Image 6">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301893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347510"/>
          </a:xfrm>
          <a:prstGeom prst="rect">
            <a:avLst/>
          </a:prstGeom>
          <a:noFill/>
          <a:ln/>
        </p:spPr>
        <p:txBody>
          <a:bodyPr wrap="square" rtlCol="0" anchor="ctr"/>
          <a:lstStyle/>
          <a:p>
            <a:r>
              <a:rPr lang="en-US" sz="2200" b="1" dirty="0" smtClean="0">
                <a:solidFill>
                  <a:srgbClr val="FFFFFF"/>
                </a:solidFill>
                <a:latin typeface="Calibri" pitchFamily="34" charset="0"/>
                <a:ea typeface="Calibri" pitchFamily="34" charset="-122"/>
                <a:cs typeface="Calibri" pitchFamily="34" charset="-120"/>
              </a:rPr>
              <a:t>II.  PROJET MAVEN SIMPLE</a:t>
            </a:r>
            <a:endParaRPr lang="en-US" sz="2200" dirty="0"/>
          </a:p>
        </p:txBody>
      </p:sp>
      <p:sp>
        <p:nvSpPr>
          <p:cNvPr id="5" name="Text 3"/>
          <p:cNvSpPr/>
          <p:nvPr/>
        </p:nvSpPr>
        <p:spPr>
          <a:xfrm>
            <a:off x="267293" y="976160"/>
            <a:ext cx="4572000" cy="411480"/>
          </a:xfrm>
          <a:prstGeom prst="rect">
            <a:avLst/>
          </a:prstGeom>
          <a:noFill/>
          <a:ln/>
        </p:spPr>
        <p:txBody>
          <a:bodyPr wrap="square" rtlCol="0" anchor="ctr"/>
          <a:lstStyle/>
          <a:p>
            <a:r>
              <a:rPr lang="en-US" sz="1600" b="1" dirty="0">
                <a:solidFill>
                  <a:srgbClr val="C0392B"/>
                </a:solidFill>
                <a:latin typeface="Times New Roman" panose="02020603050405020304" pitchFamily="18" charset="0"/>
                <a:ea typeface="Calibri" pitchFamily="34" charset="-122"/>
                <a:cs typeface="Times New Roman" panose="02020603050405020304" pitchFamily="18" charset="0"/>
              </a:rPr>
              <a:t>Structure d'un projet Maven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274320" y="2320290"/>
            <a:ext cx="4114800" cy="3474720"/>
          </a:xfrm>
          <a:prstGeom prst="rect">
            <a:avLst/>
          </a:prstGeom>
          <a:solidFill>
            <a:srgbClr val="002060"/>
          </a:solidFill>
          <a:ln w="12700">
            <a:solidFill>
              <a:srgbClr val="333333"/>
            </a:solidFill>
            <a:prstDash val="solid"/>
          </a:ln>
        </p:spPr>
      </p:sp>
      <p:sp>
        <p:nvSpPr>
          <p:cNvPr id="7" name="Text 5"/>
          <p:cNvSpPr/>
          <p:nvPr/>
        </p:nvSpPr>
        <p:spPr>
          <a:xfrm>
            <a:off x="365760" y="2411730"/>
            <a:ext cx="3931920" cy="3200400"/>
          </a:xfrm>
          <a:prstGeom prst="rect">
            <a:avLst/>
          </a:prstGeom>
          <a:noFill/>
          <a:ln/>
        </p:spPr>
        <p:txBody>
          <a:bodyPr wrap="square" rtlCol="0" anchor="ctr"/>
          <a:lstStyle/>
          <a:p>
            <a:r>
              <a:rPr lang="en-US" sz="1100" b="1" dirty="0">
                <a:solidFill>
                  <a:srgbClr val="4FC3F7"/>
                </a:solidFill>
                <a:latin typeface="Consolas" pitchFamily="34" charset="0"/>
                <a:ea typeface="Consolas" pitchFamily="34" charset="-122"/>
                <a:cs typeface="Consolas" pitchFamily="34" charset="-120"/>
              </a:rPr>
              <a:t>mon-projet/
</a:t>
            </a:r>
            <a:r>
              <a:rPr lang="en-US" sz="1100" dirty="0">
                <a:solidFill>
                  <a:srgbClr val="A5D6A7"/>
                </a:solidFill>
                <a:latin typeface="Consolas" pitchFamily="34" charset="0"/>
                <a:ea typeface="Consolas" pitchFamily="34" charset="-122"/>
                <a:cs typeface="Consolas" pitchFamily="34" charset="-120"/>
              </a:rPr>
              <a:t>  ├── pom.xml
</a:t>
            </a:r>
            <a:r>
              <a:rPr lang="en-US" sz="1100" dirty="0">
                <a:solidFill>
                  <a:srgbClr val="FFB74D"/>
                </a:solidFill>
                <a:latin typeface="Consolas" pitchFamily="34" charset="0"/>
                <a:ea typeface="Consolas" pitchFamily="34" charset="-122"/>
                <a:cs typeface="Consolas" pitchFamily="34" charset="-120"/>
              </a:rPr>
              <a:t>  └── src/
       ├── main/
</a:t>
            </a:r>
            <a:r>
              <a:rPr lang="en-US" sz="1100" dirty="0">
                <a:solidFill>
                  <a:srgbClr val="CE93D8"/>
                </a:solidFill>
                <a:latin typeface="Consolas" pitchFamily="34" charset="0"/>
                <a:ea typeface="Consolas" pitchFamily="34" charset="-122"/>
                <a:cs typeface="Consolas" pitchFamily="34" charset="-120"/>
              </a:rPr>
              <a:t>       │    └── java/
</a:t>
            </a:r>
            <a:r>
              <a:rPr lang="en-US" sz="1100" dirty="0">
                <a:solidFill>
                  <a:srgbClr val="FFFFFF"/>
                </a:solidFill>
                <a:latin typeface="Consolas" pitchFamily="34" charset="0"/>
                <a:ea typeface="Consolas" pitchFamily="34" charset="-122"/>
                <a:cs typeface="Consolas" pitchFamily="34" charset="-120"/>
              </a:rPr>
              <a:t>       │         └── App.java
</a:t>
            </a:r>
            <a:r>
              <a:rPr lang="en-US" sz="1100" dirty="0">
                <a:solidFill>
                  <a:srgbClr val="FFB74D"/>
                </a:solidFill>
                <a:latin typeface="Consolas" pitchFamily="34" charset="0"/>
                <a:ea typeface="Consolas" pitchFamily="34" charset="-122"/>
                <a:cs typeface="Consolas" pitchFamily="34" charset="-120"/>
              </a:rPr>
              <a:t>       └── test/
</a:t>
            </a:r>
            <a:r>
              <a:rPr lang="en-US" sz="1100" dirty="0">
                <a:solidFill>
                  <a:srgbClr val="CE93D8"/>
                </a:solidFill>
                <a:latin typeface="Consolas" pitchFamily="34" charset="0"/>
                <a:ea typeface="Consolas" pitchFamily="34" charset="-122"/>
                <a:cs typeface="Consolas" pitchFamily="34" charset="-120"/>
              </a:rPr>
              <a:t>            └── java/
</a:t>
            </a:r>
            <a:r>
              <a:rPr lang="en-US" sz="1100" dirty="0">
                <a:solidFill>
                  <a:srgbClr val="FFFFFF"/>
                </a:solidFill>
                <a:latin typeface="Consolas" pitchFamily="34" charset="0"/>
                <a:ea typeface="Consolas" pitchFamily="34" charset="-122"/>
                <a:cs typeface="Consolas" pitchFamily="34" charset="-120"/>
              </a:rPr>
              <a:t>                 └── AppTest.java</a:t>
            </a:r>
            <a:endParaRPr lang="en-US" sz="1100" dirty="0"/>
          </a:p>
        </p:txBody>
      </p:sp>
      <p:sp>
        <p:nvSpPr>
          <p:cNvPr id="8" name="Text 6"/>
          <p:cNvSpPr/>
          <p:nvPr/>
        </p:nvSpPr>
        <p:spPr>
          <a:xfrm>
            <a:off x="4663440" y="1863090"/>
            <a:ext cx="4206240" cy="411480"/>
          </a:xfrm>
          <a:prstGeom prst="rect">
            <a:avLst/>
          </a:prstGeom>
          <a:noFill/>
          <a:ln/>
        </p:spPr>
        <p:txBody>
          <a:bodyPr wrap="square" rtlCol="0" anchor="ctr"/>
          <a:lstStyle/>
          <a:p>
            <a:r>
              <a:rPr lang="en-US" sz="1600" b="1" dirty="0">
                <a:solidFill>
                  <a:srgbClr val="C0392B"/>
                </a:solidFill>
                <a:latin typeface="Times New Roman" panose="02020603050405020304" pitchFamily="18" charset="0"/>
                <a:ea typeface="Calibri" pitchFamily="34" charset="-122"/>
                <a:cs typeface="Times New Roman" panose="02020603050405020304" pitchFamily="18" charset="0"/>
              </a:rPr>
              <a:t>Commandes essentielles</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4663440" y="2320290"/>
            <a:ext cx="2011680" cy="457200"/>
          </a:xfrm>
          <a:prstGeom prst="rect">
            <a:avLst/>
          </a:prstGeom>
          <a:solidFill>
            <a:srgbClr val="002060"/>
          </a:solidFill>
          <a:ln w="12700">
            <a:solidFill>
              <a:srgbClr val="444444"/>
            </a:solidFill>
            <a:prstDash val="solid"/>
          </a:ln>
        </p:spPr>
      </p:sp>
      <p:sp>
        <p:nvSpPr>
          <p:cNvPr id="10" name="Text 8"/>
          <p:cNvSpPr/>
          <p:nvPr/>
        </p:nvSpPr>
        <p:spPr>
          <a:xfrm>
            <a:off x="4709160" y="2366010"/>
            <a:ext cx="1920240" cy="365760"/>
          </a:xfrm>
          <a:prstGeom prst="rect">
            <a:avLst/>
          </a:prstGeom>
          <a:noFill/>
          <a:ln/>
        </p:spPr>
        <p:txBody>
          <a:bodyPr wrap="square" rtlCol="0" anchor="ctr"/>
          <a:lstStyle/>
          <a:p>
            <a:r>
              <a:rPr lang="en-US" sz="1100" dirty="0">
                <a:solidFill>
                  <a:srgbClr val="A5D6A7"/>
                </a:solidFill>
                <a:latin typeface="Consolas" pitchFamily="34" charset="0"/>
                <a:ea typeface="Consolas" pitchFamily="34" charset="-122"/>
                <a:cs typeface="Consolas" pitchFamily="34" charset="-120"/>
              </a:rPr>
              <a:t>mvn compile</a:t>
            </a:r>
            <a:endParaRPr lang="en-US" sz="1100" dirty="0"/>
          </a:p>
        </p:txBody>
      </p:sp>
      <p:sp>
        <p:nvSpPr>
          <p:cNvPr id="11" name="Text 9"/>
          <p:cNvSpPr/>
          <p:nvPr/>
        </p:nvSpPr>
        <p:spPr>
          <a:xfrm>
            <a:off x="6766560" y="2366010"/>
            <a:ext cx="2194560" cy="365760"/>
          </a:xfrm>
          <a:prstGeom prst="rect">
            <a:avLst/>
          </a:prstGeom>
          <a:noFill/>
          <a:ln/>
        </p:spPr>
        <p:txBody>
          <a:bodyPr wrap="square" rtlCol="0" anchor="ctr"/>
          <a:lstStyle/>
          <a:p>
            <a:pPr algn="just"/>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Compile le code source</a:t>
            </a:r>
            <a:endParaRPr lang="en-US" sz="1100" dirty="0">
              <a:latin typeface="Times New Roman" panose="02020603050405020304" pitchFamily="18" charset="0"/>
              <a:cs typeface="Times New Roman" panose="02020603050405020304" pitchFamily="18" charset="0"/>
            </a:endParaRPr>
          </a:p>
        </p:txBody>
      </p:sp>
      <p:sp>
        <p:nvSpPr>
          <p:cNvPr id="12" name="Shape 10"/>
          <p:cNvSpPr/>
          <p:nvPr/>
        </p:nvSpPr>
        <p:spPr>
          <a:xfrm>
            <a:off x="4663440" y="2978658"/>
            <a:ext cx="2011680" cy="457200"/>
          </a:xfrm>
          <a:prstGeom prst="rect">
            <a:avLst/>
          </a:prstGeom>
          <a:solidFill>
            <a:srgbClr val="1E1E1E"/>
          </a:solidFill>
          <a:ln w="12700">
            <a:solidFill>
              <a:srgbClr val="444444"/>
            </a:solidFill>
            <a:prstDash val="solid"/>
          </a:ln>
        </p:spPr>
      </p:sp>
      <p:sp>
        <p:nvSpPr>
          <p:cNvPr id="13" name="Text 11"/>
          <p:cNvSpPr/>
          <p:nvPr/>
        </p:nvSpPr>
        <p:spPr>
          <a:xfrm>
            <a:off x="4709160" y="3024378"/>
            <a:ext cx="1920240" cy="365760"/>
          </a:xfrm>
          <a:prstGeom prst="rect">
            <a:avLst/>
          </a:prstGeom>
          <a:solidFill>
            <a:srgbClr val="002060"/>
          </a:solidFill>
          <a:ln/>
        </p:spPr>
        <p:txBody>
          <a:bodyPr wrap="square" rtlCol="0" anchor="ctr"/>
          <a:lstStyle/>
          <a:p>
            <a:r>
              <a:rPr lang="en-US" sz="1100" dirty="0">
                <a:solidFill>
                  <a:srgbClr val="A5D6A7"/>
                </a:solidFill>
                <a:latin typeface="Consolas" pitchFamily="34" charset="0"/>
                <a:ea typeface="Consolas" pitchFamily="34" charset="-122"/>
                <a:cs typeface="Consolas" pitchFamily="34" charset="-120"/>
              </a:rPr>
              <a:t>mvn test</a:t>
            </a:r>
            <a:endParaRPr lang="en-US" sz="1100" dirty="0"/>
          </a:p>
        </p:txBody>
      </p:sp>
      <p:sp>
        <p:nvSpPr>
          <p:cNvPr id="14" name="Text 12"/>
          <p:cNvSpPr/>
          <p:nvPr/>
        </p:nvSpPr>
        <p:spPr>
          <a:xfrm>
            <a:off x="6766560" y="3024378"/>
            <a:ext cx="2194560" cy="365760"/>
          </a:xfrm>
          <a:prstGeom prst="rect">
            <a:avLst/>
          </a:prstGeom>
          <a:noFill/>
          <a:ln/>
        </p:spPr>
        <p:txBody>
          <a:bodyPr wrap="square" rtlCol="0" anchor="ctr"/>
          <a:lstStyle/>
          <a:p>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Lance les tests unitaires</a:t>
            </a:r>
            <a:endParaRPr lang="en-US" sz="1100" dirty="0">
              <a:latin typeface="Times New Roman" panose="02020603050405020304" pitchFamily="18" charset="0"/>
              <a:cs typeface="Times New Roman" panose="02020603050405020304" pitchFamily="18" charset="0"/>
            </a:endParaRPr>
          </a:p>
        </p:txBody>
      </p:sp>
      <p:sp>
        <p:nvSpPr>
          <p:cNvPr id="15" name="Shape 13"/>
          <p:cNvSpPr/>
          <p:nvPr/>
        </p:nvSpPr>
        <p:spPr>
          <a:xfrm>
            <a:off x="4663440" y="3637026"/>
            <a:ext cx="2011680" cy="457200"/>
          </a:xfrm>
          <a:prstGeom prst="rect">
            <a:avLst/>
          </a:prstGeom>
          <a:solidFill>
            <a:srgbClr val="002060"/>
          </a:solidFill>
          <a:ln w="12700">
            <a:solidFill>
              <a:srgbClr val="444444"/>
            </a:solidFill>
            <a:prstDash val="solid"/>
          </a:ln>
        </p:spPr>
      </p:sp>
      <p:sp>
        <p:nvSpPr>
          <p:cNvPr id="16" name="Text 14"/>
          <p:cNvSpPr/>
          <p:nvPr/>
        </p:nvSpPr>
        <p:spPr>
          <a:xfrm>
            <a:off x="4709160" y="3682746"/>
            <a:ext cx="1920240" cy="365760"/>
          </a:xfrm>
          <a:prstGeom prst="rect">
            <a:avLst/>
          </a:prstGeom>
          <a:noFill/>
          <a:ln/>
        </p:spPr>
        <p:txBody>
          <a:bodyPr wrap="square" rtlCol="0" anchor="ctr"/>
          <a:lstStyle/>
          <a:p>
            <a:r>
              <a:rPr lang="en-US" sz="1100" dirty="0">
                <a:solidFill>
                  <a:srgbClr val="A5D6A7"/>
                </a:solidFill>
                <a:latin typeface="Consolas" pitchFamily="34" charset="0"/>
                <a:ea typeface="Consolas" pitchFamily="34" charset="-122"/>
                <a:cs typeface="Consolas" pitchFamily="34" charset="-120"/>
              </a:rPr>
              <a:t>mvn package</a:t>
            </a:r>
            <a:endParaRPr lang="en-US" sz="1100" dirty="0"/>
          </a:p>
        </p:txBody>
      </p:sp>
      <p:sp>
        <p:nvSpPr>
          <p:cNvPr id="17" name="Text 15"/>
          <p:cNvSpPr/>
          <p:nvPr/>
        </p:nvSpPr>
        <p:spPr>
          <a:xfrm>
            <a:off x="6766560" y="3682746"/>
            <a:ext cx="2194560" cy="365760"/>
          </a:xfrm>
          <a:prstGeom prst="rect">
            <a:avLst/>
          </a:prstGeom>
          <a:noFill/>
          <a:ln/>
        </p:spPr>
        <p:txBody>
          <a:bodyPr wrap="square" rtlCol="0" anchor="ctr"/>
          <a:lstStyle/>
          <a:p>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Crée le fichier JAR</a:t>
            </a:r>
            <a:endParaRPr lang="en-US" sz="1100" dirty="0">
              <a:latin typeface="Times New Roman" panose="02020603050405020304" pitchFamily="18" charset="0"/>
              <a:cs typeface="Times New Roman" panose="02020603050405020304" pitchFamily="18" charset="0"/>
            </a:endParaRPr>
          </a:p>
        </p:txBody>
      </p:sp>
      <p:sp>
        <p:nvSpPr>
          <p:cNvPr id="18" name="Shape 16"/>
          <p:cNvSpPr/>
          <p:nvPr/>
        </p:nvSpPr>
        <p:spPr>
          <a:xfrm>
            <a:off x="4663440" y="4295394"/>
            <a:ext cx="2011680" cy="457200"/>
          </a:xfrm>
          <a:prstGeom prst="rect">
            <a:avLst/>
          </a:prstGeom>
          <a:solidFill>
            <a:srgbClr val="002060"/>
          </a:solidFill>
          <a:ln w="12700">
            <a:solidFill>
              <a:srgbClr val="444444"/>
            </a:solidFill>
            <a:prstDash val="solid"/>
          </a:ln>
        </p:spPr>
      </p:sp>
      <p:sp>
        <p:nvSpPr>
          <p:cNvPr id="19" name="Text 17"/>
          <p:cNvSpPr/>
          <p:nvPr/>
        </p:nvSpPr>
        <p:spPr>
          <a:xfrm>
            <a:off x="4709160" y="4341114"/>
            <a:ext cx="1920240" cy="365760"/>
          </a:xfrm>
          <a:prstGeom prst="rect">
            <a:avLst/>
          </a:prstGeom>
          <a:noFill/>
          <a:ln/>
        </p:spPr>
        <p:txBody>
          <a:bodyPr wrap="square" rtlCol="0" anchor="ctr"/>
          <a:lstStyle/>
          <a:p>
            <a:r>
              <a:rPr lang="en-US" sz="1100" dirty="0">
                <a:solidFill>
                  <a:srgbClr val="A5D6A7"/>
                </a:solidFill>
                <a:latin typeface="Consolas" pitchFamily="34" charset="0"/>
                <a:ea typeface="Consolas" pitchFamily="34" charset="-122"/>
                <a:cs typeface="Consolas" pitchFamily="34" charset="-120"/>
              </a:rPr>
              <a:t>mvn install</a:t>
            </a:r>
            <a:endParaRPr lang="en-US" sz="1100" dirty="0"/>
          </a:p>
        </p:txBody>
      </p:sp>
      <p:sp>
        <p:nvSpPr>
          <p:cNvPr id="20" name="Text 18"/>
          <p:cNvSpPr/>
          <p:nvPr/>
        </p:nvSpPr>
        <p:spPr>
          <a:xfrm>
            <a:off x="6766560" y="4341114"/>
            <a:ext cx="2194560" cy="365760"/>
          </a:xfrm>
          <a:prstGeom prst="rect">
            <a:avLst/>
          </a:prstGeom>
          <a:noFill/>
          <a:ln/>
        </p:spPr>
        <p:txBody>
          <a:bodyPr wrap="square" rtlCol="0" anchor="ctr"/>
          <a:lstStyle/>
          <a:p>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Installe dans le dépôt local</a:t>
            </a:r>
            <a:endParaRPr lang="en-US" sz="1100" dirty="0">
              <a:latin typeface="Times New Roman" panose="02020603050405020304" pitchFamily="18" charset="0"/>
              <a:cs typeface="Times New Roman" panose="02020603050405020304" pitchFamily="18" charset="0"/>
            </a:endParaRPr>
          </a:p>
        </p:txBody>
      </p:sp>
      <p:sp>
        <p:nvSpPr>
          <p:cNvPr id="21" name="Shape 19"/>
          <p:cNvSpPr/>
          <p:nvPr/>
        </p:nvSpPr>
        <p:spPr>
          <a:xfrm>
            <a:off x="4663440" y="4953762"/>
            <a:ext cx="2011680" cy="457200"/>
          </a:xfrm>
          <a:prstGeom prst="rect">
            <a:avLst/>
          </a:prstGeom>
          <a:solidFill>
            <a:srgbClr val="002060"/>
          </a:solidFill>
          <a:ln w="12700">
            <a:solidFill>
              <a:srgbClr val="444444"/>
            </a:solidFill>
            <a:prstDash val="solid"/>
          </a:ln>
        </p:spPr>
      </p:sp>
      <p:sp>
        <p:nvSpPr>
          <p:cNvPr id="22" name="Text 20"/>
          <p:cNvSpPr/>
          <p:nvPr/>
        </p:nvSpPr>
        <p:spPr>
          <a:xfrm>
            <a:off x="4709160" y="4999482"/>
            <a:ext cx="1920240" cy="365760"/>
          </a:xfrm>
          <a:prstGeom prst="rect">
            <a:avLst/>
          </a:prstGeom>
          <a:noFill/>
          <a:ln/>
        </p:spPr>
        <p:txBody>
          <a:bodyPr wrap="square" rtlCol="0" anchor="ctr"/>
          <a:lstStyle/>
          <a:p>
            <a:r>
              <a:rPr lang="en-US" sz="1100" dirty="0">
                <a:solidFill>
                  <a:srgbClr val="A5D6A7"/>
                </a:solidFill>
                <a:latin typeface="Consolas" pitchFamily="34" charset="0"/>
                <a:ea typeface="Consolas" pitchFamily="34" charset="-122"/>
                <a:cs typeface="Consolas" pitchFamily="34" charset="-120"/>
              </a:rPr>
              <a:t>mvn clean</a:t>
            </a:r>
            <a:endParaRPr lang="en-US" sz="1100" dirty="0"/>
          </a:p>
        </p:txBody>
      </p:sp>
      <p:sp>
        <p:nvSpPr>
          <p:cNvPr id="23" name="Text 21"/>
          <p:cNvSpPr/>
          <p:nvPr/>
        </p:nvSpPr>
        <p:spPr>
          <a:xfrm>
            <a:off x="6766560" y="4999482"/>
            <a:ext cx="2194560" cy="365760"/>
          </a:xfrm>
          <a:prstGeom prst="rect">
            <a:avLst/>
          </a:prstGeom>
          <a:noFill/>
          <a:ln/>
        </p:spPr>
        <p:txBody>
          <a:bodyPr wrap="square" rtlCol="0" anchor="ctr"/>
          <a:lstStyle/>
          <a:p>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Supprime les fichiers générés</a:t>
            </a:r>
            <a:endParaRPr lang="en-US" sz="1100" dirty="0">
              <a:latin typeface="Times New Roman" panose="02020603050405020304" pitchFamily="18" charset="0"/>
              <a:cs typeface="Times New Roman" panose="02020603050405020304" pitchFamily="18" charset="0"/>
            </a:endParaRPr>
          </a:p>
        </p:txBody>
      </p:sp>
      <p:pic>
        <p:nvPicPr>
          <p:cNvPr id="25" name="Image 24">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26"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a:pPr>
            <a:r>
              <a:rPr lang="fr-CA" sz="2400" kern="0" smtClean="0">
                <a:solidFill>
                  <a:srgbClr val="FF0000"/>
                </a:solidFill>
              </a:rPr>
              <a:t>PROJET MAVEN SIMPLE</a:t>
            </a:r>
            <a:endParaRPr lang="fr-CA" sz="2400" kern="0" dirty="0">
              <a:solidFill>
                <a:srgbClr val="FF0000"/>
              </a:solidFill>
            </a:endParaRPr>
          </a:p>
        </p:txBody>
      </p:sp>
      <p:sp>
        <p:nvSpPr>
          <p:cNvPr id="27" name="ZoneTexte 26"/>
          <p:cNvSpPr txBox="1"/>
          <p:nvPr/>
        </p:nvSpPr>
        <p:spPr>
          <a:xfrm>
            <a:off x="179512" y="1556792"/>
            <a:ext cx="4118168" cy="861774"/>
          </a:xfrm>
          <a:prstGeom prst="rect">
            <a:avLst/>
          </a:prstGeom>
          <a:noFill/>
        </p:spPr>
        <p:txBody>
          <a:bodyPr wrap="square" rtlCol="0">
            <a:spAutoFit/>
          </a:bodyPr>
          <a:lstStyle/>
          <a:p>
            <a:r>
              <a:rPr lang="fr-FR" sz="1600" dirty="0">
                <a:latin typeface="Times New Roman" panose="02020603050405020304" pitchFamily="18" charset="0"/>
                <a:cs typeface="Times New Roman" panose="02020603050405020304" pitchFamily="18" charset="0"/>
              </a:rPr>
              <a:t>Tous les projets </a:t>
            </a:r>
            <a:r>
              <a:rPr lang="fr-FR" sz="1600" dirty="0" err="1">
                <a:latin typeface="Times New Roman" panose="02020603050405020304" pitchFamily="18" charset="0"/>
                <a:cs typeface="Times New Roman" panose="02020603050405020304" pitchFamily="18" charset="0"/>
              </a:rPr>
              <a:t>Maven</a:t>
            </a:r>
            <a:r>
              <a:rPr lang="fr-FR" sz="1600" dirty="0">
                <a:latin typeface="Times New Roman" panose="02020603050405020304" pitchFamily="18" charset="0"/>
                <a:cs typeface="Times New Roman" panose="02020603050405020304" pitchFamily="18" charset="0"/>
              </a:rPr>
              <a:t> suivent la même structure. Voici l'arborescence standard :</a:t>
            </a:r>
          </a:p>
          <a:p>
            <a:endParaRPr lang="fr-FR" dirty="0"/>
          </a:p>
        </p:txBody>
      </p:sp>
      <p:pic>
        <p:nvPicPr>
          <p:cNvPr id="28" name="Image 27">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117738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54864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III.  PROJET MULTI-MODULE</a:t>
            </a:r>
            <a:endParaRPr lang="en-US" sz="2200" dirty="0"/>
          </a:p>
        </p:txBody>
      </p:sp>
      <p:sp>
        <p:nvSpPr>
          <p:cNvPr id="5" name="Text 3"/>
          <p:cNvSpPr/>
          <p:nvPr/>
        </p:nvSpPr>
        <p:spPr>
          <a:xfrm>
            <a:off x="274320" y="1040130"/>
            <a:ext cx="8595360" cy="1371600"/>
          </a:xfrm>
          <a:prstGeom prst="rect">
            <a:avLst/>
          </a:prstGeom>
          <a:noFill/>
          <a:ln/>
        </p:spPr>
        <p:txBody>
          <a:bodyPr wrap="square" rtlCol="0" anchor="ctr"/>
          <a:lstStyle/>
          <a:p>
            <a:pPr algn="just"/>
            <a:r>
              <a:rPr lang="en-US" dirty="0">
                <a:solidFill>
                  <a:srgbClr val="1A1A2E"/>
                </a:solidFill>
                <a:latin typeface="Times New Roman" panose="02020603050405020304" pitchFamily="18" charset="0"/>
                <a:ea typeface="Calibri" pitchFamily="34" charset="-122"/>
                <a:cs typeface="Times New Roman" panose="02020603050405020304" pitchFamily="18" charset="0"/>
              </a:rPr>
              <a:t>Un projet Maven peut contenir plusieurs sous-modules qui partagent les mêmes dépendances et configuration.</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274320" y="2457450"/>
            <a:ext cx="3840480" cy="3291840"/>
          </a:xfrm>
          <a:prstGeom prst="rect">
            <a:avLst/>
          </a:prstGeom>
          <a:solidFill>
            <a:srgbClr val="002060"/>
          </a:solidFill>
          <a:ln w="12700">
            <a:solidFill>
              <a:srgbClr val="333333"/>
            </a:solidFill>
            <a:prstDash val="solid"/>
          </a:ln>
        </p:spPr>
      </p:sp>
      <p:sp>
        <p:nvSpPr>
          <p:cNvPr id="7" name="Text 5"/>
          <p:cNvSpPr/>
          <p:nvPr/>
        </p:nvSpPr>
        <p:spPr>
          <a:xfrm>
            <a:off x="365760" y="2548890"/>
            <a:ext cx="3657600" cy="3108960"/>
          </a:xfrm>
          <a:prstGeom prst="rect">
            <a:avLst/>
          </a:prstGeom>
          <a:noFill/>
          <a:ln/>
        </p:spPr>
        <p:txBody>
          <a:bodyPr wrap="square" rtlCol="0" anchor="ctr"/>
          <a:lstStyle/>
          <a:p>
            <a:r>
              <a:rPr lang="en-US" sz="1050" b="1" dirty="0">
                <a:solidFill>
                  <a:srgbClr val="4FC3F7"/>
                </a:solidFill>
                <a:latin typeface="Consolas" pitchFamily="34" charset="0"/>
                <a:ea typeface="Consolas" pitchFamily="34" charset="-122"/>
                <a:cs typeface="Consolas" pitchFamily="34" charset="-120"/>
              </a:rPr>
              <a:t>parent-projet/
</a:t>
            </a:r>
            <a:r>
              <a:rPr lang="en-US" sz="1050" dirty="0">
                <a:solidFill>
                  <a:srgbClr val="A5D6A7"/>
                </a:solidFill>
                <a:latin typeface="Consolas" pitchFamily="34" charset="0"/>
                <a:ea typeface="Consolas" pitchFamily="34" charset="-122"/>
                <a:cs typeface="Consolas" pitchFamily="34" charset="-120"/>
              </a:rPr>
              <a:t>  ├── pom.xml  (parent)
</a:t>
            </a:r>
            <a:r>
              <a:rPr lang="en-US" sz="1050" dirty="0">
                <a:solidFill>
                  <a:srgbClr val="FFB74D"/>
                </a:solidFill>
                <a:latin typeface="Consolas" pitchFamily="34" charset="0"/>
                <a:ea typeface="Consolas" pitchFamily="34" charset="-122"/>
                <a:cs typeface="Consolas" pitchFamily="34" charset="-120"/>
              </a:rPr>
              <a:t>  ├── module-core/
</a:t>
            </a:r>
            <a:r>
              <a:rPr lang="en-US" sz="1050" dirty="0">
                <a:solidFill>
                  <a:srgbClr val="A5D6A7"/>
                </a:solidFill>
                <a:latin typeface="Consolas" pitchFamily="34" charset="0"/>
                <a:ea typeface="Consolas" pitchFamily="34" charset="-122"/>
                <a:cs typeface="Consolas" pitchFamily="34" charset="-120"/>
              </a:rPr>
              <a:t>  │    ├── pom.xml
</a:t>
            </a:r>
            <a:r>
              <a:rPr lang="en-US" sz="1050" dirty="0">
                <a:solidFill>
                  <a:srgbClr val="FFFFFF"/>
                </a:solidFill>
                <a:latin typeface="Consolas" pitchFamily="34" charset="0"/>
                <a:ea typeface="Consolas" pitchFamily="34" charset="-122"/>
                <a:cs typeface="Consolas" pitchFamily="34" charset="-120"/>
              </a:rPr>
              <a:t>  │    └── src/...
</a:t>
            </a:r>
            <a:r>
              <a:rPr lang="en-US" sz="1050" dirty="0">
                <a:solidFill>
                  <a:srgbClr val="FFB74D"/>
                </a:solidFill>
                <a:latin typeface="Consolas" pitchFamily="34" charset="0"/>
                <a:ea typeface="Consolas" pitchFamily="34" charset="-122"/>
                <a:cs typeface="Consolas" pitchFamily="34" charset="-120"/>
              </a:rPr>
              <a:t>  ├── module-service/
</a:t>
            </a:r>
            <a:r>
              <a:rPr lang="en-US" sz="1050" dirty="0">
                <a:solidFill>
                  <a:srgbClr val="A5D6A7"/>
                </a:solidFill>
                <a:latin typeface="Consolas" pitchFamily="34" charset="0"/>
                <a:ea typeface="Consolas" pitchFamily="34" charset="-122"/>
                <a:cs typeface="Consolas" pitchFamily="34" charset="-120"/>
              </a:rPr>
              <a:t>  │    ├── pom.xml
</a:t>
            </a:r>
            <a:r>
              <a:rPr lang="en-US" sz="1050" dirty="0">
                <a:solidFill>
                  <a:srgbClr val="FFFFFF"/>
                </a:solidFill>
                <a:latin typeface="Consolas" pitchFamily="34" charset="0"/>
                <a:ea typeface="Consolas" pitchFamily="34" charset="-122"/>
                <a:cs typeface="Consolas" pitchFamily="34" charset="-120"/>
              </a:rPr>
              <a:t>  │    └── src/...
</a:t>
            </a:r>
            <a:r>
              <a:rPr lang="en-US" sz="1050" dirty="0">
                <a:solidFill>
                  <a:srgbClr val="FFB74D"/>
                </a:solidFill>
                <a:latin typeface="Consolas" pitchFamily="34" charset="0"/>
                <a:ea typeface="Consolas" pitchFamily="34" charset="-122"/>
                <a:cs typeface="Consolas" pitchFamily="34" charset="-120"/>
              </a:rPr>
              <a:t>  └── module-web/
</a:t>
            </a:r>
            <a:r>
              <a:rPr lang="en-US" sz="1050" dirty="0">
                <a:solidFill>
                  <a:srgbClr val="A5D6A7"/>
                </a:solidFill>
                <a:latin typeface="Consolas" pitchFamily="34" charset="0"/>
                <a:ea typeface="Consolas" pitchFamily="34" charset="-122"/>
                <a:cs typeface="Consolas" pitchFamily="34" charset="-120"/>
              </a:rPr>
              <a:t>       ├── pom.xml
</a:t>
            </a:r>
            <a:r>
              <a:rPr lang="en-US" sz="1050" dirty="0">
                <a:solidFill>
                  <a:srgbClr val="FFFFFF"/>
                </a:solidFill>
                <a:latin typeface="Consolas" pitchFamily="34" charset="0"/>
                <a:ea typeface="Consolas" pitchFamily="34" charset="-122"/>
                <a:cs typeface="Consolas" pitchFamily="34" charset="-120"/>
              </a:rPr>
              <a:t>       └── src/...</a:t>
            </a:r>
            <a:endParaRPr lang="en-US" sz="1050" dirty="0"/>
          </a:p>
        </p:txBody>
      </p:sp>
      <p:sp>
        <p:nvSpPr>
          <p:cNvPr id="8" name="Text 6"/>
          <p:cNvSpPr/>
          <p:nvPr/>
        </p:nvSpPr>
        <p:spPr>
          <a:xfrm>
            <a:off x="4572000" y="2457450"/>
            <a:ext cx="4297680" cy="365760"/>
          </a:xfrm>
          <a:prstGeom prst="rect">
            <a:avLst/>
          </a:prstGeom>
          <a:noFill/>
          <a:ln/>
        </p:spPr>
        <p:txBody>
          <a:bodyPr wrap="square" rtlCol="0" anchor="ctr"/>
          <a:lstStyle/>
          <a:p>
            <a:r>
              <a:rPr lang="en-US" sz="1500" b="1" dirty="0">
                <a:solidFill>
                  <a:srgbClr val="C0392B"/>
                </a:solidFill>
                <a:latin typeface="Times New Roman" panose="02020603050405020304" pitchFamily="18" charset="0"/>
                <a:ea typeface="Calibri" pitchFamily="34" charset="-122"/>
                <a:cs typeface="Times New Roman" panose="02020603050405020304" pitchFamily="18" charset="0"/>
              </a:rPr>
              <a:t>Avantages</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4572000" y="2914650"/>
            <a:ext cx="4297680" cy="64008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  Chaque module a son propre rôle (core, service, web)</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4572000" y="3664458"/>
            <a:ext cx="4297680" cy="64008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  Le pom.xml parent centralise les dépendances communes</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4572000" y="4414266"/>
            <a:ext cx="4297680" cy="64008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  mvn install depuis la racine compile tout le projet</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4572000" y="5164074"/>
            <a:ext cx="4297680" cy="64008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  Idéal pour les grandes applications d'entreprise</a:t>
            </a:r>
            <a:endParaRPr lang="en-US" sz="1200" dirty="0">
              <a:latin typeface="Times New Roman" panose="02020603050405020304" pitchFamily="18" charset="0"/>
              <a:cs typeface="Times New Roman" panose="02020603050405020304" pitchFamily="18" charset="0"/>
            </a:endParaRPr>
          </a:p>
        </p:txBody>
      </p:sp>
      <p:pic>
        <p:nvPicPr>
          <p:cNvPr id="14" name="Image 13">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15"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2"/>
            </a:pPr>
            <a:r>
              <a:rPr lang="fr-CA" sz="2400" kern="0" smtClean="0">
                <a:solidFill>
                  <a:srgbClr val="FF0000"/>
                </a:solidFill>
              </a:rPr>
              <a:t>PROJET MULTI-MODULE</a:t>
            </a:r>
            <a:endParaRPr lang="fr-CA" sz="2400" kern="0" dirty="0">
              <a:solidFill>
                <a:srgbClr val="FF0000"/>
              </a:solidFill>
            </a:endParaRPr>
          </a:p>
        </p:txBody>
      </p:sp>
      <p:pic>
        <p:nvPicPr>
          <p:cNvPr id="16" name="Image 15">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2569207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274320" y="1040130"/>
            <a:ext cx="8595360" cy="1280160"/>
          </a:xfrm>
          <a:prstGeom prst="rect">
            <a:avLst/>
          </a:prstGeom>
          <a:noFill/>
          <a:ln/>
        </p:spPr>
        <p:txBody>
          <a:bodyPr wrap="square" rtlCol="0" anchor="ctr"/>
          <a:lstStyle/>
          <a:p>
            <a:pPr algn="just"/>
            <a:r>
              <a:rPr lang="fr-FR" dirty="0">
                <a:solidFill>
                  <a:srgbClr val="1A1A2E"/>
                </a:solidFill>
                <a:latin typeface="Times New Roman" panose="02020603050405020304" pitchFamily="18" charset="0"/>
                <a:ea typeface="Calibri" pitchFamily="34" charset="-122"/>
                <a:cs typeface="Times New Roman" panose="02020603050405020304" pitchFamily="18" charset="0"/>
              </a:rPr>
              <a:t>POM signifie Project Object Model. C'est le fichier pom.xml, le cœur de tout projet </a:t>
            </a:r>
            <a:r>
              <a:rPr lang="fr-FR" dirty="0" err="1">
                <a:solidFill>
                  <a:srgbClr val="1A1A2E"/>
                </a:solidFill>
                <a:latin typeface="Times New Roman" panose="02020603050405020304" pitchFamily="18" charset="0"/>
                <a:ea typeface="Calibri" pitchFamily="34" charset="-122"/>
                <a:cs typeface="Times New Roman" panose="02020603050405020304" pitchFamily="18" charset="0"/>
              </a:rPr>
              <a:t>Maven</a:t>
            </a:r>
            <a:r>
              <a:rPr lang="fr-FR" dirty="0">
                <a:solidFill>
                  <a:srgbClr val="1A1A2E"/>
                </a:solidFill>
                <a:latin typeface="Times New Roman" panose="02020603050405020304" pitchFamily="18" charset="0"/>
                <a:ea typeface="Calibri" pitchFamily="34" charset="-122"/>
                <a:cs typeface="Times New Roman" panose="02020603050405020304" pitchFamily="18" charset="0"/>
              </a:rPr>
              <a:t>. Il décrit le projet, ses dépendances et comment le construire.</a:t>
            </a:r>
            <a:r>
              <a:rPr lang="en-US" dirty="0" smtClean="0">
                <a:solidFill>
                  <a:srgbClr val="1A1A2E"/>
                </a:solidFill>
                <a:latin typeface="Times New Roman" panose="02020603050405020304" pitchFamily="18" charset="0"/>
                <a:ea typeface="Calibri"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274320" y="2366010"/>
            <a:ext cx="4572000" cy="3383280"/>
          </a:xfrm>
          <a:prstGeom prst="rect">
            <a:avLst/>
          </a:prstGeom>
          <a:solidFill>
            <a:srgbClr val="002060"/>
          </a:solidFill>
          <a:ln w="12700">
            <a:solidFill>
              <a:srgbClr val="333333"/>
            </a:solidFill>
            <a:prstDash val="solid"/>
          </a:ln>
        </p:spPr>
      </p:sp>
      <p:sp>
        <p:nvSpPr>
          <p:cNvPr id="7" name="Text 5"/>
          <p:cNvSpPr/>
          <p:nvPr/>
        </p:nvSpPr>
        <p:spPr>
          <a:xfrm>
            <a:off x="365760" y="2430018"/>
            <a:ext cx="4389120" cy="3200400"/>
          </a:xfrm>
          <a:prstGeom prst="rect">
            <a:avLst/>
          </a:prstGeom>
          <a:noFill/>
          <a:ln/>
        </p:spPr>
        <p:txBody>
          <a:bodyPr wrap="square" rtlCol="0" anchor="ctr"/>
          <a:lstStyle/>
          <a:p>
            <a:r>
              <a:rPr lang="en-US" sz="1000" dirty="0">
                <a:solidFill>
                  <a:srgbClr val="4FC3F7"/>
                </a:solidFill>
                <a:latin typeface="Consolas" pitchFamily="34" charset="0"/>
                <a:ea typeface="Consolas" pitchFamily="34" charset="-122"/>
                <a:cs typeface="Consolas" pitchFamily="34" charset="-120"/>
              </a:rPr>
              <a:t>&lt;project&gt;
</a:t>
            </a:r>
            <a:r>
              <a:rPr lang="en-US" sz="1000" dirty="0">
                <a:solidFill>
                  <a:srgbClr val="A5D6A7"/>
                </a:solidFill>
                <a:latin typeface="Consolas" pitchFamily="34" charset="0"/>
                <a:ea typeface="Consolas" pitchFamily="34" charset="-122"/>
                <a:cs typeface="Consolas" pitchFamily="34" charset="-120"/>
              </a:rPr>
              <a:t>  &lt;groupId&gt;</a:t>
            </a:r>
            <a:r>
              <a:rPr lang="en-US" sz="1000" dirty="0">
                <a:solidFill>
                  <a:srgbClr val="FFCC80"/>
                </a:solidFill>
                <a:latin typeface="Consolas" pitchFamily="34" charset="0"/>
                <a:ea typeface="Consolas" pitchFamily="34" charset="-122"/>
                <a:cs typeface="Consolas" pitchFamily="34" charset="-120"/>
              </a:rPr>
              <a:t>com.example</a:t>
            </a:r>
            <a:r>
              <a:rPr lang="en-US" sz="1000" dirty="0">
                <a:solidFill>
                  <a:srgbClr val="A5D6A7"/>
                </a:solidFill>
                <a:latin typeface="Consolas" pitchFamily="34" charset="0"/>
                <a:ea typeface="Consolas" pitchFamily="34" charset="-122"/>
                <a:cs typeface="Consolas" pitchFamily="34" charset="-120"/>
              </a:rPr>
              <a:t>&lt;/groupId&gt;
  &lt;artifactId&gt;</a:t>
            </a:r>
            <a:r>
              <a:rPr lang="en-US" sz="1000" dirty="0">
                <a:solidFill>
                  <a:srgbClr val="FFCC80"/>
                </a:solidFill>
                <a:latin typeface="Consolas" pitchFamily="34" charset="0"/>
                <a:ea typeface="Consolas" pitchFamily="34" charset="-122"/>
                <a:cs typeface="Consolas" pitchFamily="34" charset="-120"/>
              </a:rPr>
              <a:t>mon-app</a:t>
            </a:r>
            <a:r>
              <a:rPr lang="en-US" sz="1000" dirty="0">
                <a:solidFill>
                  <a:srgbClr val="A5D6A7"/>
                </a:solidFill>
                <a:latin typeface="Consolas" pitchFamily="34" charset="0"/>
                <a:ea typeface="Consolas" pitchFamily="34" charset="-122"/>
                <a:cs typeface="Consolas" pitchFamily="34" charset="-120"/>
              </a:rPr>
              <a:t>&lt;/artifactId&gt;
  &lt;version&gt;</a:t>
            </a:r>
            <a:r>
              <a:rPr lang="en-US" sz="1000" dirty="0">
                <a:solidFill>
                  <a:srgbClr val="FFCC80"/>
                </a:solidFill>
                <a:latin typeface="Consolas" pitchFamily="34" charset="0"/>
                <a:ea typeface="Consolas" pitchFamily="34" charset="-122"/>
                <a:cs typeface="Consolas" pitchFamily="34" charset="-120"/>
              </a:rPr>
              <a:t>1.0.0</a:t>
            </a:r>
            <a:r>
              <a:rPr lang="en-US" sz="1000" dirty="0">
                <a:solidFill>
                  <a:srgbClr val="A5D6A7"/>
                </a:solidFill>
                <a:latin typeface="Consolas" pitchFamily="34" charset="0"/>
                <a:ea typeface="Consolas" pitchFamily="34" charset="-122"/>
                <a:cs typeface="Consolas" pitchFamily="34" charset="-120"/>
              </a:rPr>
              <a:t>&lt;/version&gt;
</a:t>
            </a:r>
            <a:r>
              <a:rPr lang="en-US" sz="1000" dirty="0">
                <a:solidFill>
                  <a:srgbClr val="4FC3F7"/>
                </a:solidFill>
                <a:latin typeface="Consolas" pitchFamily="34" charset="0"/>
                <a:ea typeface="Consolas" pitchFamily="34" charset="-122"/>
                <a:cs typeface="Consolas" pitchFamily="34" charset="-120"/>
              </a:rPr>
              <a:t>  &lt;dependencies&gt;
    &lt;dependency&gt;
</a:t>
            </a:r>
            <a:r>
              <a:rPr lang="en-US" sz="1000" dirty="0">
                <a:solidFill>
                  <a:srgbClr val="A5D6A7"/>
                </a:solidFill>
                <a:latin typeface="Consolas" pitchFamily="34" charset="0"/>
                <a:ea typeface="Consolas" pitchFamily="34" charset="-122"/>
                <a:cs typeface="Consolas" pitchFamily="34" charset="-120"/>
              </a:rPr>
              <a:t>      &lt;groupId&gt;</a:t>
            </a:r>
            <a:r>
              <a:rPr lang="en-US" sz="1000" dirty="0">
                <a:solidFill>
                  <a:srgbClr val="FFCC80"/>
                </a:solidFill>
                <a:latin typeface="Consolas" pitchFamily="34" charset="0"/>
                <a:ea typeface="Consolas" pitchFamily="34" charset="-122"/>
                <a:cs typeface="Consolas" pitchFamily="34" charset="-120"/>
              </a:rPr>
              <a:t>junit</a:t>
            </a:r>
            <a:r>
              <a:rPr lang="en-US" sz="1000" dirty="0">
                <a:solidFill>
                  <a:srgbClr val="A5D6A7"/>
                </a:solidFill>
                <a:latin typeface="Consolas" pitchFamily="34" charset="0"/>
                <a:ea typeface="Consolas" pitchFamily="34" charset="-122"/>
                <a:cs typeface="Consolas" pitchFamily="34" charset="-120"/>
              </a:rPr>
              <a:t>&lt;/groupId&gt;
      &lt;artifactId&gt;</a:t>
            </a:r>
            <a:r>
              <a:rPr lang="en-US" sz="1000" dirty="0">
                <a:solidFill>
                  <a:srgbClr val="FFCC80"/>
                </a:solidFill>
                <a:latin typeface="Consolas" pitchFamily="34" charset="0"/>
                <a:ea typeface="Consolas" pitchFamily="34" charset="-122"/>
                <a:cs typeface="Consolas" pitchFamily="34" charset="-120"/>
              </a:rPr>
              <a:t>junit</a:t>
            </a:r>
            <a:r>
              <a:rPr lang="en-US" sz="1000" dirty="0">
                <a:solidFill>
                  <a:srgbClr val="A5D6A7"/>
                </a:solidFill>
                <a:latin typeface="Consolas" pitchFamily="34" charset="0"/>
                <a:ea typeface="Consolas" pitchFamily="34" charset="-122"/>
                <a:cs typeface="Consolas" pitchFamily="34" charset="-120"/>
              </a:rPr>
              <a:t>&lt;/artifactId&gt;
      &lt;version&gt;</a:t>
            </a:r>
            <a:r>
              <a:rPr lang="en-US" sz="1000" dirty="0">
                <a:solidFill>
                  <a:srgbClr val="FFCC80"/>
                </a:solidFill>
                <a:latin typeface="Consolas" pitchFamily="34" charset="0"/>
                <a:ea typeface="Consolas" pitchFamily="34" charset="-122"/>
                <a:cs typeface="Consolas" pitchFamily="34" charset="-120"/>
              </a:rPr>
              <a:t>4.13</a:t>
            </a:r>
            <a:r>
              <a:rPr lang="en-US" sz="1000" dirty="0">
                <a:solidFill>
                  <a:srgbClr val="A5D6A7"/>
                </a:solidFill>
                <a:latin typeface="Consolas" pitchFamily="34" charset="0"/>
                <a:ea typeface="Consolas" pitchFamily="34" charset="-122"/>
                <a:cs typeface="Consolas" pitchFamily="34" charset="-120"/>
              </a:rPr>
              <a:t>&lt;/version&gt;
</a:t>
            </a:r>
            <a:r>
              <a:rPr lang="en-US" sz="1000" dirty="0">
                <a:solidFill>
                  <a:srgbClr val="4FC3F7"/>
                </a:solidFill>
                <a:latin typeface="Consolas" pitchFamily="34" charset="0"/>
                <a:ea typeface="Consolas" pitchFamily="34" charset="-122"/>
                <a:cs typeface="Consolas" pitchFamily="34" charset="-120"/>
              </a:rPr>
              <a:t>    &lt;/dependency&gt;
  &lt;/dependencies&gt;
&lt;/project&gt;</a:t>
            </a:r>
            <a:endParaRPr lang="en-US" sz="1000" dirty="0"/>
          </a:p>
        </p:txBody>
      </p:sp>
      <p:sp>
        <p:nvSpPr>
          <p:cNvPr id="8" name="Text 6"/>
          <p:cNvSpPr/>
          <p:nvPr/>
        </p:nvSpPr>
        <p:spPr>
          <a:xfrm>
            <a:off x="5029200" y="2366010"/>
            <a:ext cx="3840480" cy="365760"/>
          </a:xfrm>
          <a:prstGeom prst="rect">
            <a:avLst/>
          </a:prstGeom>
          <a:noFill/>
          <a:ln/>
        </p:spPr>
        <p:txBody>
          <a:bodyPr wrap="square" rtlCol="0" anchor="ctr"/>
          <a:lstStyle/>
          <a:p>
            <a:r>
              <a:rPr lang="en-US" sz="1500" b="1" dirty="0">
                <a:solidFill>
                  <a:srgbClr val="C0392B"/>
                </a:solidFill>
                <a:latin typeface="Times New Roman" panose="02020603050405020304" pitchFamily="18" charset="0"/>
                <a:ea typeface="Calibri" pitchFamily="34" charset="-122"/>
                <a:cs typeface="Times New Roman" panose="02020603050405020304" pitchFamily="18" charset="0"/>
              </a:rPr>
              <a:t>Les balises clés</a:t>
            </a:r>
            <a:endParaRPr lang="en-US" sz="1500" dirty="0">
              <a:latin typeface="Times New Roman" panose="02020603050405020304" pitchFamily="18" charset="0"/>
              <a:cs typeface="Times New Roman" panose="02020603050405020304" pitchFamily="18" charset="0"/>
            </a:endParaRPr>
          </a:p>
        </p:txBody>
      </p:sp>
      <p:sp>
        <p:nvSpPr>
          <p:cNvPr id="9" name="Shape 7"/>
          <p:cNvSpPr/>
          <p:nvPr/>
        </p:nvSpPr>
        <p:spPr>
          <a:xfrm>
            <a:off x="5029200" y="2823210"/>
            <a:ext cx="1463040" cy="347472"/>
          </a:xfrm>
          <a:prstGeom prst="rect">
            <a:avLst/>
          </a:prstGeom>
          <a:solidFill>
            <a:srgbClr val="002060"/>
          </a:solidFill>
          <a:ln w="12700">
            <a:solidFill>
              <a:srgbClr val="444444"/>
            </a:solidFill>
            <a:prstDash val="solid"/>
          </a:ln>
        </p:spPr>
      </p:sp>
      <p:sp>
        <p:nvSpPr>
          <p:cNvPr id="10" name="Text 8"/>
          <p:cNvSpPr/>
          <p:nvPr/>
        </p:nvSpPr>
        <p:spPr>
          <a:xfrm>
            <a:off x="5047488" y="2841498"/>
            <a:ext cx="1426464" cy="310896"/>
          </a:xfrm>
          <a:prstGeom prst="rect">
            <a:avLst/>
          </a:prstGeom>
          <a:noFill/>
          <a:ln/>
        </p:spPr>
        <p:txBody>
          <a:bodyPr wrap="square" rtlCol="0" anchor="ctr"/>
          <a:lstStyle/>
          <a:p>
            <a:r>
              <a:rPr lang="en-US" sz="1000" dirty="0">
                <a:solidFill>
                  <a:srgbClr val="A5D6A7"/>
                </a:solidFill>
                <a:latin typeface="Consolas" pitchFamily="34" charset="0"/>
                <a:ea typeface="Consolas" pitchFamily="34" charset="-122"/>
                <a:cs typeface="Consolas" pitchFamily="34" charset="-120"/>
              </a:rPr>
              <a:t>&lt;groupId&gt;</a:t>
            </a:r>
            <a:endParaRPr lang="en-US" sz="1000" dirty="0"/>
          </a:p>
        </p:txBody>
      </p:sp>
      <p:sp>
        <p:nvSpPr>
          <p:cNvPr id="11" name="Text 9"/>
          <p:cNvSpPr/>
          <p:nvPr/>
        </p:nvSpPr>
        <p:spPr>
          <a:xfrm>
            <a:off x="5029200" y="3188970"/>
            <a:ext cx="3840480" cy="32004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Identifiant de votre organisation (ex: com.monentreprise)</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5029200" y="3600450"/>
            <a:ext cx="1463040" cy="347472"/>
          </a:xfrm>
          <a:prstGeom prst="rect">
            <a:avLst/>
          </a:prstGeom>
          <a:solidFill>
            <a:srgbClr val="002060"/>
          </a:solidFill>
          <a:ln w="12700">
            <a:solidFill>
              <a:srgbClr val="444444"/>
            </a:solidFill>
            <a:prstDash val="solid"/>
          </a:ln>
        </p:spPr>
      </p:sp>
      <p:sp>
        <p:nvSpPr>
          <p:cNvPr id="13" name="Text 11"/>
          <p:cNvSpPr/>
          <p:nvPr/>
        </p:nvSpPr>
        <p:spPr>
          <a:xfrm>
            <a:off x="5047488" y="3618738"/>
            <a:ext cx="1426464" cy="310896"/>
          </a:xfrm>
          <a:prstGeom prst="rect">
            <a:avLst/>
          </a:prstGeom>
          <a:noFill/>
          <a:ln/>
        </p:spPr>
        <p:txBody>
          <a:bodyPr wrap="square" rtlCol="0" anchor="ctr"/>
          <a:lstStyle/>
          <a:p>
            <a:r>
              <a:rPr lang="en-US" sz="1000" dirty="0">
                <a:solidFill>
                  <a:srgbClr val="A5D6A7"/>
                </a:solidFill>
                <a:latin typeface="Consolas" pitchFamily="34" charset="0"/>
                <a:ea typeface="Consolas" pitchFamily="34" charset="-122"/>
                <a:cs typeface="Consolas" pitchFamily="34" charset="-120"/>
              </a:rPr>
              <a:t>&lt;artifactId&gt;</a:t>
            </a:r>
            <a:endParaRPr lang="en-US" sz="1000" dirty="0"/>
          </a:p>
        </p:txBody>
      </p:sp>
      <p:sp>
        <p:nvSpPr>
          <p:cNvPr id="14" name="Text 12"/>
          <p:cNvSpPr/>
          <p:nvPr/>
        </p:nvSpPr>
        <p:spPr>
          <a:xfrm>
            <a:off x="5029200" y="3966210"/>
            <a:ext cx="3840480" cy="32004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Nom unique de votre projet</a:t>
            </a:r>
            <a:endParaRPr lang="en-US" sz="1200" dirty="0">
              <a:latin typeface="Times New Roman" panose="02020603050405020304" pitchFamily="18" charset="0"/>
              <a:cs typeface="Times New Roman" panose="02020603050405020304" pitchFamily="18" charset="0"/>
            </a:endParaRPr>
          </a:p>
        </p:txBody>
      </p:sp>
      <p:sp>
        <p:nvSpPr>
          <p:cNvPr id="15" name="Shape 13"/>
          <p:cNvSpPr/>
          <p:nvPr/>
        </p:nvSpPr>
        <p:spPr>
          <a:xfrm>
            <a:off x="5029200" y="4377690"/>
            <a:ext cx="1463040" cy="347472"/>
          </a:xfrm>
          <a:prstGeom prst="rect">
            <a:avLst/>
          </a:prstGeom>
          <a:solidFill>
            <a:srgbClr val="002060"/>
          </a:solidFill>
          <a:ln w="12700">
            <a:solidFill>
              <a:srgbClr val="444444"/>
            </a:solidFill>
            <a:prstDash val="solid"/>
          </a:ln>
        </p:spPr>
      </p:sp>
      <p:sp>
        <p:nvSpPr>
          <p:cNvPr id="16" name="Text 14"/>
          <p:cNvSpPr/>
          <p:nvPr/>
        </p:nvSpPr>
        <p:spPr>
          <a:xfrm>
            <a:off x="5047488" y="4395978"/>
            <a:ext cx="1426464" cy="310896"/>
          </a:xfrm>
          <a:prstGeom prst="rect">
            <a:avLst/>
          </a:prstGeom>
          <a:noFill/>
          <a:ln/>
        </p:spPr>
        <p:txBody>
          <a:bodyPr wrap="square" rtlCol="0" anchor="ctr"/>
          <a:lstStyle/>
          <a:p>
            <a:r>
              <a:rPr lang="en-US" sz="1000" dirty="0">
                <a:solidFill>
                  <a:srgbClr val="A5D6A7"/>
                </a:solidFill>
                <a:latin typeface="Consolas" pitchFamily="34" charset="0"/>
                <a:ea typeface="Consolas" pitchFamily="34" charset="-122"/>
                <a:cs typeface="Consolas" pitchFamily="34" charset="-120"/>
              </a:rPr>
              <a:t>&lt;version&gt;</a:t>
            </a:r>
            <a:endParaRPr lang="en-US" sz="1000" dirty="0"/>
          </a:p>
        </p:txBody>
      </p:sp>
      <p:sp>
        <p:nvSpPr>
          <p:cNvPr id="17" name="Text 15"/>
          <p:cNvSpPr/>
          <p:nvPr/>
        </p:nvSpPr>
        <p:spPr>
          <a:xfrm>
            <a:off x="5029200" y="4743450"/>
            <a:ext cx="3840480" cy="32004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Version du projet (1.0.0, 2.1-SNAPSHOT...)</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5029200" y="5154930"/>
            <a:ext cx="1463040" cy="347472"/>
          </a:xfrm>
          <a:prstGeom prst="rect">
            <a:avLst/>
          </a:prstGeom>
          <a:solidFill>
            <a:srgbClr val="002060"/>
          </a:solidFill>
          <a:ln w="12700">
            <a:solidFill>
              <a:srgbClr val="444444"/>
            </a:solidFill>
            <a:prstDash val="solid"/>
          </a:ln>
        </p:spPr>
      </p:sp>
      <p:sp>
        <p:nvSpPr>
          <p:cNvPr id="19" name="Text 17"/>
          <p:cNvSpPr/>
          <p:nvPr/>
        </p:nvSpPr>
        <p:spPr>
          <a:xfrm>
            <a:off x="5047488" y="5173218"/>
            <a:ext cx="1426464" cy="310896"/>
          </a:xfrm>
          <a:prstGeom prst="rect">
            <a:avLst/>
          </a:prstGeom>
          <a:noFill/>
          <a:ln/>
        </p:spPr>
        <p:txBody>
          <a:bodyPr wrap="square" rtlCol="0" anchor="ctr"/>
          <a:lstStyle/>
          <a:p>
            <a:r>
              <a:rPr lang="en-US" sz="1000" dirty="0">
                <a:solidFill>
                  <a:srgbClr val="A5D6A7"/>
                </a:solidFill>
                <a:latin typeface="Consolas" pitchFamily="34" charset="0"/>
                <a:ea typeface="Consolas" pitchFamily="34" charset="-122"/>
                <a:cs typeface="Consolas" pitchFamily="34" charset="-120"/>
              </a:rPr>
              <a:t>&lt;dependencies&gt;</a:t>
            </a:r>
            <a:endParaRPr lang="en-US" sz="1000" dirty="0"/>
          </a:p>
        </p:txBody>
      </p:sp>
      <p:sp>
        <p:nvSpPr>
          <p:cNvPr id="20" name="Text 18"/>
          <p:cNvSpPr/>
          <p:nvPr/>
        </p:nvSpPr>
        <p:spPr>
          <a:xfrm>
            <a:off x="5029200" y="5520690"/>
            <a:ext cx="3840480" cy="320040"/>
          </a:xfrm>
          <a:prstGeom prst="rect">
            <a:avLst/>
          </a:prstGeom>
          <a:noFill/>
          <a:ln/>
        </p:spPr>
        <p:txBody>
          <a:bodyPr wrap="square" rtlCol="0" anchor="ctr"/>
          <a:lstStyle/>
          <a:p>
            <a:r>
              <a:rPr lang="en-US" sz="1200" dirty="0">
                <a:solidFill>
                  <a:srgbClr val="1A1A2E"/>
                </a:solidFill>
                <a:latin typeface="Times New Roman" panose="02020603050405020304" pitchFamily="18" charset="0"/>
                <a:ea typeface="Calibri" pitchFamily="34" charset="-122"/>
                <a:cs typeface="Times New Roman" panose="02020603050405020304" pitchFamily="18" charset="0"/>
              </a:rPr>
              <a:t>Liste des bibliothèques dont dépend le projet</a:t>
            </a:r>
            <a:endParaRPr lang="en-US" sz="1200" dirty="0">
              <a:latin typeface="Times New Roman" panose="02020603050405020304" pitchFamily="18" charset="0"/>
              <a:cs typeface="Times New Roman" panose="02020603050405020304" pitchFamily="18" charset="0"/>
            </a:endParaRPr>
          </a:p>
        </p:txBody>
      </p:sp>
      <p:pic>
        <p:nvPicPr>
          <p:cNvPr id="22" name="Image 21">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23"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3"/>
            </a:pPr>
            <a:r>
              <a:rPr lang="fr-CA" sz="2400" kern="0" smtClean="0">
                <a:solidFill>
                  <a:srgbClr val="FF0000"/>
                </a:solidFill>
              </a:rPr>
              <a:t>POM</a:t>
            </a:r>
            <a:endParaRPr lang="fr-CA" sz="2400" kern="0" dirty="0">
              <a:solidFill>
                <a:srgbClr val="FF0000"/>
              </a:solidFill>
            </a:endParaRPr>
          </a:p>
        </p:txBody>
      </p:sp>
      <p:pic>
        <p:nvPicPr>
          <p:cNvPr id="24" name="Image 23">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189947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54864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V.  JAVA DATE</a:t>
            </a:r>
            <a:endParaRPr lang="en-US" sz="2200" dirty="0"/>
          </a:p>
        </p:txBody>
      </p:sp>
      <p:sp>
        <p:nvSpPr>
          <p:cNvPr id="5" name="Text 3"/>
          <p:cNvSpPr/>
          <p:nvPr/>
        </p:nvSpPr>
        <p:spPr>
          <a:xfrm>
            <a:off x="274320" y="862486"/>
            <a:ext cx="8595360" cy="1412084"/>
          </a:xfrm>
          <a:prstGeom prst="rect">
            <a:avLst/>
          </a:prstGeom>
          <a:noFill/>
          <a:ln/>
        </p:spPr>
        <p:txBody>
          <a:bodyPr wrap="square" rtlCol="0" anchor="ctr"/>
          <a:lstStyle/>
          <a:p>
            <a:r>
              <a:rPr lang="en-US" dirty="0">
                <a:solidFill>
                  <a:srgbClr val="1A1A2E"/>
                </a:solidFill>
                <a:latin typeface="Times New Roman" panose="02020603050405020304" pitchFamily="18" charset="0"/>
                <a:ea typeface="Calibri" pitchFamily="34" charset="-122"/>
                <a:cs typeface="Times New Roman" panose="02020603050405020304" pitchFamily="18" charset="0"/>
              </a:rPr>
              <a:t>Java propose deux approches pour manipuler les dates :</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137160" y="2287660"/>
            <a:ext cx="4297680" cy="3383280"/>
          </a:xfrm>
          <a:prstGeom prst="rect">
            <a:avLst/>
          </a:prstGeom>
          <a:solidFill>
            <a:schemeClr val="bg1"/>
          </a:solidFill>
          <a:ln w="25400">
            <a:solidFill>
              <a:srgbClr val="E74C3C"/>
            </a:solidFill>
            <a:prstDash val="solid"/>
          </a:ln>
        </p:spPr>
      </p:sp>
      <p:sp>
        <p:nvSpPr>
          <p:cNvPr id="7" name="Text 5"/>
          <p:cNvSpPr/>
          <p:nvPr/>
        </p:nvSpPr>
        <p:spPr>
          <a:xfrm>
            <a:off x="411480" y="2457450"/>
            <a:ext cx="4023360" cy="457200"/>
          </a:xfrm>
          <a:prstGeom prst="rect">
            <a:avLst/>
          </a:prstGeom>
          <a:noFill/>
          <a:ln/>
        </p:spPr>
        <p:txBody>
          <a:bodyPr wrap="square" rtlCol="0" anchor="ctr"/>
          <a:lstStyle/>
          <a:p>
            <a:r>
              <a:rPr lang="en-US" sz="1200" b="1" dirty="0">
                <a:solidFill>
                  <a:srgbClr val="1A1A2E"/>
                </a:solidFill>
                <a:latin typeface="Calibri" pitchFamily="34" charset="0"/>
                <a:ea typeface="Calibri" pitchFamily="34" charset="-122"/>
                <a:cs typeface="Calibri" pitchFamily="34" charset="-120"/>
              </a:rPr>
              <a:t>❌ Ancienne API (avant Java 8)</a:t>
            </a:r>
            <a:endParaRPr lang="en-US" sz="1200" dirty="0"/>
          </a:p>
        </p:txBody>
      </p:sp>
      <p:sp>
        <p:nvSpPr>
          <p:cNvPr id="8" name="Text 6"/>
          <p:cNvSpPr/>
          <p:nvPr/>
        </p:nvSpPr>
        <p:spPr>
          <a:xfrm>
            <a:off x="411480" y="300609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java.util.Date — représente un instant</a:t>
            </a:r>
            <a:endParaRPr lang="en-US" sz="1100" dirty="0"/>
          </a:p>
        </p:txBody>
      </p:sp>
      <p:sp>
        <p:nvSpPr>
          <p:cNvPr id="9" name="Text 7"/>
          <p:cNvSpPr/>
          <p:nvPr/>
        </p:nvSpPr>
        <p:spPr>
          <a:xfrm>
            <a:off x="411480" y="364617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java.util.Calendar — manipule les dates</a:t>
            </a:r>
            <a:endParaRPr lang="en-US" sz="1100" dirty="0"/>
          </a:p>
        </p:txBody>
      </p:sp>
      <p:sp>
        <p:nvSpPr>
          <p:cNvPr id="10" name="Text 8"/>
          <p:cNvSpPr/>
          <p:nvPr/>
        </p:nvSpPr>
        <p:spPr>
          <a:xfrm>
            <a:off x="411480" y="428625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Critique : complexe, peu lisible, non thread-safe</a:t>
            </a:r>
            <a:endParaRPr lang="en-US" sz="1100" dirty="0"/>
          </a:p>
        </p:txBody>
      </p:sp>
      <p:sp>
        <p:nvSpPr>
          <p:cNvPr id="11" name="Shape 9"/>
          <p:cNvSpPr/>
          <p:nvPr/>
        </p:nvSpPr>
        <p:spPr>
          <a:xfrm>
            <a:off x="4709160" y="2287660"/>
            <a:ext cx="4297680" cy="3383280"/>
          </a:xfrm>
          <a:prstGeom prst="rect">
            <a:avLst/>
          </a:prstGeom>
          <a:solidFill>
            <a:schemeClr val="bg1"/>
          </a:solidFill>
          <a:ln w="25400">
            <a:solidFill>
              <a:srgbClr val="FF0000"/>
            </a:solidFill>
            <a:prstDash val="solid"/>
          </a:ln>
        </p:spPr>
      </p:sp>
      <p:sp>
        <p:nvSpPr>
          <p:cNvPr id="12" name="Text 10"/>
          <p:cNvSpPr/>
          <p:nvPr/>
        </p:nvSpPr>
        <p:spPr>
          <a:xfrm>
            <a:off x="4983480" y="2457450"/>
            <a:ext cx="4023360" cy="457200"/>
          </a:xfrm>
          <a:prstGeom prst="rect">
            <a:avLst/>
          </a:prstGeom>
          <a:noFill/>
          <a:ln/>
        </p:spPr>
        <p:txBody>
          <a:bodyPr wrap="square" rtlCol="0" anchor="ctr"/>
          <a:lstStyle/>
          <a:p>
            <a:r>
              <a:rPr lang="en-US" sz="1200" b="1" dirty="0">
                <a:solidFill>
                  <a:srgbClr val="1A1A2E"/>
                </a:solidFill>
                <a:latin typeface="Calibri" pitchFamily="34" charset="0"/>
                <a:ea typeface="Calibri" pitchFamily="34" charset="-122"/>
                <a:cs typeface="Calibri" pitchFamily="34" charset="-120"/>
              </a:rPr>
              <a:t>✅ Nouvelle API (Java 8+)</a:t>
            </a:r>
            <a:endParaRPr lang="en-US" sz="1200" dirty="0"/>
          </a:p>
        </p:txBody>
      </p:sp>
      <p:sp>
        <p:nvSpPr>
          <p:cNvPr id="13" name="Text 11"/>
          <p:cNvSpPr/>
          <p:nvPr/>
        </p:nvSpPr>
        <p:spPr>
          <a:xfrm>
            <a:off x="4983480" y="300609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LocalDate — date sans heure (2024-01-15)</a:t>
            </a:r>
            <a:endParaRPr lang="en-US" sz="1100" dirty="0"/>
          </a:p>
        </p:txBody>
      </p:sp>
      <p:sp>
        <p:nvSpPr>
          <p:cNvPr id="14" name="Text 12"/>
          <p:cNvSpPr/>
          <p:nvPr/>
        </p:nvSpPr>
        <p:spPr>
          <a:xfrm>
            <a:off x="4983480" y="364617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LocalTime — heure sans date (14:30:00)</a:t>
            </a:r>
            <a:endParaRPr lang="en-US" sz="1100" dirty="0"/>
          </a:p>
        </p:txBody>
      </p:sp>
      <p:sp>
        <p:nvSpPr>
          <p:cNvPr id="15" name="Text 13"/>
          <p:cNvSpPr/>
          <p:nvPr/>
        </p:nvSpPr>
        <p:spPr>
          <a:xfrm>
            <a:off x="4983480" y="428625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LocalDateTime — date + heure</a:t>
            </a:r>
            <a:endParaRPr lang="en-US" sz="1100" dirty="0"/>
          </a:p>
        </p:txBody>
      </p:sp>
      <p:sp>
        <p:nvSpPr>
          <p:cNvPr id="16" name="Text 14"/>
          <p:cNvSpPr/>
          <p:nvPr/>
        </p:nvSpPr>
        <p:spPr>
          <a:xfrm>
            <a:off x="4983480" y="4926330"/>
            <a:ext cx="4023360" cy="548640"/>
          </a:xfrm>
          <a:prstGeom prst="rect">
            <a:avLst/>
          </a:prstGeom>
          <a:noFill/>
          <a:ln/>
        </p:spPr>
        <p:txBody>
          <a:bodyPr wrap="square" rtlCol="0" anchor="ctr"/>
          <a:lstStyle/>
          <a:p>
            <a:r>
              <a:rPr lang="en-US" sz="1100" dirty="0">
                <a:solidFill>
                  <a:srgbClr val="1A1A2E"/>
                </a:solidFill>
                <a:latin typeface="Calibri" pitchFamily="34" charset="0"/>
                <a:ea typeface="Calibri" pitchFamily="34" charset="-122"/>
                <a:cs typeface="Calibri" pitchFamily="34" charset="-120"/>
              </a:rPr>
              <a:t>DateTimeFormatter — formater les dates</a:t>
            </a:r>
            <a:endParaRPr lang="en-US" sz="1100" dirty="0"/>
          </a:p>
        </p:txBody>
      </p:sp>
      <p:sp>
        <p:nvSpPr>
          <p:cNvPr id="18"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4"/>
            </a:pPr>
            <a:r>
              <a:rPr lang="fr-CA" sz="2400" kern="0" smtClean="0">
                <a:solidFill>
                  <a:srgbClr val="FF0000"/>
                </a:solidFill>
              </a:rPr>
              <a:t>JAVA DATE</a:t>
            </a:r>
            <a:endParaRPr lang="fr-CA" sz="2400" kern="0" dirty="0">
              <a:solidFill>
                <a:srgbClr val="FF0000"/>
              </a:solidFill>
            </a:endParaRPr>
          </a:p>
        </p:txBody>
      </p:sp>
      <p:pic>
        <p:nvPicPr>
          <p:cNvPr id="19" name="Image 18">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pic>
        <p:nvPicPr>
          <p:cNvPr id="20" name="Image 19">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2457284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re 1">
            <a:extLst>
              <a:ext uri="{FF2B5EF4-FFF2-40B4-BE49-F238E27FC236}">
                <a16:creationId xmlns:a16="http://schemas.microsoft.com/office/drawing/2014/main" id="{88197348-5CC2-499B-8197-C94C5D8BC489}"/>
              </a:ext>
            </a:extLst>
          </p:cNvPr>
          <p:cNvSpPr>
            <a:spLocks noGrp="1"/>
          </p:cNvSpPr>
          <p:nvPr>
            <p:ph type="title"/>
          </p:nvPr>
        </p:nvSpPr>
        <p:spPr>
          <a:xfrm>
            <a:off x="755576" y="151802"/>
            <a:ext cx="8208912" cy="540894"/>
          </a:xfrm>
          <a:noFill/>
          <a:ln>
            <a:noFill/>
          </a:ln>
        </p:spPr>
        <p:txBody>
          <a:bodyPr vert="horz" wrap="square" lIns="91440" tIns="45720" rIns="91440" bIns="45720" numCol="1" anchor="t" anchorCtr="0" compatLnSpc="1">
            <a:prstTxWarp prst="textNoShape">
              <a:avLst/>
            </a:prstTxWarp>
          </a:bodyPr>
          <a:lstStyle/>
          <a:p>
            <a:pPr marL="514350" indent="-514350">
              <a:buFont typeface="+mj-lt"/>
              <a:buAutoNum type="romanUcPeriod" startAt="4"/>
            </a:pPr>
            <a:r>
              <a:rPr lang="fr-CA" sz="2400" cap="none" dirty="0" smtClean="0">
                <a:solidFill>
                  <a:srgbClr val="FF0000"/>
                </a:solidFill>
              </a:rPr>
              <a:t>JAVA DATE</a:t>
            </a:r>
            <a:endParaRPr lang="fr-CA" sz="2400" cap="none" dirty="0">
              <a:solidFill>
                <a:srgbClr val="FF0000"/>
              </a:solidFill>
            </a:endParaRPr>
          </a:p>
        </p:txBody>
      </p:sp>
      <p:pic>
        <p:nvPicPr>
          <p:cNvPr id="6" name="Image 5">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2" name="ZoneTexte 1"/>
          <p:cNvSpPr txBox="1"/>
          <p:nvPr/>
        </p:nvSpPr>
        <p:spPr>
          <a:xfrm>
            <a:off x="539552" y="1268760"/>
            <a:ext cx="8136904" cy="3416320"/>
          </a:xfrm>
          <a:prstGeom prst="rect">
            <a:avLst/>
          </a:prstGeom>
          <a:noFill/>
        </p:spPr>
        <p:txBody>
          <a:bodyPr wrap="square" rtlCol="0">
            <a:spAutoFit/>
          </a:bodyPr>
          <a:lstStyle/>
          <a:p>
            <a:pPr marL="285750" indent="-285750">
              <a:buFont typeface="Courier New" panose="02070309020205020404" pitchFamily="49" charset="0"/>
              <a:buChar char="o"/>
            </a:pPr>
            <a:r>
              <a:rPr lang="fr-FR" dirty="0" smtClean="0">
                <a:latin typeface="Times New Roman" panose="02020603050405020304" pitchFamily="18" charset="0"/>
                <a:cs typeface="Times New Roman" panose="02020603050405020304" pitchFamily="18" charset="0"/>
              </a:rPr>
              <a:t>Exemple de code </a:t>
            </a:r>
          </a:p>
          <a:p>
            <a:endParaRPr lang="fr-FR" dirty="0">
              <a:latin typeface="Times New Roman" panose="02020603050405020304" pitchFamily="18" charset="0"/>
              <a:cs typeface="Times New Roman" panose="02020603050405020304" pitchFamily="18" charset="0"/>
            </a:endParaRPr>
          </a:p>
          <a:p>
            <a:r>
              <a:rPr lang="fr-FR" b="1" dirty="0">
                <a:latin typeface="Times New Roman" panose="02020603050405020304" pitchFamily="18" charset="0"/>
                <a:cs typeface="Times New Roman" panose="02020603050405020304" pitchFamily="18" charset="0"/>
              </a:rPr>
              <a:t>Obtenir la date et l'heure courantes</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import </a:t>
            </a:r>
            <a:r>
              <a:rPr lang="fr-FR" dirty="0" err="1">
                <a:latin typeface="Times New Roman" panose="02020603050405020304" pitchFamily="18" charset="0"/>
                <a:cs typeface="Times New Roman" panose="02020603050405020304" pitchFamily="18" charset="0"/>
              </a:rPr>
              <a:t>java.time.LocalDate</a:t>
            </a:r>
            <a:r>
              <a:rPr lang="fr-FR" dirty="0">
                <a:latin typeface="Times New Roman" panose="02020603050405020304" pitchFamily="18" charset="0"/>
                <a:cs typeface="Times New Roman" panose="02020603050405020304" pitchFamily="18" charset="0"/>
              </a:rPr>
              <a:t>;</a:t>
            </a:r>
          </a:p>
          <a:p>
            <a:r>
              <a:rPr lang="fr-FR" dirty="0">
                <a:latin typeface="Times New Roman" panose="02020603050405020304" pitchFamily="18" charset="0"/>
                <a:cs typeface="Times New Roman" panose="02020603050405020304" pitchFamily="18" charset="0"/>
              </a:rPr>
              <a:t>import </a:t>
            </a:r>
            <a:r>
              <a:rPr lang="fr-FR" dirty="0" err="1">
                <a:latin typeface="Times New Roman" panose="02020603050405020304" pitchFamily="18" charset="0"/>
                <a:cs typeface="Times New Roman" panose="02020603050405020304" pitchFamily="18" charset="0"/>
              </a:rPr>
              <a:t>java.time.LocalDateTime</a:t>
            </a:r>
            <a:r>
              <a:rPr lang="fr-FR" dirty="0">
                <a:latin typeface="Times New Roman" panose="02020603050405020304" pitchFamily="18" charset="0"/>
                <a:cs typeface="Times New Roman" panose="02020603050405020304" pitchFamily="18" charset="0"/>
              </a:rPr>
              <a:t>;</a:t>
            </a:r>
          </a:p>
          <a:p>
            <a:r>
              <a:rPr lang="fr-FR" dirty="0">
                <a:latin typeface="Times New Roman" panose="02020603050405020304" pitchFamily="18" charset="0"/>
                <a:cs typeface="Times New Roman" panose="02020603050405020304" pitchFamily="18" charset="0"/>
              </a:rPr>
              <a:t> </a:t>
            </a:r>
          </a:p>
          <a:p>
            <a:r>
              <a:rPr lang="fr-FR" dirty="0" err="1">
                <a:latin typeface="Times New Roman" panose="02020603050405020304" pitchFamily="18" charset="0"/>
                <a:cs typeface="Times New Roman" panose="02020603050405020304" pitchFamily="18" charset="0"/>
              </a:rPr>
              <a:t>LocalDate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today</a:t>
            </a: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LocalDate.now</a:t>
            </a:r>
            <a:r>
              <a:rPr lang="fr-FR" dirty="0">
                <a:latin typeface="Times New Roman" panose="02020603050405020304" pitchFamily="18" charset="0"/>
                <a:cs typeface="Times New Roman" panose="02020603050405020304" pitchFamily="18" charset="0"/>
              </a:rPr>
              <a:t>();</a:t>
            </a:r>
          </a:p>
          <a:p>
            <a:r>
              <a:rPr lang="fr-FR" dirty="0" err="1">
                <a:latin typeface="Times New Roman" panose="02020603050405020304" pitchFamily="18" charset="0"/>
                <a:cs typeface="Times New Roman" panose="02020603050405020304" pitchFamily="18" charset="0"/>
              </a:rPr>
              <a:t>System.out.println</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today</a:t>
            </a:r>
            <a:r>
              <a:rPr lang="fr-FR" dirty="0">
                <a:latin typeface="Times New Roman" panose="02020603050405020304" pitchFamily="18" charset="0"/>
                <a:cs typeface="Times New Roman" panose="02020603050405020304" pitchFamily="18" charset="0"/>
              </a:rPr>
              <a:t>);  // </a:t>
            </a:r>
            <a:r>
              <a:rPr lang="fr-FR" dirty="0" smtClean="0">
                <a:latin typeface="Times New Roman" panose="02020603050405020304" pitchFamily="18" charset="0"/>
                <a:cs typeface="Times New Roman" panose="02020603050405020304" pitchFamily="18" charset="0"/>
              </a:rPr>
              <a:t>2024-01-15</a:t>
            </a: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 </a:t>
            </a:r>
          </a:p>
          <a:p>
            <a:r>
              <a:rPr lang="fr-FR" dirty="0" err="1">
                <a:latin typeface="Times New Roman" panose="02020603050405020304" pitchFamily="18" charset="0"/>
                <a:cs typeface="Times New Roman" panose="02020603050405020304" pitchFamily="18" charset="0"/>
              </a:rPr>
              <a:t>LocalDateTime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now</a:t>
            </a:r>
            <a:r>
              <a:rPr lang="fr-FR" dirty="0">
                <a:latin typeface="Times New Roman" panose="02020603050405020304" pitchFamily="18" charset="0"/>
                <a:cs typeface="Times New Roman" panose="02020603050405020304" pitchFamily="18" charset="0"/>
              </a:rPr>
              <a:t> = </a:t>
            </a:r>
            <a:r>
              <a:rPr lang="fr-FR" dirty="0" err="1">
                <a:latin typeface="Times New Roman" panose="02020603050405020304" pitchFamily="18" charset="0"/>
                <a:cs typeface="Times New Roman" panose="02020603050405020304" pitchFamily="18" charset="0"/>
              </a:rPr>
              <a:t>LocalDateTime.now</a:t>
            </a:r>
            <a:r>
              <a:rPr lang="fr-FR" dirty="0">
                <a:latin typeface="Times New Roman" panose="02020603050405020304" pitchFamily="18" charset="0"/>
                <a:cs typeface="Times New Roman" panose="02020603050405020304" pitchFamily="18" charset="0"/>
              </a:rPr>
              <a:t>();</a:t>
            </a:r>
          </a:p>
          <a:p>
            <a:r>
              <a:rPr lang="fr-FR" dirty="0" err="1">
                <a:latin typeface="Times New Roman" panose="02020603050405020304" pitchFamily="18" charset="0"/>
                <a:cs typeface="Times New Roman" panose="02020603050405020304" pitchFamily="18" charset="0"/>
              </a:rPr>
              <a:t>System.out.println</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now</a:t>
            </a:r>
            <a:r>
              <a:rPr lang="fr-FR" dirty="0">
                <a:latin typeface="Times New Roman" panose="02020603050405020304" pitchFamily="18" charset="0"/>
                <a:cs typeface="Times New Roman" panose="02020603050405020304" pitchFamily="18" charset="0"/>
              </a:rPr>
              <a:t>);    // 2024-01-15T14:30:00</a:t>
            </a:r>
          </a:p>
          <a:p>
            <a:endParaRPr lang="fr-FR" dirty="0">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3085535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548640"/>
          </a:xfrm>
          <a:prstGeom prst="rect">
            <a:avLst/>
          </a:prstGeom>
          <a:noFill/>
          <a:ln/>
        </p:spPr>
        <p:txBody>
          <a:bodyPr wrap="square" rtlCol="0" anchor="ctr"/>
          <a:lstStyle/>
          <a:p>
            <a:r>
              <a:rPr lang="en-US" sz="2000" b="1" dirty="0">
                <a:solidFill>
                  <a:srgbClr val="FFFFFF"/>
                </a:solidFill>
                <a:latin typeface="Calibri" pitchFamily="34" charset="0"/>
                <a:ea typeface="Calibri" pitchFamily="34" charset="-122"/>
                <a:cs typeface="Calibri" pitchFamily="34" charset="-120"/>
              </a:rPr>
              <a:t>VI.  LES THREADS ET LE MULTITHREADING</a:t>
            </a:r>
            <a:endParaRPr lang="en-US" sz="2000" dirty="0"/>
          </a:p>
        </p:txBody>
      </p:sp>
      <p:sp>
        <p:nvSpPr>
          <p:cNvPr id="5" name="Text 3"/>
          <p:cNvSpPr/>
          <p:nvPr/>
        </p:nvSpPr>
        <p:spPr>
          <a:xfrm>
            <a:off x="274320" y="908720"/>
            <a:ext cx="8595360" cy="1457290"/>
          </a:xfrm>
          <a:prstGeom prst="rect">
            <a:avLst/>
          </a:prstGeom>
          <a:noFill/>
          <a:ln/>
        </p:spPr>
        <p:txBody>
          <a:bodyPr wrap="square" rtlCol="0" anchor="ctr"/>
          <a:lstStyle/>
          <a:p>
            <a:pPr algn="just"/>
            <a:r>
              <a:rPr lang="fr-FR" dirty="0" smtClean="0">
                <a:latin typeface="Times New Roman" panose="02020603050405020304" pitchFamily="18" charset="0"/>
                <a:cs typeface="Times New Roman" panose="02020603050405020304" pitchFamily="18" charset="0"/>
              </a:rPr>
              <a:t>Un </a:t>
            </a:r>
            <a:r>
              <a:rPr lang="fr-FR" dirty="0">
                <a:latin typeface="Times New Roman" panose="02020603050405020304" pitchFamily="18" charset="0"/>
                <a:cs typeface="Times New Roman" panose="02020603050405020304" pitchFamily="18" charset="0"/>
              </a:rPr>
              <a:t>thread (fil d'exécution) est une tâche qui s'exécute à l'intérieur d'un processus. Le multithreading permet d'exécuter plusieurs threads en parallèle dans la même application.</a:t>
            </a:r>
          </a:p>
          <a:p>
            <a:pPr algn="just"/>
            <a:r>
              <a:rPr lang="en-US" sz="1250" dirty="0" smtClean="0">
                <a:solidFill>
                  <a:srgbClr val="1A1A2E"/>
                </a:solidFill>
                <a:latin typeface="Calibri" pitchFamily="34" charset="0"/>
                <a:ea typeface="Calibri" pitchFamily="34" charset="-122"/>
                <a:cs typeface="Calibri" pitchFamily="34" charset="-120"/>
              </a:rPr>
              <a:t>.</a:t>
            </a:r>
            <a:endParaRPr lang="en-US" sz="1250" dirty="0"/>
          </a:p>
        </p:txBody>
      </p:sp>
      <p:sp>
        <p:nvSpPr>
          <p:cNvPr id="6" name="Text 4"/>
          <p:cNvSpPr/>
          <p:nvPr/>
        </p:nvSpPr>
        <p:spPr>
          <a:xfrm>
            <a:off x="228600" y="2279142"/>
            <a:ext cx="8229600" cy="365760"/>
          </a:xfrm>
          <a:prstGeom prst="rect">
            <a:avLst/>
          </a:prstGeom>
          <a:noFill/>
          <a:ln/>
        </p:spPr>
        <p:txBody>
          <a:bodyPr wrap="square" rtlCol="0" anchor="ctr"/>
          <a:lstStyle/>
          <a:p>
            <a:r>
              <a:rPr lang="en-US" b="1" dirty="0">
                <a:solidFill>
                  <a:srgbClr val="C0392B"/>
                </a:solidFill>
                <a:latin typeface="Times New Roman" panose="02020603050405020304" pitchFamily="18" charset="0"/>
                <a:ea typeface="Calibri" pitchFamily="34" charset="-122"/>
                <a:cs typeface="Times New Roman" panose="02020603050405020304" pitchFamily="18" charset="0"/>
              </a:rPr>
              <a:t>2 façons de créer un Thread</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274320" y="2846070"/>
            <a:ext cx="4114800" cy="320040"/>
          </a:xfrm>
          <a:prstGeom prst="rect">
            <a:avLst/>
          </a:prstGeom>
          <a:solidFill>
            <a:srgbClr val="1A1A2E"/>
          </a:solidFill>
          <a:ln w="12700">
            <a:solidFill>
              <a:srgbClr val="1A1A2E"/>
            </a:solidFill>
            <a:prstDash val="solid"/>
          </a:ln>
        </p:spPr>
      </p:sp>
      <p:sp>
        <p:nvSpPr>
          <p:cNvPr id="8" name="Text 6"/>
          <p:cNvSpPr/>
          <p:nvPr/>
        </p:nvSpPr>
        <p:spPr>
          <a:xfrm>
            <a:off x="320040" y="2850642"/>
            <a:ext cx="4023360" cy="256032"/>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1. Étendre la classe Thread</a:t>
            </a:r>
            <a:endParaRPr lang="en-US" sz="1200" dirty="0"/>
          </a:p>
        </p:txBody>
      </p:sp>
      <p:sp>
        <p:nvSpPr>
          <p:cNvPr id="9" name="Shape 7"/>
          <p:cNvSpPr/>
          <p:nvPr/>
        </p:nvSpPr>
        <p:spPr>
          <a:xfrm>
            <a:off x="274320" y="3143250"/>
            <a:ext cx="4114800" cy="1371600"/>
          </a:xfrm>
          <a:prstGeom prst="rect">
            <a:avLst/>
          </a:prstGeom>
          <a:solidFill>
            <a:schemeClr val="tx1"/>
          </a:solidFill>
          <a:ln w="12700">
            <a:solidFill>
              <a:srgbClr val="333333"/>
            </a:solidFill>
            <a:prstDash val="solid"/>
          </a:ln>
        </p:spPr>
      </p:sp>
      <p:sp>
        <p:nvSpPr>
          <p:cNvPr id="10" name="Text 8"/>
          <p:cNvSpPr/>
          <p:nvPr/>
        </p:nvSpPr>
        <p:spPr>
          <a:xfrm>
            <a:off x="365760" y="3188970"/>
            <a:ext cx="3931920" cy="1261872"/>
          </a:xfrm>
          <a:prstGeom prst="rect">
            <a:avLst/>
          </a:prstGeom>
          <a:noFill/>
          <a:ln/>
        </p:spPr>
        <p:txBody>
          <a:bodyPr wrap="square" rtlCol="0" anchor="ctr"/>
          <a:lstStyle/>
          <a:p>
            <a:r>
              <a:rPr lang="en-US" sz="1000" dirty="0">
                <a:solidFill>
                  <a:srgbClr val="4FC3F7"/>
                </a:solidFill>
                <a:latin typeface="Consolas" pitchFamily="34" charset="0"/>
                <a:ea typeface="Consolas" pitchFamily="34" charset="-122"/>
                <a:cs typeface="Consolas" pitchFamily="34" charset="-120"/>
              </a:rPr>
              <a:t>class</a:t>
            </a:r>
            <a:r>
              <a:rPr lang="en-US" sz="1000" dirty="0">
                <a:solidFill>
                  <a:srgbClr val="A5D6A7"/>
                </a:solidFill>
                <a:latin typeface="Consolas" pitchFamily="34" charset="0"/>
                <a:ea typeface="Consolas" pitchFamily="34" charset="-122"/>
                <a:cs typeface="Consolas" pitchFamily="34" charset="-120"/>
              </a:rPr>
              <a:t> MaThread </a:t>
            </a:r>
            <a:r>
              <a:rPr lang="en-US" sz="1000" dirty="0">
                <a:solidFill>
                  <a:srgbClr val="4FC3F7"/>
                </a:solidFill>
                <a:latin typeface="Consolas" pitchFamily="34" charset="0"/>
                <a:ea typeface="Consolas" pitchFamily="34" charset="-122"/>
                <a:cs typeface="Consolas" pitchFamily="34" charset="-120"/>
              </a:rPr>
              <a:t>extends</a:t>
            </a:r>
            <a:r>
              <a:rPr lang="en-US" sz="1000" dirty="0">
                <a:solidFill>
                  <a:srgbClr val="FFFFFF"/>
                </a:solidFill>
                <a:latin typeface="Consolas" pitchFamily="34" charset="0"/>
                <a:ea typeface="Consolas" pitchFamily="34" charset="-122"/>
                <a:cs typeface="Consolas" pitchFamily="34" charset="-120"/>
              </a:rPr>
              <a:t> Thread {
</a:t>
            </a:r>
            <a:r>
              <a:rPr lang="en-US" sz="1000" dirty="0">
                <a:solidFill>
                  <a:srgbClr val="4FC3F7"/>
                </a:solidFill>
                <a:latin typeface="Consolas" pitchFamily="34" charset="0"/>
                <a:ea typeface="Consolas" pitchFamily="34" charset="-122"/>
                <a:cs typeface="Consolas" pitchFamily="34" charset="-120"/>
              </a:rPr>
              <a:t>  public</a:t>
            </a:r>
            <a:r>
              <a:rPr lang="en-US" sz="1000" dirty="0">
                <a:solidFill>
                  <a:srgbClr val="CE93D8"/>
                </a:solidFill>
                <a:latin typeface="Consolas" pitchFamily="34" charset="0"/>
                <a:ea typeface="Consolas" pitchFamily="34" charset="-122"/>
                <a:cs typeface="Consolas" pitchFamily="34" charset="-120"/>
              </a:rPr>
              <a:t> void</a:t>
            </a:r>
            <a:r>
              <a:rPr lang="en-US" sz="1000" dirty="0">
                <a:solidFill>
                  <a:srgbClr val="FFFFFF"/>
                </a:solidFill>
                <a:latin typeface="Consolas" pitchFamily="34" charset="0"/>
                <a:ea typeface="Consolas" pitchFamily="34" charset="-122"/>
                <a:cs typeface="Consolas" pitchFamily="34" charset="-120"/>
              </a:rPr>
              <a:t> run() {
    System.out.println(</a:t>
            </a:r>
            <a:r>
              <a:rPr lang="en-US" sz="1000" dirty="0">
                <a:solidFill>
                  <a:srgbClr val="FFCC80"/>
                </a:solidFill>
                <a:latin typeface="Consolas" pitchFamily="34" charset="0"/>
                <a:ea typeface="Consolas" pitchFamily="34" charset="-122"/>
                <a:cs typeface="Consolas" pitchFamily="34" charset="-120"/>
              </a:rPr>
              <a:t>"Bonjour!"</a:t>
            </a:r>
            <a:r>
              <a:rPr lang="en-US" sz="1000" dirty="0">
                <a:solidFill>
                  <a:srgbClr val="FFFFFF"/>
                </a:solidFill>
                <a:latin typeface="Consolas" pitchFamily="34" charset="0"/>
                <a:ea typeface="Consolas" pitchFamily="34" charset="-122"/>
                <a:cs typeface="Consolas" pitchFamily="34" charset="-120"/>
              </a:rPr>
              <a:t>);
  }
}
</a:t>
            </a:r>
            <a:r>
              <a:rPr lang="en-US" sz="1000" dirty="0">
                <a:solidFill>
                  <a:srgbClr val="4FC3F7"/>
                </a:solidFill>
                <a:latin typeface="Consolas" pitchFamily="34" charset="0"/>
                <a:ea typeface="Consolas" pitchFamily="34" charset="-122"/>
                <a:cs typeface="Consolas" pitchFamily="34" charset="-120"/>
              </a:rPr>
              <a:t>new</a:t>
            </a:r>
            <a:r>
              <a:rPr lang="en-US" sz="1000" dirty="0">
                <a:solidFill>
                  <a:srgbClr val="FFFFFF"/>
                </a:solidFill>
                <a:latin typeface="Consolas" pitchFamily="34" charset="0"/>
                <a:ea typeface="Consolas" pitchFamily="34" charset="-122"/>
                <a:cs typeface="Consolas" pitchFamily="34" charset="-120"/>
              </a:rPr>
              <a:t> MaThread().start();</a:t>
            </a:r>
            <a:endParaRPr lang="en-US" sz="1000" dirty="0"/>
          </a:p>
        </p:txBody>
      </p:sp>
      <p:sp>
        <p:nvSpPr>
          <p:cNvPr id="11" name="Shape 9"/>
          <p:cNvSpPr/>
          <p:nvPr/>
        </p:nvSpPr>
        <p:spPr>
          <a:xfrm>
            <a:off x="4754880" y="2823210"/>
            <a:ext cx="4114800" cy="320040"/>
          </a:xfrm>
          <a:prstGeom prst="rect">
            <a:avLst/>
          </a:prstGeom>
          <a:solidFill>
            <a:srgbClr val="1A1A2E"/>
          </a:solidFill>
          <a:ln w="12700">
            <a:solidFill>
              <a:srgbClr val="1A1A2E"/>
            </a:solidFill>
            <a:prstDash val="solid"/>
          </a:ln>
        </p:spPr>
      </p:sp>
      <p:sp>
        <p:nvSpPr>
          <p:cNvPr id="12" name="Text 10"/>
          <p:cNvSpPr/>
          <p:nvPr/>
        </p:nvSpPr>
        <p:spPr>
          <a:xfrm>
            <a:off x="4800600" y="2850642"/>
            <a:ext cx="4023360" cy="256032"/>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2. Implémenter Runnable</a:t>
            </a:r>
            <a:endParaRPr lang="en-US" sz="1200" dirty="0"/>
          </a:p>
        </p:txBody>
      </p:sp>
      <p:sp>
        <p:nvSpPr>
          <p:cNvPr id="13" name="Shape 11"/>
          <p:cNvSpPr/>
          <p:nvPr/>
        </p:nvSpPr>
        <p:spPr>
          <a:xfrm>
            <a:off x="4754880" y="3143250"/>
            <a:ext cx="4114800" cy="1371600"/>
          </a:xfrm>
          <a:prstGeom prst="rect">
            <a:avLst/>
          </a:prstGeom>
          <a:solidFill>
            <a:srgbClr val="1E1E1E"/>
          </a:solidFill>
          <a:ln w="12700">
            <a:solidFill>
              <a:srgbClr val="333333"/>
            </a:solidFill>
            <a:prstDash val="solid"/>
          </a:ln>
        </p:spPr>
      </p:sp>
      <p:sp>
        <p:nvSpPr>
          <p:cNvPr id="14" name="Text 12"/>
          <p:cNvSpPr/>
          <p:nvPr/>
        </p:nvSpPr>
        <p:spPr>
          <a:xfrm>
            <a:off x="4846320" y="3188970"/>
            <a:ext cx="3931920" cy="1261872"/>
          </a:xfrm>
          <a:prstGeom prst="rect">
            <a:avLst/>
          </a:prstGeom>
          <a:noFill/>
          <a:ln/>
        </p:spPr>
        <p:txBody>
          <a:bodyPr wrap="square" rtlCol="0" anchor="ctr"/>
          <a:lstStyle/>
          <a:p>
            <a:r>
              <a:rPr lang="en-US" sz="1000" dirty="0">
                <a:solidFill>
                  <a:srgbClr val="4FC3F7"/>
                </a:solidFill>
                <a:latin typeface="Consolas" pitchFamily="34" charset="0"/>
                <a:ea typeface="Consolas" pitchFamily="34" charset="-122"/>
                <a:cs typeface="Consolas" pitchFamily="34" charset="-120"/>
              </a:rPr>
              <a:t>class</a:t>
            </a:r>
            <a:r>
              <a:rPr lang="en-US" sz="1000" dirty="0">
                <a:solidFill>
                  <a:srgbClr val="A5D6A7"/>
                </a:solidFill>
                <a:latin typeface="Consolas" pitchFamily="34" charset="0"/>
                <a:ea typeface="Consolas" pitchFamily="34" charset="-122"/>
                <a:cs typeface="Consolas" pitchFamily="34" charset="-120"/>
              </a:rPr>
              <a:t> MaTache </a:t>
            </a:r>
            <a:r>
              <a:rPr lang="en-US" sz="1000" dirty="0">
                <a:solidFill>
                  <a:srgbClr val="4FC3F7"/>
                </a:solidFill>
                <a:latin typeface="Consolas" pitchFamily="34" charset="0"/>
                <a:ea typeface="Consolas" pitchFamily="34" charset="-122"/>
                <a:cs typeface="Consolas" pitchFamily="34" charset="-120"/>
              </a:rPr>
              <a:t>implements</a:t>
            </a:r>
            <a:r>
              <a:rPr lang="en-US" sz="1000" dirty="0">
                <a:solidFill>
                  <a:srgbClr val="FFFFFF"/>
                </a:solidFill>
                <a:latin typeface="Consolas" pitchFamily="34" charset="0"/>
                <a:ea typeface="Consolas" pitchFamily="34" charset="-122"/>
                <a:cs typeface="Consolas" pitchFamily="34" charset="-120"/>
              </a:rPr>
              <a:t> Runnable {
</a:t>
            </a:r>
            <a:r>
              <a:rPr lang="en-US" sz="1000" dirty="0">
                <a:solidFill>
                  <a:srgbClr val="4FC3F7"/>
                </a:solidFill>
                <a:latin typeface="Consolas" pitchFamily="34" charset="0"/>
                <a:ea typeface="Consolas" pitchFamily="34" charset="-122"/>
                <a:cs typeface="Consolas" pitchFamily="34" charset="-120"/>
              </a:rPr>
              <a:t>  public</a:t>
            </a:r>
            <a:r>
              <a:rPr lang="en-US" sz="1000" dirty="0">
                <a:solidFill>
                  <a:srgbClr val="CE93D8"/>
                </a:solidFill>
                <a:latin typeface="Consolas" pitchFamily="34" charset="0"/>
                <a:ea typeface="Consolas" pitchFamily="34" charset="-122"/>
                <a:cs typeface="Consolas" pitchFamily="34" charset="-120"/>
              </a:rPr>
              <a:t> void</a:t>
            </a:r>
            <a:r>
              <a:rPr lang="en-US" sz="1000" dirty="0">
                <a:solidFill>
                  <a:srgbClr val="FFFFFF"/>
                </a:solidFill>
                <a:latin typeface="Consolas" pitchFamily="34" charset="0"/>
                <a:ea typeface="Consolas" pitchFamily="34" charset="-122"/>
                <a:cs typeface="Consolas" pitchFamily="34" charset="-120"/>
              </a:rPr>
              <a:t> run() {
    System.out.println(</a:t>
            </a:r>
            <a:r>
              <a:rPr lang="en-US" sz="1000" dirty="0">
                <a:solidFill>
                  <a:srgbClr val="FFCC80"/>
                </a:solidFill>
                <a:latin typeface="Consolas" pitchFamily="34" charset="0"/>
                <a:ea typeface="Consolas" pitchFamily="34" charset="-122"/>
                <a:cs typeface="Consolas" pitchFamily="34" charset="-120"/>
              </a:rPr>
              <a:t>"Bonjour!"</a:t>
            </a:r>
            <a:r>
              <a:rPr lang="en-US" sz="1000" dirty="0">
                <a:solidFill>
                  <a:srgbClr val="FFFFFF"/>
                </a:solidFill>
                <a:latin typeface="Consolas" pitchFamily="34" charset="0"/>
                <a:ea typeface="Consolas" pitchFamily="34" charset="-122"/>
                <a:cs typeface="Consolas" pitchFamily="34" charset="-120"/>
              </a:rPr>
              <a:t>);
  }
}
</a:t>
            </a:r>
            <a:r>
              <a:rPr lang="en-US" sz="1000" dirty="0">
                <a:solidFill>
                  <a:srgbClr val="4FC3F7"/>
                </a:solidFill>
                <a:latin typeface="Consolas" pitchFamily="34" charset="0"/>
                <a:ea typeface="Consolas" pitchFamily="34" charset="-122"/>
                <a:cs typeface="Consolas" pitchFamily="34" charset="-120"/>
              </a:rPr>
              <a:t>new</a:t>
            </a:r>
            <a:r>
              <a:rPr lang="en-US" sz="1000" dirty="0">
                <a:solidFill>
                  <a:srgbClr val="FFFFFF"/>
                </a:solidFill>
                <a:latin typeface="Consolas" pitchFamily="34" charset="0"/>
                <a:ea typeface="Consolas" pitchFamily="34" charset="-122"/>
                <a:cs typeface="Consolas" pitchFamily="34" charset="-120"/>
              </a:rPr>
              <a:t> Thread(new MaTache()).start();</a:t>
            </a:r>
            <a:endParaRPr lang="en-US" sz="1000" dirty="0"/>
          </a:p>
        </p:txBody>
      </p:sp>
      <p:sp>
        <p:nvSpPr>
          <p:cNvPr id="23" name="Text 21"/>
          <p:cNvSpPr/>
          <p:nvPr/>
        </p:nvSpPr>
        <p:spPr>
          <a:xfrm>
            <a:off x="3712464" y="5182362"/>
            <a:ext cx="1463040" cy="347472"/>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RUNNING</a:t>
            </a:r>
            <a:endParaRPr lang="en-US" sz="900" dirty="0"/>
          </a:p>
        </p:txBody>
      </p:sp>
      <p:pic>
        <p:nvPicPr>
          <p:cNvPr id="31" name="Image 30">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32"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5"/>
            </a:pPr>
            <a:r>
              <a:rPr lang="fr-CA" sz="2400" kern="0" smtClean="0">
                <a:solidFill>
                  <a:srgbClr val="FF0000"/>
                </a:solidFill>
              </a:rPr>
              <a:t>LES THREADS ET LE MULTITHREADING</a:t>
            </a:r>
            <a:endParaRPr lang="fr-CA" sz="2400" kern="0" dirty="0">
              <a:solidFill>
                <a:srgbClr val="FF0000"/>
              </a:solidFill>
            </a:endParaRPr>
          </a:p>
        </p:txBody>
      </p:sp>
      <p:pic>
        <p:nvPicPr>
          <p:cNvPr id="33" name="Image 32">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34" name="ZoneTexte 33"/>
          <p:cNvSpPr txBox="1"/>
          <p:nvPr/>
        </p:nvSpPr>
        <p:spPr>
          <a:xfrm>
            <a:off x="393792" y="4692334"/>
            <a:ext cx="7990656" cy="1477328"/>
          </a:xfrm>
          <a:prstGeom prst="rect">
            <a:avLst/>
          </a:prstGeom>
          <a:noFill/>
        </p:spPr>
        <p:txBody>
          <a:bodyPr wrap="square" rtlCol="0">
            <a:spAutoFit/>
          </a:bodyPr>
          <a:lstStyle/>
          <a:p>
            <a:r>
              <a:rPr lang="fr-FR" dirty="0" smtClean="0">
                <a:solidFill>
                  <a:srgbClr val="FF0000"/>
                </a:solidFill>
              </a:rPr>
              <a:t>Quelques méthodes utiles</a:t>
            </a:r>
          </a:p>
          <a:p>
            <a:r>
              <a:rPr lang="fr-FR" dirty="0" smtClean="0"/>
              <a:t>-</a:t>
            </a:r>
            <a:r>
              <a:rPr lang="fr-FR" dirty="0" err="1"/>
              <a:t>start</a:t>
            </a:r>
            <a:r>
              <a:rPr lang="fr-FR" dirty="0" smtClean="0"/>
              <a:t>()</a:t>
            </a:r>
          </a:p>
          <a:p>
            <a:r>
              <a:rPr lang="fr-FR" dirty="0" smtClean="0"/>
              <a:t>-</a:t>
            </a:r>
            <a:r>
              <a:rPr lang="fr-FR" dirty="0" err="1"/>
              <a:t>run</a:t>
            </a:r>
            <a:r>
              <a:rPr lang="fr-FR" dirty="0" smtClean="0"/>
              <a:t>()</a:t>
            </a:r>
          </a:p>
          <a:p>
            <a:r>
              <a:rPr lang="fr-FR" dirty="0" smtClean="0"/>
              <a:t>-</a:t>
            </a:r>
            <a:r>
              <a:rPr lang="fr-FR" dirty="0" err="1"/>
              <a:t>sleep</a:t>
            </a:r>
            <a:r>
              <a:rPr lang="fr-FR" dirty="0"/>
              <a:t>(ms</a:t>
            </a:r>
            <a:r>
              <a:rPr lang="fr-FR" dirty="0" smtClean="0"/>
              <a:t>)</a:t>
            </a:r>
          </a:p>
          <a:p>
            <a:endParaRPr lang="fr-FR" dirty="0"/>
          </a:p>
        </p:txBody>
      </p:sp>
    </p:spTree>
    <p:extLst>
      <p:ext uri="{BB962C8B-B14F-4D97-AF65-F5344CB8AC3E}">
        <p14:creationId xmlns:p14="http://schemas.microsoft.com/office/powerpoint/2010/main" val="1563779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54864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VII.  JAVA I/O</a:t>
            </a:r>
            <a:endParaRPr lang="en-US" sz="2200" dirty="0"/>
          </a:p>
        </p:txBody>
      </p:sp>
      <p:pic>
        <p:nvPicPr>
          <p:cNvPr id="18" name="Image 17">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19"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6"/>
            </a:pPr>
            <a:r>
              <a:rPr lang="fr-CA" sz="2400" kern="0" smtClean="0">
                <a:solidFill>
                  <a:srgbClr val="FF0000"/>
                </a:solidFill>
              </a:rPr>
              <a:t>JAVA I/O</a:t>
            </a:r>
            <a:endParaRPr lang="fr-CA" sz="2400" kern="0" dirty="0">
              <a:solidFill>
                <a:srgbClr val="FF0000"/>
              </a:solidFill>
            </a:endParaRPr>
          </a:p>
        </p:txBody>
      </p:sp>
      <p:pic>
        <p:nvPicPr>
          <p:cNvPr id="20" name="Image 19">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23" name="ZoneTexte 22"/>
          <p:cNvSpPr txBox="1"/>
          <p:nvPr/>
        </p:nvSpPr>
        <p:spPr>
          <a:xfrm>
            <a:off x="467544" y="1098649"/>
            <a:ext cx="8280920" cy="5940088"/>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Java I/O (Input/Output) est l'ensemble des classes Java permettant de lire et écrire des données : fichiers, clavier, réseau, </a:t>
            </a:r>
            <a:r>
              <a:rPr lang="fr-FR" dirty="0" smtClean="0">
                <a:latin typeface="Times New Roman" panose="02020603050405020304" pitchFamily="18" charset="0"/>
                <a:cs typeface="Times New Roman" panose="02020603050405020304" pitchFamily="18" charset="0"/>
              </a:rPr>
              <a:t>etc.</a:t>
            </a:r>
          </a:p>
          <a:p>
            <a:endParaRPr lang="fr-FR"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fr-FR" dirty="0" smtClean="0">
                <a:latin typeface="Times New Roman" panose="02020603050405020304" pitchFamily="18" charset="0"/>
                <a:cs typeface="Times New Roman" panose="02020603050405020304" pitchFamily="18" charset="0"/>
              </a:rPr>
              <a:t>Exemple</a:t>
            </a:r>
          </a:p>
          <a:p>
            <a:pPr algn="just"/>
            <a:r>
              <a:rPr lang="fr-FR" sz="1600" b="1" dirty="0">
                <a:solidFill>
                  <a:srgbClr val="FF0000"/>
                </a:solidFill>
                <a:latin typeface="Times New Roman" panose="02020603050405020304" pitchFamily="18" charset="0"/>
                <a:cs typeface="Times New Roman" panose="02020603050405020304" pitchFamily="18" charset="0"/>
              </a:rPr>
              <a:t>import</a:t>
            </a:r>
            <a:r>
              <a:rPr lang="fr-FR" sz="1600" b="1" dirty="0">
                <a:latin typeface="Times New Roman" panose="02020603050405020304" pitchFamily="18" charset="0"/>
                <a:cs typeface="Times New Roman" panose="02020603050405020304" pitchFamily="18" charset="0"/>
              </a:rPr>
              <a:t> java.io.*;</a:t>
            </a:r>
          </a:p>
          <a:p>
            <a:pPr algn="just"/>
            <a:endParaRPr lang="fr-FR" sz="1600" b="1" dirty="0">
              <a:latin typeface="Times New Roman" panose="02020603050405020304" pitchFamily="18" charset="0"/>
              <a:cs typeface="Times New Roman" panose="02020603050405020304" pitchFamily="18" charset="0"/>
            </a:endParaRPr>
          </a:p>
          <a:p>
            <a:pPr algn="just"/>
            <a:r>
              <a:rPr lang="fr-FR" sz="1600" b="1" dirty="0">
                <a:latin typeface="Times New Roman" panose="02020603050405020304" pitchFamily="18" charset="0"/>
                <a:cs typeface="Times New Roman" panose="02020603050405020304" pitchFamily="18" charset="0"/>
              </a:rPr>
              <a:t>public class </a:t>
            </a:r>
            <a:r>
              <a:rPr lang="fr-FR" sz="1600" b="1" dirty="0" err="1">
                <a:solidFill>
                  <a:srgbClr val="FF0000"/>
                </a:solidFill>
                <a:latin typeface="Times New Roman" panose="02020603050405020304" pitchFamily="18" charset="0"/>
                <a:cs typeface="Times New Roman" panose="02020603050405020304" pitchFamily="18" charset="0"/>
              </a:rPr>
              <a:t>GestionFichier</a:t>
            </a:r>
            <a:r>
              <a:rPr lang="fr-FR" sz="1600" b="1" dirty="0">
                <a:latin typeface="Times New Roman" panose="02020603050405020304" pitchFamily="18" charset="0"/>
                <a:cs typeface="Times New Roman" panose="02020603050405020304" pitchFamily="18" charset="0"/>
              </a:rPr>
              <a:t> {</a:t>
            </a:r>
          </a:p>
          <a:p>
            <a:pPr algn="just"/>
            <a:r>
              <a:rPr lang="fr-FR" sz="1600" b="1" dirty="0">
                <a:latin typeface="Times New Roman" panose="02020603050405020304" pitchFamily="18" charset="0"/>
                <a:cs typeface="Times New Roman" panose="02020603050405020304" pitchFamily="18" charset="0"/>
              </a:rPr>
              <a:t>    public </a:t>
            </a:r>
            <a:r>
              <a:rPr lang="fr-FR" sz="1600" b="1" dirty="0" err="1">
                <a:latin typeface="Times New Roman" panose="02020603050405020304" pitchFamily="18" charset="0"/>
                <a:cs typeface="Times New Roman" panose="02020603050405020304" pitchFamily="18" charset="0"/>
              </a:rPr>
              <a:t>static</a:t>
            </a:r>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void</a:t>
            </a:r>
            <a:r>
              <a:rPr lang="fr-FR" sz="1600" b="1" dirty="0">
                <a:latin typeface="Times New Roman" panose="02020603050405020304" pitchFamily="18" charset="0"/>
                <a:cs typeface="Times New Roman" panose="02020603050405020304" pitchFamily="18" charset="0"/>
              </a:rPr>
              <a:t> main(String[] </a:t>
            </a:r>
            <a:r>
              <a:rPr lang="fr-FR" sz="1600" b="1" dirty="0" err="1">
                <a:latin typeface="Times New Roman" panose="02020603050405020304" pitchFamily="18" charset="0"/>
                <a:cs typeface="Times New Roman" panose="02020603050405020304" pitchFamily="18" charset="0"/>
              </a:rPr>
              <a:t>args</a:t>
            </a:r>
            <a:r>
              <a:rPr lang="fr-FR" sz="1600" b="1" dirty="0">
                <a:latin typeface="Times New Roman" panose="02020603050405020304" pitchFamily="18" charset="0"/>
                <a:cs typeface="Times New Roman" panose="02020603050405020304" pitchFamily="18" charset="0"/>
              </a:rPr>
              <a:t>) </a:t>
            </a:r>
            <a:r>
              <a:rPr lang="fr-FR" sz="1600" b="1" dirty="0" smtClean="0">
                <a:latin typeface="Times New Roman" panose="02020603050405020304" pitchFamily="18" charset="0"/>
                <a:cs typeface="Times New Roman" panose="02020603050405020304" pitchFamily="18" charset="0"/>
              </a:rPr>
              <a:t>{</a:t>
            </a:r>
          </a:p>
          <a:p>
            <a:pPr algn="just"/>
            <a:endParaRPr lang="fr-FR" sz="1600" b="1" dirty="0">
              <a:latin typeface="Times New Roman" panose="02020603050405020304" pitchFamily="18" charset="0"/>
              <a:cs typeface="Times New Roman" panose="02020603050405020304" pitchFamily="18" charset="0"/>
            </a:endParaRPr>
          </a:p>
          <a:p>
            <a:pPr algn="just"/>
            <a:r>
              <a:rPr lang="fr-FR" sz="1600" b="1" dirty="0">
                <a:latin typeface="Times New Roman" panose="02020603050405020304" pitchFamily="18" charset="0"/>
                <a:cs typeface="Times New Roman" panose="02020603050405020304" pitchFamily="18" charset="0"/>
              </a:rPr>
              <a:t>        </a:t>
            </a:r>
            <a:r>
              <a:rPr lang="fr-FR" sz="1600" b="1" dirty="0">
                <a:solidFill>
                  <a:srgbClr val="FF0000"/>
                </a:solidFill>
                <a:latin typeface="Times New Roman" panose="02020603050405020304" pitchFamily="18" charset="0"/>
                <a:cs typeface="Times New Roman" panose="02020603050405020304" pitchFamily="18" charset="0"/>
              </a:rPr>
              <a:t>String chemin </a:t>
            </a:r>
            <a:r>
              <a:rPr lang="fr-FR" sz="1600" b="1" dirty="0">
                <a:latin typeface="Times New Roman" panose="02020603050405020304" pitchFamily="18" charset="0"/>
                <a:cs typeface="Times New Roman" panose="02020603050405020304" pitchFamily="18" charset="0"/>
              </a:rPr>
              <a:t>= "mon_fichier.txt</a:t>
            </a:r>
            <a:r>
              <a:rPr lang="fr-FR" sz="1600" b="1" dirty="0" smtClean="0">
                <a:latin typeface="Times New Roman" panose="02020603050405020304" pitchFamily="18" charset="0"/>
                <a:cs typeface="Times New Roman" panose="02020603050405020304" pitchFamily="18" charset="0"/>
              </a:rPr>
              <a:t>";</a:t>
            </a:r>
          </a:p>
          <a:p>
            <a:pPr algn="just"/>
            <a:endParaRPr lang="fr-FR" sz="1600" b="1" dirty="0">
              <a:latin typeface="Times New Roman" panose="02020603050405020304" pitchFamily="18" charset="0"/>
              <a:cs typeface="Times New Roman" panose="02020603050405020304" pitchFamily="18" charset="0"/>
            </a:endParaRPr>
          </a:p>
          <a:p>
            <a:pPr algn="just"/>
            <a:r>
              <a:rPr lang="fr-FR" sz="1600" b="1" dirty="0">
                <a:latin typeface="Times New Roman" panose="02020603050405020304" pitchFamily="18" charset="0"/>
                <a:cs typeface="Times New Roman" panose="02020603050405020304" pitchFamily="18" charset="0"/>
              </a:rPr>
              <a:t>        // 1. ÉCRITURE dans le fichier</a:t>
            </a: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try</a:t>
            </a:r>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BufferedWriter</a:t>
            </a:r>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writer</a:t>
            </a:r>
            <a:r>
              <a:rPr lang="fr-FR" sz="1600" b="1" dirty="0">
                <a:latin typeface="Times New Roman" panose="02020603050405020304" pitchFamily="18" charset="0"/>
                <a:cs typeface="Times New Roman" panose="02020603050405020304" pitchFamily="18" charset="0"/>
              </a:rPr>
              <a:t> = new </a:t>
            </a:r>
            <a:r>
              <a:rPr lang="fr-FR" sz="1600" b="1" dirty="0" err="1">
                <a:latin typeface="Times New Roman" panose="02020603050405020304" pitchFamily="18" charset="0"/>
                <a:cs typeface="Times New Roman" panose="02020603050405020304" pitchFamily="18" charset="0"/>
              </a:rPr>
              <a:t>BufferedWriter</a:t>
            </a:r>
            <a:r>
              <a:rPr lang="fr-FR" sz="1600" b="1" dirty="0">
                <a:latin typeface="Times New Roman" panose="02020603050405020304" pitchFamily="18" charset="0"/>
                <a:cs typeface="Times New Roman" panose="02020603050405020304" pitchFamily="18" charset="0"/>
              </a:rPr>
              <a:t>(new </a:t>
            </a:r>
            <a:r>
              <a:rPr lang="fr-FR" sz="1600" b="1" dirty="0" err="1">
                <a:latin typeface="Times New Roman" panose="02020603050405020304" pitchFamily="18" charset="0"/>
                <a:cs typeface="Times New Roman" panose="02020603050405020304" pitchFamily="18" charset="0"/>
              </a:rPr>
              <a:t>FileWriter</a:t>
            </a:r>
            <a:r>
              <a:rPr lang="fr-FR" sz="1600" b="1" dirty="0">
                <a:latin typeface="Times New Roman" panose="02020603050405020304" pitchFamily="18" charset="0"/>
                <a:cs typeface="Times New Roman" panose="02020603050405020304" pitchFamily="18" charset="0"/>
              </a:rPr>
              <a:t>(chemin))) {</a:t>
            </a: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writer.write</a:t>
            </a:r>
            <a:r>
              <a:rPr lang="fr-FR" sz="1600" b="1" dirty="0">
                <a:latin typeface="Times New Roman" panose="02020603050405020304" pitchFamily="18" charset="0"/>
                <a:cs typeface="Times New Roman" panose="02020603050405020304" pitchFamily="18" charset="0"/>
              </a:rPr>
              <a:t>("</a:t>
            </a:r>
            <a:r>
              <a:rPr lang="fr-FR" sz="1600" b="1" dirty="0">
                <a:solidFill>
                  <a:srgbClr val="FF0000"/>
                </a:solidFill>
                <a:latin typeface="Times New Roman" panose="02020603050405020304" pitchFamily="18" charset="0"/>
                <a:cs typeface="Times New Roman" panose="02020603050405020304" pitchFamily="18" charset="0"/>
              </a:rPr>
              <a:t>Bonjour ! Voici un exemple concret de Java IO.</a:t>
            </a:r>
            <a:r>
              <a:rPr lang="fr-FR" sz="1600" b="1" dirty="0">
                <a:latin typeface="Times New Roman" panose="02020603050405020304" pitchFamily="18" charset="0"/>
                <a:cs typeface="Times New Roman" panose="02020603050405020304" pitchFamily="18" charset="0"/>
              </a:rPr>
              <a:t>");</a:t>
            </a: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writer.newLine</a:t>
            </a:r>
            <a:r>
              <a:rPr lang="fr-FR" sz="1600" b="1" dirty="0" smtClean="0">
                <a:latin typeface="Times New Roman" panose="02020603050405020304" pitchFamily="18" charset="0"/>
                <a:cs typeface="Times New Roman" panose="02020603050405020304" pitchFamily="18" charset="0"/>
              </a:rPr>
              <a:t>();</a:t>
            </a:r>
          </a:p>
          <a:p>
            <a:pPr algn="just"/>
            <a:endParaRPr lang="fr-FR" sz="1600" b="1" dirty="0">
              <a:latin typeface="Times New Roman" panose="02020603050405020304" pitchFamily="18" charset="0"/>
              <a:cs typeface="Times New Roman" panose="02020603050405020304" pitchFamily="18" charset="0"/>
            </a:endParaRP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writer.write</a:t>
            </a:r>
            <a:r>
              <a:rPr lang="fr-FR" sz="1600" b="1" dirty="0">
                <a:latin typeface="Times New Roman" panose="02020603050405020304" pitchFamily="18" charset="0"/>
                <a:cs typeface="Times New Roman" panose="02020603050405020304" pitchFamily="18" charset="0"/>
              </a:rPr>
              <a:t>("</a:t>
            </a:r>
            <a:r>
              <a:rPr lang="fr-FR" sz="1600" b="1" dirty="0">
                <a:solidFill>
                  <a:srgbClr val="FF0000"/>
                </a:solidFill>
                <a:latin typeface="Times New Roman" panose="02020603050405020304" pitchFamily="18" charset="0"/>
                <a:cs typeface="Times New Roman" panose="02020603050405020304" pitchFamily="18" charset="0"/>
              </a:rPr>
              <a:t>Ligne 2 : Utilisation de </a:t>
            </a:r>
            <a:r>
              <a:rPr lang="fr-FR" sz="1600" b="1" dirty="0" err="1">
                <a:solidFill>
                  <a:srgbClr val="FF0000"/>
                </a:solidFill>
                <a:latin typeface="Times New Roman" panose="02020603050405020304" pitchFamily="18" charset="0"/>
                <a:cs typeface="Times New Roman" panose="02020603050405020304" pitchFamily="18" charset="0"/>
              </a:rPr>
              <a:t>BufferedWriter</a:t>
            </a:r>
            <a:r>
              <a:rPr lang="fr-FR" sz="1600" b="1" dirty="0">
                <a:solidFill>
                  <a:srgbClr val="FF0000"/>
                </a:solidFill>
                <a:latin typeface="Times New Roman" panose="02020603050405020304" pitchFamily="18" charset="0"/>
                <a:cs typeface="Times New Roman" panose="02020603050405020304" pitchFamily="18" charset="0"/>
              </a:rPr>
              <a:t>.");</a:t>
            </a: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System.out.println</a:t>
            </a:r>
            <a:r>
              <a:rPr lang="fr-FR" sz="1600" b="1" dirty="0">
                <a:latin typeface="Times New Roman" panose="02020603050405020304" pitchFamily="18" charset="0"/>
                <a:cs typeface="Times New Roman" panose="02020603050405020304" pitchFamily="18" charset="0"/>
              </a:rPr>
              <a:t>("✅ Fichier écrit avec succès.");</a:t>
            </a:r>
          </a:p>
          <a:p>
            <a:pPr algn="just"/>
            <a:r>
              <a:rPr lang="fr-FR" sz="1600" b="1" dirty="0">
                <a:latin typeface="Times New Roman" panose="02020603050405020304" pitchFamily="18" charset="0"/>
                <a:cs typeface="Times New Roman" panose="02020603050405020304" pitchFamily="18" charset="0"/>
              </a:rPr>
              <a:t>        } catch (</a:t>
            </a:r>
            <a:r>
              <a:rPr lang="fr-FR" sz="1600" b="1" dirty="0" err="1">
                <a:latin typeface="Times New Roman" panose="02020603050405020304" pitchFamily="18" charset="0"/>
                <a:cs typeface="Times New Roman" panose="02020603050405020304" pitchFamily="18" charset="0"/>
              </a:rPr>
              <a:t>IOException</a:t>
            </a:r>
            <a:r>
              <a:rPr lang="fr-FR" sz="1600" b="1" dirty="0">
                <a:latin typeface="Times New Roman" panose="02020603050405020304" pitchFamily="18" charset="0"/>
                <a:cs typeface="Times New Roman" panose="02020603050405020304" pitchFamily="18" charset="0"/>
              </a:rPr>
              <a:t> e) {</a:t>
            </a:r>
          </a:p>
          <a:p>
            <a:pPr algn="just"/>
            <a:r>
              <a:rPr lang="fr-FR" sz="1600" b="1" dirty="0">
                <a:latin typeface="Times New Roman" panose="02020603050405020304" pitchFamily="18" charset="0"/>
                <a:cs typeface="Times New Roman" panose="02020603050405020304" pitchFamily="18" charset="0"/>
              </a:rPr>
              <a:t>            </a:t>
            </a:r>
            <a:r>
              <a:rPr lang="fr-FR" sz="1600" b="1" dirty="0" err="1">
                <a:latin typeface="Times New Roman" panose="02020603050405020304" pitchFamily="18" charset="0"/>
                <a:cs typeface="Times New Roman" panose="02020603050405020304" pitchFamily="18" charset="0"/>
              </a:rPr>
              <a:t>System.err.println</a:t>
            </a:r>
            <a:r>
              <a:rPr lang="fr-FR" sz="1600" b="1" dirty="0">
                <a:latin typeface="Times New Roman" panose="02020603050405020304" pitchFamily="18" charset="0"/>
                <a:cs typeface="Times New Roman" panose="02020603050405020304" pitchFamily="18" charset="0"/>
              </a:rPr>
              <a:t>("Erreur d'écriture : " + </a:t>
            </a:r>
            <a:r>
              <a:rPr lang="fr-FR" sz="1600" b="1" dirty="0" err="1">
                <a:latin typeface="Times New Roman" panose="02020603050405020304" pitchFamily="18" charset="0"/>
                <a:cs typeface="Times New Roman" panose="02020603050405020304" pitchFamily="18" charset="0"/>
              </a:rPr>
              <a:t>e.getMessage</a:t>
            </a:r>
            <a:r>
              <a:rPr lang="fr-FR" sz="1600" b="1" dirty="0">
                <a:latin typeface="Times New Roman" panose="02020603050405020304" pitchFamily="18" charset="0"/>
                <a:cs typeface="Times New Roman" panose="02020603050405020304" pitchFamily="18" charset="0"/>
              </a:rPr>
              <a:t>());</a:t>
            </a:r>
          </a:p>
          <a:p>
            <a:pPr algn="just"/>
            <a:r>
              <a:rPr lang="fr-FR" sz="1600" b="1" dirty="0">
                <a:latin typeface="Times New Roman" panose="02020603050405020304" pitchFamily="18" charset="0"/>
                <a:cs typeface="Times New Roman" panose="02020603050405020304" pitchFamily="18" charset="0"/>
              </a:rPr>
              <a:t>        }</a:t>
            </a:r>
          </a:p>
          <a:p>
            <a:endParaRPr lang="fr-FR" dirty="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645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274320" y="1040130"/>
            <a:ext cx="8229600" cy="548640"/>
          </a:xfrm>
          <a:prstGeom prst="rect">
            <a:avLst/>
          </a:prstGeom>
          <a:noFill/>
          <a:ln/>
        </p:spPr>
        <p:txBody>
          <a:bodyPr wrap="square" rtlCol="0" anchor="ctr"/>
          <a:lstStyle/>
          <a:p>
            <a:r>
              <a:rPr lang="en-US" sz="2200" b="1" dirty="0">
                <a:solidFill>
                  <a:srgbClr val="FFFFFF"/>
                </a:solidFill>
                <a:latin typeface="Calibri" pitchFamily="34" charset="0"/>
                <a:ea typeface="Calibri" pitchFamily="34" charset="-122"/>
                <a:cs typeface="Calibri" pitchFamily="34" charset="-120"/>
              </a:rPr>
              <a:t>VII.  JAVA I/O</a:t>
            </a:r>
            <a:endParaRPr lang="en-US" sz="2200" dirty="0"/>
          </a:p>
        </p:txBody>
      </p:sp>
      <p:pic>
        <p:nvPicPr>
          <p:cNvPr id="18" name="Image 17">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sp>
        <p:nvSpPr>
          <p:cNvPr id="19" name="Titre 1">
            <a:extLst>
              <a:ext uri="{FF2B5EF4-FFF2-40B4-BE49-F238E27FC236}">
                <a16:creationId xmlns:a16="http://schemas.microsoft.com/office/drawing/2014/main" id="{88197348-5CC2-499B-8197-C94C5D8BC489}"/>
              </a:ext>
            </a:extLst>
          </p:cNvPr>
          <p:cNvSpPr txBox="1">
            <a:spLocks/>
          </p:cNvSpPr>
          <p:nvPr/>
        </p:nvSpPr>
        <p:spPr>
          <a:xfrm>
            <a:off x="755576" y="151802"/>
            <a:ext cx="8208912" cy="540894"/>
          </a:xfrm>
          <a:prstGeom prst="rect">
            <a:avLst/>
          </a:prstGeom>
          <a:noFill/>
          <a:ln>
            <a:noFill/>
          </a:ln>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charset="0"/>
                <a:ea typeface="ＭＳ Ｐゴシック" pitchFamily="28"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charset="0"/>
                <a:ea typeface="ＭＳ Ｐゴシック" pitchFamily="28" charset="-128"/>
              </a:defRPr>
            </a:lvl9pPr>
          </a:lstStyle>
          <a:p>
            <a:pPr marL="514350" indent="-514350">
              <a:buFont typeface="+mj-lt"/>
              <a:buAutoNum type="romanUcPeriod" startAt="6"/>
            </a:pPr>
            <a:r>
              <a:rPr lang="fr-CA" sz="2400" kern="0" smtClean="0">
                <a:solidFill>
                  <a:srgbClr val="FF0000"/>
                </a:solidFill>
              </a:rPr>
              <a:t>JAVA I/O</a:t>
            </a:r>
            <a:endParaRPr lang="fr-CA" sz="2400" kern="0" dirty="0">
              <a:solidFill>
                <a:srgbClr val="FF0000"/>
              </a:solidFill>
            </a:endParaRPr>
          </a:p>
        </p:txBody>
      </p:sp>
      <p:pic>
        <p:nvPicPr>
          <p:cNvPr id="20" name="Image 19">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2" name="ZoneTexte 1"/>
          <p:cNvSpPr txBox="1"/>
          <p:nvPr/>
        </p:nvSpPr>
        <p:spPr>
          <a:xfrm>
            <a:off x="395536" y="1124744"/>
            <a:ext cx="8496944" cy="3416320"/>
          </a:xfrm>
          <a:prstGeom prst="rect">
            <a:avLst/>
          </a:prstGeom>
          <a:noFill/>
        </p:spPr>
        <p:txBody>
          <a:bodyPr wrap="square" rtlCol="0">
            <a:spAutoFit/>
          </a:bodyPr>
          <a:lstStyle/>
          <a:p>
            <a:pPr algn="just"/>
            <a:r>
              <a:rPr lang="fr-FR" b="1" dirty="0">
                <a:latin typeface="Times New Roman" panose="02020603050405020304" pitchFamily="18" charset="0"/>
                <a:cs typeface="Times New Roman" panose="02020603050405020304" pitchFamily="18" charset="0"/>
              </a:rPr>
              <a:t> // 2. LECTURE du fichier</a:t>
            </a:r>
          </a:p>
          <a:p>
            <a:pPr algn="just"/>
            <a:r>
              <a:rPr lang="fr-FR" b="1" dirty="0">
                <a:latin typeface="Times New Roman" panose="02020603050405020304" pitchFamily="18" charset="0"/>
                <a:cs typeface="Times New Roman" panose="02020603050405020304" pitchFamily="18" charset="0"/>
              </a:rPr>
              <a:t>      </a:t>
            </a:r>
            <a:r>
              <a:rPr lang="fr-FR" b="1" dirty="0">
                <a:solidFill>
                  <a:srgbClr val="FF0000"/>
                </a:solidFill>
                <a:latin typeface="Times New Roman" panose="02020603050405020304" pitchFamily="18" charset="0"/>
                <a:cs typeface="Times New Roman" panose="02020603050405020304" pitchFamily="18" charset="0"/>
              </a:rPr>
              <a:t>  </a:t>
            </a:r>
            <a:r>
              <a:rPr lang="fr-FR" b="1" dirty="0" err="1">
                <a:solidFill>
                  <a:srgbClr val="FF0000"/>
                </a:solidFill>
                <a:latin typeface="Times New Roman" panose="02020603050405020304" pitchFamily="18" charset="0"/>
                <a:cs typeface="Times New Roman" panose="02020603050405020304" pitchFamily="18" charset="0"/>
              </a:rPr>
              <a:t>try</a:t>
            </a:r>
            <a:r>
              <a:rPr lang="fr-FR" b="1" dirty="0">
                <a:solidFill>
                  <a:srgbClr val="FF0000"/>
                </a:solidFill>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a:t>
            </a:r>
            <a:r>
              <a:rPr lang="fr-FR" b="1" dirty="0" err="1">
                <a:latin typeface="Times New Roman" panose="02020603050405020304" pitchFamily="18" charset="0"/>
                <a:cs typeface="Times New Roman" panose="02020603050405020304" pitchFamily="18" charset="0"/>
              </a:rPr>
              <a:t>BufferedReader</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reader</a:t>
            </a:r>
            <a:r>
              <a:rPr lang="fr-FR" b="1" dirty="0">
                <a:latin typeface="Times New Roman" panose="02020603050405020304" pitchFamily="18" charset="0"/>
                <a:cs typeface="Times New Roman" panose="02020603050405020304" pitchFamily="18" charset="0"/>
              </a:rPr>
              <a:t> = new </a:t>
            </a:r>
            <a:r>
              <a:rPr lang="fr-FR" b="1" dirty="0" err="1">
                <a:latin typeface="Times New Roman" panose="02020603050405020304" pitchFamily="18" charset="0"/>
                <a:cs typeface="Times New Roman" panose="02020603050405020304" pitchFamily="18" charset="0"/>
              </a:rPr>
              <a:t>BufferedReader</a:t>
            </a:r>
            <a:r>
              <a:rPr lang="fr-FR" b="1" dirty="0">
                <a:latin typeface="Times New Roman" panose="02020603050405020304" pitchFamily="18" charset="0"/>
                <a:cs typeface="Times New Roman" panose="02020603050405020304" pitchFamily="18" charset="0"/>
              </a:rPr>
              <a:t>(new </a:t>
            </a:r>
            <a:r>
              <a:rPr lang="fr-FR" b="1" dirty="0" err="1">
                <a:latin typeface="Times New Roman" panose="02020603050405020304" pitchFamily="18" charset="0"/>
                <a:cs typeface="Times New Roman" panose="02020603050405020304" pitchFamily="18" charset="0"/>
              </a:rPr>
              <a:t>FileReader</a:t>
            </a:r>
            <a:r>
              <a:rPr lang="fr-FR" b="1" dirty="0">
                <a:latin typeface="Times New Roman" panose="02020603050405020304" pitchFamily="18" charset="0"/>
                <a:cs typeface="Times New Roman" panose="02020603050405020304" pitchFamily="18" charset="0"/>
              </a:rPr>
              <a:t>(chemin))) {</a:t>
            </a:r>
          </a:p>
          <a:p>
            <a:pPr algn="just"/>
            <a:r>
              <a:rPr lang="fr-FR" b="1" dirty="0">
                <a:latin typeface="Times New Roman" panose="02020603050405020304" pitchFamily="18" charset="0"/>
                <a:cs typeface="Times New Roman" panose="02020603050405020304" pitchFamily="18" charset="0"/>
              </a:rPr>
              <a:t>            String ligne;</a:t>
            </a:r>
          </a:p>
          <a:p>
            <a:pPr algn="just"/>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System.out.println</a:t>
            </a:r>
            <a:r>
              <a:rPr lang="fr-FR" b="1" dirty="0">
                <a:latin typeface="Times New Roman" panose="02020603050405020304" pitchFamily="18" charset="0"/>
                <a:cs typeface="Times New Roman" panose="02020603050405020304" pitchFamily="18" charset="0"/>
              </a:rPr>
              <a:t>("📖 Contenu du fichier :");</a:t>
            </a:r>
          </a:p>
          <a:p>
            <a:pPr algn="just"/>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while</a:t>
            </a:r>
            <a:r>
              <a:rPr lang="fr-FR" b="1" dirty="0">
                <a:latin typeface="Times New Roman" panose="02020603050405020304" pitchFamily="18" charset="0"/>
                <a:cs typeface="Times New Roman" panose="02020603050405020304" pitchFamily="18" charset="0"/>
              </a:rPr>
              <a:t> ((ligne = </a:t>
            </a:r>
            <a:r>
              <a:rPr lang="fr-FR" b="1" dirty="0" err="1">
                <a:latin typeface="Times New Roman" panose="02020603050405020304" pitchFamily="18" charset="0"/>
                <a:cs typeface="Times New Roman" panose="02020603050405020304" pitchFamily="18" charset="0"/>
              </a:rPr>
              <a:t>reader.readLine</a:t>
            </a:r>
            <a:r>
              <a:rPr lang="fr-FR" b="1" dirty="0">
                <a:latin typeface="Times New Roman" panose="02020603050405020304" pitchFamily="18" charset="0"/>
                <a:cs typeface="Times New Roman" panose="02020603050405020304" pitchFamily="18" charset="0"/>
              </a:rPr>
              <a:t>()) != </a:t>
            </a:r>
            <a:r>
              <a:rPr lang="fr-FR" b="1" dirty="0" err="1">
                <a:latin typeface="Times New Roman" panose="02020603050405020304" pitchFamily="18" charset="0"/>
                <a:cs typeface="Times New Roman" panose="02020603050405020304" pitchFamily="18" charset="0"/>
              </a:rPr>
              <a:t>null</a:t>
            </a:r>
            <a:r>
              <a:rPr lang="fr-FR" b="1"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System.out.println</a:t>
            </a:r>
            <a:r>
              <a:rPr lang="fr-FR" b="1" dirty="0">
                <a:latin typeface="Times New Roman" panose="02020603050405020304" pitchFamily="18" charset="0"/>
                <a:cs typeface="Times New Roman" panose="02020603050405020304" pitchFamily="18" charset="0"/>
              </a:rPr>
              <a:t>("- " + ligne);</a:t>
            </a:r>
          </a:p>
          <a:p>
            <a:pPr algn="just"/>
            <a:r>
              <a:rPr lang="fr-FR" b="1"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        } </a:t>
            </a:r>
            <a:r>
              <a:rPr lang="fr-FR" b="1" dirty="0">
                <a:solidFill>
                  <a:srgbClr val="FF0000"/>
                </a:solidFill>
                <a:latin typeface="Times New Roman" panose="02020603050405020304" pitchFamily="18" charset="0"/>
                <a:cs typeface="Times New Roman" panose="02020603050405020304" pitchFamily="18" charset="0"/>
              </a:rPr>
              <a:t>catch</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IOException</a:t>
            </a:r>
            <a:r>
              <a:rPr lang="fr-FR" b="1" dirty="0">
                <a:latin typeface="Times New Roman" panose="02020603050405020304" pitchFamily="18" charset="0"/>
                <a:cs typeface="Times New Roman" panose="02020603050405020304" pitchFamily="18" charset="0"/>
              </a:rPr>
              <a:t> e) {</a:t>
            </a:r>
          </a:p>
          <a:p>
            <a:pPr algn="just"/>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System.err.println</a:t>
            </a:r>
            <a:r>
              <a:rPr lang="fr-FR" b="1" dirty="0">
                <a:latin typeface="Times New Roman" panose="02020603050405020304" pitchFamily="18" charset="0"/>
                <a:cs typeface="Times New Roman" panose="02020603050405020304" pitchFamily="18" charset="0"/>
              </a:rPr>
              <a:t>("Erreur de lecture : " + </a:t>
            </a:r>
            <a:r>
              <a:rPr lang="fr-FR" b="1" dirty="0" err="1">
                <a:latin typeface="Times New Roman" panose="02020603050405020304" pitchFamily="18" charset="0"/>
                <a:cs typeface="Times New Roman" panose="02020603050405020304" pitchFamily="18" charset="0"/>
              </a:rPr>
              <a:t>e.getMessage</a:t>
            </a:r>
            <a:r>
              <a:rPr lang="fr-FR" b="1" dirty="0">
                <a:latin typeface="Times New Roman" panose="02020603050405020304" pitchFamily="18" charset="0"/>
                <a:cs typeface="Times New Roman" panose="02020603050405020304" pitchFamily="18" charset="0"/>
              </a:rPr>
              <a:t>());</a:t>
            </a:r>
          </a:p>
          <a:p>
            <a:pPr algn="just"/>
            <a:r>
              <a:rPr lang="fr-FR" b="1"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132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re 1">
            <a:extLst>
              <a:ext uri="{FF2B5EF4-FFF2-40B4-BE49-F238E27FC236}">
                <a16:creationId xmlns:a16="http://schemas.microsoft.com/office/drawing/2014/main" id="{88197348-5CC2-499B-8197-C94C5D8BC489}"/>
              </a:ext>
            </a:extLst>
          </p:cNvPr>
          <p:cNvSpPr>
            <a:spLocks noGrp="1"/>
          </p:cNvSpPr>
          <p:nvPr>
            <p:ph type="title"/>
          </p:nvPr>
        </p:nvSpPr>
        <p:spPr>
          <a:xfrm>
            <a:off x="755576" y="151802"/>
            <a:ext cx="8208912" cy="540894"/>
          </a:xfrm>
          <a:noFill/>
          <a:ln>
            <a:noFill/>
          </a:ln>
        </p:spPr>
        <p:txBody>
          <a:bodyPr vert="horz" wrap="square" lIns="91440" tIns="45720" rIns="91440" bIns="45720" numCol="1" anchor="t" anchorCtr="0" compatLnSpc="1">
            <a:prstTxWarp prst="textNoShape">
              <a:avLst/>
            </a:prstTxWarp>
          </a:bodyPr>
          <a:lstStyle/>
          <a:p>
            <a:pPr marL="514350" indent="-514350">
              <a:buFont typeface="+mj-lt"/>
              <a:buAutoNum type="romanUcPeriod" startAt="7"/>
            </a:pPr>
            <a:r>
              <a:rPr lang="fr-CA" sz="2400" cap="none" dirty="0" smtClean="0">
                <a:solidFill>
                  <a:srgbClr val="FF0000"/>
                </a:solidFill>
              </a:rPr>
              <a:t>MA PREMIERE APPLICATION </a:t>
            </a:r>
            <a:endParaRPr lang="fr-CA" sz="2400" cap="none" dirty="0">
              <a:solidFill>
                <a:srgbClr val="FF0000"/>
              </a:solidFill>
            </a:endParaRPr>
          </a:p>
        </p:txBody>
      </p:sp>
      <p:pic>
        <p:nvPicPr>
          <p:cNvPr id="6" name="Image 5">
            <a:extLst>
              <a:ext uri="{FF2B5EF4-FFF2-40B4-BE49-F238E27FC236}">
                <a16:creationId xmlns:a16="http://schemas.microsoft.com/office/drawing/2014/main" id="{AC68D4D3-B500-4716-B843-F3048BF30C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96336" y="6307338"/>
            <a:ext cx="1296144" cy="515307"/>
          </a:xfrm>
          <a:prstGeom prst="rect">
            <a:avLst/>
          </a:prstGeom>
        </p:spPr>
      </p:pic>
      <p:pic>
        <p:nvPicPr>
          <p:cNvPr id="5" name="Image 4">
            <a:extLst>
              <a:ext uri="{FF2B5EF4-FFF2-40B4-BE49-F238E27FC236}">
                <a16:creationId xmlns:a16="http://schemas.microsoft.com/office/drawing/2014/main" id="{1F14F53A-C3CD-418C-B4AE-2BA5008321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pic>
        <p:nvPicPr>
          <p:cNvPr id="10" name="Imag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169" y="1341347"/>
            <a:ext cx="7560840" cy="4223878"/>
          </a:xfrm>
          <a:prstGeom prst="rect">
            <a:avLst/>
          </a:prstGeom>
        </p:spPr>
      </p:pic>
    </p:spTree>
    <p:extLst>
      <p:ext uri="{BB962C8B-B14F-4D97-AF65-F5344CB8AC3E}">
        <p14:creationId xmlns:p14="http://schemas.microsoft.com/office/powerpoint/2010/main" val="262687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99119"/>
            <a:ext cx="8064500" cy="665585"/>
          </a:xfrm>
        </p:spPr>
        <p:txBody>
          <a:bodyPr/>
          <a:lstStyle/>
          <a:p>
            <a:r>
              <a:rPr lang="fr-CA" sz="2400" dirty="0" smtClean="0">
                <a:solidFill>
                  <a:srgbClr val="FF0000"/>
                </a:solidFill>
              </a:rPr>
              <a:t>CONCLUSION</a:t>
            </a:r>
            <a:endParaRPr lang="fr-CA" sz="2400" dirty="0">
              <a:solidFill>
                <a:srgbClr val="FF0000"/>
              </a:solidFill>
            </a:endParaRPr>
          </a:p>
        </p:txBody>
      </p:sp>
      <p:pic>
        <p:nvPicPr>
          <p:cNvPr id="5" name="Image 4">
            <a:extLst>
              <a:ext uri="{FF2B5EF4-FFF2-40B4-BE49-F238E27FC236}">
                <a16:creationId xmlns:a16="http://schemas.microsoft.com/office/drawing/2014/main" id="{01421D6F-C5F1-42E4-86F1-5ED2F5C6A9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
        <p:nvSpPr>
          <p:cNvPr id="3" name="ZoneTexte 2"/>
          <p:cNvSpPr txBox="1"/>
          <p:nvPr/>
        </p:nvSpPr>
        <p:spPr>
          <a:xfrm>
            <a:off x="323528" y="1196752"/>
            <a:ext cx="8352928" cy="3139321"/>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Au terme de cette présentation, nous avons parcouru les concepts fondamentaux autour d' Apache </a:t>
            </a:r>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et de plusieurs notions clés du développement Java</a:t>
            </a:r>
            <a:r>
              <a:rPr lang="fr-FR" dirty="0" smtClean="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s'impose comme un outil incontournable en entreprise, grâce à sa gestion automatisée des dépendances, sa structure standardisée et sa capacité à gérer des projets simples comme des architectures multi-modules complexes</a:t>
            </a:r>
            <a:r>
              <a:rPr lang="fr-FR" dirty="0" smtClean="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Au-delà de </a:t>
            </a:r>
            <a:r>
              <a:rPr lang="fr-FR" dirty="0" err="1">
                <a:latin typeface="Times New Roman" panose="02020603050405020304" pitchFamily="18" charset="0"/>
                <a:cs typeface="Times New Roman" panose="02020603050405020304" pitchFamily="18" charset="0"/>
              </a:rPr>
              <a:t>Maven</a:t>
            </a:r>
            <a:r>
              <a:rPr lang="fr-FR" dirty="0">
                <a:latin typeface="Times New Roman" panose="02020603050405020304" pitchFamily="18" charset="0"/>
                <a:cs typeface="Times New Roman" panose="02020603050405020304" pitchFamily="18" charset="0"/>
              </a:rPr>
              <a:t>, nous avons également exploré </a:t>
            </a:r>
            <a:r>
              <a:rPr lang="fr-FR" dirty="0" smtClean="0">
                <a:latin typeface="Times New Roman" panose="02020603050405020304" pitchFamily="18" charset="0"/>
                <a:cs typeface="Times New Roman" panose="02020603050405020304" pitchFamily="18" charset="0"/>
              </a:rPr>
              <a:t>:</a:t>
            </a:r>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Java Date avec la nouvelle API </a:t>
            </a:r>
            <a:r>
              <a:rPr lang="fr-FR" dirty="0" err="1">
                <a:latin typeface="Times New Roman" panose="02020603050405020304" pitchFamily="18" charset="0"/>
                <a:cs typeface="Times New Roman" panose="02020603050405020304" pitchFamily="18" charset="0"/>
              </a:rPr>
              <a:t>java.time</a:t>
            </a:r>
            <a:r>
              <a:rPr lang="fr-FR" dirty="0">
                <a:latin typeface="Times New Roman" panose="02020603050405020304" pitchFamily="18" charset="0"/>
                <a:cs typeface="Times New Roman" panose="02020603050405020304" pitchFamily="18" charset="0"/>
              </a:rPr>
              <a:t>, plus lisible et thread-</a:t>
            </a:r>
            <a:r>
              <a:rPr lang="fr-FR" dirty="0" err="1">
                <a:latin typeface="Times New Roman" panose="02020603050405020304" pitchFamily="18" charset="0"/>
                <a:cs typeface="Times New Roman" panose="02020603050405020304" pitchFamily="18" charset="0"/>
              </a:rPr>
              <a:t>safe</a:t>
            </a:r>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Les Threads et le Multithreading , permettant l'exécution parallèle de tâches</a:t>
            </a:r>
          </a:p>
          <a:p>
            <a:pPr algn="just"/>
            <a:r>
              <a:rPr lang="fr-FR" dirty="0">
                <a:latin typeface="Times New Roman" panose="02020603050405020304" pitchFamily="18" charset="0"/>
                <a:cs typeface="Times New Roman" panose="02020603050405020304" pitchFamily="18" charset="0"/>
              </a:rPr>
              <a:t>Java I/O , pour la lecture et l'écriture de fichiers de manière fiable</a:t>
            </a:r>
          </a:p>
        </p:txBody>
      </p:sp>
    </p:spTree>
    <p:extLst>
      <p:ext uri="{BB962C8B-B14F-4D97-AF65-F5344CB8AC3E}">
        <p14:creationId xmlns:p14="http://schemas.microsoft.com/office/powerpoint/2010/main" val="472216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99119"/>
            <a:ext cx="8064500" cy="665585"/>
          </a:xfrm>
        </p:spPr>
        <p:txBody>
          <a:bodyPr/>
          <a:lstStyle/>
          <a:p>
            <a:r>
              <a:rPr lang="fr-CA" sz="2400" dirty="0" smtClean="0">
                <a:solidFill>
                  <a:srgbClr val="FF0000"/>
                </a:solidFill>
              </a:rPr>
              <a:t>FIN DE LA PRESENTATION</a:t>
            </a:r>
            <a:endParaRPr lang="fr-CA" sz="2400" dirty="0">
              <a:solidFill>
                <a:srgbClr val="FF0000"/>
              </a:solidFill>
            </a:endParaRPr>
          </a:p>
        </p:txBody>
      </p:sp>
      <p:sp>
        <p:nvSpPr>
          <p:cNvPr id="6" name="ZoneTexte 5"/>
          <p:cNvSpPr txBox="1"/>
          <p:nvPr/>
        </p:nvSpPr>
        <p:spPr>
          <a:xfrm>
            <a:off x="2310710" y="2780928"/>
            <a:ext cx="4493538" cy="1569660"/>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fr-CA" sz="9600" b="1" dirty="0">
                <a:ln w="11430"/>
                <a:effectLst>
                  <a:outerShdw blurRad="80000" dist="40000" dir="5040000" algn="tl">
                    <a:srgbClr val="000000">
                      <a:alpha val="30000"/>
                    </a:srgbClr>
                  </a:outerShdw>
                </a:effectLst>
              </a:rPr>
              <a:t>Merci !</a:t>
            </a:r>
            <a:r>
              <a:rPr lang="fr-CA" sz="9600" b="1" dirty="0">
                <a:ln w="11430"/>
                <a:solidFill>
                  <a:schemeClr val="bg1">
                    <a:lumMod val="50000"/>
                  </a:schemeClr>
                </a:solidFill>
                <a:effectLst>
                  <a:outerShdw blurRad="80000" dist="40000" dir="5040000" algn="tl">
                    <a:srgbClr val="000000">
                      <a:alpha val="30000"/>
                    </a:srgbClr>
                  </a:outerShdw>
                </a:effectLst>
              </a:rPr>
              <a:t> </a:t>
            </a:r>
          </a:p>
        </p:txBody>
      </p:sp>
      <p:pic>
        <p:nvPicPr>
          <p:cNvPr id="5" name="Image 4">
            <a:extLst>
              <a:ext uri="{FF2B5EF4-FFF2-40B4-BE49-F238E27FC236}">
                <a16:creationId xmlns:a16="http://schemas.microsoft.com/office/drawing/2014/main" id="{01421D6F-C5F1-42E4-86F1-5ED2F5C6A9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44624"/>
            <a:ext cx="8208962" cy="837456"/>
          </a:xfrm>
        </p:spPr>
        <p:txBody>
          <a:bodyPr/>
          <a:lstStyle/>
          <a:p>
            <a:r>
              <a:rPr lang="fr-CA">
                <a:solidFill>
                  <a:srgbClr val="C00000"/>
                </a:solidFill>
              </a:rPr>
              <a:t>Questions …</a:t>
            </a:r>
            <a:endParaRPr lang="fr-FR" dirty="0"/>
          </a:p>
        </p:txBody>
      </p:sp>
      <p:sp>
        <p:nvSpPr>
          <p:cNvPr id="6" name="ZoneTexte 5"/>
          <p:cNvSpPr txBox="1"/>
          <p:nvPr/>
        </p:nvSpPr>
        <p:spPr>
          <a:xfrm>
            <a:off x="2627784" y="2708920"/>
            <a:ext cx="3456384" cy="1292662"/>
          </a:xfrm>
          <a:prstGeom prst="rect">
            <a:avLst/>
          </a:prstGeom>
          <a:noFill/>
        </p:spPr>
        <p:txBody>
          <a:bodyPr wrap="square" rtlCol="0">
            <a:spAutoFit/>
          </a:bodyPr>
          <a:lstStyle/>
          <a:p>
            <a:pPr algn="ctr"/>
            <a:r>
              <a:rPr lang="fr-FR" sz="6000" b="1" dirty="0">
                <a:solidFill>
                  <a:schemeClr val="bg1"/>
                </a:solidFill>
              </a:rPr>
              <a:t>Q&amp;A</a:t>
            </a:r>
          </a:p>
          <a:p>
            <a:pPr algn="ctr"/>
            <a:r>
              <a:rPr lang="fr-FR" b="1" dirty="0">
                <a:solidFill>
                  <a:schemeClr val="bg1"/>
                </a:solidFill>
              </a:rPr>
              <a:t>www.osositechnologies.com</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2119313"/>
            <a:ext cx="896302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ZoneTexte 1"/>
          <p:cNvSpPr txBox="1"/>
          <p:nvPr/>
        </p:nvSpPr>
        <p:spPr>
          <a:xfrm>
            <a:off x="744949" y="2691713"/>
            <a:ext cx="7416824" cy="1446550"/>
          </a:xfrm>
          <a:prstGeom prst="rect">
            <a:avLst/>
          </a:prstGeom>
          <a:noFill/>
        </p:spPr>
        <p:txBody>
          <a:bodyPr wrap="square" rtlCol="0">
            <a:spAutoFit/>
          </a:bodyPr>
          <a:lstStyle/>
          <a:p>
            <a:pPr algn="ctr"/>
            <a:r>
              <a:rPr lang="fr-CA" sz="6000" b="1" dirty="0">
                <a:solidFill>
                  <a:schemeClr val="bg1"/>
                </a:solidFill>
              </a:rPr>
              <a:t>Q&amp;A</a:t>
            </a:r>
          </a:p>
          <a:p>
            <a:pPr algn="ctr"/>
            <a:r>
              <a:rPr lang="fr-CA" sz="2800" b="1" dirty="0">
                <a:solidFill>
                  <a:schemeClr val="bg1"/>
                </a:solidFill>
              </a:rPr>
              <a:t>www.osistechnologies.com</a:t>
            </a:r>
          </a:p>
        </p:txBody>
      </p:sp>
      <p:pic>
        <p:nvPicPr>
          <p:cNvPr id="7" name="Image 6">
            <a:extLst>
              <a:ext uri="{FF2B5EF4-FFF2-40B4-BE49-F238E27FC236}">
                <a16:creationId xmlns:a16="http://schemas.microsoft.com/office/drawing/2014/main" id="{DF8C955B-5C10-4975-B7E2-47CF609D45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8344" y="6307338"/>
            <a:ext cx="1296144" cy="515307"/>
          </a:xfrm>
          <a:prstGeom prst="rect">
            <a:avLst/>
          </a:prstGeom>
        </p:spPr>
      </p:pic>
    </p:spTree>
    <p:extLst>
      <p:ext uri="{BB962C8B-B14F-4D97-AF65-F5344CB8AC3E}">
        <p14:creationId xmlns:p14="http://schemas.microsoft.com/office/powerpoint/2010/main" val="2422523383"/>
      </p:ext>
    </p:extLst>
  </p:cSld>
  <p:clrMapOvr>
    <a:masterClrMapping/>
  </p:clrMapOvr>
</p:sld>
</file>

<file path=ppt/theme/theme1.xml><?xml version="1.0" encoding="utf-8"?>
<a:theme xmlns:a="http://schemas.openxmlformats.org/drawingml/2006/main" name="Section OIM">
  <a:themeElements>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ection OIM">
      <a:majorFont>
        <a:latin typeface="Arial"/>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OI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OI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OI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OI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OI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OI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OI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OI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OI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OI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OI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17608</TotalTime>
  <Words>835</Words>
  <Application>Microsoft Office PowerPoint</Application>
  <PresentationFormat>Affichage à l'écran (4:3)</PresentationFormat>
  <Paragraphs>164</Paragraphs>
  <Slides>15</Slides>
  <Notes>8</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15</vt:i4>
      </vt:variant>
    </vt:vector>
  </HeadingPairs>
  <TitlesOfParts>
    <vt:vector size="25" baseType="lpstr">
      <vt:lpstr>ＭＳ Ｐゴシック</vt:lpstr>
      <vt:lpstr>Arial</vt:lpstr>
      <vt:lpstr>Arial Narrow</vt:lpstr>
      <vt:lpstr>Calibri</vt:lpstr>
      <vt:lpstr>Consolas</vt:lpstr>
      <vt:lpstr>Courier New</vt:lpstr>
      <vt:lpstr>Times New Roman</vt:lpstr>
      <vt:lpstr>Trebuchet MS</vt:lpstr>
      <vt:lpstr>Wingdings</vt:lpstr>
      <vt:lpstr>Section OIM</vt:lpstr>
      <vt:lpstr>MAVEN</vt:lpstr>
      <vt:lpstr>SOMMAIRE</vt:lpstr>
      <vt:lpstr>INTRODUCTION</vt:lpstr>
      <vt:lpstr>Présentation PowerPoint</vt:lpstr>
      <vt:lpstr>Présentation PowerPoint</vt:lpstr>
      <vt:lpstr>Présentation PowerPoint</vt:lpstr>
      <vt:lpstr>Présentation PowerPoint</vt:lpstr>
      <vt:lpstr>JAVA DATE</vt:lpstr>
      <vt:lpstr>Présentation PowerPoint</vt:lpstr>
      <vt:lpstr>Présentation PowerPoint</vt:lpstr>
      <vt:lpstr>Présentation PowerPoint</vt:lpstr>
      <vt:lpstr>MA PREMIERE APPLICATION </vt:lpstr>
      <vt:lpstr>CONCLUSION</vt:lpstr>
      <vt:lpstr>FIN DE LA PRESENTATION</vt:lpstr>
      <vt:lpstr>Questions …</vt:lpstr>
    </vt:vector>
  </TitlesOfParts>
  <Company>Momentum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Maxime Yapi</dc:creator>
  <cp:lastModifiedBy>HP 830G7</cp:lastModifiedBy>
  <cp:revision>654</cp:revision>
  <dcterms:created xsi:type="dcterms:W3CDTF">2010-02-03T20:06:36Z</dcterms:created>
  <dcterms:modified xsi:type="dcterms:W3CDTF">2026-05-07T13:55:50Z</dcterms:modified>
</cp:coreProperties>
</file>