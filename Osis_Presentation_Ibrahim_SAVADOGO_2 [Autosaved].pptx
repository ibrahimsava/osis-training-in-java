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13"/>
  </p:notesMasterIdLst>
  <p:handoutMasterIdLst>
    <p:handoutMasterId r:id="rId14"/>
  </p:handoutMasterIdLst>
  <p:sldIdLst>
    <p:sldId id="256" r:id="rId2"/>
    <p:sldId id="356" r:id="rId3"/>
    <p:sldId id="357" r:id="rId4"/>
    <p:sldId id="371" r:id="rId5"/>
    <p:sldId id="372" r:id="rId6"/>
    <p:sldId id="373" r:id="rId7"/>
    <p:sldId id="374" r:id="rId8"/>
    <p:sldId id="375" r:id="rId9"/>
    <p:sldId id="376" r:id="rId10"/>
    <p:sldId id="327" r:id="rId11"/>
    <p:sldId id="345" r:id="rId12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8" autoAdjust="0"/>
    <p:restoredTop sz="94725" autoAdjust="0"/>
  </p:normalViewPr>
  <p:slideViewPr>
    <p:cSldViewPr>
      <p:cViewPr varScale="1">
        <p:scale>
          <a:sx n="78" d="100"/>
          <a:sy n="78" d="100"/>
        </p:scale>
        <p:origin x="848" y="64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Avant Java 8, Java était un langage purement orienté objet : toute logique devait être encapsulée dans des classes et des objets. Même pour des tâches simples (trier une liste, filtrer des données), il fallait écrire beaucoup de code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0895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Elle est abstraite parce que certains comportements ne peuvent pas être définis sans connaître la sous-classe concrète.</a:t>
            </a:r>
            <a:endParaRPr lang="en-US" sz="1200" dirty="0" smtClean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7845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Ibrahim\Documents\osis.md#2-tour-dhorizon-dun-edi--premiers-pas" TargetMode="External"/><Relationship Id="rId3" Type="http://schemas.openxmlformats.org/officeDocument/2006/relationships/image" Target="../media/image6.jpeg"/><Relationship Id="rId7" Type="http://schemas.openxmlformats.org/officeDocument/2006/relationships/hyperlink" Target="file:///C:\Users\Ibrahim\Documents\osis.md#14-la-programmation-fonctionnelle--lambda-expressi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hyperlink" Target="file:///C:\Users\Ibrahim\Documents\osis.md#13-classe-abstraite--interface--gestion-des-exceptions" TargetMode="External"/><Relationship Id="rId5" Type="http://schemas.openxmlformats.org/officeDocument/2006/relationships/hyperlink" Target="file:///C:\Users\Ibrahim\Documents\osis.md#11-java-8--nouveaut%C3%A9s-du-langage" TargetMode="External"/><Relationship Id="rId4" Type="http://schemas.openxmlformats.org/officeDocument/2006/relationships/hyperlink" Target="file:///C:\Users\Ibrahim\Documents\osis.md#1-structure-du-langage-java" TargetMode="External"/><Relationship Id="rId9" Type="http://schemas.openxmlformats.org/officeDocument/2006/relationships/hyperlink" Target="file:///C:\Users\Ibrahim\Documents\osis.md#21-eclipse--intellij--netbean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6461125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9453" y="2276872"/>
            <a:ext cx="5472608" cy="2520280"/>
          </a:xfrm>
        </p:spPr>
        <p:txBody>
          <a:bodyPr/>
          <a:lstStyle/>
          <a:p>
            <a:pPr algn="ctr"/>
            <a:r>
              <a:rPr lang="fr-FR" sz="4800" dirty="0"/>
              <a:t>THEME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488225" y="5684334"/>
            <a:ext cx="3672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Presente</a:t>
            </a:r>
            <a:r>
              <a:rPr lang="en-US" dirty="0" smtClean="0"/>
              <a:t> par :</a:t>
            </a:r>
            <a:br>
              <a:rPr lang="en-US" dirty="0" smtClean="0"/>
            </a:br>
            <a:r>
              <a:rPr lang="en-US" dirty="0" smtClean="0"/>
              <a:t>Ibrahim SAVADOGO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43608" y="2060848"/>
            <a:ext cx="7200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0000"/>
                </a:solidFill>
                <a:latin typeface="Helvetica Neue"/>
              </a:rPr>
              <a:t> Plan du cours</a:t>
            </a: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4"/>
              </a:rPr>
              <a:t>Structure du langage Java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5"/>
              </a:rPr>
              <a:t>Java 8 – Nouveautés du langage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fr-FR" dirty="0" smtClean="0">
                <a:solidFill>
                  <a:srgbClr val="0088CC"/>
                </a:solidFill>
                <a:latin typeface="Helvetica Neue"/>
                <a:hlinkClick r:id="rId6"/>
              </a:rPr>
              <a:t>Classe </a:t>
            </a:r>
            <a:r>
              <a:rPr lang="fr-FR" dirty="0">
                <a:solidFill>
                  <a:srgbClr val="0088CC"/>
                </a:solidFill>
                <a:latin typeface="Helvetica Neue"/>
                <a:hlinkClick r:id="rId6"/>
              </a:rPr>
              <a:t>abstraite / Interface / Gestion des exceptions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7"/>
              </a:rPr>
              <a:t>La programmation fonctionnelle – Lambda Expressions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8"/>
              </a:rPr>
              <a:t>Tour d'horizon d'un EDI – Premiers pas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9"/>
              </a:rPr>
              <a:t>Eclipse / </a:t>
            </a:r>
            <a:r>
              <a:rPr lang="fr-FR" dirty="0" err="1">
                <a:solidFill>
                  <a:srgbClr val="0088CC"/>
                </a:solidFill>
                <a:latin typeface="Helvetica Neue"/>
                <a:hlinkClick r:id="rId9"/>
              </a:rPr>
              <a:t>IntelliJ</a:t>
            </a:r>
            <a:r>
              <a:rPr lang="fr-FR" dirty="0">
                <a:solidFill>
                  <a:srgbClr val="0088CC"/>
                </a:solidFill>
                <a:latin typeface="Helvetica Neue"/>
                <a:hlinkClick r:id="rId9"/>
              </a:rPr>
              <a:t> / </a:t>
            </a:r>
            <a:r>
              <a:rPr lang="fr-FR" dirty="0" err="1">
                <a:solidFill>
                  <a:srgbClr val="0088CC"/>
                </a:solidFill>
                <a:latin typeface="Helvetica Neue"/>
                <a:hlinkClick r:id="rId9"/>
              </a:rPr>
              <a:t>NetBeans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r>
              <a:rPr lang="fr-FR" dirty="0"/>
              <a:t/>
            </a:r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JAVA 8 : Nouveauté du langage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81336" y="980728"/>
            <a:ext cx="828092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Java 8 est sorti en mars 2014 et représente l'une des plus grandes évolutions de Java depuis sa création en 1995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b="1" dirty="0" smtClean="0"/>
              <a:t>                                       Lambda Expressions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b="1" dirty="0" smtClean="0"/>
              <a:t>                                       </a:t>
            </a:r>
            <a:r>
              <a:rPr lang="fr-CI" b="1" dirty="0" err="1" smtClean="0"/>
              <a:t>Streams</a:t>
            </a:r>
            <a:r>
              <a:rPr lang="fr-CI" b="1" dirty="0" smtClean="0"/>
              <a:t> API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b="1" dirty="0" smtClean="0"/>
              <a:t>                                       Nouvelle </a:t>
            </a:r>
            <a:r>
              <a:rPr lang="fr-CI" b="1" dirty="0"/>
              <a:t>API </a:t>
            </a:r>
            <a:r>
              <a:rPr lang="fr-CI" b="1" dirty="0" smtClean="0"/>
              <a:t>Date/Time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b="1" dirty="0" smtClean="0"/>
              <a:t>                                       Méthodes </a:t>
            </a:r>
            <a:r>
              <a:rPr lang="fr-CI" b="1" dirty="0"/>
              <a:t>default et </a:t>
            </a:r>
            <a:r>
              <a:rPr lang="fr-CI" b="1" dirty="0" err="1" smtClean="0"/>
              <a:t>static</a:t>
            </a:r>
            <a:r>
              <a:rPr lang="fr-CI" b="1" dirty="0" smtClean="0"/>
              <a:t> dans les interfaces</a:t>
            </a:r>
            <a:endParaRPr lang="en-US" b="1" dirty="0"/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800" b="1" dirty="0" smtClean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                                 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5641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</a:rPr>
              <a:t>Classe Abstraites</a:t>
            </a:r>
            <a:endParaRPr lang="en-US" sz="2400" dirty="0"/>
          </a:p>
        </p:txBody>
      </p:sp>
      <p:sp>
        <p:nvSpPr>
          <p:cNvPr id="3" name="Rectangle 2"/>
          <p:cNvSpPr/>
          <p:nvPr/>
        </p:nvSpPr>
        <p:spPr>
          <a:xfrm>
            <a:off x="410749" y="908720"/>
            <a:ext cx="8424936" cy="456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Une classe </a:t>
            </a:r>
            <a:r>
              <a:rPr lang="fr-CI" b="1" dirty="0" smtClean="0">
                <a:solidFill>
                  <a:srgbClr val="FF0000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abstraite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 = 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classe </a:t>
            </a:r>
            <a:r>
              <a:rPr lang="fr-CI" b="1" dirty="0">
                <a:latin typeface="Arial" panose="020B0604020202020204" pitchFamily="34" charset="0"/>
                <a:ea typeface="Arial" panose="020B0604020202020204" pitchFamily="34" charset="0"/>
              </a:rPr>
              <a:t>INCOMPLÈTE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 qui sert de modèle commun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0749" y="1479654"/>
            <a:ext cx="8424936" cy="17389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lang="fr-CI" sz="2000" b="1" dirty="0">
                <a:solidFill>
                  <a:srgbClr val="1F3864"/>
                </a:solidFill>
                <a:latin typeface="Arial" panose="020B0604020202020204" pitchFamily="34" charset="0"/>
              </a:rPr>
              <a:t>Règles des </a:t>
            </a:r>
            <a:r>
              <a:rPr lang="fr-CI" sz="2000" b="1" dirty="0" smtClean="0">
                <a:solidFill>
                  <a:srgbClr val="1F3864"/>
                </a:solidFill>
                <a:latin typeface="Arial" panose="020B0604020202020204" pitchFamily="34" charset="0"/>
              </a:rPr>
              <a:t>classes abstraites</a:t>
            </a:r>
            <a:endParaRPr lang="en-US" sz="2000" b="1" dirty="0">
              <a:solidFill>
                <a:srgbClr val="1F3864"/>
              </a:solidFill>
              <a:latin typeface="Arial" panose="020B0604020202020204" pitchFamily="34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Mot-</a:t>
            </a:r>
            <a:r>
              <a:rPr lang="en-US" dirty="0" err="1">
                <a:latin typeface="Arial" panose="020B0604020202020204" pitchFamily="34" charset="0"/>
                <a:ea typeface="Arial" panose="020B0604020202020204" pitchFamily="34" charset="0"/>
              </a:rPr>
              <a:t>clé</a:t>
            </a: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ea typeface="Arial" panose="020B0604020202020204" pitchFamily="34" charset="0"/>
              </a:rPr>
              <a:t>abstract</a:t>
            </a: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en-US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b="1" dirty="0" smtClean="0">
                <a:latin typeface="Arial" panose="020B0604020202020204" pitchFamily="34" charset="0"/>
                <a:ea typeface="Arial" panose="020B0604020202020204" pitchFamily="34" charset="0"/>
              </a:rPr>
              <a:t>(</a:t>
            </a:r>
            <a:r>
              <a:rPr lang="fr-CI" b="1" dirty="0">
                <a:latin typeface="Arial" panose="020B0604020202020204" pitchFamily="34" charset="0"/>
                <a:ea typeface="Arial" panose="020B0604020202020204" pitchFamily="34" charset="0"/>
              </a:rPr>
              <a:t>sans corps) 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→ les 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sous-classes (</a:t>
            </a:r>
            <a:r>
              <a:rPr lang="fr-CI" b="1" dirty="0" smtClean="0">
                <a:latin typeface="Arial" panose="020B0604020202020204" pitchFamily="34" charset="0"/>
                <a:ea typeface="Arial" panose="020B0604020202020204" pitchFamily="34" charset="0"/>
              </a:rPr>
              <a:t>implémenter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)</a:t>
            </a:r>
            <a:endParaRPr lang="en-US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NE 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PEUT PAS être </a:t>
            </a:r>
            <a:r>
              <a:rPr lang="fr-CI" b="1" dirty="0">
                <a:latin typeface="Arial" panose="020B0604020202020204" pitchFamily="34" charset="0"/>
                <a:ea typeface="Arial" panose="020B0604020202020204" pitchFamily="34" charset="0"/>
              </a:rPr>
              <a:t>instanciée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 directement (pas de new </a:t>
            </a:r>
            <a:r>
              <a:rPr lang="fr-CI" dirty="0" err="1">
                <a:latin typeface="Arial" panose="020B0604020202020204" pitchFamily="34" charset="0"/>
                <a:ea typeface="Arial" panose="020B0604020202020204" pitchFamily="34" charset="0"/>
              </a:rPr>
              <a:t>ClasseAbstraite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())</a:t>
            </a:r>
            <a:endParaRPr lang="en-US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Peut avoir des attributs, un constructeur, des constantes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7544" y="3429000"/>
            <a:ext cx="396044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ublic abstract class </a:t>
            </a:r>
            <a:r>
              <a:rPr lang="en-US" dirty="0" smtClean="0">
                <a:solidFill>
                  <a:srgbClr val="FF0000"/>
                </a:solidFill>
              </a:rPr>
              <a:t>Animal</a:t>
            </a:r>
            <a:r>
              <a:rPr lang="en-US" dirty="0" smtClean="0"/>
              <a:t> (){</a:t>
            </a:r>
          </a:p>
          <a:p>
            <a:endParaRPr lang="en-US" dirty="0" smtClean="0"/>
          </a:p>
          <a:p>
            <a:r>
              <a:rPr lang="en-US" dirty="0"/>
              <a:t> </a:t>
            </a:r>
            <a:r>
              <a:rPr lang="en-US" dirty="0" smtClean="0"/>
              <a:t>    Protected  String nom;</a:t>
            </a:r>
          </a:p>
          <a:p>
            <a:endParaRPr lang="en-US" dirty="0" smtClean="0"/>
          </a:p>
          <a:p>
            <a:r>
              <a:rPr lang="en-US" dirty="0" smtClean="0"/>
              <a:t>   public Animal (String nom){</a:t>
            </a:r>
          </a:p>
          <a:p>
            <a:r>
              <a:rPr lang="en-US" dirty="0"/>
              <a:t> </a:t>
            </a:r>
            <a:r>
              <a:rPr lang="en-US" dirty="0" smtClean="0"/>
              <a:t>             </a:t>
            </a:r>
            <a:r>
              <a:rPr lang="en-US" dirty="0" err="1" smtClean="0"/>
              <a:t>this.nom</a:t>
            </a:r>
            <a:r>
              <a:rPr lang="en-US" dirty="0" smtClean="0"/>
              <a:t>=nom;</a:t>
            </a:r>
          </a:p>
          <a:p>
            <a:r>
              <a:rPr lang="en-US" dirty="0"/>
              <a:t> </a:t>
            </a:r>
            <a:r>
              <a:rPr lang="en-US" dirty="0" smtClean="0"/>
              <a:t>            }</a:t>
            </a:r>
          </a:p>
          <a:p>
            <a:r>
              <a:rPr lang="en-US" dirty="0"/>
              <a:t> </a:t>
            </a:r>
            <a:r>
              <a:rPr lang="en-US" dirty="0" smtClean="0"/>
              <a:t>   public abstract void </a:t>
            </a:r>
            <a:r>
              <a:rPr lang="en-US" dirty="0" err="1" smtClean="0">
                <a:solidFill>
                  <a:srgbClr val="FF0000"/>
                </a:solidFill>
              </a:rPr>
              <a:t>Fairedubruit</a:t>
            </a:r>
            <a:r>
              <a:rPr lang="en-US" dirty="0" smtClean="0">
                <a:solidFill>
                  <a:srgbClr val="FF0000"/>
                </a:solidFill>
              </a:rPr>
              <a:t>();</a:t>
            </a:r>
          </a:p>
          <a:p>
            <a:r>
              <a:rPr lang="en-US" dirty="0" smtClean="0"/>
              <a:t>}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623217" y="3244555"/>
            <a:ext cx="429908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ublic class  </a:t>
            </a:r>
            <a:r>
              <a:rPr lang="en-US" dirty="0" err="1" smtClean="0"/>
              <a:t>chien</a:t>
            </a:r>
            <a:r>
              <a:rPr lang="en-US" dirty="0" smtClean="0"/>
              <a:t> </a:t>
            </a:r>
            <a:r>
              <a:rPr lang="en-US" dirty="0" smtClean="0">
                <a:solidFill>
                  <a:srgbClr val="FF0000"/>
                </a:solidFill>
              </a:rPr>
              <a:t>extends Animal </a:t>
            </a:r>
            <a:r>
              <a:rPr lang="en-US" dirty="0" smtClean="0"/>
              <a:t>(){</a:t>
            </a:r>
          </a:p>
          <a:p>
            <a:endParaRPr lang="en-US" dirty="0" smtClean="0"/>
          </a:p>
          <a:p>
            <a:r>
              <a:rPr lang="en-US" dirty="0" smtClean="0"/>
              <a:t>   public </a:t>
            </a:r>
            <a:r>
              <a:rPr lang="en-US" dirty="0" err="1" smtClean="0"/>
              <a:t>chein</a:t>
            </a:r>
            <a:r>
              <a:rPr lang="en-US" dirty="0" smtClean="0"/>
              <a:t> (String nom){</a:t>
            </a:r>
          </a:p>
          <a:p>
            <a:r>
              <a:rPr lang="en-US" dirty="0" smtClean="0"/>
              <a:t>              super(nom);</a:t>
            </a:r>
          </a:p>
          <a:p>
            <a:r>
              <a:rPr lang="en-US" dirty="0" smtClean="0"/>
              <a:t>  }</a:t>
            </a:r>
          </a:p>
          <a:p>
            <a:r>
              <a:rPr lang="en-US" dirty="0"/>
              <a:t> </a:t>
            </a:r>
            <a:r>
              <a:rPr lang="en-US" dirty="0" smtClean="0"/>
              <a:t>  @</a:t>
            </a:r>
            <a:r>
              <a:rPr lang="en-US" dirty="0" err="1"/>
              <a:t>O</a:t>
            </a:r>
            <a:r>
              <a:rPr lang="en-US" dirty="0" err="1" smtClean="0"/>
              <a:t>verroid</a:t>
            </a:r>
            <a:endParaRPr lang="en-US" dirty="0" smtClean="0"/>
          </a:p>
          <a:p>
            <a:r>
              <a:rPr lang="en-US" dirty="0"/>
              <a:t> </a:t>
            </a:r>
            <a:r>
              <a:rPr lang="en-US" dirty="0" smtClean="0"/>
              <a:t>   public abstract void </a:t>
            </a:r>
            <a:r>
              <a:rPr lang="en-US" dirty="0" err="1" smtClean="0">
                <a:solidFill>
                  <a:srgbClr val="FF0000"/>
                </a:solidFill>
              </a:rPr>
              <a:t>Fairedubruit</a:t>
            </a:r>
            <a:r>
              <a:rPr lang="en-US" dirty="0" smtClean="0">
                <a:solidFill>
                  <a:srgbClr val="FF0000"/>
                </a:solidFill>
              </a:rPr>
              <a:t>(){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         </a:t>
            </a:r>
            <a:r>
              <a:rPr lang="en-US" dirty="0" err="1" smtClean="0">
                <a:solidFill>
                  <a:srgbClr val="FF0000"/>
                </a:solidFill>
              </a:rPr>
              <a:t>System.out.println</a:t>
            </a:r>
            <a:r>
              <a:rPr lang="en-US" dirty="0" smtClean="0">
                <a:solidFill>
                  <a:srgbClr val="FF0000"/>
                </a:solidFill>
              </a:rPr>
              <a:t>(nom + “ </a:t>
            </a:r>
            <a:r>
              <a:rPr lang="en-US" dirty="0" err="1" smtClean="0">
                <a:solidFill>
                  <a:srgbClr val="FF0000"/>
                </a:solidFill>
              </a:rPr>
              <a:t>dit</a:t>
            </a:r>
            <a:r>
              <a:rPr lang="en-US" dirty="0" smtClean="0">
                <a:solidFill>
                  <a:srgbClr val="FF0000"/>
                </a:solidFill>
              </a:rPr>
              <a:t> </a:t>
            </a:r>
            <a:r>
              <a:rPr lang="en-US" dirty="0" err="1" smtClean="0">
                <a:solidFill>
                  <a:srgbClr val="FF0000"/>
                </a:solidFill>
              </a:rPr>
              <a:t>wouf</a:t>
            </a:r>
            <a:r>
              <a:rPr lang="en-US" dirty="0" smtClean="0">
                <a:solidFill>
                  <a:srgbClr val="FF0000"/>
                </a:solidFill>
              </a:rPr>
              <a:t>   “)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        }</a:t>
            </a:r>
          </a:p>
          <a:p>
            <a:r>
              <a:rPr lang="en-US" dirty="0" smtClean="0"/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918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5635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</a:rPr>
              <a:t>Classe Interfaces</a:t>
            </a:r>
            <a:endParaRPr lang="en-US" sz="2400" dirty="0"/>
          </a:p>
        </p:txBody>
      </p:sp>
      <p:sp>
        <p:nvSpPr>
          <p:cNvPr id="3" name="Rectangle 2"/>
          <p:cNvSpPr/>
          <p:nvPr/>
        </p:nvSpPr>
        <p:spPr>
          <a:xfrm>
            <a:off x="323528" y="1196752"/>
            <a:ext cx="8496944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dirty="0"/>
              <a:t>Une </a:t>
            </a:r>
            <a:r>
              <a:rPr lang="fr-CI" dirty="0">
                <a:solidFill>
                  <a:srgbClr val="FF0000"/>
                </a:solidFill>
              </a:rPr>
              <a:t>interface</a:t>
            </a:r>
            <a:r>
              <a:rPr lang="fr-CI" dirty="0"/>
              <a:t> est un CONTRAT PUR : elle dit ce qu'un objet sait faire, sans dire comment. Contrairement à l'héritage (une seule classe parent), une classe peut implémenter plusieurs interfaces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665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8648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b="1" dirty="0">
                <a:solidFill>
                  <a:srgbClr val="FF0000"/>
                </a:solidFill>
              </a:rPr>
              <a:t>Gestion des Exceptions 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3528" y="1196752"/>
            <a:ext cx="8496944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dirty="0"/>
              <a:t>Une </a:t>
            </a:r>
            <a:r>
              <a:rPr lang="fr-CI" dirty="0">
                <a:solidFill>
                  <a:srgbClr val="FF0000"/>
                </a:solidFill>
              </a:rPr>
              <a:t>interface</a:t>
            </a:r>
            <a:r>
              <a:rPr lang="fr-CI" dirty="0"/>
              <a:t> est un CONTRAT PUR : elle dit ce qu'un objet sait faire, sans dire comment. Contrairement à l'héritage (une seule classe parent), une classe peut implémenter plusieurs interfaces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467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8648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b="1" dirty="0">
                <a:solidFill>
                  <a:srgbClr val="FF0000"/>
                </a:solidFill>
              </a:rPr>
              <a:t>Gestion des Exceptions 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dirty="0"/>
              <a:t>Une </a:t>
            </a:r>
            <a:r>
              <a:rPr lang="fr-CI" b="1" dirty="0"/>
              <a:t>exception</a:t>
            </a:r>
            <a:r>
              <a:rPr lang="fr-CI" dirty="0"/>
              <a:t> est un événement anormal qui interrompt le déroulement normal d'un programme. Java fournit un mécanisme pour les capturer et les gérer proprement.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958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55579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b="1" dirty="0" smtClean="0">
                <a:solidFill>
                  <a:srgbClr val="FF0000"/>
                </a:solidFill>
              </a:rPr>
              <a:t>Programmation fonctionnelle (</a:t>
            </a:r>
            <a:r>
              <a:rPr lang="fr-CI" b="1" dirty="0" err="1" smtClean="0">
                <a:solidFill>
                  <a:srgbClr val="FF0000"/>
                </a:solidFill>
              </a:rPr>
              <a:t>lamda</a:t>
            </a:r>
            <a:r>
              <a:rPr lang="fr-CI" b="1" dirty="0" smtClean="0">
                <a:solidFill>
                  <a:srgbClr val="FF0000"/>
                </a:solidFill>
              </a:rPr>
              <a:t> expression)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dirty="0"/>
              <a:t>Une </a:t>
            </a:r>
            <a:r>
              <a:rPr lang="fr-CI" b="1" dirty="0"/>
              <a:t>exception</a:t>
            </a:r>
            <a:r>
              <a:rPr lang="fr-CI" dirty="0"/>
              <a:t> est un événement anormal qui interrompt le déroulement normal d'un programme. Java fournit un mécanisme pour les capturer et les gérer proprement.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937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7836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b="1" dirty="0" smtClean="0">
                <a:solidFill>
                  <a:srgbClr val="FF0000"/>
                </a:solidFill>
              </a:rPr>
              <a:t>Tour d’horizon d’un IDE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b="1" dirty="0" smtClean="0"/>
              <a:t>Cas concret :               </a:t>
            </a:r>
            <a:r>
              <a:rPr lang="fr-CI" dirty="0" smtClean="0"/>
              <a:t>l’exemple d’</a:t>
            </a:r>
            <a:r>
              <a:rPr lang="fr-CI" dirty="0" err="1" smtClean="0"/>
              <a:t>IntelliJ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1988840"/>
            <a:ext cx="4320480" cy="371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590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13483</TotalTime>
  <Words>432</Words>
  <Application>Microsoft Office PowerPoint</Application>
  <PresentationFormat>On-screen Show (4:3)</PresentationFormat>
  <Paragraphs>68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MS PGothic</vt:lpstr>
      <vt:lpstr>Arial</vt:lpstr>
      <vt:lpstr>Arial Narrow</vt:lpstr>
      <vt:lpstr>Calibri</vt:lpstr>
      <vt:lpstr>Helvetica Neue</vt:lpstr>
      <vt:lpstr>Times New Roman</vt:lpstr>
      <vt:lpstr>Trebuchet MS</vt:lpstr>
      <vt:lpstr>Wingdings</vt:lpstr>
      <vt:lpstr>Section OIM</vt:lpstr>
      <vt:lpstr>THEME</vt:lpstr>
      <vt:lpstr>SOMMAIRE</vt:lpstr>
      <vt:lpstr>JAVA 8 : Nouveauté du langage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643</cp:revision>
  <dcterms:created xsi:type="dcterms:W3CDTF">2010-02-03T20:06:36Z</dcterms:created>
  <dcterms:modified xsi:type="dcterms:W3CDTF">2026-04-16T17:42:42Z</dcterms:modified>
</cp:coreProperties>
</file>