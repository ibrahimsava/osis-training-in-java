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</p:sldMasterIdLst>
  <p:notesMasterIdLst>
    <p:notesMasterId r:id="rId14"/>
  </p:notesMasterIdLst>
  <p:handoutMasterIdLst>
    <p:handoutMasterId r:id="rId15"/>
  </p:handoutMasterIdLst>
  <p:sldIdLst>
    <p:sldId id="256" r:id="rId2"/>
    <p:sldId id="356" r:id="rId3"/>
    <p:sldId id="357" r:id="rId4"/>
    <p:sldId id="371" r:id="rId5"/>
    <p:sldId id="372" r:id="rId6"/>
    <p:sldId id="374" r:id="rId7"/>
    <p:sldId id="375" r:id="rId8"/>
    <p:sldId id="378" r:id="rId9"/>
    <p:sldId id="379" r:id="rId10"/>
    <p:sldId id="376" r:id="rId11"/>
    <p:sldId id="327" r:id="rId12"/>
    <p:sldId id="345" r:id="rId13"/>
  </p:sldIdLst>
  <p:sldSz cx="9144000" cy="6858000" type="screen4x3"/>
  <p:notesSz cx="7010400" cy="9296400"/>
  <p:defaultTextStyle>
    <a:defPPr>
      <a:defRPr lang="fr-CA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  <a:srgbClr val="777777"/>
    <a:srgbClr val="006600"/>
    <a:srgbClr val="E3CDD0"/>
    <a:srgbClr val="FFFF99"/>
    <a:srgbClr val="FF6600"/>
    <a:srgbClr val="FF33CC"/>
    <a:srgbClr val="002C56"/>
    <a:srgbClr val="CBD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725" autoAdjust="0"/>
  </p:normalViewPr>
  <p:slideViewPr>
    <p:cSldViewPr>
      <p:cViewPr varScale="1">
        <p:scale>
          <a:sx n="78" d="100"/>
          <a:sy n="78" d="100"/>
        </p:scale>
        <p:origin x="924" y="64"/>
      </p:cViewPr>
      <p:guideLst/>
    </p:cSldViewPr>
  </p:slideViewPr>
  <p:outlineViewPr>
    <p:cViewPr>
      <p:scale>
        <a:sx n="33" d="100"/>
        <a:sy n="33" d="100"/>
      </p:scale>
      <p:origin x="0" y="1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4" d="100"/>
          <a:sy n="54" d="100"/>
        </p:scale>
        <p:origin x="2540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EFB73F57-00A7-4824-AB68-DA8CEE9E7E80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85719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/>
              <a:t>Cliquez pour modifier les styles du texte du masque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/>
              <a:t>Cinquième niveau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4824BCD5-7DB3-4570-95FB-D6BD68920CD5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1308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1517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Avant Java 8, Java était un langage purement orienté objet : toute logique devait être encapsulée dans des classes et des objets. Même pour des tâches simples (trier une liste, filtrer des données), il fallait écrire beaucoup de code.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fr-CI" dirty="0" smtClean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80895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Elle est abstraite parce que certains comportements ne peuvent pas être définis sans connaître la sous-classe concrète.</a:t>
            </a:r>
            <a:endParaRPr lang="en-US" sz="1200" dirty="0" smtClean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dirty="0" smtClean="0"/>
          </a:p>
          <a:p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7845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 smtClean="0"/>
              <a:t>Prorgammation</a:t>
            </a:r>
            <a:r>
              <a:rPr lang="en-US" dirty="0" smtClean="0"/>
              <a:t> </a:t>
            </a:r>
            <a:r>
              <a:rPr lang="en-US" dirty="0" err="1" smtClean="0"/>
              <a:t>fonctionnelle</a:t>
            </a:r>
            <a:r>
              <a:rPr lang="en-US" baseline="0" dirty="0" smtClean="0"/>
              <a:t> </a:t>
            </a:r>
            <a:r>
              <a:rPr lang="en-US" baseline="0" dirty="0" err="1" smtClean="0"/>
              <a:t>est</a:t>
            </a:r>
            <a:r>
              <a:rPr lang="en-US" baseline="0" dirty="0" smtClean="0"/>
              <a:t> un style de </a:t>
            </a:r>
            <a:r>
              <a:rPr lang="en-US" baseline="0" dirty="0" err="1" smtClean="0"/>
              <a:t>programmation</a:t>
            </a:r>
            <a:r>
              <a:rPr lang="en-US" baseline="0" dirty="0" smtClean="0"/>
              <a:t> </a:t>
            </a:r>
            <a:r>
              <a:rPr lang="en-US" baseline="0" dirty="0" err="1" smtClean="0"/>
              <a:t>en</a:t>
            </a:r>
            <a:r>
              <a:rPr lang="en-US" baseline="0" dirty="0" smtClean="0"/>
              <a:t> </a:t>
            </a:r>
            <a:r>
              <a:rPr lang="en-US" baseline="0" dirty="0" err="1" smtClean="0"/>
              <a:t>utilisant</a:t>
            </a:r>
            <a:r>
              <a:rPr lang="en-US" baseline="0" dirty="0" smtClean="0"/>
              <a:t> des </a:t>
            </a:r>
            <a:r>
              <a:rPr lang="en-US" baseline="0" dirty="0" err="1" smtClean="0"/>
              <a:t>fonctions</a:t>
            </a:r>
            <a:r>
              <a:rPr lang="en-US" baseline="0" dirty="0" smtClean="0"/>
              <a:t> </a:t>
            </a:r>
            <a:r>
              <a:rPr lang="en-US" baseline="0" dirty="0" err="1" smtClean="0"/>
              <a:t>mathematiques</a:t>
            </a:r>
            <a:r>
              <a:rPr lang="en-US" baseline="0" dirty="0" smtClean="0"/>
              <a:t> </a:t>
            </a:r>
            <a:r>
              <a:rPr lang="en-US" baseline="0" dirty="0" err="1" smtClean="0"/>
              <a:t>pures</a:t>
            </a:r>
            <a:r>
              <a:rPr lang="en-US" baseline="0" dirty="0" smtClean="0"/>
              <a:t> sans modifier </a:t>
            </a:r>
            <a:r>
              <a:rPr lang="en-US" baseline="0" dirty="0" err="1" smtClean="0"/>
              <a:t>l’eta</a:t>
            </a:r>
            <a:r>
              <a:rPr lang="en-US" baseline="0" dirty="0" smtClean="0"/>
              <a:t> du </a:t>
            </a:r>
            <a:r>
              <a:rPr lang="en-US" baseline="0" dirty="0" err="1" smtClean="0"/>
              <a:t>programmes</a:t>
            </a:r>
            <a:r>
              <a:rPr lang="en-US" baseline="0" dirty="0" smtClean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732650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mtClean="0"/>
              <a:t>C'est une interface qui n'a </a:t>
            </a:r>
            <a:r>
              <a:rPr lang="fr-FR" b="1" dirty="0" smtClean="0"/>
              <a:t>qu'une seule méthode à implémenter</a:t>
            </a:r>
            <a:r>
              <a:rPr lang="fr-FR" dirty="0" smtClean="0"/>
              <a:t> — une seule obligation. Ni plus, ni moins.</a:t>
            </a:r>
          </a:p>
          <a:p>
            <a:r>
              <a:rPr lang="fr-FR" dirty="0" smtClean="0"/>
              <a:t>java</a:t>
            </a:r>
          </a:p>
          <a:p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@</a:t>
            </a:r>
            <a:r>
              <a:rPr lang="fr-FR" sz="1200" kern="1200" dirty="0" err="1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FunctionalInterface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interface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Calculateur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{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double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calculer(double</a:t>
            </a:r>
            <a:r>
              <a:rPr lang="fr-FR" dirty="0" smtClean="0"/>
              <a:t> a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,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double</a:t>
            </a:r>
            <a:r>
              <a:rPr lang="fr-FR" dirty="0" smtClean="0"/>
              <a:t> b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);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// la seule méthode obligatoire</a:t>
            </a:r>
            <a:r>
              <a:rPr lang="fr-FR" dirty="0" smtClean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}</a:t>
            </a:r>
            <a:endParaRPr lang="fr-FR" dirty="0" smtClean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380169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15888"/>
            <a:ext cx="971550" cy="5762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5" name="Rectangle 4"/>
          <p:cNvSpPr/>
          <p:nvPr userDrawn="1"/>
        </p:nvSpPr>
        <p:spPr>
          <a:xfrm>
            <a:off x="0" y="6237288"/>
            <a:ext cx="6876256" cy="620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6" name="Rectangle 5"/>
          <p:cNvSpPr/>
          <p:nvPr userDrawn="1"/>
        </p:nvSpPr>
        <p:spPr>
          <a:xfrm>
            <a:off x="0" y="549275"/>
            <a:ext cx="9144000" cy="620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23554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31640" y="1916832"/>
            <a:ext cx="6048672" cy="1519808"/>
          </a:xfrm>
        </p:spPr>
        <p:txBody>
          <a:bodyPr/>
          <a:lstStyle>
            <a:lvl1pPr algn="r">
              <a:defRPr sz="4000">
                <a:solidFill>
                  <a:srgbClr val="E2001A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et modifiez le titre</a:t>
            </a:r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11760" y="3518712"/>
            <a:ext cx="6480720" cy="1278440"/>
          </a:xfrm>
        </p:spPr>
        <p:txBody>
          <a:bodyPr/>
          <a:lstStyle>
            <a:lvl1pPr marL="0" indent="0" algn="r">
              <a:buFontTx/>
              <a:buNone/>
              <a:defRPr sz="2600" i="1">
                <a:solidFill>
                  <a:schemeClr val="tx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pour modifier le style des sous-titres du masque</a:t>
            </a:r>
          </a:p>
        </p:txBody>
      </p:sp>
      <p:cxnSp>
        <p:nvCxnSpPr>
          <p:cNvPr id="19" name="Connecteur en angle 18"/>
          <p:cNvCxnSpPr/>
          <p:nvPr userDrawn="1"/>
        </p:nvCxnSpPr>
        <p:spPr>
          <a:xfrm>
            <a:off x="211138" y="1484784"/>
            <a:ext cx="8681342" cy="3869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eur en angle 23"/>
          <p:cNvCxnSpPr/>
          <p:nvPr userDrawn="1"/>
        </p:nvCxnSpPr>
        <p:spPr>
          <a:xfrm flipV="1">
            <a:off x="210443" y="1440160"/>
            <a:ext cx="8682037" cy="123178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Arrondir un rectangle avec un coin diagonal 26"/>
          <p:cNvSpPr/>
          <p:nvPr userDrawn="1"/>
        </p:nvSpPr>
        <p:spPr>
          <a:xfrm>
            <a:off x="35496" y="4899724"/>
            <a:ext cx="3960440" cy="292606"/>
          </a:xfrm>
          <a:prstGeom prst="round2Diag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" y="551579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ZoneTexte 28"/>
          <p:cNvSpPr txBox="1"/>
          <p:nvPr userDrawn="1"/>
        </p:nvSpPr>
        <p:spPr>
          <a:xfrm>
            <a:off x="35496" y="4859868"/>
            <a:ext cx="39604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i="1" dirty="0">
                <a:solidFill>
                  <a:schemeClr val="bg1"/>
                </a:solidFill>
                <a:latin typeface="Arial Narrow" panose="020B0606020202030204" pitchFamily="34" charset="0"/>
                <a:cs typeface="Times New Roman" panose="02020603050405020304" pitchFamily="18" charset="0"/>
              </a:rPr>
              <a:t>La Force de l’Engagement et de l’Expertise</a:t>
            </a:r>
          </a:p>
        </p:txBody>
      </p:sp>
      <p:pic>
        <p:nvPicPr>
          <p:cNvPr id="21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5877272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23587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659591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60648"/>
            <a:ext cx="2298552" cy="1086087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9450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9325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CA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2588" y="-100013"/>
            <a:ext cx="2016125" cy="59769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9450" y="-100013"/>
            <a:ext cx="5900738" cy="59769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-188913"/>
            <a:ext cx="8208962" cy="11430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et modifiez le titre</a:t>
            </a:r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449" y="1125538"/>
            <a:ext cx="8213725" cy="4751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pour modifier les styles du texte du masque</a:t>
            </a:r>
          </a:p>
          <a:p>
            <a:pPr lvl="1"/>
            <a:r>
              <a:rPr lang="fr-CA" dirty="0"/>
              <a:t>Deuxième niveau</a:t>
            </a:r>
          </a:p>
          <a:p>
            <a:pPr lvl="2"/>
            <a:r>
              <a:rPr lang="fr-CA" dirty="0"/>
              <a:t> Troisième niveau</a:t>
            </a:r>
          </a:p>
          <a:p>
            <a:pPr lvl="3"/>
            <a:r>
              <a:rPr lang="fr-CA" dirty="0"/>
              <a:t>Quatrième niveau</a:t>
            </a:r>
          </a:p>
          <a:p>
            <a:pPr lvl="4"/>
            <a:r>
              <a:rPr lang="fr-CA" dirty="0"/>
              <a:t>Cinquième niveau</a:t>
            </a:r>
          </a:p>
        </p:txBody>
      </p:sp>
      <p:cxnSp>
        <p:nvCxnSpPr>
          <p:cNvPr id="10" name="Connecteur en angle 9"/>
          <p:cNvCxnSpPr/>
          <p:nvPr userDrawn="1"/>
        </p:nvCxnSpPr>
        <p:spPr>
          <a:xfrm flipV="1">
            <a:off x="679450" y="764704"/>
            <a:ext cx="8213725" cy="7200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en angle 10"/>
          <p:cNvCxnSpPr/>
          <p:nvPr userDrawn="1"/>
        </p:nvCxnSpPr>
        <p:spPr>
          <a:xfrm flipV="1">
            <a:off x="679450" y="686150"/>
            <a:ext cx="8213725" cy="7855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Espace réservé pour une image  4" descr="Nouvelle notification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68344" y="6416675"/>
            <a:ext cx="1296144" cy="38833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0" y="296962"/>
            <a:ext cx="679450" cy="39573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Imag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400">
          <a:solidFill>
            <a:srgbClr val="001523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000">
          <a:solidFill>
            <a:srgbClr val="001523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6461125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6301BB6-AEF3-4BDF-B8AB-15484F3999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378" y="116632"/>
            <a:ext cx="2320758" cy="12570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29C277DC-CA85-4F4B-92F7-66515D6D0B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3568" y="2276872"/>
            <a:ext cx="7344816" cy="2520280"/>
          </a:xfrm>
        </p:spPr>
        <p:txBody>
          <a:bodyPr/>
          <a:lstStyle/>
          <a:p>
            <a:pPr algn="ctr"/>
            <a:r>
              <a:rPr lang="fr-FR" sz="4800" dirty="0" smtClean="0"/>
              <a:t>THÈME Java 8 nouveauté et tour d’horizon d’un IDE </a:t>
            </a:r>
            <a:endParaRPr lang="fr-FR" sz="4800" dirty="0"/>
          </a:p>
        </p:txBody>
      </p:sp>
      <p:sp>
        <p:nvSpPr>
          <p:cNvPr id="2" name="TextBox 1"/>
          <p:cNvSpPr txBox="1"/>
          <p:nvPr/>
        </p:nvSpPr>
        <p:spPr>
          <a:xfrm>
            <a:off x="5488225" y="5684334"/>
            <a:ext cx="3672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Presente</a:t>
            </a:r>
            <a:r>
              <a:rPr lang="en-US" dirty="0" smtClean="0"/>
              <a:t> par :</a:t>
            </a:r>
            <a:br>
              <a:rPr lang="en-US" dirty="0" smtClean="0"/>
            </a:br>
            <a:r>
              <a:rPr lang="en-US" dirty="0" smtClean="0"/>
              <a:t>Ibrahim SAVADOGO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300" cap="none" dirty="0">
                <a:solidFill>
                  <a:srgbClr val="FF0000"/>
                </a:solidFill>
                <a:latin typeface="+mn-lt"/>
              </a:rPr>
              <a:t>SOMMAIRE</a:t>
            </a:r>
          </a:p>
        </p:txBody>
      </p:sp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14F53A-C3CD-418C-B4AE-2BA5008321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043608" y="2060848"/>
            <a:ext cx="7200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b="1" dirty="0" smtClean="0">
                <a:solidFill>
                  <a:srgbClr val="000000"/>
                </a:solidFill>
                <a:latin typeface="Helvetica Neue"/>
              </a:rPr>
              <a:t> </a:t>
            </a:r>
            <a:endParaRPr lang="fr-FR" dirty="0" smtClean="0">
              <a:solidFill>
                <a:srgbClr val="333333"/>
              </a:solidFill>
              <a:latin typeface="Helvetica Neue"/>
            </a:endParaRP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I. Java 8 – Nouveautés du langage</a:t>
            </a: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II. Classe abstraite / Interface / Gestion des exceptions</a:t>
            </a: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III. La programmation fonctionnelle – Lambda Expressions</a:t>
            </a:r>
          </a:p>
          <a:p>
            <a:pPr lvl="1" algn="just">
              <a:lnSpc>
                <a:spcPct val="150000"/>
              </a:lnSpc>
            </a:pPr>
            <a:r>
              <a:rPr lang="fr-FR" b="1" dirty="0" smtClean="0">
                <a:solidFill>
                  <a:srgbClr val="FF0000"/>
                </a:solidFill>
                <a:latin typeface="+mn-lt"/>
              </a:rPr>
              <a:t> IV. Tour d'horizon d'un EDI – Premiers pas (</a:t>
            </a:r>
            <a:r>
              <a:rPr lang="fr-FR" b="1" dirty="0" err="1" smtClean="0">
                <a:solidFill>
                  <a:srgbClr val="FF0000"/>
                </a:solidFill>
                <a:latin typeface="+mn-lt"/>
              </a:rPr>
              <a:t>IntelliJ</a:t>
            </a:r>
            <a:r>
              <a:rPr lang="fr-FR" b="1" dirty="0" smtClean="0">
                <a:solidFill>
                  <a:srgbClr val="FF0000"/>
                </a:solidFill>
                <a:latin typeface="+mn-lt"/>
              </a:rPr>
              <a:t> )</a:t>
            </a:r>
          </a:p>
          <a:p>
            <a:r>
              <a:rPr lang="fr-FR" dirty="0"/>
              <a:t/>
            </a:r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71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  <a:latin typeface="+mn-lt"/>
              </a:rPr>
              <a:t>I. JAVA 8 : Nouveauté du langage</a:t>
            </a:r>
            <a:endParaRPr lang="fr-CA" sz="2400" cap="none" dirty="0">
              <a:solidFill>
                <a:srgbClr val="FF0000"/>
              </a:solidFill>
              <a:latin typeface="+mn-lt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611560" y="980728"/>
            <a:ext cx="8350696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Java 8 est sorti en mars 2014 et représente l'une des plus grandes évolutions de Java depuis sa création en 1995</a:t>
            </a: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endParaRPr lang="fr-CI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endParaRPr lang="fr-CI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Lambda Expressions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</a:t>
            </a:r>
            <a:r>
              <a:rPr lang="fr-CI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Streams</a:t>
            </a: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API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Nouvelle </a:t>
            </a:r>
            <a:r>
              <a:rPr lang="fr-CI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</a:t>
            </a: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Date/Time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Méthodes </a:t>
            </a:r>
            <a:r>
              <a:rPr lang="fr-CI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 et </a:t>
            </a:r>
            <a:r>
              <a:rPr lang="fr-CI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static</a:t>
            </a:r>
            <a:r>
              <a:rPr lang="fr-CI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dans les interfaces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1800" b="1" dirty="0" smtClean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                                      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38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30755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A" sz="2400" dirty="0" smtClean="0">
                <a:solidFill>
                  <a:srgbClr val="FF0000"/>
                </a:solidFill>
                <a:latin typeface="+mn-lt"/>
              </a:rPr>
              <a:t>II.1 Classe Abstraites</a:t>
            </a:r>
            <a:endParaRPr lang="en-US" sz="2400" dirty="0"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51520" y="908720"/>
            <a:ext cx="8584165" cy="4983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Une classe </a:t>
            </a:r>
            <a:r>
              <a:rPr lang="fr-CI" sz="2000" b="1" dirty="0" smtClean="0">
                <a:solidFill>
                  <a:srgbClr val="FF0000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abstraite</a:t>
            </a: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= 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classe </a:t>
            </a:r>
            <a:r>
              <a:rPr lang="fr-CI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INCOMPLÈTE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qui sert de modèle commun</a:t>
            </a:r>
            <a:r>
              <a:rPr lang="fr-CI" sz="2000" dirty="0" smtClean="0"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0749" y="1501381"/>
            <a:ext cx="842493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Mot-</a:t>
            </a:r>
            <a:r>
              <a:rPr lang="en-US" sz="2000" dirty="0" err="1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clé</a:t>
            </a:r>
            <a:r>
              <a:rPr lang="en-US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abstract</a:t>
            </a:r>
            <a:r>
              <a:rPr lang="en-US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endParaRPr lang="en-US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sz="2000" b="1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(</a:t>
            </a:r>
            <a:r>
              <a:rPr lang="fr-CI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sans corps) </a:t>
            </a:r>
            <a:endParaRPr lang="fr-CI" sz="2000" b="1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NE 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PEUT PAS être </a:t>
            </a:r>
            <a:r>
              <a:rPr lang="fr-CI" sz="2000" b="1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instanciée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directement </a:t>
            </a:r>
            <a:endParaRPr lang="fr-CI" sz="2000" dirty="0" smtClean="0"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sz="2000" dirty="0" smtClean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Peut </a:t>
            </a:r>
            <a:r>
              <a:rPr lang="fr-CI" sz="2000" dirty="0"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avoir des attributs, un constructeur, des constantes</a:t>
            </a:r>
            <a:endParaRPr lang="en-US" sz="2000" dirty="0">
              <a:effectLst/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7544" y="3429000"/>
            <a:ext cx="424847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ublic abstract class </a:t>
            </a:r>
            <a:r>
              <a:rPr lang="en-US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Animal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Protected  String nom;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Animal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(String nom){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this.nom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=nom;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}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 abstract void </a:t>
            </a:r>
            <a:r>
              <a:rPr lang="en-US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Fairedubruit</a:t>
            </a:r>
            <a:r>
              <a:rPr lang="en-US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623217" y="3244555"/>
            <a:ext cx="429908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ublic class 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chien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extends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Animal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chein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(String nom){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super(nom);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@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verroid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public abstract void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Fairedubruit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(nom + “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dit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wouf</a:t>
            </a:r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“)</a:t>
            </a:r>
          </a:p>
          <a:p>
            <a:r>
              <a:rPr lang="en-US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}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3779912" y="4329583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918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8" grpId="0"/>
      <p:bldP spid="9" grpId="0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307488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A" sz="2400" dirty="0" smtClean="0">
                <a:solidFill>
                  <a:srgbClr val="FF0000"/>
                </a:solidFill>
                <a:latin typeface="+mn-lt"/>
              </a:rPr>
              <a:t>II.2 Classe Interfaces</a:t>
            </a:r>
            <a:endParaRPr lang="en-US" sz="2400" dirty="0"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39552" y="710298"/>
            <a:ext cx="8496944" cy="1421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 </a:t>
            </a:r>
            <a:r>
              <a:rPr lang="fr-CI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interface</a:t>
            </a:r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est un CONTRAT PUR : elle dit ce qu'un objet sait faire, sans dire comment. Contrairement à l'héritage (une seule classe parent), une classe peut implémenter plusieurs interfaces</a:t>
            </a:r>
            <a:endParaRPr lang="en-US" sz="2000" dirty="0">
              <a:effectLst/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04781" y="2066072"/>
            <a:ext cx="561662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Public interface </a:t>
            </a:r>
            <a:r>
              <a:rPr lang="en-US" sz="20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Volant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(){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void </a:t>
            </a:r>
            <a:r>
              <a:rPr lang="en-US" sz="20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voler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// java 8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Default void </a:t>
            </a:r>
            <a:r>
              <a:rPr lang="en-US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atterir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(){</a:t>
            </a:r>
          </a:p>
          <a:p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(“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Atterrissage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douceur …”)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}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67744" y="4725144"/>
            <a:ext cx="49566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Public class </a:t>
            </a:r>
            <a:r>
              <a:rPr lang="en-US" sz="20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Oiseau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Volant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@Override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public void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voler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(“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L’oiseau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bat des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ailes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et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s’envole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”)  }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4355976" y="4005064"/>
            <a:ext cx="606109" cy="615553"/>
          </a:xfrm>
          <a:prstGeom prst="down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665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415370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II.3 Gestion </a:t>
            </a:r>
            <a:r>
              <a:rPr lang="fr-CI" sz="2400" b="1" dirty="0">
                <a:solidFill>
                  <a:srgbClr val="FF0000"/>
                </a:solidFill>
                <a:latin typeface="+mn-lt"/>
              </a:rPr>
              <a:t>des Exceptions 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51520" y="984367"/>
            <a:ext cx="878497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 </a:t>
            </a:r>
            <a:r>
              <a:rPr lang="fr-CI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exception</a:t>
            </a:r>
            <a:r>
              <a:rPr lang="fr-C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est un événement anormal qui interrompt le déroulement normal d'un programme. Java fournit un mécanisme pour les capturer et les gérer proprement.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564517"/>
              </p:ext>
            </p:extLst>
          </p:nvPr>
        </p:nvGraphicFramePr>
        <p:xfrm>
          <a:off x="395536" y="1692253"/>
          <a:ext cx="4680519" cy="4078097"/>
        </p:xfrm>
        <a:graphic>
          <a:graphicData uri="http://schemas.openxmlformats.org/drawingml/2006/table">
            <a:tbl>
              <a:tblPr/>
              <a:tblGrid>
                <a:gridCol w="1560173">
                  <a:extLst>
                    <a:ext uri="{9D8B030D-6E8A-4147-A177-3AD203B41FA5}">
                      <a16:colId xmlns:a16="http://schemas.microsoft.com/office/drawing/2014/main" val="3441068424"/>
                    </a:ext>
                  </a:extLst>
                </a:gridCol>
                <a:gridCol w="1560173">
                  <a:extLst>
                    <a:ext uri="{9D8B030D-6E8A-4147-A177-3AD203B41FA5}">
                      <a16:colId xmlns:a16="http://schemas.microsoft.com/office/drawing/2014/main" val="1273748805"/>
                    </a:ext>
                  </a:extLst>
                </a:gridCol>
                <a:gridCol w="1560173">
                  <a:extLst>
                    <a:ext uri="{9D8B030D-6E8A-4147-A177-3AD203B41FA5}">
                      <a16:colId xmlns:a16="http://schemas.microsoft.com/office/drawing/2014/main" val="297998505"/>
                    </a:ext>
                  </a:extLst>
                </a:gridCol>
              </a:tblGrid>
              <a:tr h="396224"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Catégorie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Exemples</a:t>
                      </a:r>
                      <a:endParaRPr lang="en-US" sz="20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Obligatoire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à </a:t>
                      </a:r>
                      <a:r>
                        <a:rPr lang="en-US" sz="20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gérer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?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1109231"/>
                  </a:ext>
                </a:extLst>
              </a:tr>
              <a:tr h="1259960">
                <a:tc>
                  <a:txBody>
                    <a:bodyPr/>
                    <a:lstStyle/>
                    <a:p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RuntimeException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NullPointerException</a:t>
                      </a: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 </a:t>
                      </a:r>
                      <a:r>
                        <a:rPr lang="en-US" sz="2000" dirty="0" err="1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ArrayIndexOutOfBoundsException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 (unchecked)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2358032"/>
                  </a:ext>
                </a:extLst>
              </a:tr>
              <a:tr h="968497"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Exception (checked)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SQLException</a:t>
                      </a: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exception </a:t>
                      </a:r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personnalisée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OUI</a:t>
                      </a:r>
                      <a:endParaRPr lang="en-US" sz="20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77747"/>
                  </a:ext>
                </a:extLst>
              </a:tr>
              <a:tr h="870880"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Error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 err="1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OutOfMemoryError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 (ne pas essayer)</a:t>
                      </a:r>
                    </a:p>
                  </a:txBody>
                  <a:tcPr marL="56940" marR="56940" marT="26280" marB="26280" anchor="ctr">
                    <a:lnL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266772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292080" y="1692253"/>
            <a:ext cx="403244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hangingPunct="0"/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 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mots-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clés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fondamentaux</a:t>
            </a:r>
            <a:endParaRPr lang="en-US" altLang="en-US" sz="2000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endParaRPr lang="en-US" altLang="en-US" sz="2000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TRY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CATCH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FINALLY  (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toujours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s’execute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THROW 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declenche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manuellement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exception)</a:t>
            </a:r>
          </a:p>
          <a:p>
            <a:pPr lvl="0" eaLnBrk="0" hangingPunct="0"/>
            <a:endParaRPr lang="en-US" altLang="en-US" sz="2000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THROWS (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indique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qu’une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method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peut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propager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exception )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958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76610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III. Programmation fonctionnelle (</a:t>
            </a:r>
            <a:r>
              <a:rPr lang="fr-CI" sz="2400" b="1" dirty="0" err="1" smtClean="0">
                <a:solidFill>
                  <a:srgbClr val="FF0000"/>
                </a:solidFill>
                <a:latin typeface="+mn-lt"/>
              </a:rPr>
              <a:t>lamda</a:t>
            </a:r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 expression)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1773" y="894564"/>
            <a:ext cx="87129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 </a:t>
            </a:r>
            <a:r>
              <a:rPr lang="fr-F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expression Lambda</a:t>
            </a:r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permet d’écrire du code plus lisible et concis.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3568" y="1571672"/>
            <a:ext cx="51845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Syntaxe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parametres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)-&gt; {corps}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11560" y="3573016"/>
            <a:ext cx="4752528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 </a:t>
            </a:r>
            <a:r>
              <a:rPr lang="en-US" sz="2000" b="1" dirty="0" smtClean="0">
                <a:latin typeface="+mn-lt"/>
              </a:rPr>
              <a:t>Avant java 8</a:t>
            </a:r>
          </a:p>
          <a:p>
            <a:endParaRPr lang="en-US" sz="2000" b="1" dirty="0" smtClean="0"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sz="2000" dirty="0" smtClean="0">
                <a:latin typeface="+mn-lt"/>
              </a:rPr>
              <a:t>Runnable </a:t>
            </a:r>
            <a:r>
              <a:rPr lang="en-US" sz="2000" dirty="0">
                <a:latin typeface="+mn-lt"/>
              </a:rPr>
              <a:t>r = new Runnable() </a:t>
            </a:r>
            <a:r>
              <a:rPr lang="en-US" sz="2000" dirty="0" smtClean="0">
                <a:latin typeface="+mn-lt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sz="2000" dirty="0" smtClean="0">
                <a:latin typeface="+mn-lt"/>
              </a:rPr>
              <a:t>    </a:t>
            </a:r>
            <a:r>
              <a:rPr lang="en-US" sz="2000" dirty="0">
                <a:latin typeface="+mn-lt"/>
              </a:rPr>
              <a:t>@Override  </a:t>
            </a:r>
            <a:endParaRPr lang="en-US" sz="2000" dirty="0" smtClean="0"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sz="2000" dirty="0" smtClean="0">
                <a:latin typeface="+mn-lt"/>
              </a:rPr>
              <a:t>  </a:t>
            </a:r>
            <a:r>
              <a:rPr lang="en-US" sz="2000" dirty="0">
                <a:latin typeface="+mn-lt"/>
              </a:rPr>
              <a:t>public void run() { </a:t>
            </a:r>
            <a:endParaRPr lang="en-US" sz="2000" dirty="0" smtClean="0"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sz="2000" dirty="0" smtClean="0">
                <a:latin typeface="+mn-lt"/>
              </a:rPr>
              <a:t>       </a:t>
            </a:r>
            <a:r>
              <a:rPr lang="en-US" sz="2000" dirty="0" err="1">
                <a:latin typeface="+mn-lt"/>
              </a:rPr>
              <a:t>System.out.println</a:t>
            </a:r>
            <a:r>
              <a:rPr lang="en-US" sz="2000" dirty="0">
                <a:latin typeface="+mn-lt"/>
              </a:rPr>
              <a:t>("Hello !");    }};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773" y="2858563"/>
            <a:ext cx="63367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Runnable r =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 )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-&gt;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System.out.println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("Hello !");</a:t>
            </a:r>
          </a:p>
        </p:txBody>
      </p:sp>
      <p:pic>
        <p:nvPicPr>
          <p:cNvPr id="10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937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5576" y="188640"/>
            <a:ext cx="76610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III. Programmation fonctionnelle (</a:t>
            </a:r>
            <a:r>
              <a:rPr lang="fr-CI" sz="2400" b="1" dirty="0" err="1" smtClean="0">
                <a:solidFill>
                  <a:srgbClr val="FF0000"/>
                </a:solidFill>
                <a:latin typeface="+mn-lt"/>
              </a:rPr>
              <a:t>lamda</a:t>
            </a:r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 expression)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95536" y="1110224"/>
            <a:ext cx="7344816" cy="44012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sng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kumimoji="0" lang="en-US" altLang="en-US" sz="2000" b="1" i="0" u="sng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avec les Streams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Les lambdas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révèlent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tout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leur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potentiel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avec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l'API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Stream pour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manipuler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des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listes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rgbClr val="0A0A0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2000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List&lt;String&gt; </a:t>
            </a:r>
            <a:r>
              <a:rPr lang="en-US" altLang="en-US" sz="2000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noms </a:t>
            </a:r>
            <a:r>
              <a:rPr lang="en-US" altLang="en-US" sz="2000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Arrays.asList("Alice", "Bob", "Charlie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");</a:t>
            </a:r>
          </a:p>
          <a:p>
            <a:pPr lvl="0"/>
            <a:endParaRPr lang="en-US" altLang="en-US" sz="2000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50000"/>
              </a:lnSpc>
            </a:pPr>
            <a:r>
              <a:rPr lang="en-US" altLang="en-US" sz="20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noms.stream</a:t>
            </a:r>
            <a:r>
              <a:rPr lang="en-US" alt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endParaRPr lang="en-US" altLang="en-US" sz="2000" b="1" dirty="0" smtClean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50000"/>
              </a:lnSpc>
            </a:pPr>
            <a:r>
              <a:rPr lang="en-US" altLang="en-US" sz="20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.filter(nom -&gt; 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nom.startsWith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("A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"))</a:t>
            </a:r>
          </a:p>
          <a:p>
            <a:pPr lvl="0">
              <a:lnSpc>
                <a:spcPct val="150000"/>
              </a:lnSpc>
            </a:pP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map(nom -&gt; 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nom.toUpperCase</a:t>
            </a: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())</a:t>
            </a:r>
          </a:p>
          <a:p>
            <a:pPr lvl="0">
              <a:lnSpc>
                <a:spcPct val="150000"/>
              </a:lnSpc>
            </a:pPr>
            <a:r>
              <a:rPr lang="en-US" altLang="en-US" sz="2000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forEach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::</a:t>
            </a:r>
            <a:r>
              <a:rPr lang="en-US" altLang="en-US" sz="2000" b="1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println</a:t>
            </a:r>
            <a:r>
              <a:rPr lang="en-US" altLang="en-US" sz="2000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     </a:t>
            </a: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rgbClr val="0A0A0A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28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76610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III. Programmation fonctionnelle (</a:t>
            </a:r>
            <a:r>
              <a:rPr lang="fr-CI" sz="2400" b="1" dirty="0" err="1" smtClean="0">
                <a:solidFill>
                  <a:srgbClr val="FF0000"/>
                </a:solidFill>
                <a:latin typeface="+mn-lt"/>
              </a:rPr>
              <a:t>lamda</a:t>
            </a:r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 expression)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6316" y="910461"/>
            <a:ext cx="80648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Fonctionelles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possede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seule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methode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abstariate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Java 8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fournit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 interfaces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pretes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etre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employees avec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lamda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952863"/>
              </p:ext>
            </p:extLst>
          </p:nvPr>
        </p:nvGraphicFramePr>
        <p:xfrm>
          <a:off x="996042" y="2359478"/>
          <a:ext cx="7248364" cy="3733815"/>
        </p:xfrm>
        <a:graphic>
          <a:graphicData uri="http://schemas.openxmlformats.org/drawingml/2006/table">
            <a:tbl>
              <a:tblPr/>
              <a:tblGrid>
                <a:gridCol w="1812091">
                  <a:extLst>
                    <a:ext uri="{9D8B030D-6E8A-4147-A177-3AD203B41FA5}">
                      <a16:colId xmlns:a16="http://schemas.microsoft.com/office/drawing/2014/main" val="1600148068"/>
                    </a:ext>
                  </a:extLst>
                </a:gridCol>
                <a:gridCol w="1812091">
                  <a:extLst>
                    <a:ext uri="{9D8B030D-6E8A-4147-A177-3AD203B41FA5}">
                      <a16:colId xmlns:a16="http://schemas.microsoft.com/office/drawing/2014/main" val="2655763201"/>
                    </a:ext>
                  </a:extLst>
                </a:gridCol>
                <a:gridCol w="1812091">
                  <a:extLst>
                    <a:ext uri="{9D8B030D-6E8A-4147-A177-3AD203B41FA5}">
                      <a16:colId xmlns:a16="http://schemas.microsoft.com/office/drawing/2014/main" val="4015933991"/>
                    </a:ext>
                  </a:extLst>
                </a:gridCol>
                <a:gridCol w="1812091">
                  <a:extLst>
                    <a:ext uri="{9D8B030D-6E8A-4147-A177-3AD203B41FA5}">
                      <a16:colId xmlns:a16="http://schemas.microsoft.com/office/drawing/2014/main" val="1168528271"/>
                    </a:ext>
                  </a:extLst>
                </a:gridCol>
              </a:tblGrid>
              <a:tr h="466727">
                <a:tc>
                  <a:txBody>
                    <a:bodyPr/>
                    <a:lstStyle/>
                    <a:p>
                      <a:r>
                        <a:rPr lang="en-US" b="1" dirty="0"/>
                        <a:t>Interface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Entrée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Sortie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235679"/>
                  </a:ext>
                </a:extLst>
              </a:tr>
              <a:tr h="816772">
                <a:tc>
                  <a:txBody>
                    <a:bodyPr/>
                    <a:lstStyle/>
                    <a:p>
                      <a:r>
                        <a:rPr lang="en-US" b="1" dirty="0"/>
                        <a:t>Predicate&lt;T&gt;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boolean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Tester </a:t>
                      </a:r>
                      <a:r>
                        <a:rPr lang="en-US" b="1" dirty="0" err="1"/>
                        <a:t>une</a:t>
                      </a:r>
                      <a:r>
                        <a:rPr lang="en-US" b="1" dirty="0"/>
                        <a:t> condition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5003703"/>
                  </a:ext>
                </a:extLst>
              </a:tr>
              <a:tr h="816772">
                <a:tc>
                  <a:txBody>
                    <a:bodyPr/>
                    <a:lstStyle/>
                    <a:p>
                      <a:r>
                        <a:rPr lang="en-US" b="1" dirty="0"/>
                        <a:t>Function&lt;T,R&gt;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Transformer un </a:t>
                      </a:r>
                      <a:r>
                        <a:rPr lang="en-US" b="1" dirty="0" err="1"/>
                        <a:t>élément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9097691"/>
                  </a:ext>
                </a:extLst>
              </a:tr>
              <a:tr h="816772">
                <a:tc>
                  <a:txBody>
                    <a:bodyPr/>
                    <a:lstStyle/>
                    <a:p>
                      <a:r>
                        <a:rPr lang="en-US" b="1" dirty="0"/>
                        <a:t>Consumer&lt;T&gt;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void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err="1"/>
                        <a:t>Consommer</a:t>
                      </a:r>
                      <a:r>
                        <a:rPr lang="en-US" b="1" dirty="0"/>
                        <a:t> (ex: </a:t>
                      </a:r>
                      <a:r>
                        <a:rPr lang="en-US" b="1" dirty="0" err="1"/>
                        <a:t>afficher</a:t>
                      </a:r>
                      <a:r>
                        <a:rPr lang="en-US" b="1" dirty="0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8978152"/>
                  </a:ext>
                </a:extLst>
              </a:tr>
              <a:tr h="816772">
                <a:tc>
                  <a:txBody>
                    <a:bodyPr/>
                    <a:lstStyle/>
                    <a:p>
                      <a:r>
                        <a:rPr lang="en-US" b="1" dirty="0"/>
                        <a:t>Supplier&lt;T&gt;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rien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err="1"/>
                        <a:t>Fournir</a:t>
                      </a:r>
                      <a:r>
                        <a:rPr lang="en-US" b="1" dirty="0"/>
                        <a:t> </a:t>
                      </a:r>
                      <a:r>
                        <a:rPr lang="en-US" b="1" dirty="0" err="1"/>
                        <a:t>une</a:t>
                      </a:r>
                      <a:r>
                        <a:rPr lang="en-US" b="1" dirty="0"/>
                        <a:t> </a:t>
                      </a:r>
                      <a:r>
                        <a:rPr lang="en-US" b="1" dirty="0" err="1"/>
                        <a:t>valeur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14985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4937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40480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sz="2400" b="1" dirty="0" smtClean="0">
                <a:solidFill>
                  <a:srgbClr val="FF0000"/>
                </a:solidFill>
                <a:latin typeface="+mn-lt"/>
              </a:rPr>
              <a:t>IV. Tour d’horizon d’un IDE</a:t>
            </a:r>
            <a:endParaRPr lang="en-US" sz="24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9512" y="1268760"/>
            <a:ext cx="87849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b="1" dirty="0" smtClean="0"/>
              <a:t>Cas concret :               </a:t>
            </a:r>
            <a:r>
              <a:rPr lang="fr-CI" dirty="0" smtClean="0"/>
              <a:t>l’exemple d’</a:t>
            </a:r>
            <a:r>
              <a:rPr lang="fr-CI" dirty="0" err="1" smtClean="0"/>
              <a:t>IntelliJ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12" y="1988840"/>
            <a:ext cx="4320480" cy="371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590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99119"/>
            <a:ext cx="8064500" cy="665585"/>
          </a:xfrm>
        </p:spPr>
        <p:txBody>
          <a:bodyPr/>
          <a:lstStyle/>
          <a:p>
            <a:endParaRPr lang="fr-CA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2310710" y="278092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fr-CA" sz="9600" b="1" dirty="0">
                <a:ln w="11430"/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Merci !</a:t>
            </a:r>
            <a:r>
              <a:rPr lang="fr-CA" sz="9600" b="1" dirty="0">
                <a:ln w="11430"/>
                <a:solidFill>
                  <a:schemeClr val="bg1">
                    <a:lumMod val="50000"/>
                  </a:schemeClr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421D6F-C5F1-42E4-86F1-5ED2F5C6A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44624"/>
            <a:ext cx="8208962" cy="837456"/>
          </a:xfrm>
        </p:spPr>
        <p:txBody>
          <a:bodyPr/>
          <a:lstStyle/>
          <a:p>
            <a:r>
              <a:rPr lang="fr-CA">
                <a:solidFill>
                  <a:srgbClr val="C00000"/>
                </a:solidFill>
              </a:rPr>
              <a:t>Questions …</a:t>
            </a:r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2627784" y="2708920"/>
            <a:ext cx="34563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FR" b="1" dirty="0">
                <a:solidFill>
                  <a:schemeClr val="bg1"/>
                </a:solidFill>
              </a:rPr>
              <a:t>www.osositechnologies.com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8" y="2119313"/>
            <a:ext cx="8963025" cy="2619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744949" y="2691713"/>
            <a:ext cx="74168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CA" sz="2800" b="1" dirty="0">
                <a:solidFill>
                  <a:schemeClr val="bg1"/>
                </a:solidFill>
              </a:rPr>
              <a:t>www.osistechnologies.com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8C955B-5C10-4975-B7E2-47CF609D45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523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ction OIM">
  <a:themeElements>
    <a:clrScheme name="Section OI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ection OIM">
      <a:majorFont>
        <a:latin typeface="Arial"/>
        <a:ea typeface="ＭＳ Ｐゴシック"/>
        <a:cs typeface=""/>
      </a:majorFont>
      <a:minorFont>
        <a:latin typeface="Trebuchet M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ection OI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19740</TotalTime>
  <Words>722</Words>
  <Application>Microsoft Office PowerPoint</Application>
  <PresentationFormat>On-screen Show (4:3)</PresentationFormat>
  <Paragraphs>150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MS PGothic</vt:lpstr>
      <vt:lpstr>Arial</vt:lpstr>
      <vt:lpstr>Arial Narrow</vt:lpstr>
      <vt:lpstr>Calibri</vt:lpstr>
      <vt:lpstr>Helvetica Neue</vt:lpstr>
      <vt:lpstr>Times New Roman</vt:lpstr>
      <vt:lpstr>Trebuchet MS</vt:lpstr>
      <vt:lpstr>Wingdings</vt:lpstr>
      <vt:lpstr>Section OIM</vt:lpstr>
      <vt:lpstr>THÈME Java 8 nouveauté et tour d’horizon d’un IDE </vt:lpstr>
      <vt:lpstr>SOMMAIRE</vt:lpstr>
      <vt:lpstr>I. JAVA 8 : Nouveauté du langage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 …</vt:lpstr>
    </vt:vector>
  </TitlesOfParts>
  <Company>Momentum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Maxime Yapi</dc:creator>
  <cp:lastModifiedBy>Ibrahim SAVADOGO</cp:lastModifiedBy>
  <cp:revision>688</cp:revision>
  <dcterms:created xsi:type="dcterms:W3CDTF">2010-02-03T20:06:36Z</dcterms:created>
  <dcterms:modified xsi:type="dcterms:W3CDTF">2026-04-23T15:55:14Z</dcterms:modified>
</cp:coreProperties>
</file>