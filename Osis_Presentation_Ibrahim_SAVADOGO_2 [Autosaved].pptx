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4"/>
  </p:notesMasterIdLst>
  <p:handoutMasterIdLst>
    <p:handoutMasterId r:id="rId15"/>
  </p:handoutMasterIdLst>
  <p:sldIdLst>
    <p:sldId id="256" r:id="rId2"/>
    <p:sldId id="356" r:id="rId3"/>
    <p:sldId id="357" r:id="rId4"/>
    <p:sldId id="371" r:id="rId5"/>
    <p:sldId id="372" r:id="rId6"/>
    <p:sldId id="374" r:id="rId7"/>
    <p:sldId id="375" r:id="rId8"/>
    <p:sldId id="378" r:id="rId9"/>
    <p:sldId id="379" r:id="rId10"/>
    <p:sldId id="376" r:id="rId11"/>
    <p:sldId id="327" r:id="rId12"/>
    <p:sldId id="345" r:id="rId13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  <a:srgbClr val="777777"/>
    <a:srgbClr val="006600"/>
    <a:srgbClr val="E3CDD0"/>
    <a:srgbClr val="FFFF99"/>
    <a:srgbClr val="FF6600"/>
    <a:srgbClr val="FF33CC"/>
    <a:srgbClr val="002C56"/>
    <a:srgbClr val="CBD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25" autoAdjust="0"/>
  </p:normalViewPr>
  <p:slideViewPr>
    <p:cSldViewPr>
      <p:cViewPr varScale="1">
        <p:scale>
          <a:sx n="78" d="100"/>
          <a:sy n="78" d="100"/>
        </p:scale>
        <p:origin x="924" y="64"/>
      </p:cViewPr>
      <p:guideLst/>
    </p:cSldViewPr>
  </p:slideViewPr>
  <p:outlineViewPr>
    <p:cViewPr>
      <p:scale>
        <a:sx n="33" d="100"/>
        <a:sy n="33" d="100"/>
      </p:scale>
      <p:origin x="0" y="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FB73F57-00A7-4824-AB68-DA8CEE9E7E80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5719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824BCD5-7DB3-4570-95FB-D6BD68920CD5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13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1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CI" dirty="0" smtClean="0">
                <a:latin typeface="Arial" panose="020B0604020202020204" pitchFamily="34" charset="0"/>
                <a:ea typeface="Arial" panose="020B0604020202020204" pitchFamily="34" charset="0"/>
              </a:rPr>
              <a:t>Avant Java 8, Java était un langage purement orienté objet : toute logique devait être encapsulée dans des classes et des objets. Même pour des tâches simples (trier une liste, filtrer des données), il fallait écrire beaucoup de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CI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0895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CI" dirty="0" smtClean="0">
                <a:latin typeface="Arial" panose="020B0604020202020204" pitchFamily="34" charset="0"/>
                <a:ea typeface="Arial" panose="020B0604020202020204" pitchFamily="34" charset="0"/>
              </a:rPr>
              <a:t>Elle est abstraite parce que certains comportements ne peuvent pas être définis sans connaître la sous-classe concrète.</a:t>
            </a:r>
            <a:endParaRPr lang="en-US" sz="1200" dirty="0" smtClean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84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15888"/>
            <a:ext cx="9715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5" name="Rectangle 4"/>
          <p:cNvSpPr/>
          <p:nvPr userDrawn="1"/>
        </p:nvSpPr>
        <p:spPr>
          <a:xfrm>
            <a:off x="0" y="6237288"/>
            <a:ext cx="6876256" cy="620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6" name="Rectangle 5"/>
          <p:cNvSpPr/>
          <p:nvPr userDrawn="1"/>
        </p:nvSpPr>
        <p:spPr>
          <a:xfrm>
            <a:off x="0" y="549275"/>
            <a:ext cx="9144000" cy="620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640" y="1916832"/>
            <a:ext cx="6048672" cy="1519808"/>
          </a:xfrm>
        </p:spPr>
        <p:txBody>
          <a:bodyPr/>
          <a:lstStyle>
            <a:lvl1pPr algn="r">
              <a:defRPr sz="4000">
                <a:solidFill>
                  <a:srgbClr val="E2001A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et modifiez le titre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11760" y="3518712"/>
            <a:ext cx="6480720" cy="1278440"/>
          </a:xfrm>
        </p:spPr>
        <p:txBody>
          <a:bodyPr/>
          <a:lstStyle>
            <a:lvl1pPr marL="0" indent="0" algn="r">
              <a:buFontTx/>
              <a:buNone/>
              <a:defRPr sz="2600" i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pour modifier le style des sous-titres du masque</a:t>
            </a:r>
          </a:p>
        </p:txBody>
      </p:sp>
      <p:cxnSp>
        <p:nvCxnSpPr>
          <p:cNvPr id="19" name="Connecteur en angle 18"/>
          <p:cNvCxnSpPr/>
          <p:nvPr userDrawn="1"/>
        </p:nvCxnSpPr>
        <p:spPr>
          <a:xfrm>
            <a:off x="211138" y="1484784"/>
            <a:ext cx="8681342" cy="3869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/>
          <p:nvPr userDrawn="1"/>
        </p:nvCxnSpPr>
        <p:spPr>
          <a:xfrm flipV="1">
            <a:off x="210443" y="1440160"/>
            <a:ext cx="8682037" cy="123178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Arrondir un rectangle avec un coin diagonal 26"/>
          <p:cNvSpPr/>
          <p:nvPr userDrawn="1"/>
        </p:nvSpPr>
        <p:spPr>
          <a:xfrm>
            <a:off x="35496" y="4899724"/>
            <a:ext cx="3960440" cy="292606"/>
          </a:xfrm>
          <a:prstGeom prst="round2Diag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" y="551579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ZoneTexte 28"/>
          <p:cNvSpPr txBox="1"/>
          <p:nvPr userDrawn="1"/>
        </p:nvSpPr>
        <p:spPr>
          <a:xfrm>
            <a:off x="35496" y="4859868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 Force de l’Engagement et de l’Expertise</a:t>
            </a:r>
          </a:p>
        </p:txBody>
      </p:sp>
      <p:pic>
        <p:nvPicPr>
          <p:cNvPr id="21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5877272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3587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659591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0648"/>
            <a:ext cx="2298552" cy="108608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9450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9325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2588" y="-100013"/>
            <a:ext cx="2016125" cy="59769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9450" y="-100013"/>
            <a:ext cx="5900738" cy="59769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-188913"/>
            <a:ext cx="8208962" cy="1143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et modifiez le titre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49" y="1125538"/>
            <a:ext cx="82137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 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</a:p>
        </p:txBody>
      </p:sp>
      <p:cxnSp>
        <p:nvCxnSpPr>
          <p:cNvPr id="10" name="Connecteur en angle 9"/>
          <p:cNvCxnSpPr/>
          <p:nvPr userDrawn="1"/>
        </p:nvCxnSpPr>
        <p:spPr>
          <a:xfrm flipV="1">
            <a:off x="679450" y="764704"/>
            <a:ext cx="8213725" cy="7200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en angle 10"/>
          <p:cNvCxnSpPr/>
          <p:nvPr userDrawn="1"/>
        </p:nvCxnSpPr>
        <p:spPr>
          <a:xfrm flipV="1">
            <a:off x="679450" y="686150"/>
            <a:ext cx="8213725" cy="7855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Espace réservé pour une image  4" descr="Nouvelle notificatio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8344" y="6416675"/>
            <a:ext cx="1296144" cy="38833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296962"/>
            <a:ext cx="679450" cy="3957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400">
          <a:solidFill>
            <a:srgbClr val="001523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1523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461125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301BB6-AEF3-4BDF-B8AB-15484F399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78" y="116632"/>
            <a:ext cx="2320758" cy="1257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29C277DC-CA85-4F4B-92F7-66515D6D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9453" y="2276872"/>
            <a:ext cx="5472608" cy="2520280"/>
          </a:xfrm>
        </p:spPr>
        <p:txBody>
          <a:bodyPr/>
          <a:lstStyle/>
          <a:p>
            <a:pPr algn="ctr"/>
            <a:r>
              <a:rPr lang="fr-FR" sz="4800" dirty="0" smtClean="0"/>
              <a:t>THEME: </a:t>
            </a:r>
            <a:endParaRPr lang="fr-FR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5488225" y="5684334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Presente</a:t>
            </a:r>
            <a:r>
              <a:rPr lang="en-US" dirty="0" smtClean="0"/>
              <a:t> par :</a:t>
            </a:r>
            <a:br>
              <a:rPr lang="en-US" dirty="0" smtClean="0"/>
            </a:br>
            <a:r>
              <a:rPr lang="en-US" dirty="0" smtClean="0"/>
              <a:t>Ibrahim SAVADOGO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300" cap="none" dirty="0">
                <a:solidFill>
                  <a:srgbClr val="FF0000"/>
                </a:solidFill>
                <a:latin typeface="+mn-lt"/>
              </a:rPr>
              <a:t>SOMMAIRE</a:t>
            </a:r>
          </a:p>
        </p:txBody>
      </p:sp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4F53A-C3CD-418C-B4AE-2BA500832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43608" y="2060848"/>
            <a:ext cx="7200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000000"/>
                </a:solidFill>
                <a:latin typeface="Helvetica Neue"/>
              </a:rPr>
              <a:t> </a:t>
            </a:r>
            <a:endParaRPr lang="fr-FR" dirty="0" smtClean="0">
              <a:solidFill>
                <a:srgbClr val="333333"/>
              </a:solidFill>
              <a:latin typeface="Helvetica Neue"/>
            </a:endParaRPr>
          </a:p>
          <a:p>
            <a:pPr lvl="1" algn="just">
              <a:lnSpc>
                <a:spcPct val="150000"/>
              </a:lnSpc>
            </a:pPr>
            <a:r>
              <a:rPr lang="fr-FR" b="1" dirty="0" smtClean="0">
                <a:solidFill>
                  <a:srgbClr val="FF0000"/>
                </a:solidFill>
                <a:latin typeface="+mn-lt"/>
              </a:rPr>
              <a:t> I. Java 8 – Nouveautés du langage</a:t>
            </a:r>
          </a:p>
          <a:p>
            <a:pPr lvl="1" algn="just">
              <a:lnSpc>
                <a:spcPct val="150000"/>
              </a:lnSpc>
            </a:pPr>
            <a:r>
              <a:rPr lang="fr-FR" b="1" dirty="0" smtClean="0">
                <a:solidFill>
                  <a:srgbClr val="FF0000"/>
                </a:solidFill>
                <a:latin typeface="+mn-lt"/>
              </a:rPr>
              <a:t> II. Classe abstraite / Interface / Gestion des exceptions</a:t>
            </a:r>
          </a:p>
          <a:p>
            <a:pPr lvl="1" algn="just">
              <a:lnSpc>
                <a:spcPct val="150000"/>
              </a:lnSpc>
            </a:pPr>
            <a:r>
              <a:rPr lang="fr-FR" b="1" dirty="0" smtClean="0">
                <a:solidFill>
                  <a:srgbClr val="FF0000"/>
                </a:solidFill>
                <a:latin typeface="+mn-lt"/>
              </a:rPr>
              <a:t> III. La programmation fonctionnelle – Lambda Expressions</a:t>
            </a:r>
          </a:p>
          <a:p>
            <a:pPr lvl="1" algn="just">
              <a:lnSpc>
                <a:spcPct val="150000"/>
              </a:lnSpc>
            </a:pPr>
            <a:r>
              <a:rPr lang="fr-FR" b="1" dirty="0" smtClean="0">
                <a:solidFill>
                  <a:srgbClr val="FF0000"/>
                </a:solidFill>
                <a:latin typeface="+mn-lt"/>
              </a:rPr>
              <a:t> IV. Tour d'horizon d'un EDI – Premiers pas (</a:t>
            </a:r>
            <a:r>
              <a:rPr lang="fr-FR" b="1" dirty="0" err="1" smtClean="0">
                <a:solidFill>
                  <a:srgbClr val="FF0000"/>
                </a:solidFill>
                <a:latin typeface="+mn-lt"/>
              </a:rPr>
              <a:t>IntelliJ</a:t>
            </a:r>
            <a:r>
              <a:rPr lang="fr-FR" b="1" dirty="0" smtClean="0">
                <a:solidFill>
                  <a:srgbClr val="FF0000"/>
                </a:solidFill>
                <a:latin typeface="+mn-lt"/>
              </a:rPr>
              <a:t> )</a:t>
            </a:r>
          </a:p>
          <a:p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1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 smtClean="0">
                <a:solidFill>
                  <a:srgbClr val="FF0000"/>
                </a:solidFill>
              </a:rPr>
              <a:t>I. JAVA 8 : Nouveauté du langage</a:t>
            </a:r>
            <a:endParaRPr lang="fr-CA" sz="2400" cap="none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1560" y="980728"/>
            <a:ext cx="835069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Java 8 est sorti en mars 2014 et représente l'une des plus grandes évolutions de Java depuis sa création en 1995</a:t>
            </a:r>
            <a:r>
              <a:rPr lang="fr-CI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CI" sz="2000" dirty="0" smtClean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fr-CI" sz="2000" dirty="0" smtClean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Lambda Expressions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fr-CI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Nouvelle </a:t>
            </a:r>
            <a:r>
              <a:rPr lang="fr-CI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Date/Time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Méthodes </a:t>
            </a:r>
            <a:r>
              <a:rPr lang="fr-CI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et </a:t>
            </a:r>
            <a:r>
              <a:rPr lang="fr-CI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fr-CI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dans les interfaces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8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9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3075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sz="2400" dirty="0" smtClean="0">
                <a:solidFill>
                  <a:srgbClr val="FF0000"/>
                </a:solidFill>
              </a:rPr>
              <a:t>II.1 Classe Abstraites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251520" y="908720"/>
            <a:ext cx="8584165" cy="498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Une classe </a:t>
            </a:r>
            <a:r>
              <a:rPr lang="fr-CI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abstraite</a:t>
            </a:r>
            <a:r>
              <a:rPr lang="fr-CI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= </a:t>
            </a: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classe </a:t>
            </a:r>
            <a:r>
              <a:rPr lang="fr-CI" sz="20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INCOMPLÈTE</a:t>
            </a: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qui sert de modèle commun</a:t>
            </a:r>
            <a:r>
              <a:rPr lang="fr-CI" sz="2000" dirty="0" smtClean="0"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749" y="1501381"/>
            <a:ext cx="8424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Mot-</a:t>
            </a:r>
            <a:r>
              <a:rPr lang="en-US" sz="2000" dirty="0" err="1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clé</a:t>
            </a:r>
            <a:r>
              <a:rPr lang="en-US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CI" sz="2000" b="1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fr-CI" sz="20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sans corps) </a:t>
            </a:r>
            <a:endParaRPr lang="fr-CI" sz="2000" b="1" dirty="0" smtClean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CI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NE </a:t>
            </a: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PEUT PAS être </a:t>
            </a:r>
            <a:r>
              <a:rPr lang="fr-CI" sz="20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instanciée</a:t>
            </a: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directement </a:t>
            </a:r>
            <a:endParaRPr lang="fr-CI" sz="2000" dirty="0" smtClean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CI" sz="2000" dirty="0" smtClean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Peut </a:t>
            </a:r>
            <a:r>
              <a:rPr lang="fr-CI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avoir des attributs, un constructeur, des constantes</a:t>
            </a:r>
            <a:endParaRPr 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3429000"/>
            <a:ext cx="42484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ublic abstract class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Protected  String nom;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Animal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nom){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this.nom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=nom;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abstract void </a:t>
            </a:r>
            <a:r>
              <a:rPr lang="en-US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Fairedubruit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23217" y="3244555"/>
            <a:ext cx="42990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ublic class 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(String nom){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super(nom);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@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verroid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abstract void </a:t>
            </a:r>
            <a:r>
              <a:rPr 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Fairedubruit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(nom + “ </a:t>
            </a:r>
            <a:r>
              <a:rPr 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wouf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“)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779912" y="4329583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30748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sz="2400" dirty="0" smtClean="0">
                <a:solidFill>
                  <a:srgbClr val="FF0000"/>
                </a:solidFill>
              </a:rPr>
              <a:t>II.2 Classe Interfaces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539552" y="710298"/>
            <a:ext cx="8496944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CI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 CONTRAT PUR : elle dit ce qu'un objet sait faire, sans dire comment. Contrairement à l'héritage (une seule classe parent), une classe peut implémenter plusieurs interfaces</a:t>
            </a:r>
            <a:endParaRPr 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4781" y="2066072"/>
            <a:ext cx="56166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(){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void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java 8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void </a:t>
            </a:r>
            <a:r>
              <a:rPr 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atterir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(){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Atterrissage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douceur …”)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67744" y="4725144"/>
            <a:ext cx="49566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Oiseau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L’oiseau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bat des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ailes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s’envole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”)  }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4355976" y="4005064"/>
            <a:ext cx="606109" cy="61555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6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32496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I" b="1" dirty="0" smtClean="0">
                <a:solidFill>
                  <a:srgbClr val="FF0000"/>
                </a:solidFill>
              </a:rPr>
              <a:t>II.3 Gestion </a:t>
            </a:r>
            <a:r>
              <a:rPr lang="fr-CI" b="1" dirty="0">
                <a:solidFill>
                  <a:srgbClr val="FF0000"/>
                </a:solidFill>
              </a:rPr>
              <a:t>des Exceptions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20" y="984367"/>
            <a:ext cx="87849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CI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fr-CI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 événement anormal qui interrompt le déroulement normal d'un programme. Java fournit un mécanisme pour les capturer et les gérer proprement.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64517"/>
              </p:ext>
            </p:extLst>
          </p:nvPr>
        </p:nvGraphicFramePr>
        <p:xfrm>
          <a:off x="395536" y="1692253"/>
          <a:ext cx="4680519" cy="4078097"/>
        </p:xfrm>
        <a:graphic>
          <a:graphicData uri="http://schemas.openxmlformats.org/drawingml/2006/table">
            <a:tbl>
              <a:tblPr/>
              <a:tblGrid>
                <a:gridCol w="1560173">
                  <a:extLst>
                    <a:ext uri="{9D8B030D-6E8A-4147-A177-3AD203B41FA5}">
                      <a16:colId xmlns:a16="http://schemas.microsoft.com/office/drawing/2014/main" val="3441068424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1273748805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297998505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Catégorie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Exemples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Obligatoire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à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gérer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?</a:t>
                      </a: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109231"/>
                  </a:ext>
                </a:extLst>
              </a:tr>
              <a:tr h="1259960"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RuntimeException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NullPointerException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20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ArrayIndexOutOfBoundsException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(unchecked)</a:t>
                      </a: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358032"/>
                  </a:ext>
                </a:extLst>
              </a:tr>
              <a:tr h="968497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 (checked)</a:t>
                      </a: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SQLException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exception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personnalisée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OUI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7747"/>
                  </a:ext>
                </a:extLst>
              </a:tr>
              <a:tr h="87088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OutOfMemoryError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(ne pas essayer)</a:t>
                      </a:r>
                    </a:p>
                  </a:txBody>
                  <a:tcPr marL="56940" marR="56940" marT="26280" marB="2628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66772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92080" y="1692253"/>
            <a:ext cx="40324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mots-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clés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fondamentaux</a:t>
            </a:r>
            <a:endParaRPr lang="en-US" altLang="en-US" sz="2000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endParaRPr lang="en-US" altLang="en-US" sz="2000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</a:p>
          <a:p>
            <a:pPr lvl="0" eaLnBrk="0" hangingPunct="0"/>
            <a:endParaRPr lang="en-US" altLang="en-US" sz="2000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</a:p>
          <a:p>
            <a:pPr lvl="0" eaLnBrk="0" hangingPunct="0"/>
            <a:endParaRPr lang="en-US" altLang="en-US" sz="2000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  (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toujours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s’execute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hangingPunct="0"/>
            <a:endParaRPr lang="en-US" altLang="en-US" sz="2000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 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declenche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manuellement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exception)</a:t>
            </a:r>
          </a:p>
          <a:p>
            <a:pPr lvl="0" eaLnBrk="0" hangingPunct="0"/>
            <a:endParaRPr lang="en-US" altLang="en-US" sz="2000" b="1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hangingPunct="0"/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 (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indique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qu’une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propager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 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5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58785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I" b="1" dirty="0" smtClean="0">
                <a:solidFill>
                  <a:srgbClr val="FF0000"/>
                </a:solidFill>
              </a:rPr>
              <a:t>III. Programmation fonctionnelle (</a:t>
            </a:r>
            <a:r>
              <a:rPr lang="fr-CI" b="1" dirty="0" err="1" smtClean="0">
                <a:solidFill>
                  <a:srgbClr val="FF0000"/>
                </a:solidFill>
              </a:rPr>
              <a:t>lamda</a:t>
            </a:r>
            <a:r>
              <a:rPr lang="fr-CI" b="1" dirty="0" smtClean="0">
                <a:solidFill>
                  <a:srgbClr val="FF0000"/>
                </a:solidFill>
              </a:rPr>
              <a:t> expression)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1773" y="894564"/>
            <a:ext cx="87129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Lambda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permet d’écrire du code plus lisible et concis.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314" y="1870394"/>
            <a:ext cx="5184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)-&gt; {corps}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3573016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 </a:t>
            </a:r>
            <a:r>
              <a:rPr lang="en-US" sz="2000" b="1" dirty="0" smtClean="0">
                <a:latin typeface="+mn-lt"/>
              </a:rPr>
              <a:t>Avant java 8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000" dirty="0" smtClean="0">
                <a:latin typeface="+mn-lt"/>
              </a:rPr>
              <a:t>Runnable </a:t>
            </a:r>
            <a:r>
              <a:rPr lang="en-US" sz="2000" dirty="0">
                <a:latin typeface="+mn-lt"/>
              </a:rPr>
              <a:t>r = new Runnable() {    @Override    public void run() {        </a:t>
            </a:r>
            <a:r>
              <a:rPr lang="en-US" sz="2000" dirty="0" err="1">
                <a:latin typeface="+mn-lt"/>
              </a:rPr>
              <a:t>System.out.println</a:t>
            </a:r>
            <a:r>
              <a:rPr lang="en-US" sz="2000" dirty="0">
                <a:latin typeface="+mn-lt"/>
              </a:rPr>
              <a:t>("Hello !");    }};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773" y="2858563"/>
            <a:ext cx="6336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Runnable r =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!");</a:t>
            </a:r>
          </a:p>
        </p:txBody>
      </p:sp>
      <p:pic>
        <p:nvPicPr>
          <p:cNvPr id="10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58785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I" b="1" dirty="0" smtClean="0">
                <a:solidFill>
                  <a:srgbClr val="FF0000"/>
                </a:solidFill>
              </a:rPr>
              <a:t>III. Programmation fonctionnelle (</a:t>
            </a:r>
            <a:r>
              <a:rPr lang="fr-CI" b="1" dirty="0" err="1" smtClean="0">
                <a:solidFill>
                  <a:srgbClr val="FF0000"/>
                </a:solidFill>
              </a:rPr>
              <a:t>lamda</a:t>
            </a:r>
            <a:r>
              <a:rPr lang="fr-CI" b="1" dirty="0" smtClean="0">
                <a:solidFill>
                  <a:srgbClr val="FF0000"/>
                </a:solidFill>
              </a:rPr>
              <a:t> expression)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5536" y="1464461"/>
            <a:ext cx="8748464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avec les Streams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lambdas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révèlent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tout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leur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l'API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Stream pour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manipuler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List&lt;String&gt; </a:t>
            </a:r>
            <a:r>
              <a:rPr lang="en-US" altLang="en-US" sz="2000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000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noms</a:t>
            </a:r>
            <a:r>
              <a:rPr lang="en-US" altLang="en-US" sz="2000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Arrays.asList</a:t>
            </a:r>
            <a:r>
              <a:rPr lang="en-US" altLang="en-US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("Alice", "Bob", "Charlie</a:t>
            </a:r>
            <a:r>
              <a:rPr lang="en-US" altLang="en-US" sz="2000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lvl="0"/>
            <a:endParaRPr lang="en-US" altLang="en-US" sz="2000" dirty="0" smtClean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en-US" sz="2000" b="1" dirty="0" err="1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noms.stream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.filter(nom -&gt; 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nom.startsWith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")).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map(nom -&gt; 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nom.toUpperCase</a:t>
            </a:r>
            <a:r>
              <a:rPr lang="en-US" altLang="en-US" sz="2000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en-US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altLang="en-US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2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58785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I" b="1" dirty="0" smtClean="0">
                <a:solidFill>
                  <a:srgbClr val="FF0000"/>
                </a:solidFill>
              </a:rPr>
              <a:t>III. Programmation fonctionnelle (</a:t>
            </a:r>
            <a:r>
              <a:rPr lang="fr-CI" b="1" dirty="0" err="1" smtClean="0">
                <a:solidFill>
                  <a:srgbClr val="FF0000"/>
                </a:solidFill>
              </a:rPr>
              <a:t>lamda</a:t>
            </a:r>
            <a:r>
              <a:rPr lang="fr-CI" b="1" dirty="0" smtClean="0">
                <a:solidFill>
                  <a:srgbClr val="FF0000"/>
                </a:solidFill>
              </a:rPr>
              <a:t> expression)</a:t>
            </a:r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63096"/>
              </p:ext>
            </p:extLst>
          </p:nvPr>
        </p:nvGraphicFramePr>
        <p:xfrm>
          <a:off x="1331640" y="1654017"/>
          <a:ext cx="6696748" cy="3987540"/>
        </p:xfrm>
        <a:graphic>
          <a:graphicData uri="http://schemas.openxmlformats.org/drawingml/2006/table">
            <a:tbl>
              <a:tblPr/>
              <a:tblGrid>
                <a:gridCol w="1674187">
                  <a:extLst>
                    <a:ext uri="{9D8B030D-6E8A-4147-A177-3AD203B41FA5}">
                      <a16:colId xmlns:a16="http://schemas.microsoft.com/office/drawing/2014/main" val="3886729575"/>
                    </a:ext>
                  </a:extLst>
                </a:gridCol>
                <a:gridCol w="1674187">
                  <a:extLst>
                    <a:ext uri="{9D8B030D-6E8A-4147-A177-3AD203B41FA5}">
                      <a16:colId xmlns:a16="http://schemas.microsoft.com/office/drawing/2014/main" val="647650561"/>
                    </a:ext>
                  </a:extLst>
                </a:gridCol>
                <a:gridCol w="1674187">
                  <a:extLst>
                    <a:ext uri="{9D8B030D-6E8A-4147-A177-3AD203B41FA5}">
                      <a16:colId xmlns:a16="http://schemas.microsoft.com/office/drawing/2014/main" val="1767356684"/>
                    </a:ext>
                  </a:extLst>
                </a:gridCol>
                <a:gridCol w="1674187">
                  <a:extLst>
                    <a:ext uri="{9D8B030D-6E8A-4147-A177-3AD203B41FA5}">
                      <a16:colId xmlns:a16="http://schemas.microsoft.com/office/drawing/2014/main" val="2444873677"/>
                    </a:ext>
                  </a:extLst>
                </a:gridCol>
              </a:tblGrid>
              <a:tr h="530809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Interface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effectLst/>
                        </a:rPr>
                        <a:t>Entrée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effectLst/>
                        </a:rPr>
                        <a:t>Sortie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effectLst/>
                        </a:rPr>
                        <a:t>Usage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53883"/>
                  </a:ext>
                </a:extLst>
              </a:tr>
              <a:tr h="996885"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Predicate&lt;T&gt;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T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boolean</a:t>
                      </a:r>
                      <a:endParaRPr lang="en-US" sz="1500" dirty="0">
                        <a:effectLst/>
                      </a:endParaRP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Tester une condition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352889"/>
                  </a:ext>
                </a:extLst>
              </a:tr>
              <a:tr h="1229923"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Function&lt;T,R&gt;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T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R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Transformer un élément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40537"/>
                  </a:ext>
                </a:extLst>
              </a:tr>
              <a:tr h="1229923"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Consumer&lt;T&gt;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void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Consommer</a:t>
                      </a:r>
                      <a:r>
                        <a:rPr lang="en-US" sz="1500" dirty="0">
                          <a:effectLst/>
                        </a:rPr>
                        <a:t> (ex: </a:t>
                      </a:r>
                      <a:r>
                        <a:rPr lang="en-US" sz="1500" dirty="0" err="1">
                          <a:effectLst/>
                        </a:rPr>
                        <a:t>afficher</a:t>
                      </a:r>
                      <a:r>
                        <a:rPr lang="en-US" sz="1500" dirty="0">
                          <a:effectLst/>
                        </a:rPr>
                        <a:t>)</a:t>
                      </a:r>
                    </a:p>
                  </a:txBody>
                  <a:tcPr marL="70127" marR="70127" marT="32366" marB="32366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349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6316" y="910461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Interface </a:t>
            </a:r>
            <a:r>
              <a:rPr lang="en-US" b="1" dirty="0" err="1" smtClean="0"/>
              <a:t>Fonctionelles</a:t>
            </a:r>
            <a:r>
              <a:rPr lang="en-US" b="1" dirty="0" smtClean="0"/>
              <a:t> (</a:t>
            </a:r>
            <a:r>
              <a:rPr lang="en-US" b="1" dirty="0" err="1" smtClean="0"/>
              <a:t>possede</a:t>
            </a:r>
            <a:r>
              <a:rPr lang="en-US" b="1" dirty="0" smtClean="0"/>
              <a:t> </a:t>
            </a:r>
            <a:r>
              <a:rPr lang="en-US" b="1" dirty="0" err="1" smtClean="0"/>
              <a:t>une</a:t>
            </a:r>
            <a:r>
              <a:rPr lang="en-US" b="1" dirty="0" smtClean="0"/>
              <a:t> </a:t>
            </a:r>
            <a:r>
              <a:rPr lang="en-US" b="1" dirty="0" err="1" smtClean="0"/>
              <a:t>seule</a:t>
            </a:r>
            <a:r>
              <a:rPr lang="en-US" b="1" dirty="0" smtClean="0"/>
              <a:t> </a:t>
            </a:r>
            <a:r>
              <a:rPr lang="en-US" b="1" dirty="0" err="1" smtClean="0"/>
              <a:t>methode</a:t>
            </a:r>
            <a:r>
              <a:rPr lang="en-US" b="1" dirty="0" smtClean="0"/>
              <a:t> </a:t>
            </a:r>
            <a:r>
              <a:rPr lang="en-US" b="1" dirty="0" err="1" smtClean="0"/>
              <a:t>abstariate</a:t>
            </a:r>
            <a:r>
              <a:rPr lang="en-US" b="1" dirty="0" smtClean="0"/>
              <a:t>) </a:t>
            </a:r>
          </a:p>
          <a:p>
            <a:r>
              <a:rPr lang="en-US" dirty="0" smtClean="0"/>
              <a:t>Java 8 </a:t>
            </a:r>
            <a:r>
              <a:rPr lang="en-US" dirty="0" err="1" smtClean="0"/>
              <a:t>fournit</a:t>
            </a:r>
            <a:r>
              <a:rPr lang="en-US" dirty="0" smtClean="0"/>
              <a:t> des interfaces </a:t>
            </a:r>
            <a:r>
              <a:rPr lang="en-US" dirty="0" err="1" smtClean="0"/>
              <a:t>pretes</a:t>
            </a:r>
            <a:r>
              <a:rPr lang="en-US" dirty="0" smtClean="0"/>
              <a:t> a </a:t>
            </a:r>
            <a:r>
              <a:rPr lang="en-US" dirty="0" err="1" smtClean="0"/>
              <a:t>etre</a:t>
            </a:r>
            <a:r>
              <a:rPr lang="en-US" dirty="0" smtClean="0"/>
              <a:t> employees avec </a:t>
            </a:r>
            <a:r>
              <a:rPr lang="en-US" dirty="0" err="1" smtClean="0"/>
              <a:t>lamda</a:t>
            </a: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3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332656"/>
            <a:ext cx="31087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I" b="1" dirty="0" smtClean="0">
                <a:solidFill>
                  <a:srgbClr val="FF0000"/>
                </a:solidFill>
              </a:rPr>
              <a:t>IV. Tour d’horizon d’un IDE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1268760"/>
            <a:ext cx="8784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CI" b="1" dirty="0" smtClean="0"/>
              <a:t>Cas concret :               </a:t>
            </a:r>
            <a:r>
              <a:rPr lang="fr-CI" dirty="0" smtClean="0"/>
              <a:t>l’exemple d’</a:t>
            </a:r>
            <a:r>
              <a:rPr lang="fr-CI" dirty="0" err="1" smtClean="0"/>
              <a:t>IntelliJ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988840"/>
            <a:ext cx="4320480" cy="371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9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99119"/>
            <a:ext cx="8064500" cy="665585"/>
          </a:xfrm>
        </p:spPr>
        <p:txBody>
          <a:bodyPr/>
          <a:lstStyle/>
          <a:p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310710" y="2780928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CA" sz="9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Merci !</a:t>
            </a:r>
            <a:r>
              <a:rPr lang="fr-CA" sz="9600" b="1" dirty="0">
                <a:ln w="11430"/>
                <a:solidFill>
                  <a:schemeClr val="bg1">
                    <a:lumMod val="5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421D6F-C5F1-42E4-86F1-5ED2F5C6A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44624"/>
            <a:ext cx="8208962" cy="837456"/>
          </a:xfrm>
        </p:spPr>
        <p:txBody>
          <a:bodyPr/>
          <a:lstStyle/>
          <a:p>
            <a:r>
              <a:rPr lang="fr-CA">
                <a:solidFill>
                  <a:srgbClr val="C00000"/>
                </a:solidFill>
              </a:rPr>
              <a:t>Questions …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2708920"/>
            <a:ext cx="34563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www.osositechnologies.com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119313"/>
            <a:ext cx="89630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44949" y="2691713"/>
            <a:ext cx="7416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CA" sz="2800" b="1" dirty="0">
                <a:solidFill>
                  <a:schemeClr val="bg1"/>
                </a:solidFill>
              </a:rPr>
              <a:t>www.osistechnologies.com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8C955B-5C10-4975-B7E2-47CF609D4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OIM">
  <a:themeElements>
    <a:clrScheme name="Section OI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ction OIM">
      <a:majorFont>
        <a:latin typeface="Arial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ection OI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14000</TotalTime>
  <Words>642</Words>
  <Application>Microsoft Office PowerPoint</Application>
  <PresentationFormat>On-screen Show (4:3)</PresentationFormat>
  <Paragraphs>133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ＭＳ Ｐゴシック</vt:lpstr>
      <vt:lpstr>Arial</vt:lpstr>
      <vt:lpstr>Arial Narrow</vt:lpstr>
      <vt:lpstr>Calibri</vt:lpstr>
      <vt:lpstr>Helvetica Neue</vt:lpstr>
      <vt:lpstr>Times New Roman</vt:lpstr>
      <vt:lpstr>Trebuchet MS</vt:lpstr>
      <vt:lpstr>Wingdings</vt:lpstr>
      <vt:lpstr>Section OIM</vt:lpstr>
      <vt:lpstr>THEME: </vt:lpstr>
      <vt:lpstr>SOMMAIRE</vt:lpstr>
      <vt:lpstr>I. JAVA 8 : Nouveauté du langage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…</vt:lpstr>
    </vt:vector>
  </TitlesOfParts>
  <Company>Momentum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Maxime Yapi</dc:creator>
  <cp:lastModifiedBy>Ibrahim SAVADOGO</cp:lastModifiedBy>
  <cp:revision>670</cp:revision>
  <dcterms:created xsi:type="dcterms:W3CDTF">2010-02-03T20:06:36Z</dcterms:created>
  <dcterms:modified xsi:type="dcterms:W3CDTF">2026-04-17T09:28:38Z</dcterms:modified>
</cp:coreProperties>
</file>