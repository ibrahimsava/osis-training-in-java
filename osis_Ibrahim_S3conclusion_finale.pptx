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0" r:id="rId1"/>
  </p:sldMasterIdLst>
  <p:notesMasterIdLst>
    <p:notesMasterId r:id="rId25"/>
  </p:notesMasterIdLst>
  <p:handoutMasterIdLst>
    <p:handoutMasterId r:id="rId26"/>
  </p:handoutMasterIdLst>
  <p:sldIdLst>
    <p:sldId id="256" r:id="rId2"/>
    <p:sldId id="356" r:id="rId3"/>
    <p:sldId id="357" r:id="rId4"/>
    <p:sldId id="372" r:id="rId5"/>
    <p:sldId id="373" r:id="rId6"/>
    <p:sldId id="374" r:id="rId7"/>
    <p:sldId id="375" r:id="rId8"/>
    <p:sldId id="377" r:id="rId9"/>
    <p:sldId id="379" r:id="rId10"/>
    <p:sldId id="388" r:id="rId11"/>
    <p:sldId id="378" r:id="rId12"/>
    <p:sldId id="380" r:id="rId13"/>
    <p:sldId id="391" r:id="rId14"/>
    <p:sldId id="381" r:id="rId15"/>
    <p:sldId id="392" r:id="rId16"/>
    <p:sldId id="382" r:id="rId17"/>
    <p:sldId id="389" r:id="rId18"/>
    <p:sldId id="390" r:id="rId19"/>
    <p:sldId id="383" r:id="rId20"/>
    <p:sldId id="384" r:id="rId21"/>
    <p:sldId id="385" r:id="rId22"/>
    <p:sldId id="327" r:id="rId23"/>
    <p:sldId id="345" r:id="rId24"/>
  </p:sldIdLst>
  <p:sldSz cx="9144000" cy="6858000" type="screen4x3"/>
  <p:notesSz cx="7010400" cy="9296400"/>
  <p:defaultTextStyle>
    <a:defPPr>
      <a:defRPr lang="fr-CA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2001A"/>
    <a:srgbClr val="777777"/>
    <a:srgbClr val="006600"/>
    <a:srgbClr val="E3CDD0"/>
    <a:srgbClr val="FFFF99"/>
    <a:srgbClr val="FF6600"/>
    <a:srgbClr val="FF33CC"/>
    <a:srgbClr val="002C56"/>
    <a:srgbClr val="CBD5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3296810-A885-4BE3-A3E7-6D5BEEA58F35}" styleName="Style moyen 2 - Accentuation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Style moyen 2 - Accentuatio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Style moyen 2 - Accentuation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Style moye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 autoAdjust="0"/>
    <p:restoredTop sz="85550" autoAdjust="0"/>
  </p:normalViewPr>
  <p:slideViewPr>
    <p:cSldViewPr>
      <p:cViewPr varScale="1">
        <p:scale>
          <a:sx n="67" d="100"/>
          <a:sy n="67" d="100"/>
        </p:scale>
        <p:origin x="1260" y="72"/>
      </p:cViewPr>
      <p:guideLst/>
    </p:cSldViewPr>
  </p:slideViewPr>
  <p:outlineViewPr>
    <p:cViewPr>
      <p:scale>
        <a:sx n="33" d="100"/>
        <a:sy n="33" d="100"/>
      </p:scale>
      <p:origin x="0" y="198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4" d="100"/>
          <a:sy n="54" d="100"/>
        </p:scale>
        <p:origin x="2540" y="5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defTabSz="931863"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fr-CA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0338" y="0"/>
            <a:ext cx="3038475" cy="4651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 defTabSz="931863"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fr-CA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9675"/>
            <a:ext cx="3038475" cy="4651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defTabSz="931863"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fr-CA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 defTabSz="931863"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fld id="{EFB73F57-00A7-4824-AB68-DA8CEE9E7E80}" type="slidenum">
              <a:rPr lang="fr-CA"/>
              <a:pPr>
                <a:defRPr/>
              </a:pPr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3857191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defTabSz="931863"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fr-CA"/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0338" y="0"/>
            <a:ext cx="3038475" cy="4651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 defTabSz="931863"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fr-CA"/>
          </a:p>
        </p:txBody>
      </p:sp>
      <p:sp>
        <p:nvSpPr>
          <p:cNvPr id="1843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2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675" y="4416425"/>
            <a:ext cx="5607050" cy="418306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CA" noProof="0"/>
              <a:t>Cliquez pour modifier les styles du texte du masque</a:t>
            </a:r>
          </a:p>
          <a:p>
            <a:pPr lvl="1"/>
            <a:r>
              <a:rPr lang="fr-CA" noProof="0"/>
              <a:t>Deuxième niveau</a:t>
            </a:r>
          </a:p>
          <a:p>
            <a:pPr lvl="2"/>
            <a:r>
              <a:rPr lang="fr-CA" noProof="0"/>
              <a:t>Troisième niveau</a:t>
            </a:r>
          </a:p>
          <a:p>
            <a:pPr lvl="3"/>
            <a:r>
              <a:rPr lang="fr-CA" noProof="0"/>
              <a:t>Quatrième niveau</a:t>
            </a:r>
          </a:p>
          <a:p>
            <a:pPr lvl="4"/>
            <a:r>
              <a:rPr lang="fr-CA" noProof="0"/>
              <a:t>Cinquième niveau</a:t>
            </a:r>
          </a:p>
        </p:txBody>
      </p:sp>
      <p:sp>
        <p:nvSpPr>
          <p:cNvPr id="112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675"/>
            <a:ext cx="3038475" cy="4651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defTabSz="931863"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fr-CA"/>
          </a:p>
        </p:txBody>
      </p:sp>
      <p:sp>
        <p:nvSpPr>
          <p:cNvPr id="112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 defTabSz="931863"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fld id="{4824BCD5-7DB3-4570-95FB-D6BD68920CD5}" type="slidenum">
              <a:rPr lang="fr-CA"/>
              <a:pPr>
                <a:defRPr/>
              </a:pPr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02130821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824BCD5-7DB3-4570-95FB-D6BD68920CD5}" type="slidenum">
              <a:rPr lang="fr-CA" smtClean="0"/>
              <a:pPr>
                <a:defRPr/>
              </a:pPr>
              <a:t>1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5415171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Collection </a:t>
            </a:r>
            <a:r>
              <a:rPr lang="en-US" dirty="0" err="1" smtClean="0"/>
              <a:t>etais</a:t>
            </a:r>
            <a:r>
              <a:rPr lang="en-US" dirty="0" smtClean="0"/>
              <a:t> pas</a:t>
            </a:r>
            <a:r>
              <a:rPr lang="en-US" baseline="0" dirty="0" smtClean="0"/>
              <a:t> la </a:t>
            </a:r>
            <a:r>
              <a:rPr lang="en-US" baseline="0" dirty="0" err="1" smtClean="0"/>
              <a:t>en</a:t>
            </a:r>
            <a:r>
              <a:rPr lang="en-US" baseline="0" dirty="0" smtClean="0"/>
              <a:t> 1.0</a:t>
            </a:r>
          </a:p>
          <a:p>
            <a:r>
              <a:rPr lang="en-US" baseline="0" dirty="0" smtClean="0"/>
              <a:t>Vu jour 1.2</a:t>
            </a:r>
          </a:p>
          <a:p>
            <a:r>
              <a:rPr lang="en-US" baseline="0" dirty="0" smtClean="0"/>
              <a:t>Et generic en1.5</a:t>
            </a:r>
          </a:p>
          <a:p>
            <a:r>
              <a:rPr lang="en-US" altLang="en-US" dirty="0" smtClean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dirty="0" err="1" smtClean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mais</a:t>
            </a:r>
            <a:r>
              <a:rPr lang="en-US" altLang="en-US" dirty="0" smtClean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 smtClean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il</a:t>
            </a:r>
            <a:r>
              <a:rPr lang="en-US" altLang="en-US" dirty="0" smtClean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 smtClean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fallait</a:t>
            </a:r>
            <a:r>
              <a:rPr lang="en-US" altLang="en-US" dirty="0" smtClean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 smtClean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effectuer</a:t>
            </a:r>
            <a:r>
              <a:rPr lang="en-US" altLang="en-US" dirty="0" smtClean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un </a:t>
            </a:r>
            <a:r>
              <a:rPr lang="en-US" altLang="en-US" b="1" dirty="0" smtClean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"cast" </a:t>
            </a:r>
            <a:r>
              <a:rPr lang="en-US" altLang="en-US" dirty="0" err="1" smtClean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manuel</a:t>
            </a:r>
            <a:r>
              <a:rPr lang="en-US" altLang="en-US" dirty="0" smtClean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à </a:t>
            </a:r>
            <a:r>
              <a:rPr lang="en-US" altLang="en-US" dirty="0" err="1" smtClean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chaque</a:t>
            </a:r>
            <a:r>
              <a:rPr lang="en-US" altLang="en-US" dirty="0" smtClean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 smtClean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fois</a:t>
            </a:r>
            <a:r>
              <a:rPr lang="en-US" altLang="en-US" dirty="0" smtClean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 smtClean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qu'on</a:t>
            </a:r>
            <a:r>
              <a:rPr lang="en-US" altLang="en-US" dirty="0" smtClean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 smtClean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veut</a:t>
            </a:r>
            <a:r>
              <a:rPr lang="en-US" altLang="en-US" dirty="0" smtClean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 smtClean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récupérer</a:t>
            </a:r>
            <a:r>
              <a:rPr lang="en-US" altLang="en-US" dirty="0" smtClean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un </a:t>
            </a:r>
            <a:r>
              <a:rPr lang="en-US" altLang="en-US" dirty="0" err="1" smtClean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élément</a:t>
            </a:r>
            <a:r>
              <a:rPr lang="en-US" altLang="en-US" dirty="0" smtClean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baseline="0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824BCD5-7DB3-4570-95FB-D6BD68920CD5}" type="slidenum">
              <a:rPr lang="fr-CA" smtClean="0"/>
              <a:pPr>
                <a:defRPr/>
              </a:pPr>
              <a:t>3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7380601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Bien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vrai</a:t>
            </a:r>
            <a:r>
              <a:rPr lang="en-US" baseline="0" dirty="0" smtClean="0"/>
              <a:t> que Map fait </a:t>
            </a:r>
            <a:r>
              <a:rPr lang="en-US" baseline="0" dirty="0" err="1" smtClean="0"/>
              <a:t>partie</a:t>
            </a:r>
            <a:r>
              <a:rPr lang="en-US" baseline="0" dirty="0" smtClean="0"/>
              <a:t> du </a:t>
            </a:r>
            <a:r>
              <a:rPr lang="en-US" baseline="0" dirty="0" err="1" smtClean="0"/>
              <a:t>frsmewok</a:t>
            </a:r>
            <a:r>
              <a:rPr lang="en-US" baseline="0" dirty="0" smtClean="0"/>
              <a:t> </a:t>
            </a:r>
            <a:r>
              <a:rPr lang="en-US" baseline="0" dirty="0" err="1" smtClean="0"/>
              <a:t>mais</a:t>
            </a:r>
            <a:r>
              <a:rPr lang="en-US" baseline="0" dirty="0" smtClean="0"/>
              <a:t> </a:t>
            </a:r>
            <a:r>
              <a:rPr lang="en-US" baseline="0" dirty="0" err="1" smtClean="0"/>
              <a:t>elle</a:t>
            </a:r>
            <a:r>
              <a:rPr lang="en-US" baseline="0" dirty="0" smtClean="0"/>
              <a:t> </a:t>
            </a:r>
            <a:r>
              <a:rPr lang="en-US" baseline="0" dirty="0" err="1" smtClean="0"/>
              <a:t>nherite</a:t>
            </a:r>
            <a:r>
              <a:rPr lang="en-US" baseline="0" dirty="0" smtClean="0"/>
              <a:t> pas de collections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824BCD5-7DB3-4570-95FB-D6BD68920CD5}" type="slidenum">
              <a:rPr lang="fr-CA" smtClean="0"/>
              <a:pPr>
                <a:defRPr/>
              </a:pPr>
              <a:t>10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1790870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824BCD5-7DB3-4570-95FB-D6BD68920CD5}" type="slidenum">
              <a:rPr lang="fr-CA" smtClean="0"/>
              <a:pPr>
                <a:defRPr/>
              </a:pPr>
              <a:t>21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6830201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115888"/>
            <a:ext cx="971550" cy="5762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fr-CA"/>
          </a:p>
        </p:txBody>
      </p:sp>
      <p:sp>
        <p:nvSpPr>
          <p:cNvPr id="5" name="Rectangle 4"/>
          <p:cNvSpPr/>
          <p:nvPr userDrawn="1"/>
        </p:nvSpPr>
        <p:spPr>
          <a:xfrm>
            <a:off x="0" y="6237288"/>
            <a:ext cx="6876256" cy="6207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fr-CA"/>
          </a:p>
        </p:txBody>
      </p:sp>
      <p:sp>
        <p:nvSpPr>
          <p:cNvPr id="6" name="Rectangle 5"/>
          <p:cNvSpPr/>
          <p:nvPr userDrawn="1"/>
        </p:nvSpPr>
        <p:spPr>
          <a:xfrm>
            <a:off x="0" y="549275"/>
            <a:ext cx="9144000" cy="6207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fr-CA"/>
          </a:p>
        </p:txBody>
      </p:sp>
      <p:sp>
        <p:nvSpPr>
          <p:cNvPr id="23554" name="Rectangle 3"/>
          <p:cNvSpPr>
            <a:spLocks noGrp="1" noChangeArrowheads="1"/>
          </p:cNvSpPr>
          <p:nvPr>
            <p:ph type="ctrTitle"/>
          </p:nvPr>
        </p:nvSpPr>
        <p:spPr>
          <a:xfrm>
            <a:off x="1331640" y="1916832"/>
            <a:ext cx="6048672" cy="1519808"/>
          </a:xfrm>
        </p:spPr>
        <p:txBody>
          <a:bodyPr/>
          <a:lstStyle>
            <a:lvl1pPr algn="r">
              <a:defRPr sz="4000">
                <a:solidFill>
                  <a:srgbClr val="E2001A"/>
                </a:solidFill>
                <a:latin typeface="Calibri" pitchFamily="34" charset="0"/>
                <a:cs typeface="Calibri" pitchFamily="34" charset="0"/>
              </a:defRPr>
            </a:lvl1pPr>
          </a:lstStyle>
          <a:p>
            <a:pPr lvl="0"/>
            <a:r>
              <a:rPr lang="fr-CA" noProof="0" dirty="0"/>
              <a:t>Cliquez et modifiez le titre</a:t>
            </a:r>
          </a:p>
        </p:txBody>
      </p:sp>
      <p:sp>
        <p:nvSpPr>
          <p:cNvPr id="23555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2411760" y="3518712"/>
            <a:ext cx="6480720" cy="1278440"/>
          </a:xfrm>
        </p:spPr>
        <p:txBody>
          <a:bodyPr/>
          <a:lstStyle>
            <a:lvl1pPr marL="0" indent="0" algn="r">
              <a:buFontTx/>
              <a:buNone/>
              <a:defRPr sz="2600" i="1">
                <a:solidFill>
                  <a:schemeClr val="tx1"/>
                </a:solidFill>
                <a:latin typeface="Calibri" pitchFamily="34" charset="0"/>
                <a:cs typeface="Calibri" pitchFamily="34" charset="0"/>
              </a:defRPr>
            </a:lvl1pPr>
          </a:lstStyle>
          <a:p>
            <a:pPr lvl="0"/>
            <a:r>
              <a:rPr lang="fr-CA" noProof="0" dirty="0"/>
              <a:t>Cliquez pour modifier le style des sous-titres du masque</a:t>
            </a:r>
          </a:p>
        </p:txBody>
      </p:sp>
      <p:cxnSp>
        <p:nvCxnSpPr>
          <p:cNvPr id="19" name="Connecteur en angle 18"/>
          <p:cNvCxnSpPr/>
          <p:nvPr userDrawn="1"/>
        </p:nvCxnSpPr>
        <p:spPr>
          <a:xfrm>
            <a:off x="211138" y="1484784"/>
            <a:ext cx="8681342" cy="38698"/>
          </a:xfrm>
          <a:prstGeom prst="bentConnector3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Connecteur en angle 23"/>
          <p:cNvCxnSpPr/>
          <p:nvPr userDrawn="1"/>
        </p:nvCxnSpPr>
        <p:spPr>
          <a:xfrm flipV="1">
            <a:off x="210443" y="1440160"/>
            <a:ext cx="8682037" cy="123178"/>
          </a:xfrm>
          <a:prstGeom prst="bentConnector3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" name="Arrondir un rectangle avec un coin diagonal 26"/>
          <p:cNvSpPr/>
          <p:nvPr userDrawn="1"/>
        </p:nvSpPr>
        <p:spPr>
          <a:xfrm>
            <a:off x="35496" y="4899724"/>
            <a:ext cx="3960440" cy="292606"/>
          </a:xfrm>
          <a:prstGeom prst="round2Diag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0" name="Espace réservé pour une image  4" descr="Début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6" y="5515793"/>
            <a:ext cx="452965" cy="1454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9" name="ZoneTexte 28"/>
          <p:cNvSpPr txBox="1"/>
          <p:nvPr userDrawn="1"/>
        </p:nvSpPr>
        <p:spPr>
          <a:xfrm>
            <a:off x="35496" y="4859868"/>
            <a:ext cx="39604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i="1" dirty="0">
                <a:solidFill>
                  <a:schemeClr val="bg1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La Force de l’Engagement et de l’Expertise</a:t>
            </a:r>
          </a:p>
        </p:txBody>
      </p:sp>
      <p:pic>
        <p:nvPicPr>
          <p:cNvPr id="21" name="Espace réservé pour une image  4" descr="Début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79" y="5877272"/>
            <a:ext cx="452965" cy="1454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2" name="Espace réservé pour une image  4" descr="Début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6235873"/>
            <a:ext cx="452965" cy="1454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" name="Espace réservé pour une image  4" descr="Début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79" y="6595913"/>
            <a:ext cx="452965" cy="1454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Image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1880" y="260648"/>
            <a:ext cx="2298552" cy="1086087"/>
          </a:xfrm>
          <a:prstGeom prst="rect">
            <a:avLst/>
          </a:prstGeom>
        </p:spPr>
      </p:pic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Modifiez le style du titre</a:t>
            </a:r>
            <a:endParaRPr lang="fr-CA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79450" y="1484313"/>
            <a:ext cx="3927475" cy="43926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759325" y="1484313"/>
            <a:ext cx="3927475" cy="43926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Modifiez le style du titre</a:t>
            </a:r>
            <a:endParaRPr lang="fr-CA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CA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732588" y="-100013"/>
            <a:ext cx="2016125" cy="59769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79450" y="-100013"/>
            <a:ext cx="5900738" cy="5976938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684213" y="-188913"/>
            <a:ext cx="8208962" cy="114300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CA" dirty="0"/>
              <a:t>Cliquez et modifiez le titre</a:t>
            </a:r>
          </a:p>
        </p:txBody>
      </p:sp>
      <p:sp>
        <p:nvSpPr>
          <p:cNvPr id="1027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79449" y="1125538"/>
            <a:ext cx="8213725" cy="4751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CA" dirty="0"/>
              <a:t>Cliquez pour modifier les styles du texte du masque</a:t>
            </a:r>
          </a:p>
          <a:p>
            <a:pPr lvl="1"/>
            <a:r>
              <a:rPr lang="fr-CA" dirty="0"/>
              <a:t>Deuxième niveau</a:t>
            </a:r>
          </a:p>
          <a:p>
            <a:pPr lvl="2"/>
            <a:r>
              <a:rPr lang="fr-CA" dirty="0"/>
              <a:t> Troisième niveau</a:t>
            </a:r>
          </a:p>
          <a:p>
            <a:pPr lvl="3"/>
            <a:r>
              <a:rPr lang="fr-CA" dirty="0"/>
              <a:t>Quatrième niveau</a:t>
            </a:r>
          </a:p>
          <a:p>
            <a:pPr lvl="4"/>
            <a:r>
              <a:rPr lang="fr-CA" dirty="0"/>
              <a:t>Cinquième niveau</a:t>
            </a:r>
          </a:p>
        </p:txBody>
      </p:sp>
      <p:cxnSp>
        <p:nvCxnSpPr>
          <p:cNvPr id="10" name="Connecteur en angle 9"/>
          <p:cNvCxnSpPr/>
          <p:nvPr userDrawn="1"/>
        </p:nvCxnSpPr>
        <p:spPr>
          <a:xfrm flipV="1">
            <a:off x="679450" y="764704"/>
            <a:ext cx="8213725" cy="72008"/>
          </a:xfrm>
          <a:prstGeom prst="bentConnector3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Connecteur en angle 10"/>
          <p:cNvCxnSpPr/>
          <p:nvPr userDrawn="1"/>
        </p:nvCxnSpPr>
        <p:spPr>
          <a:xfrm flipV="1">
            <a:off x="679450" y="686150"/>
            <a:ext cx="8213725" cy="78554"/>
          </a:xfrm>
          <a:prstGeom prst="bentConnector3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2" name="Espace réservé pour une image  4" descr="Nouvelle notification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668344" y="6416675"/>
            <a:ext cx="1296144" cy="388330"/>
          </a:xfrm>
          <a:prstGeom prst="rect">
            <a:avLst/>
          </a:prstGeom>
        </p:spPr>
      </p:pic>
      <p:sp>
        <p:nvSpPr>
          <p:cNvPr id="3" name="Rectangle 2"/>
          <p:cNvSpPr/>
          <p:nvPr userDrawn="1"/>
        </p:nvSpPr>
        <p:spPr>
          <a:xfrm>
            <a:off x="0" y="296962"/>
            <a:ext cx="679450" cy="395734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5" name="Image 1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6400800"/>
            <a:ext cx="15541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11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  <p:sldLayoutId id="2147483720" r:id="rId1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ＭＳ Ｐゴシック" pitchFamily="28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ＭＳ Ｐゴシック" pitchFamily="28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ＭＳ Ｐゴシック" pitchFamily="28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ＭＳ Ｐゴシック" pitchFamily="28" charset="-128"/>
        </a:defRPr>
      </a:lvl5pPr>
      <a:lvl6pPr marL="457200" algn="l" rtl="0" fontAlgn="base">
        <a:spcBef>
          <a:spcPct val="0"/>
        </a:spcBef>
        <a:spcAft>
          <a:spcPct val="0"/>
        </a:spcAft>
        <a:defRPr sz="3600" b="1">
          <a:solidFill>
            <a:srgbClr val="002C56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ＭＳ Ｐゴシック" pitchFamily="28" charset="-128"/>
        </a:defRPr>
      </a:lvl6pPr>
      <a:lvl7pPr marL="914400" algn="l" rtl="0" fontAlgn="base">
        <a:spcBef>
          <a:spcPct val="0"/>
        </a:spcBef>
        <a:spcAft>
          <a:spcPct val="0"/>
        </a:spcAft>
        <a:defRPr sz="3600" b="1">
          <a:solidFill>
            <a:srgbClr val="002C56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ＭＳ Ｐゴシック" pitchFamily="28" charset="-128"/>
        </a:defRPr>
      </a:lvl7pPr>
      <a:lvl8pPr marL="1371600" algn="l" rtl="0" fontAlgn="base">
        <a:spcBef>
          <a:spcPct val="0"/>
        </a:spcBef>
        <a:spcAft>
          <a:spcPct val="0"/>
        </a:spcAft>
        <a:defRPr sz="3600" b="1">
          <a:solidFill>
            <a:srgbClr val="002C56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ＭＳ Ｐゴシック" pitchFamily="28" charset="-128"/>
        </a:defRPr>
      </a:lvl8pPr>
      <a:lvl9pPr marL="1828800" algn="l" rtl="0" fontAlgn="base">
        <a:spcBef>
          <a:spcPct val="0"/>
        </a:spcBef>
        <a:spcAft>
          <a:spcPct val="0"/>
        </a:spcAft>
        <a:defRPr sz="3600" b="1">
          <a:solidFill>
            <a:srgbClr val="002C56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ＭＳ Ｐゴシック" pitchFamily="28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ü"/>
        <a:defRPr sz="2400">
          <a:solidFill>
            <a:srgbClr val="001523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ü"/>
        <a:defRPr sz="2000">
          <a:solidFill>
            <a:srgbClr val="001523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jpeg"/><Relationship Id="rId4" Type="http://schemas.openxmlformats.org/officeDocument/2006/relationships/image" Target="../media/image5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png"/><Relationship Id="rId4" Type="http://schemas.openxmlformats.org/officeDocument/2006/relationships/image" Target="../media/image6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6453336"/>
            <a:ext cx="15541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D6301BB6-AEF3-4BDF-B8AB-15484F39994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5378" y="116632"/>
            <a:ext cx="2320758" cy="1257008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98BE8AC3-2515-43CB-9089-C1E6D9007D9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8344" y="6307338"/>
            <a:ext cx="1296144" cy="515307"/>
          </a:xfrm>
          <a:prstGeom prst="rect">
            <a:avLst/>
          </a:prstGeom>
        </p:spPr>
      </p:pic>
      <p:sp>
        <p:nvSpPr>
          <p:cNvPr id="8" name="Titre 7">
            <a:extLst>
              <a:ext uri="{FF2B5EF4-FFF2-40B4-BE49-F238E27FC236}">
                <a16:creationId xmlns:a16="http://schemas.microsoft.com/office/drawing/2014/main" id="{29C277DC-CA85-4F4B-92F7-66515D6D0B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63688" y="1916832"/>
            <a:ext cx="5472608" cy="2520280"/>
          </a:xfrm>
        </p:spPr>
        <p:txBody>
          <a:bodyPr/>
          <a:lstStyle/>
          <a:p>
            <a:pPr algn="ctr"/>
            <a:r>
              <a:rPr lang="fr-FR" sz="4800" dirty="0" smtClean="0"/>
              <a:t>THEME: Génériques et Collections (1)</a:t>
            </a:r>
            <a:endParaRPr lang="fr-FR" sz="4800" dirty="0"/>
          </a:p>
        </p:txBody>
      </p:sp>
      <p:sp>
        <p:nvSpPr>
          <p:cNvPr id="2" name="TextBox 1"/>
          <p:cNvSpPr txBox="1"/>
          <p:nvPr/>
        </p:nvSpPr>
        <p:spPr>
          <a:xfrm>
            <a:off x="5688124" y="5445224"/>
            <a:ext cx="3096344" cy="8720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 err="1" smtClean="0"/>
              <a:t>Presente</a:t>
            </a:r>
            <a:r>
              <a:rPr lang="en-US" b="1" dirty="0" smtClean="0"/>
              <a:t> par:</a:t>
            </a:r>
          </a:p>
          <a:p>
            <a:pPr>
              <a:lnSpc>
                <a:spcPct val="150000"/>
              </a:lnSpc>
            </a:pPr>
            <a:r>
              <a:rPr lang="en-US" b="1" dirty="0" smtClean="0"/>
              <a:t>Ibrahim SAVADOGO</a:t>
            </a:r>
            <a:endParaRPr 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55576" y="151802"/>
            <a:ext cx="8208912" cy="540894"/>
          </a:xfr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fr-CA" sz="2300" cap="none" dirty="0">
                <a:solidFill>
                  <a:srgbClr val="FF0000"/>
                </a:solidFill>
                <a:latin typeface="+mn-lt"/>
              </a:rPr>
              <a:t>SOMMAIRE</a:t>
            </a:r>
          </a:p>
        </p:txBody>
      </p:sp>
      <p:pic>
        <p:nvPicPr>
          <p:cNvPr id="3" name="Imag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6400800"/>
            <a:ext cx="15541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1F14F53A-C3CD-418C-B4AE-2BA5008321B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8344" y="6307338"/>
            <a:ext cx="1296144" cy="515307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55576" y="1268760"/>
            <a:ext cx="4666662" cy="452431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00050" indent="-400050">
              <a:lnSpc>
                <a:spcPct val="200000"/>
              </a:lnSpc>
              <a:buAutoNum type="romanUcPeriod"/>
            </a:pPr>
            <a:r>
              <a:rPr lang="fr-CA" b="1" dirty="0" smtClean="0"/>
              <a:t> INTRODUCTION</a:t>
            </a:r>
          </a:p>
          <a:p>
            <a:pPr marL="400050" indent="-400050">
              <a:lnSpc>
                <a:spcPct val="200000"/>
              </a:lnSpc>
              <a:buAutoNum type="romanUcPeriod"/>
            </a:pPr>
            <a:r>
              <a:rPr lang="fr-CA" b="1" dirty="0" smtClean="0"/>
              <a:t> GÉNÉRIQUE (SYNTAXE DE BASE)</a:t>
            </a:r>
          </a:p>
          <a:p>
            <a:pPr marL="400050" indent="-400050">
              <a:lnSpc>
                <a:spcPct val="200000"/>
              </a:lnSpc>
              <a:buAutoNum type="romanUcPeriod"/>
            </a:pPr>
            <a:r>
              <a:rPr lang="fr-CA" b="1" dirty="0" smtClean="0"/>
              <a:t> COLLECTION</a:t>
            </a:r>
          </a:p>
          <a:p>
            <a:pPr marL="400050" indent="-400050">
              <a:lnSpc>
                <a:spcPct val="200000"/>
              </a:lnSpc>
              <a:buAutoNum type="romanUcPeriod"/>
            </a:pPr>
            <a:r>
              <a:rPr lang="en-US" b="1" dirty="0" smtClean="0"/>
              <a:t> </a:t>
            </a:r>
            <a:r>
              <a:rPr lang="el-GR" b="1" dirty="0"/>
              <a:t>λ</a:t>
            </a:r>
            <a:r>
              <a:rPr lang="el-GR" b="1" dirty="0" smtClean="0"/>
              <a:t>  </a:t>
            </a:r>
            <a:r>
              <a:rPr lang="fr-CA" b="1" dirty="0" smtClean="0"/>
              <a:t>EXPRESSIONS LAMBDA</a:t>
            </a:r>
          </a:p>
          <a:p>
            <a:pPr marL="400050" indent="-400050">
              <a:lnSpc>
                <a:spcPct val="200000"/>
              </a:lnSpc>
              <a:buAutoNum type="romanUcPeriod"/>
            </a:pPr>
            <a:r>
              <a:rPr lang="fr-CA" b="1" dirty="0" smtClean="0"/>
              <a:t> INNER CLASSE (CLASSE INTERNE) </a:t>
            </a:r>
          </a:p>
          <a:p>
            <a:pPr marL="400050" indent="-400050">
              <a:lnSpc>
                <a:spcPct val="200000"/>
              </a:lnSpc>
              <a:buAutoNum type="romanUcPeriod"/>
            </a:pPr>
            <a:r>
              <a:rPr lang="fr-CA" b="1" dirty="0" smtClean="0"/>
              <a:t> ANONYMOUS CLASS </a:t>
            </a:r>
          </a:p>
          <a:p>
            <a:pPr marL="400050" indent="-400050">
              <a:lnSpc>
                <a:spcPct val="200000"/>
              </a:lnSpc>
              <a:buAutoNum type="romanUcPeriod"/>
            </a:pPr>
            <a:r>
              <a:rPr lang="fr-CA" b="1" dirty="0" smtClean="0"/>
              <a:t> CONCLUSION</a:t>
            </a:r>
          </a:p>
          <a:p>
            <a:pPr marL="400050" indent="-400050">
              <a:buAutoNum type="romanUcPeriod"/>
            </a:pPr>
            <a:endParaRPr lang="fr-CA" dirty="0" smtClean="0">
              <a:solidFill>
                <a:srgbClr val="FF0000"/>
              </a:solidFill>
            </a:endParaRPr>
          </a:p>
          <a:p>
            <a:pPr marL="400050" indent="-400050">
              <a:buAutoNum type="romanU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57179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6400800"/>
            <a:ext cx="15541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re 1">
            <a:extLst>
              <a:ext uri="{FF2B5EF4-FFF2-40B4-BE49-F238E27FC236}">
                <a16:creationId xmlns:a16="http://schemas.microsoft.com/office/drawing/2014/main" id="{88197348-5CC2-499B-8197-C94C5D8BC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576" y="151802"/>
            <a:ext cx="8208912" cy="540894"/>
          </a:xfr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fr-CA" sz="2400" cap="none" dirty="0" smtClean="0">
                <a:solidFill>
                  <a:srgbClr val="FF0000"/>
                </a:solidFill>
              </a:rPr>
              <a:t>I. </a:t>
            </a:r>
            <a:r>
              <a:rPr lang="fr-CA" sz="2400" cap="none" dirty="0" smtClean="0">
                <a:solidFill>
                  <a:srgbClr val="FF0000"/>
                </a:solidFill>
              </a:rPr>
              <a:t>INTRODUCTION</a:t>
            </a:r>
            <a:endParaRPr lang="fr-CA" sz="2400" cap="none" dirty="0">
              <a:solidFill>
                <a:srgbClr val="FF0000"/>
              </a:solidFill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AC68D4D3-B500-4716-B843-F3048BF30CA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6336" y="6307338"/>
            <a:ext cx="1296144" cy="51530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654183" y="2983393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les génériques ?</a:t>
            </a:r>
            <a:endParaRPr lang="en-US" sz="2400" dirty="0"/>
          </a:p>
        </p:txBody>
      </p:sp>
      <p:sp>
        <p:nvSpPr>
          <p:cNvPr id="5" name="Rectangle 4"/>
          <p:cNvSpPr/>
          <p:nvPr/>
        </p:nvSpPr>
        <p:spPr>
          <a:xfrm>
            <a:off x="467543" y="897203"/>
            <a:ext cx="8122319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hangingPunct="0"/>
            <a:r>
              <a:rPr lang="en-US" altLang="en-US" b="1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 Java Collections Framework (JCF)</a:t>
            </a:r>
            <a:r>
              <a:rPr lang="en-US" altLang="en-US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: </a:t>
            </a:r>
            <a:r>
              <a:rPr lang="en-US" altLang="en-US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Introduit</a:t>
            </a:r>
            <a:r>
              <a:rPr lang="en-US" altLang="en-US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</a:t>
            </a:r>
            <a:r>
              <a:rPr lang="en-US" altLang="en-US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altLang="en-US" b="1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1998</a:t>
            </a:r>
            <a:r>
              <a:rPr lang="en-US" altLang="en-US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avec </a:t>
            </a:r>
            <a:r>
              <a:rPr lang="en-US" altLang="en-US" b="1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 2 (JDK 1.2)</a:t>
            </a:r>
            <a:r>
              <a:rPr lang="en-US" altLang="en-US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en-US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C'est</a:t>
            </a:r>
            <a:r>
              <a:rPr lang="en-US" altLang="en-US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à </a:t>
            </a:r>
            <a:r>
              <a:rPr lang="en-US" altLang="en-US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</a:t>
            </a:r>
            <a:r>
              <a:rPr lang="en-US" altLang="en-US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moment-</a:t>
            </a:r>
            <a:r>
              <a:rPr lang="en-US" altLang="en-US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altLang="en-US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qu'apparaissent</a:t>
            </a:r>
            <a:r>
              <a:rPr lang="en-US" altLang="en-US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les interfaces List, Set, Map et les classes </a:t>
            </a:r>
            <a:r>
              <a:rPr lang="en-US" altLang="en-US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comme</a:t>
            </a:r>
            <a:r>
              <a:rPr lang="en-US" altLang="en-US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altLang="en-US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ArrayList</a:t>
            </a:r>
            <a:r>
              <a:rPr lang="en-US" altLang="en-US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altLang="en-US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</a:t>
            </a:r>
            <a:r>
              <a:rPr lang="en-US" altLang="en-US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altLang="en-US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HashMap</a:t>
            </a:r>
            <a:r>
              <a:rPr lang="en-US" altLang="en-US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 eaLnBrk="0" hangingPunct="0"/>
            <a:endParaRPr lang="en-US" altLang="en-US" b="1" dirty="0">
              <a:solidFill>
                <a:srgbClr val="0A0A0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hangingPunct="0"/>
            <a:r>
              <a:rPr lang="en-US" altLang="en-US" b="1" dirty="0" smtClean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Les </a:t>
            </a:r>
            <a:r>
              <a:rPr lang="en-US" altLang="en-US" b="1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Generics</a:t>
            </a:r>
            <a:r>
              <a:rPr lang="en-US" altLang="en-US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: </a:t>
            </a:r>
            <a:r>
              <a:rPr lang="en-US" altLang="en-US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Introduits</a:t>
            </a:r>
            <a:r>
              <a:rPr lang="en-US" altLang="en-US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</a:t>
            </a:r>
            <a:r>
              <a:rPr lang="en-US" altLang="en-US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altLang="en-US" b="1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2004</a:t>
            </a:r>
            <a:r>
              <a:rPr lang="en-US" altLang="en-US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avec </a:t>
            </a:r>
            <a:r>
              <a:rPr lang="en-US" altLang="en-US" b="1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 5</a:t>
            </a:r>
            <a:r>
              <a:rPr lang="en-US" altLang="en-US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Avant </a:t>
            </a:r>
            <a:r>
              <a:rPr lang="en-US" altLang="en-US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cette</a:t>
            </a:r>
            <a:r>
              <a:rPr lang="en-US" altLang="en-US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date, on </a:t>
            </a:r>
            <a:r>
              <a:rPr lang="en-US" altLang="en-US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pouvait</a:t>
            </a:r>
            <a:r>
              <a:rPr lang="en-US" altLang="en-US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mettre</a:t>
            </a:r>
            <a:r>
              <a:rPr lang="en-US" altLang="en-US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n'importe</a:t>
            </a:r>
            <a:r>
              <a:rPr lang="en-US" altLang="en-US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quel</a:t>
            </a:r>
            <a:r>
              <a:rPr lang="en-US" altLang="en-US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objet </a:t>
            </a:r>
            <a:r>
              <a:rPr lang="en-US" altLang="en-US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dans</a:t>
            </a:r>
            <a:r>
              <a:rPr lang="en-US" altLang="en-US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une</a:t>
            </a:r>
            <a:r>
              <a:rPr lang="en-US" altLang="en-US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 smtClean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liste</a:t>
            </a:r>
            <a:r>
              <a:rPr lang="en-US" altLang="en-US" dirty="0" smtClean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US" b="1" dirty="0">
              <a:solidFill>
                <a:srgbClr val="0A0A0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hangingPunct="0"/>
            <a:endParaRPr lang="en-US" altLang="en-US" b="1" dirty="0" smtClean="0">
              <a:solidFill>
                <a:srgbClr val="0A0A0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Shape 2"/>
          <p:cNvSpPr/>
          <p:nvPr/>
        </p:nvSpPr>
        <p:spPr>
          <a:xfrm>
            <a:off x="2641681" y="3501008"/>
            <a:ext cx="3931920" cy="2997416"/>
          </a:xfrm>
          <a:prstGeom prst="rect">
            <a:avLst/>
          </a:prstGeom>
          <a:solidFill>
            <a:schemeClr val="bg1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39" name="Text 3"/>
          <p:cNvSpPr/>
          <p:nvPr/>
        </p:nvSpPr>
        <p:spPr>
          <a:xfrm>
            <a:off x="3726990" y="3596756"/>
            <a:ext cx="1603423" cy="380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❌  Avant Java 5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Shape 4"/>
          <p:cNvSpPr/>
          <p:nvPr/>
        </p:nvSpPr>
        <p:spPr>
          <a:xfrm>
            <a:off x="2733121" y="4095368"/>
            <a:ext cx="3749040" cy="96487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1" name="Text 5"/>
          <p:cNvSpPr/>
          <p:nvPr/>
        </p:nvSpPr>
        <p:spPr>
          <a:xfrm>
            <a:off x="2824561" y="4122800"/>
            <a:ext cx="3566160" cy="1218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7DD3FC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List liste = new ArrayList();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7DD3FC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liste.add("Bonjour");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7DD3FC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String s = (String) liste.get(0</a:t>
            </a:r>
            <a:r>
              <a:rPr lang="en-US" sz="1400" dirty="0" smtClean="0">
                <a:solidFill>
                  <a:srgbClr val="7DD3FC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);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Shape 6"/>
          <p:cNvSpPr/>
          <p:nvPr/>
        </p:nvSpPr>
        <p:spPr>
          <a:xfrm>
            <a:off x="2824561" y="5283393"/>
            <a:ext cx="201168" cy="1861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3" name="Text 7"/>
          <p:cNvSpPr/>
          <p:nvPr/>
        </p:nvSpPr>
        <p:spPr>
          <a:xfrm>
            <a:off x="3120004" y="5246945"/>
            <a:ext cx="3291840" cy="236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Cast manuel obligatoire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Shape 8"/>
          <p:cNvSpPr/>
          <p:nvPr/>
        </p:nvSpPr>
        <p:spPr>
          <a:xfrm>
            <a:off x="2824561" y="5702182"/>
            <a:ext cx="201168" cy="1861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5" name="Text 9"/>
          <p:cNvSpPr/>
          <p:nvPr/>
        </p:nvSpPr>
        <p:spPr>
          <a:xfrm>
            <a:off x="3098881" y="5673464"/>
            <a:ext cx="3291840" cy="236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Erreurs seulement à l'exécution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Shape 10"/>
          <p:cNvSpPr/>
          <p:nvPr/>
        </p:nvSpPr>
        <p:spPr>
          <a:xfrm>
            <a:off x="2824561" y="6116228"/>
            <a:ext cx="201168" cy="1861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7" name="Text 11"/>
          <p:cNvSpPr/>
          <p:nvPr/>
        </p:nvSpPr>
        <p:spPr>
          <a:xfrm>
            <a:off x="3098881" y="6116228"/>
            <a:ext cx="3291840" cy="236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Code peu lisible et fragile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89382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39" grpId="0" animBg="1"/>
      <p:bldP spid="41" grpId="0" animBg="1"/>
      <p:bldP spid="43" grpId="0" animBg="1"/>
      <p:bldP spid="45" grpId="0" animBg="1"/>
      <p:bldP spid="4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6400800"/>
            <a:ext cx="15541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re 1">
            <a:extLst>
              <a:ext uri="{FF2B5EF4-FFF2-40B4-BE49-F238E27FC236}">
                <a16:creationId xmlns:a16="http://schemas.microsoft.com/office/drawing/2014/main" id="{88197348-5CC2-499B-8197-C94C5D8BC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576" y="151802"/>
            <a:ext cx="8208912" cy="540894"/>
          </a:xfr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fr-CA" sz="2400" cap="none" dirty="0" smtClean="0">
                <a:solidFill>
                  <a:srgbClr val="FF0000"/>
                </a:solidFill>
              </a:rPr>
              <a:t>I. </a:t>
            </a:r>
            <a:r>
              <a:rPr lang="fr-CA" sz="2400" cap="none" dirty="0" smtClean="0">
                <a:solidFill>
                  <a:srgbClr val="FF0000"/>
                </a:solidFill>
              </a:rPr>
              <a:t>INTRODUCTION</a:t>
            </a:r>
            <a:endParaRPr lang="fr-CA" sz="2400" cap="none" dirty="0">
              <a:solidFill>
                <a:srgbClr val="FF0000"/>
              </a:solidFill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AC68D4D3-B500-4716-B843-F3048BF30CA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6336" y="6307338"/>
            <a:ext cx="1296144" cy="515307"/>
          </a:xfrm>
          <a:prstGeom prst="rect">
            <a:avLst/>
          </a:prstGeom>
        </p:spPr>
      </p:pic>
      <p:sp>
        <p:nvSpPr>
          <p:cNvPr id="11" name="Shape 12"/>
          <p:cNvSpPr/>
          <p:nvPr/>
        </p:nvSpPr>
        <p:spPr>
          <a:xfrm>
            <a:off x="5342696" y="1340768"/>
            <a:ext cx="3236640" cy="1781777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Shape 13"/>
          <p:cNvSpPr/>
          <p:nvPr/>
        </p:nvSpPr>
        <p:spPr>
          <a:xfrm>
            <a:off x="5583469" y="1321048"/>
            <a:ext cx="2651760" cy="6400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3" name="Text 14"/>
          <p:cNvSpPr/>
          <p:nvPr/>
        </p:nvSpPr>
        <p:spPr>
          <a:xfrm>
            <a:off x="5605228" y="1556143"/>
            <a:ext cx="2016224" cy="300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Sécurité à la compilation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6"/>
          <p:cNvSpPr/>
          <p:nvPr/>
        </p:nvSpPr>
        <p:spPr>
          <a:xfrm>
            <a:off x="5342696" y="3142265"/>
            <a:ext cx="3236640" cy="1414573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5"/>
          <p:cNvSpPr/>
          <p:nvPr/>
        </p:nvSpPr>
        <p:spPr>
          <a:xfrm>
            <a:off x="5673124" y="197222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Les erreurs de type sont détectées avant </a:t>
            </a:r>
            <a:r>
              <a:rPr lang="en-US" sz="1400" dirty="0" smtClean="0">
                <a:solidFill>
                  <a:srgbClr val="47556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l’exécution du </a:t>
            </a:r>
            <a:r>
              <a:rPr lang="en-US" sz="1400" dirty="0">
                <a:solidFill>
                  <a:srgbClr val="47556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programme, pas pendant.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8"/>
          <p:cNvSpPr/>
          <p:nvPr/>
        </p:nvSpPr>
        <p:spPr>
          <a:xfrm>
            <a:off x="6156176" y="3425147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Lisibilité du code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9"/>
          <p:cNvSpPr/>
          <p:nvPr/>
        </p:nvSpPr>
        <p:spPr>
          <a:xfrm>
            <a:off x="5706947" y="3650626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On sait exactement quel type est attendu sans lire toute la logique.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3"/>
          <p:cNvSpPr/>
          <p:nvPr/>
        </p:nvSpPr>
        <p:spPr>
          <a:xfrm>
            <a:off x="5605228" y="3268771"/>
            <a:ext cx="2651760" cy="6400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0" name="Shape 20"/>
          <p:cNvSpPr/>
          <p:nvPr/>
        </p:nvSpPr>
        <p:spPr>
          <a:xfrm>
            <a:off x="5342696" y="4683344"/>
            <a:ext cx="3236640" cy="1543005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22"/>
          <p:cNvSpPr/>
          <p:nvPr/>
        </p:nvSpPr>
        <p:spPr>
          <a:xfrm>
            <a:off x="6156176" y="5020179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Fin des casts manuels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13"/>
          <p:cNvSpPr/>
          <p:nvPr/>
        </p:nvSpPr>
        <p:spPr>
          <a:xfrm>
            <a:off x="5636668" y="4865790"/>
            <a:ext cx="2651760" cy="6400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3" name="Text 23"/>
          <p:cNvSpPr/>
          <p:nvPr/>
        </p:nvSpPr>
        <p:spPr>
          <a:xfrm>
            <a:off x="5812069" y="5357331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Le compilateur insère lui-même les conversions nécessaires, de manière sûre.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12"/>
          <p:cNvSpPr/>
          <p:nvPr/>
        </p:nvSpPr>
        <p:spPr>
          <a:xfrm>
            <a:off x="715424" y="1321048"/>
            <a:ext cx="3931920" cy="3474720"/>
          </a:xfrm>
          <a:prstGeom prst="rect">
            <a:avLst/>
          </a:prstGeom>
          <a:solidFill>
            <a:schemeClr val="bg1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5" name="Text 13"/>
          <p:cNvSpPr/>
          <p:nvPr/>
        </p:nvSpPr>
        <p:spPr>
          <a:xfrm>
            <a:off x="898304" y="145820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A3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✅  Avec les Génériques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14"/>
          <p:cNvSpPr/>
          <p:nvPr/>
        </p:nvSpPr>
        <p:spPr>
          <a:xfrm>
            <a:off x="806864" y="1915408"/>
            <a:ext cx="374904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7" name="Text 15"/>
          <p:cNvSpPr/>
          <p:nvPr/>
        </p:nvSpPr>
        <p:spPr>
          <a:xfrm>
            <a:off x="898304" y="1942840"/>
            <a:ext cx="356616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7DD3FC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List&lt;String&gt; liste = new ArrayList&lt;&gt;();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7DD3FC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liste.add("Bonjour");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7DD3FC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String s = liste.get(0);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7DD3FC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// ✔️ Vérifié à la compilation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Shape 16"/>
          <p:cNvSpPr/>
          <p:nvPr/>
        </p:nvSpPr>
        <p:spPr>
          <a:xfrm>
            <a:off x="898304" y="3405880"/>
            <a:ext cx="201168" cy="20116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9" name="Text 17"/>
          <p:cNvSpPr/>
          <p:nvPr/>
        </p:nvSpPr>
        <p:spPr>
          <a:xfrm>
            <a:off x="1172624" y="337844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Vérification à la compilation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hape 18"/>
          <p:cNvSpPr/>
          <p:nvPr/>
        </p:nvSpPr>
        <p:spPr>
          <a:xfrm>
            <a:off x="898304" y="3799072"/>
            <a:ext cx="201168" cy="20116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1" name="Text 19"/>
          <p:cNvSpPr/>
          <p:nvPr/>
        </p:nvSpPr>
        <p:spPr>
          <a:xfrm>
            <a:off x="1172624" y="377164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Pas de cast manuel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Shape 20"/>
          <p:cNvSpPr/>
          <p:nvPr/>
        </p:nvSpPr>
        <p:spPr>
          <a:xfrm>
            <a:off x="898304" y="4192264"/>
            <a:ext cx="201168" cy="20116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3" name="Text 21"/>
          <p:cNvSpPr/>
          <p:nvPr/>
        </p:nvSpPr>
        <p:spPr>
          <a:xfrm>
            <a:off x="1172624" y="416483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Code clair et réutilisable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4641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5" grpId="0" animBg="1"/>
      <p:bldP spid="16" grpId="0" animBg="1"/>
      <p:bldP spid="18" grpId="0" animBg="1"/>
      <p:bldP spid="21" grpId="0" animBg="1"/>
      <p:bldP spid="23" grpId="0" animBg="1"/>
      <p:bldP spid="25" grpId="0" animBg="1"/>
      <p:bldP spid="27" grpId="0" animBg="1"/>
      <p:bldP spid="29" grpId="0" animBg="1"/>
      <p:bldP spid="31" grpId="0" animBg="1"/>
      <p:bldP spid="3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6400800"/>
            <a:ext cx="15541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re 1">
            <a:extLst>
              <a:ext uri="{FF2B5EF4-FFF2-40B4-BE49-F238E27FC236}">
                <a16:creationId xmlns:a16="http://schemas.microsoft.com/office/drawing/2014/main" id="{88197348-5CC2-499B-8197-C94C5D8BC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576" y="151802"/>
            <a:ext cx="8208912" cy="540894"/>
          </a:xfr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fr-CA" sz="2400" cap="none" dirty="0" smtClean="0">
                <a:solidFill>
                  <a:srgbClr val="FF0000"/>
                </a:solidFill>
              </a:rPr>
              <a:t>II. Générique (Syntaxe de base) </a:t>
            </a:r>
            <a:endParaRPr lang="fr-CA" sz="2400" cap="none" dirty="0">
              <a:solidFill>
                <a:srgbClr val="FF0000"/>
              </a:solidFill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AC68D4D3-B500-4716-B843-F3048BF30CA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6336" y="6307338"/>
            <a:ext cx="1296144" cy="515307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 flipH="1">
            <a:off x="395536" y="1124744"/>
            <a:ext cx="85689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 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Java, le mot générique (ou Generics) désigne un mécanisme qui permet d’écrire des classes, interfaces ou méthodes paramétrées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par des types.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Shape 8"/>
          <p:cNvSpPr/>
          <p:nvPr/>
        </p:nvSpPr>
        <p:spPr>
          <a:xfrm>
            <a:off x="394115" y="3254921"/>
            <a:ext cx="1920240" cy="1463040"/>
          </a:xfrm>
          <a:prstGeom prst="rect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33" name="Shape 9"/>
          <p:cNvSpPr/>
          <p:nvPr/>
        </p:nvSpPr>
        <p:spPr>
          <a:xfrm>
            <a:off x="394115" y="3254921"/>
            <a:ext cx="192024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4" name="Text 10"/>
          <p:cNvSpPr/>
          <p:nvPr/>
        </p:nvSpPr>
        <p:spPr>
          <a:xfrm>
            <a:off x="485555" y="3346361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&lt;T&gt;</a:t>
            </a:r>
            <a:endParaRPr lang="en-US" sz="2000" dirty="0"/>
          </a:p>
        </p:txBody>
      </p:sp>
      <p:sp>
        <p:nvSpPr>
          <p:cNvPr id="35" name="Text 11"/>
          <p:cNvSpPr/>
          <p:nvPr/>
        </p:nvSpPr>
        <p:spPr>
          <a:xfrm>
            <a:off x="467267" y="3895001"/>
            <a:ext cx="17739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Type paramètre générique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Shape 12"/>
          <p:cNvSpPr/>
          <p:nvPr/>
        </p:nvSpPr>
        <p:spPr>
          <a:xfrm>
            <a:off x="2497235" y="3254921"/>
            <a:ext cx="1920240" cy="1463040"/>
          </a:xfrm>
          <a:prstGeom prst="rect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13"/>
          <p:cNvSpPr/>
          <p:nvPr/>
        </p:nvSpPr>
        <p:spPr>
          <a:xfrm>
            <a:off x="2497235" y="3254921"/>
            <a:ext cx="192024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8" name="Text 14"/>
          <p:cNvSpPr/>
          <p:nvPr/>
        </p:nvSpPr>
        <p:spPr>
          <a:xfrm>
            <a:off x="2588675" y="3346361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&lt;E&gt;</a:t>
            </a:r>
            <a:endParaRPr lang="en-US" sz="2000" dirty="0"/>
          </a:p>
        </p:txBody>
      </p:sp>
      <p:sp>
        <p:nvSpPr>
          <p:cNvPr id="39" name="Text 15"/>
          <p:cNvSpPr/>
          <p:nvPr/>
        </p:nvSpPr>
        <p:spPr>
          <a:xfrm>
            <a:off x="2570387" y="3895001"/>
            <a:ext cx="17739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Élement (utilisé dans List)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Shape 16"/>
          <p:cNvSpPr/>
          <p:nvPr/>
        </p:nvSpPr>
        <p:spPr>
          <a:xfrm>
            <a:off x="4600355" y="3254921"/>
            <a:ext cx="1920240" cy="1463040"/>
          </a:xfrm>
          <a:prstGeom prst="rect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41" name="Shape 17"/>
          <p:cNvSpPr/>
          <p:nvPr/>
        </p:nvSpPr>
        <p:spPr>
          <a:xfrm>
            <a:off x="4600355" y="3254921"/>
            <a:ext cx="192024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2" name="Text 18"/>
          <p:cNvSpPr/>
          <p:nvPr/>
        </p:nvSpPr>
        <p:spPr>
          <a:xfrm>
            <a:off x="4691795" y="3346361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&lt;K,V&gt;</a:t>
            </a:r>
            <a:endParaRPr lang="en-US" sz="2000" dirty="0"/>
          </a:p>
        </p:txBody>
      </p:sp>
      <p:sp>
        <p:nvSpPr>
          <p:cNvPr id="43" name="Text 19"/>
          <p:cNvSpPr/>
          <p:nvPr/>
        </p:nvSpPr>
        <p:spPr>
          <a:xfrm>
            <a:off x="4673507" y="3895001"/>
            <a:ext cx="17739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Clé / Valeur (Map)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Shape 20"/>
          <p:cNvSpPr/>
          <p:nvPr/>
        </p:nvSpPr>
        <p:spPr>
          <a:xfrm>
            <a:off x="6703475" y="3254921"/>
            <a:ext cx="1920240" cy="1463040"/>
          </a:xfrm>
          <a:prstGeom prst="rect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45" name="Shape 21"/>
          <p:cNvSpPr/>
          <p:nvPr/>
        </p:nvSpPr>
        <p:spPr>
          <a:xfrm>
            <a:off x="6703475" y="3254921"/>
            <a:ext cx="192024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6" name="Text 22"/>
          <p:cNvSpPr/>
          <p:nvPr/>
        </p:nvSpPr>
        <p:spPr>
          <a:xfrm>
            <a:off x="6794915" y="3346361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&lt;?&gt;</a:t>
            </a:r>
            <a:endParaRPr lang="en-US" sz="2000" dirty="0"/>
          </a:p>
        </p:txBody>
      </p:sp>
      <p:sp>
        <p:nvSpPr>
          <p:cNvPr id="47" name="Text 23"/>
          <p:cNvSpPr/>
          <p:nvPr/>
        </p:nvSpPr>
        <p:spPr>
          <a:xfrm>
            <a:off x="6776627" y="3895001"/>
            <a:ext cx="17739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Type inconnu (wildcard)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3866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4" grpId="0" animBg="1"/>
      <p:bldP spid="35" grpId="0" animBg="1"/>
      <p:bldP spid="38" grpId="0" animBg="1"/>
      <p:bldP spid="39" grpId="0" animBg="1"/>
      <p:bldP spid="42" grpId="0" animBg="1"/>
      <p:bldP spid="43" grpId="0" animBg="1"/>
      <p:bldP spid="46" grpId="0" animBg="1"/>
      <p:bldP spid="4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6400800"/>
            <a:ext cx="15541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re 1">
            <a:extLst>
              <a:ext uri="{FF2B5EF4-FFF2-40B4-BE49-F238E27FC236}">
                <a16:creationId xmlns:a16="http://schemas.microsoft.com/office/drawing/2014/main" id="{88197348-5CC2-499B-8197-C94C5D8BC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576" y="151802"/>
            <a:ext cx="8208912" cy="540894"/>
          </a:xfr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fr-CA" sz="2400" cap="none" dirty="0">
                <a:solidFill>
                  <a:srgbClr val="FF0000"/>
                </a:solidFill>
              </a:rPr>
              <a:t>II. </a:t>
            </a:r>
            <a:r>
              <a:rPr lang="fr-CA" sz="2400" cap="none" dirty="0" smtClean="0">
                <a:solidFill>
                  <a:srgbClr val="FF0000"/>
                </a:solidFill>
              </a:rPr>
              <a:t>Générique </a:t>
            </a:r>
            <a:r>
              <a:rPr lang="fr-CA" sz="2400" cap="none" dirty="0">
                <a:solidFill>
                  <a:srgbClr val="FF0000"/>
                </a:solidFill>
              </a:rPr>
              <a:t>(Syntaxe de base) 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AC68D4D3-B500-4716-B843-F3048BF30CA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6336" y="6307338"/>
            <a:ext cx="1296144" cy="515307"/>
          </a:xfrm>
          <a:prstGeom prst="rect">
            <a:avLst/>
          </a:prstGeom>
        </p:spPr>
      </p:pic>
      <p:sp>
        <p:nvSpPr>
          <p:cNvPr id="23" name="Text 3"/>
          <p:cNvSpPr/>
          <p:nvPr/>
        </p:nvSpPr>
        <p:spPr>
          <a:xfrm>
            <a:off x="430932" y="1130729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47556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Le paramètre de type T est déclaré entre chevrons après le nom de la classe. T est un alias qui sera remplacé par un type réel à l'utilisation.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4"/>
          <p:cNvSpPr/>
          <p:nvPr/>
        </p:nvSpPr>
        <p:spPr>
          <a:xfrm>
            <a:off x="395536" y="1916832"/>
            <a:ext cx="4846320" cy="2468880"/>
          </a:xfrm>
          <a:prstGeom prst="rect">
            <a:avLst/>
          </a:prstGeom>
          <a:solidFill>
            <a:srgbClr val="0F172A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25" name="Text 5"/>
          <p:cNvSpPr/>
          <p:nvPr/>
        </p:nvSpPr>
        <p:spPr>
          <a:xfrm>
            <a:off x="505264" y="1989984"/>
            <a:ext cx="4626864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// Declaration : &lt;T&gt; apres le nom de la classe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class Boite&lt;T&gt; {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  private T contenu;          // T est utilise comme un vrai type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  public void mettre(T valeur) {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      this.contenu = valeur;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  }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  public T prendre() {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      return contenu;         // retourne exactement le bon type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  }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}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6"/>
          <p:cNvSpPr/>
          <p:nvPr/>
        </p:nvSpPr>
        <p:spPr>
          <a:xfrm flipV="1">
            <a:off x="5260144" y="2114550"/>
            <a:ext cx="388181" cy="3450"/>
          </a:xfrm>
          <a:prstGeom prst="line">
            <a:avLst/>
          </a:prstGeom>
          <a:noFill/>
          <a:ln w="6350">
            <a:solidFill>
              <a:srgbClr val="94A3B8"/>
            </a:solidFill>
            <a:prstDash val="dash"/>
          </a:ln>
        </p:spPr>
      </p:sp>
      <p:sp>
        <p:nvSpPr>
          <p:cNvPr id="27" name="Text 7"/>
          <p:cNvSpPr/>
          <p:nvPr/>
        </p:nvSpPr>
        <p:spPr>
          <a:xfrm>
            <a:off x="5744776" y="200827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7556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 = paramètre de type (convention : T, E, K, V...)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Shape 8"/>
          <p:cNvSpPr/>
          <p:nvPr/>
        </p:nvSpPr>
        <p:spPr>
          <a:xfrm>
            <a:off x="5260144" y="2556912"/>
            <a:ext cx="457200" cy="0"/>
          </a:xfrm>
          <a:prstGeom prst="line">
            <a:avLst/>
          </a:prstGeom>
          <a:noFill/>
          <a:ln w="6350">
            <a:solidFill>
              <a:srgbClr val="94A3B8"/>
            </a:solidFill>
            <a:prstDash val="dash"/>
          </a:ln>
        </p:spPr>
      </p:sp>
      <p:sp>
        <p:nvSpPr>
          <p:cNvPr id="29" name="Text 9"/>
          <p:cNvSpPr/>
          <p:nvPr/>
        </p:nvSpPr>
        <p:spPr>
          <a:xfrm>
            <a:off x="5744776" y="244718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7556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 utilisé comme n'importe quel autre type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hape 10"/>
          <p:cNvSpPr/>
          <p:nvPr/>
        </p:nvSpPr>
        <p:spPr>
          <a:xfrm flipV="1">
            <a:off x="5260143" y="3114697"/>
            <a:ext cx="1718445" cy="36575"/>
          </a:xfrm>
          <a:prstGeom prst="line">
            <a:avLst/>
          </a:prstGeom>
          <a:noFill/>
          <a:ln w="6350">
            <a:solidFill>
              <a:srgbClr val="94A3B8"/>
            </a:solidFill>
            <a:prstDash val="dash"/>
          </a:ln>
        </p:spPr>
      </p:sp>
      <p:sp>
        <p:nvSpPr>
          <p:cNvPr id="31" name="Text 11"/>
          <p:cNvSpPr/>
          <p:nvPr/>
        </p:nvSpPr>
        <p:spPr>
          <a:xfrm>
            <a:off x="6978589" y="2979853"/>
            <a:ext cx="2016224" cy="2148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7556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Méthode qui reçoit un 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Shape 12"/>
          <p:cNvSpPr/>
          <p:nvPr/>
        </p:nvSpPr>
        <p:spPr>
          <a:xfrm flipV="1">
            <a:off x="5260144" y="3769943"/>
            <a:ext cx="1443676" cy="21409"/>
          </a:xfrm>
          <a:prstGeom prst="line">
            <a:avLst/>
          </a:prstGeom>
          <a:noFill/>
          <a:ln w="6350">
            <a:solidFill>
              <a:srgbClr val="94A3B8"/>
            </a:solidFill>
            <a:prstDash val="dash"/>
          </a:ln>
        </p:spPr>
      </p:sp>
      <p:sp>
        <p:nvSpPr>
          <p:cNvPr id="33" name="Text 13"/>
          <p:cNvSpPr/>
          <p:nvPr/>
        </p:nvSpPr>
        <p:spPr>
          <a:xfrm>
            <a:off x="6703820" y="3647077"/>
            <a:ext cx="2139592" cy="217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7556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Méthode qui retourne un 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Shape 14"/>
          <p:cNvSpPr/>
          <p:nvPr/>
        </p:nvSpPr>
        <p:spPr>
          <a:xfrm>
            <a:off x="395536" y="4495440"/>
            <a:ext cx="8412480" cy="256032"/>
          </a:xfrm>
          <a:prstGeom prst="rect">
            <a:avLst/>
          </a:prstGeom>
          <a:solidFill>
            <a:schemeClr val="bg1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5" name="Text 15"/>
          <p:cNvSpPr/>
          <p:nvPr/>
        </p:nvSpPr>
        <p:spPr>
          <a:xfrm>
            <a:off x="395536" y="4495440"/>
            <a:ext cx="8412480" cy="256032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563E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Utilisation — T est remplacé par le type concret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Shape 16"/>
          <p:cNvSpPr/>
          <p:nvPr/>
        </p:nvSpPr>
        <p:spPr>
          <a:xfrm>
            <a:off x="395536" y="4797191"/>
            <a:ext cx="8412480" cy="1527047"/>
          </a:xfrm>
          <a:prstGeom prst="rect">
            <a:avLst/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37" name="Text 17"/>
          <p:cNvSpPr/>
          <p:nvPr/>
        </p:nvSpPr>
        <p:spPr>
          <a:xfrm>
            <a:off x="505264" y="4870344"/>
            <a:ext cx="819302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Boite&lt;String&gt;  boiteTexte  = new Boite&lt;&gt;();  // T = String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Boite&lt;Integer&gt; boiteNombre = new Boite&lt;&gt;();  // T = Integer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Boite&lt;Boolean&gt; boiteBool   = new Boite&lt;&gt;();  // T = Boolean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boiteTexte.mettre("Bonjour");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String s = boiteTexte.prendre();  // pas de cast, c'est deja un String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78759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7" grpId="0" animBg="1"/>
      <p:bldP spid="29" grpId="0" animBg="1"/>
      <p:bldP spid="31" grpId="0" animBg="1"/>
      <p:bldP spid="33" grpId="0" animBg="1"/>
      <p:bldP spid="35" grpId="0" animBg="1"/>
      <p:bldP spid="3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6400800"/>
            <a:ext cx="15541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re 1">
            <a:extLst>
              <a:ext uri="{FF2B5EF4-FFF2-40B4-BE49-F238E27FC236}">
                <a16:creationId xmlns:a16="http://schemas.microsoft.com/office/drawing/2014/main" id="{88197348-5CC2-499B-8197-C94C5D8BC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576" y="151802"/>
            <a:ext cx="8208912" cy="540894"/>
          </a:xfr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fr-CA" sz="2400" cap="none" dirty="0">
                <a:solidFill>
                  <a:srgbClr val="FF0000"/>
                </a:solidFill>
              </a:rPr>
              <a:t>II. </a:t>
            </a:r>
            <a:r>
              <a:rPr lang="fr-CA" sz="2400" cap="none" dirty="0" smtClean="0">
                <a:solidFill>
                  <a:srgbClr val="FF0000"/>
                </a:solidFill>
              </a:rPr>
              <a:t>Générique </a:t>
            </a:r>
            <a:r>
              <a:rPr lang="fr-CA" sz="2400" cap="none" dirty="0">
                <a:solidFill>
                  <a:srgbClr val="FF0000"/>
                </a:solidFill>
              </a:rPr>
              <a:t>(Syntaxe de base) 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AC68D4D3-B500-4716-B843-F3048BF30CA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6336" y="6307338"/>
            <a:ext cx="1296144" cy="515307"/>
          </a:xfrm>
          <a:prstGeom prst="rect">
            <a:avLst/>
          </a:prstGeom>
        </p:spPr>
      </p:pic>
      <p:sp>
        <p:nvSpPr>
          <p:cNvPr id="23" name="Text 2"/>
          <p:cNvSpPr/>
          <p:nvPr/>
        </p:nvSpPr>
        <p:spPr>
          <a:xfrm>
            <a:off x="477606" y="1341521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Une</a:t>
            </a:r>
            <a:r>
              <a:rPr lang="en-US" sz="1400" b="1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1400" b="1" dirty="0" err="1" smtClean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Boîte</a:t>
            </a:r>
            <a:r>
              <a:rPr lang="en-US" sz="1400" b="1" dirty="0" smtClean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&lt;T&gt; </a:t>
            </a:r>
            <a:r>
              <a:rPr lang="en-US" sz="1400" b="1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c'est comme une boîte de livraison :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3"/>
          <p:cNvSpPr/>
          <p:nvPr/>
        </p:nvSpPr>
        <p:spPr>
          <a:xfrm>
            <a:off x="1511660" y="1710592"/>
            <a:ext cx="6696744" cy="510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carton est toujours le même — seul le contenu change </a:t>
            </a:r>
            <a:r>
              <a:rPr lang="en-US" sz="1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fonction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 qu'on y met.</a:t>
            </a:r>
          </a:p>
        </p:txBody>
      </p:sp>
      <p:sp>
        <p:nvSpPr>
          <p:cNvPr id="25" name="Shape 4"/>
          <p:cNvSpPr/>
          <p:nvPr/>
        </p:nvSpPr>
        <p:spPr>
          <a:xfrm>
            <a:off x="294726" y="2639224"/>
            <a:ext cx="2743200" cy="2926080"/>
          </a:xfrm>
          <a:prstGeom prst="rect">
            <a:avLst/>
          </a:prstGeom>
          <a:noFill/>
          <a:ln w="19050">
            <a:solidFill>
              <a:srgbClr val="C4B5FD"/>
            </a:solidFill>
            <a:prstDash val="solid"/>
          </a:ln>
        </p:spPr>
      </p:sp>
      <p:sp>
        <p:nvSpPr>
          <p:cNvPr id="26" name="Shape 5"/>
          <p:cNvSpPr/>
          <p:nvPr/>
        </p:nvSpPr>
        <p:spPr>
          <a:xfrm>
            <a:off x="294726" y="2639224"/>
            <a:ext cx="274320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6"/>
          <p:cNvSpPr/>
          <p:nvPr/>
        </p:nvSpPr>
        <p:spPr>
          <a:xfrm>
            <a:off x="386166" y="2776384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📱</a:t>
            </a:r>
            <a:endParaRPr lang="en-US" sz="3200" dirty="0"/>
          </a:p>
        </p:txBody>
      </p:sp>
      <p:sp>
        <p:nvSpPr>
          <p:cNvPr id="28" name="Shape 7"/>
          <p:cNvSpPr/>
          <p:nvPr/>
        </p:nvSpPr>
        <p:spPr>
          <a:xfrm>
            <a:off x="431886" y="3462184"/>
            <a:ext cx="246888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9" name="Text 8"/>
          <p:cNvSpPr/>
          <p:nvPr/>
        </p:nvSpPr>
        <p:spPr>
          <a:xfrm>
            <a:off x="431886" y="3462184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Boite&lt;Telephone&gt;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9"/>
          <p:cNvSpPr/>
          <p:nvPr/>
        </p:nvSpPr>
        <p:spPr>
          <a:xfrm>
            <a:off x="386166" y="393767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C3AE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Boîte de téléphone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10"/>
          <p:cNvSpPr/>
          <p:nvPr/>
        </p:nvSpPr>
        <p:spPr>
          <a:xfrm>
            <a:off x="418982" y="4374072"/>
            <a:ext cx="2523744" cy="719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On sait que c'est un téléphone à l'intérieur. Pas besoin de </a:t>
            </a:r>
            <a:r>
              <a:rPr lang="en-US" sz="1400" dirty="0" smtClean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verifier</a:t>
            </a:r>
          </a:p>
          <a:p>
            <a:pPr marL="0" indent="0" algn="l">
              <a:buNone/>
            </a:pPr>
            <a:r>
              <a:rPr lang="en-US" sz="1400" dirty="0" smtClean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le </a:t>
            </a:r>
            <a:r>
              <a:rPr lang="en-US" sz="14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type garantit le contenu.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Shape 11"/>
          <p:cNvSpPr/>
          <p:nvPr/>
        </p:nvSpPr>
        <p:spPr>
          <a:xfrm>
            <a:off x="3266526" y="2639224"/>
            <a:ext cx="2743200" cy="2926080"/>
          </a:xfrm>
          <a:prstGeom prst="rect">
            <a:avLst/>
          </a:prstGeom>
          <a:noFill/>
          <a:ln w="1905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12"/>
          <p:cNvSpPr/>
          <p:nvPr/>
        </p:nvSpPr>
        <p:spPr>
          <a:xfrm>
            <a:off x="3266526" y="2639224"/>
            <a:ext cx="2743200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4" name="Text 13"/>
          <p:cNvSpPr/>
          <p:nvPr/>
        </p:nvSpPr>
        <p:spPr>
          <a:xfrm>
            <a:off x="3357966" y="2776384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🍕</a:t>
            </a:r>
            <a:endParaRPr lang="en-US" sz="3200" dirty="0"/>
          </a:p>
        </p:txBody>
      </p:sp>
      <p:sp>
        <p:nvSpPr>
          <p:cNvPr id="35" name="Shape 14"/>
          <p:cNvSpPr/>
          <p:nvPr/>
        </p:nvSpPr>
        <p:spPr>
          <a:xfrm>
            <a:off x="3403686" y="3462184"/>
            <a:ext cx="2468880" cy="38404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6" name="Text 15"/>
          <p:cNvSpPr/>
          <p:nvPr/>
        </p:nvSpPr>
        <p:spPr>
          <a:xfrm>
            <a:off x="3403686" y="3462184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Boite&lt;Pizza&gt;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 16"/>
          <p:cNvSpPr/>
          <p:nvPr/>
        </p:nvSpPr>
        <p:spPr>
          <a:xfrm>
            <a:off x="3357966" y="393767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 err="1" smtClean="0">
                <a:solidFill>
                  <a:srgbClr val="DC262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Boîte</a:t>
            </a:r>
            <a:r>
              <a:rPr lang="en-US" sz="1400" b="1" dirty="0" smtClean="0">
                <a:solidFill>
                  <a:srgbClr val="DC262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à pizza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 17"/>
          <p:cNvSpPr/>
          <p:nvPr/>
        </p:nvSpPr>
        <p:spPr>
          <a:xfrm>
            <a:off x="3348822" y="4362868"/>
            <a:ext cx="25237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Même boîte, autre contenu. On ne peut pas mettre un téléphone dans une boîte à </a:t>
            </a:r>
            <a:r>
              <a:rPr lang="en-US" sz="1400" dirty="0" smtClean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pizza, le </a:t>
            </a:r>
            <a:r>
              <a:rPr lang="en-US" sz="14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type l'interdit.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Shape 18"/>
          <p:cNvSpPr/>
          <p:nvPr/>
        </p:nvSpPr>
        <p:spPr>
          <a:xfrm>
            <a:off x="6238326" y="2639224"/>
            <a:ext cx="2743200" cy="2926080"/>
          </a:xfrm>
          <a:prstGeom prst="rect">
            <a:avLst/>
          </a:prstGeom>
          <a:noFill/>
          <a:ln w="19050">
            <a:solidFill>
              <a:srgbClr val="86EFAC"/>
            </a:solidFill>
            <a:prstDash val="solid"/>
          </a:ln>
        </p:spPr>
      </p:sp>
      <p:sp>
        <p:nvSpPr>
          <p:cNvPr id="40" name="Shape 19"/>
          <p:cNvSpPr/>
          <p:nvPr/>
        </p:nvSpPr>
        <p:spPr>
          <a:xfrm>
            <a:off x="6238326" y="2639224"/>
            <a:ext cx="2743200" cy="640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1" name="Shape 21"/>
          <p:cNvSpPr/>
          <p:nvPr/>
        </p:nvSpPr>
        <p:spPr>
          <a:xfrm>
            <a:off x="6375486" y="3462184"/>
            <a:ext cx="246888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2" name="Text 22"/>
          <p:cNvSpPr/>
          <p:nvPr/>
        </p:nvSpPr>
        <p:spPr>
          <a:xfrm>
            <a:off x="6375486" y="3462184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Boite&lt;Medicament&gt;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 23"/>
          <p:cNvSpPr/>
          <p:nvPr/>
        </p:nvSpPr>
        <p:spPr>
          <a:xfrm>
            <a:off x="6329766" y="393767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5966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Boîte de médicaments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 24"/>
          <p:cNvSpPr/>
          <p:nvPr/>
        </p:nvSpPr>
        <p:spPr>
          <a:xfrm>
            <a:off x="6348054" y="4293963"/>
            <a:ext cx="25237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Sans générique, n'importe quoi pourrait entrer. Avec &lt;T&gt;, seul le bon type </a:t>
            </a:r>
            <a:r>
              <a:rPr lang="en-US" sz="1400" dirty="0" err="1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est</a:t>
            </a:r>
            <a:r>
              <a:rPr lang="en-US" sz="14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1400" dirty="0" err="1" smtClean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accepté</a:t>
            </a:r>
            <a:r>
              <a:rPr lang="en-US" sz="1400" dirty="0" smtClean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, </a:t>
            </a:r>
            <a:r>
              <a:rPr lang="en-US" sz="1400" dirty="0" err="1" smtClean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sécurité</a:t>
            </a:r>
            <a:r>
              <a:rPr lang="en-US" sz="1400" dirty="0" smtClean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garantie.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Shape 25"/>
          <p:cNvSpPr/>
          <p:nvPr/>
        </p:nvSpPr>
        <p:spPr>
          <a:xfrm>
            <a:off x="375110" y="5912776"/>
            <a:ext cx="8412480" cy="292608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46" name="Text 26"/>
          <p:cNvSpPr/>
          <p:nvPr/>
        </p:nvSpPr>
        <p:spPr>
          <a:xfrm>
            <a:off x="466550" y="591277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2400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💡  En Java : T = le type du contenu. Une fois défini, impossible de mettre le mauvais objet dedans — le compilateur le refuse !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491880" y="920201"/>
            <a:ext cx="15535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Exemple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Text 20"/>
          <p:cNvSpPr/>
          <p:nvPr/>
        </p:nvSpPr>
        <p:spPr>
          <a:xfrm>
            <a:off x="6206937" y="2773141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💊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864232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9" grpId="0" animBg="1"/>
      <p:bldP spid="30" grpId="0" animBg="1"/>
      <p:bldP spid="31" grpId="0" animBg="1"/>
      <p:bldP spid="32" grpId="0" animBg="1"/>
      <p:bldP spid="34" grpId="0" animBg="1"/>
      <p:bldP spid="36" grpId="0" animBg="1"/>
      <p:bldP spid="37" grpId="0" animBg="1"/>
      <p:bldP spid="38" grpId="0" animBg="1"/>
      <p:bldP spid="42" grpId="0" animBg="1"/>
      <p:bldP spid="43" grpId="0" animBg="1"/>
      <p:bldP spid="44" grpId="0" animBg="1"/>
      <p:bldP spid="46" grpId="0" animBg="1"/>
      <p:bldP spid="4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6400800"/>
            <a:ext cx="15541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re 1">
            <a:extLst>
              <a:ext uri="{FF2B5EF4-FFF2-40B4-BE49-F238E27FC236}">
                <a16:creationId xmlns:a16="http://schemas.microsoft.com/office/drawing/2014/main" id="{88197348-5CC2-499B-8197-C94C5D8BC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576" y="151802"/>
            <a:ext cx="8208912" cy="540894"/>
          </a:xfr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fr-CA" sz="2400" cap="none" dirty="0" smtClean="0">
                <a:solidFill>
                  <a:srgbClr val="FF0000"/>
                </a:solidFill>
              </a:rPr>
              <a:t>III. Collection</a:t>
            </a:r>
            <a:endParaRPr lang="fr-CA" sz="2400" cap="none" dirty="0">
              <a:solidFill>
                <a:srgbClr val="FF0000"/>
              </a:solidFill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AC68D4D3-B500-4716-B843-F3048BF30CA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6336" y="6307338"/>
            <a:ext cx="1296144" cy="51530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51520" y="967016"/>
            <a:ext cx="8784976" cy="1237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Collection = 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boîte fixe : tu dois décider la taille à l'avance. Une Collection, c'est comme un sac à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dos, </a:t>
            </a:r>
            <a:r>
              <a:rPr lang="en-US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tu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peux y mettre autant d'objets que tu veux, chercher dedans, trier, filtrer, etc.</a:t>
            </a:r>
          </a:p>
        </p:txBody>
      </p:sp>
      <p:sp>
        <p:nvSpPr>
          <p:cNvPr id="11" name="Text 7"/>
          <p:cNvSpPr/>
          <p:nvPr/>
        </p:nvSpPr>
        <p:spPr>
          <a:xfrm>
            <a:off x="387536" y="2236597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</a:rPr>
              <a:t>❌  Problème avec les tableaux ordinaires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251520" y="2803768"/>
            <a:ext cx="4049648" cy="244948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497264" y="3083088"/>
            <a:ext cx="3803904" cy="1714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// Taille fixe — on doit tout prévoir</a:t>
            </a:r>
            <a:endParaRPr lang="en-US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String[] etudiants = new String[30];</a:t>
            </a:r>
            <a:endParaRPr lang="en-US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etudiants[0] = "Alice";</a:t>
            </a:r>
            <a:endParaRPr lang="en-US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etudiants[1] = "Bob";</a:t>
            </a:r>
            <a:endParaRPr lang="en-US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// Et si on a 31 étudiants ? ❌ Impossible !</a:t>
            </a:r>
            <a:endParaRPr lang="en-US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// Pas de méthode pour chercher, trier...</a:t>
            </a:r>
            <a:endParaRPr lang="en-US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4822376" y="220260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</a:rPr>
              <a:t>✅  Solution avec ArrayList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4730936" y="2756794"/>
            <a:ext cx="4031747" cy="249646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Text 18"/>
          <p:cNvSpPr/>
          <p:nvPr/>
        </p:nvSpPr>
        <p:spPr>
          <a:xfrm>
            <a:off x="4958779" y="3094158"/>
            <a:ext cx="3803904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// Taille dynamique — s'adapte automatiquement</a:t>
            </a:r>
            <a:endParaRPr lang="en-US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List&lt;String&gt; etudiants = new ArrayList&lt;&gt;();</a:t>
            </a:r>
            <a:endParaRPr lang="en-US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etudiants.add("Alice");</a:t>
            </a:r>
            <a:endParaRPr lang="en-US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etudiants.add("Bob");</a:t>
            </a:r>
            <a:endParaRPr lang="en-US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etudiants.add("Clara"); // Autant qu'on veut ✅</a:t>
            </a:r>
            <a:endParaRPr lang="en-US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etudiants.contains("Alice"); // true</a:t>
            </a:r>
            <a:endParaRPr lang="en-US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etudiants.size();             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19"/>
          <p:cNvSpPr/>
          <p:nvPr/>
        </p:nvSpPr>
        <p:spPr>
          <a:xfrm>
            <a:off x="3766085" y="5507200"/>
            <a:ext cx="2834640" cy="502920"/>
          </a:xfrm>
          <a:prstGeom prst="rect">
            <a:avLst/>
          </a:prstGeom>
          <a:solidFill>
            <a:schemeClr val="bg1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3702077" y="5509248"/>
            <a:ext cx="64008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4208971" y="5587961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Taille dynamique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Shape 24"/>
          <p:cNvSpPr/>
          <p:nvPr/>
        </p:nvSpPr>
        <p:spPr>
          <a:xfrm>
            <a:off x="7564332" y="5507200"/>
            <a:ext cx="64008" cy="502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4715637" y="5794619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add, remove, sort, contains, size…</a:t>
            </a:r>
          </a:p>
        </p:txBody>
      </p:sp>
    </p:spTree>
    <p:extLst>
      <p:ext uri="{BB962C8B-B14F-4D97-AF65-F5344CB8AC3E}">
        <p14:creationId xmlns:p14="http://schemas.microsoft.com/office/powerpoint/2010/main" val="3538060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6" grpId="0" animBg="1"/>
      <p:bldP spid="17" grpId="0" animBg="1"/>
      <p:bldP spid="2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6400800"/>
            <a:ext cx="15541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re 1">
            <a:extLst>
              <a:ext uri="{FF2B5EF4-FFF2-40B4-BE49-F238E27FC236}">
                <a16:creationId xmlns:a16="http://schemas.microsoft.com/office/drawing/2014/main" id="{88197348-5CC2-499B-8197-C94C5D8BC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576" y="151802"/>
            <a:ext cx="8208912" cy="540894"/>
          </a:xfr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fr-CA" sz="2400" cap="none" dirty="0" smtClean="0">
                <a:solidFill>
                  <a:srgbClr val="FF0000"/>
                </a:solidFill>
              </a:rPr>
              <a:t>III.1. </a:t>
            </a:r>
            <a:r>
              <a:rPr lang="fr-CA" sz="2400" cap="none" dirty="0" err="1" smtClean="0">
                <a:solidFill>
                  <a:srgbClr val="FF0000"/>
                </a:solidFill>
              </a:rPr>
              <a:t>Hierachie</a:t>
            </a:r>
            <a:r>
              <a:rPr lang="fr-CA" sz="2400" cap="none" dirty="0" smtClean="0">
                <a:solidFill>
                  <a:srgbClr val="FF0000"/>
                </a:solidFill>
              </a:rPr>
              <a:t> des collections</a:t>
            </a:r>
            <a:endParaRPr lang="fr-CA" sz="2400" cap="none" dirty="0">
              <a:solidFill>
                <a:srgbClr val="FF0000"/>
              </a:solidFill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AC68D4D3-B500-4716-B843-F3048BF30CA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6336" y="6307338"/>
            <a:ext cx="1296144" cy="515307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1412776"/>
            <a:ext cx="7488832" cy="4752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37054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6400800"/>
            <a:ext cx="15541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re 1">
            <a:extLst>
              <a:ext uri="{FF2B5EF4-FFF2-40B4-BE49-F238E27FC236}">
                <a16:creationId xmlns:a16="http://schemas.microsoft.com/office/drawing/2014/main" id="{88197348-5CC2-499B-8197-C94C5D8BC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576" y="151802"/>
            <a:ext cx="8208912" cy="540894"/>
          </a:xfr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fr-CA" sz="2400" cap="none" dirty="0" smtClean="0">
                <a:solidFill>
                  <a:srgbClr val="FF0000"/>
                </a:solidFill>
              </a:rPr>
              <a:t>III.1. </a:t>
            </a:r>
            <a:r>
              <a:rPr lang="fr-CA" sz="2400" cap="none" dirty="0" err="1" smtClean="0">
                <a:solidFill>
                  <a:srgbClr val="FF0000"/>
                </a:solidFill>
              </a:rPr>
              <a:t>Hierachie</a:t>
            </a:r>
            <a:r>
              <a:rPr lang="fr-CA" sz="2400" cap="none" dirty="0" smtClean="0">
                <a:solidFill>
                  <a:srgbClr val="FF0000"/>
                </a:solidFill>
              </a:rPr>
              <a:t> des collections</a:t>
            </a:r>
            <a:endParaRPr lang="fr-CA" sz="2400" cap="none" dirty="0">
              <a:solidFill>
                <a:srgbClr val="FF0000"/>
              </a:solidFill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AC68D4D3-B500-4716-B843-F3048BF30CA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6336" y="6307338"/>
            <a:ext cx="1296144" cy="51530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792" y="1484784"/>
            <a:ext cx="7488832" cy="4464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0631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6400800"/>
            <a:ext cx="15541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AC68D4D3-B500-4716-B843-F3048BF30CA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6336" y="6307338"/>
            <a:ext cx="1296144" cy="51530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3568" y="260648"/>
            <a:ext cx="66967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III.2. Implementation </a:t>
            </a:r>
            <a:r>
              <a:rPr lang="en-US" sz="2800" dirty="0" err="1" smtClean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principale</a:t>
            </a:r>
            <a:endParaRPr lang="en-US" sz="2800" dirty="0">
              <a:solidFill>
                <a:srgbClr val="FF0000"/>
              </a:solidFill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84" name="Shape 2"/>
          <p:cNvSpPr/>
          <p:nvPr/>
        </p:nvSpPr>
        <p:spPr>
          <a:xfrm>
            <a:off x="377200" y="1585328"/>
            <a:ext cx="1600200" cy="40233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5" name="Text 3"/>
          <p:cNvSpPr/>
          <p:nvPr/>
        </p:nvSpPr>
        <p:spPr>
          <a:xfrm>
            <a:off x="450352" y="1585328"/>
            <a:ext cx="1527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</a:t>
            </a:r>
            <a:endParaRPr lang="en-US" sz="1400" dirty="0"/>
          </a:p>
        </p:txBody>
      </p:sp>
      <p:sp>
        <p:nvSpPr>
          <p:cNvPr id="86" name="Shape 4"/>
          <p:cNvSpPr/>
          <p:nvPr/>
        </p:nvSpPr>
        <p:spPr>
          <a:xfrm>
            <a:off x="2023120" y="1585328"/>
            <a:ext cx="1783080" cy="40233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7" name="Text 5"/>
          <p:cNvSpPr/>
          <p:nvPr/>
        </p:nvSpPr>
        <p:spPr>
          <a:xfrm>
            <a:off x="2096272" y="1585328"/>
            <a:ext cx="1709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Implémentation</a:t>
            </a:r>
            <a:endParaRPr lang="en-US" sz="1400" dirty="0"/>
          </a:p>
        </p:txBody>
      </p:sp>
      <p:sp>
        <p:nvSpPr>
          <p:cNvPr id="88" name="Shape 6"/>
          <p:cNvSpPr/>
          <p:nvPr/>
        </p:nvSpPr>
        <p:spPr>
          <a:xfrm>
            <a:off x="3851920" y="1585328"/>
            <a:ext cx="2514600" cy="40233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9" name="Text 7"/>
          <p:cNvSpPr/>
          <p:nvPr/>
        </p:nvSpPr>
        <p:spPr>
          <a:xfrm>
            <a:off x="3925072" y="1585328"/>
            <a:ext cx="2441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Caractéristiques</a:t>
            </a:r>
            <a:endParaRPr lang="en-US" sz="1400" dirty="0"/>
          </a:p>
        </p:txBody>
      </p:sp>
      <p:sp>
        <p:nvSpPr>
          <p:cNvPr id="90" name="Shape 8"/>
          <p:cNvSpPr/>
          <p:nvPr/>
        </p:nvSpPr>
        <p:spPr>
          <a:xfrm>
            <a:off x="6412240" y="1585328"/>
            <a:ext cx="2240280" cy="40233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91" name="Text 9"/>
          <p:cNvSpPr/>
          <p:nvPr/>
        </p:nvSpPr>
        <p:spPr>
          <a:xfrm>
            <a:off x="6485392" y="1585328"/>
            <a:ext cx="2167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d'usage</a:t>
            </a:r>
            <a:endParaRPr lang="en-US" sz="1400" dirty="0"/>
          </a:p>
        </p:txBody>
      </p:sp>
      <p:sp>
        <p:nvSpPr>
          <p:cNvPr id="92" name="Shape 10"/>
          <p:cNvSpPr/>
          <p:nvPr/>
        </p:nvSpPr>
        <p:spPr>
          <a:xfrm>
            <a:off x="377200" y="1987664"/>
            <a:ext cx="16002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3" name="Text 11"/>
          <p:cNvSpPr/>
          <p:nvPr/>
        </p:nvSpPr>
        <p:spPr>
          <a:xfrm>
            <a:off x="468640" y="202424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List&lt;E&gt;</a:t>
            </a:r>
            <a:endParaRPr lang="en-US" sz="1400" dirty="0"/>
          </a:p>
        </p:txBody>
      </p:sp>
      <p:sp>
        <p:nvSpPr>
          <p:cNvPr id="94" name="Shape 12"/>
          <p:cNvSpPr/>
          <p:nvPr/>
        </p:nvSpPr>
        <p:spPr>
          <a:xfrm>
            <a:off x="2023120" y="1987664"/>
            <a:ext cx="1783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5" name="Text 13"/>
          <p:cNvSpPr/>
          <p:nvPr/>
        </p:nvSpPr>
        <p:spPr>
          <a:xfrm>
            <a:off x="2114560" y="202424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ArrayList</a:t>
            </a:r>
            <a:endParaRPr lang="en-US" sz="1400" dirty="0"/>
          </a:p>
        </p:txBody>
      </p:sp>
      <p:sp>
        <p:nvSpPr>
          <p:cNvPr id="96" name="Shape 14"/>
          <p:cNvSpPr/>
          <p:nvPr/>
        </p:nvSpPr>
        <p:spPr>
          <a:xfrm>
            <a:off x="3851920" y="1987664"/>
            <a:ext cx="25146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7" name="Text 15"/>
          <p:cNvSpPr/>
          <p:nvPr/>
        </p:nvSpPr>
        <p:spPr>
          <a:xfrm>
            <a:off x="3943360" y="20242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rapide par index, O(1)</a:t>
            </a:r>
            <a:endParaRPr lang="en-US" sz="1400" dirty="0"/>
          </a:p>
        </p:txBody>
      </p:sp>
      <p:sp>
        <p:nvSpPr>
          <p:cNvPr id="98" name="Shape 16"/>
          <p:cNvSpPr/>
          <p:nvPr/>
        </p:nvSpPr>
        <p:spPr>
          <a:xfrm>
            <a:off x="6412240" y="1987664"/>
            <a:ext cx="22402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9" name="Text 17"/>
          <p:cNvSpPr/>
          <p:nvPr/>
        </p:nvSpPr>
        <p:spPr>
          <a:xfrm>
            <a:off x="6503680" y="20242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Listes ordonnées</a:t>
            </a:r>
            <a:endParaRPr lang="en-US" sz="1400" dirty="0"/>
          </a:p>
        </p:txBody>
      </p:sp>
      <p:sp>
        <p:nvSpPr>
          <p:cNvPr id="100" name="Shape 18"/>
          <p:cNvSpPr/>
          <p:nvPr/>
        </p:nvSpPr>
        <p:spPr>
          <a:xfrm>
            <a:off x="377200" y="2463152"/>
            <a:ext cx="1600200" cy="438912"/>
          </a:xfrm>
          <a:prstGeom prst="rect">
            <a:avLst/>
          </a:prstGeom>
          <a:solidFill>
            <a:srgbClr val="F0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1" name="Text 19"/>
          <p:cNvSpPr/>
          <p:nvPr/>
        </p:nvSpPr>
        <p:spPr>
          <a:xfrm>
            <a:off x="468640" y="249972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List&lt;E&gt;</a:t>
            </a:r>
            <a:endParaRPr lang="en-US" sz="1400" dirty="0"/>
          </a:p>
        </p:txBody>
      </p:sp>
      <p:sp>
        <p:nvSpPr>
          <p:cNvPr id="102" name="Shape 20"/>
          <p:cNvSpPr/>
          <p:nvPr/>
        </p:nvSpPr>
        <p:spPr>
          <a:xfrm>
            <a:off x="2023120" y="2463152"/>
            <a:ext cx="1783080" cy="438912"/>
          </a:xfrm>
          <a:prstGeom prst="rect">
            <a:avLst/>
          </a:prstGeom>
          <a:solidFill>
            <a:srgbClr val="F0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3" name="Text 21"/>
          <p:cNvSpPr/>
          <p:nvPr/>
        </p:nvSpPr>
        <p:spPr>
          <a:xfrm>
            <a:off x="2114560" y="249972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LinkedList</a:t>
            </a:r>
            <a:endParaRPr lang="en-US" sz="1400" dirty="0"/>
          </a:p>
        </p:txBody>
      </p:sp>
      <p:sp>
        <p:nvSpPr>
          <p:cNvPr id="104" name="Shape 22"/>
          <p:cNvSpPr/>
          <p:nvPr/>
        </p:nvSpPr>
        <p:spPr>
          <a:xfrm>
            <a:off x="3851920" y="2463152"/>
            <a:ext cx="2514600" cy="438912"/>
          </a:xfrm>
          <a:prstGeom prst="rect">
            <a:avLst/>
          </a:prstGeom>
          <a:solidFill>
            <a:srgbClr val="F0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5" name="Text 23"/>
          <p:cNvSpPr/>
          <p:nvPr/>
        </p:nvSpPr>
        <p:spPr>
          <a:xfrm>
            <a:off x="3943360" y="249972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Insertion/suppression rapide</a:t>
            </a:r>
            <a:endParaRPr lang="en-US" sz="1400" dirty="0"/>
          </a:p>
        </p:txBody>
      </p:sp>
      <p:sp>
        <p:nvSpPr>
          <p:cNvPr id="106" name="Shape 24"/>
          <p:cNvSpPr/>
          <p:nvPr/>
        </p:nvSpPr>
        <p:spPr>
          <a:xfrm>
            <a:off x="6412240" y="2463152"/>
            <a:ext cx="2240280" cy="438912"/>
          </a:xfrm>
          <a:prstGeom prst="rect">
            <a:avLst/>
          </a:prstGeom>
          <a:solidFill>
            <a:srgbClr val="F0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7" name="Text 25"/>
          <p:cNvSpPr/>
          <p:nvPr/>
        </p:nvSpPr>
        <p:spPr>
          <a:xfrm>
            <a:off x="6503680" y="249972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Files, piles</a:t>
            </a:r>
            <a:endParaRPr lang="en-US" sz="1400" dirty="0"/>
          </a:p>
        </p:txBody>
      </p:sp>
      <p:sp>
        <p:nvSpPr>
          <p:cNvPr id="108" name="Shape 26"/>
          <p:cNvSpPr/>
          <p:nvPr/>
        </p:nvSpPr>
        <p:spPr>
          <a:xfrm>
            <a:off x="377200" y="2938640"/>
            <a:ext cx="16002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9" name="Text 27"/>
          <p:cNvSpPr/>
          <p:nvPr/>
        </p:nvSpPr>
        <p:spPr>
          <a:xfrm>
            <a:off x="468640" y="2975216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Set&lt;E&gt;</a:t>
            </a:r>
            <a:endParaRPr lang="en-US" sz="1400" dirty="0"/>
          </a:p>
        </p:txBody>
      </p:sp>
      <p:sp>
        <p:nvSpPr>
          <p:cNvPr id="110" name="Shape 28"/>
          <p:cNvSpPr/>
          <p:nvPr/>
        </p:nvSpPr>
        <p:spPr>
          <a:xfrm>
            <a:off x="2023120" y="2995790"/>
            <a:ext cx="1783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1" name="Text 29"/>
          <p:cNvSpPr/>
          <p:nvPr/>
        </p:nvSpPr>
        <p:spPr>
          <a:xfrm>
            <a:off x="2114560" y="297521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HashSet</a:t>
            </a:r>
            <a:endParaRPr lang="en-US" sz="1400" dirty="0"/>
          </a:p>
        </p:txBody>
      </p:sp>
      <p:sp>
        <p:nvSpPr>
          <p:cNvPr id="112" name="Shape 30"/>
          <p:cNvSpPr/>
          <p:nvPr/>
        </p:nvSpPr>
        <p:spPr>
          <a:xfrm>
            <a:off x="3851920" y="2938640"/>
            <a:ext cx="25146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3" name="Text 31"/>
          <p:cNvSpPr/>
          <p:nvPr/>
        </p:nvSpPr>
        <p:spPr>
          <a:xfrm>
            <a:off x="3943360" y="2975216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doublons, O(1)</a:t>
            </a:r>
            <a:endParaRPr lang="en-US" sz="1400" dirty="0"/>
          </a:p>
        </p:txBody>
      </p:sp>
      <p:sp>
        <p:nvSpPr>
          <p:cNvPr id="114" name="Shape 32"/>
          <p:cNvSpPr/>
          <p:nvPr/>
        </p:nvSpPr>
        <p:spPr>
          <a:xfrm>
            <a:off x="6412240" y="2938640"/>
            <a:ext cx="22402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5" name="Text 33"/>
          <p:cNvSpPr/>
          <p:nvPr/>
        </p:nvSpPr>
        <p:spPr>
          <a:xfrm>
            <a:off x="6503680" y="2975216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Unicité d'éléments</a:t>
            </a:r>
            <a:endParaRPr lang="en-US" sz="1400" dirty="0"/>
          </a:p>
        </p:txBody>
      </p:sp>
      <p:sp>
        <p:nvSpPr>
          <p:cNvPr id="116" name="Shape 34"/>
          <p:cNvSpPr/>
          <p:nvPr/>
        </p:nvSpPr>
        <p:spPr>
          <a:xfrm>
            <a:off x="377200" y="3414128"/>
            <a:ext cx="1600200" cy="438912"/>
          </a:xfrm>
          <a:prstGeom prst="rect">
            <a:avLst/>
          </a:prstGeom>
          <a:solidFill>
            <a:srgbClr val="F0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7" name="Text 35"/>
          <p:cNvSpPr/>
          <p:nvPr/>
        </p:nvSpPr>
        <p:spPr>
          <a:xfrm>
            <a:off x="468640" y="345070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Set&lt;E&gt;</a:t>
            </a:r>
            <a:endParaRPr lang="en-US" sz="1400" dirty="0"/>
          </a:p>
        </p:txBody>
      </p:sp>
      <p:sp>
        <p:nvSpPr>
          <p:cNvPr id="118" name="Shape 36"/>
          <p:cNvSpPr/>
          <p:nvPr/>
        </p:nvSpPr>
        <p:spPr>
          <a:xfrm>
            <a:off x="2023120" y="3414128"/>
            <a:ext cx="1783080" cy="438912"/>
          </a:xfrm>
          <a:prstGeom prst="rect">
            <a:avLst/>
          </a:prstGeom>
          <a:solidFill>
            <a:srgbClr val="F0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9" name="Text 37"/>
          <p:cNvSpPr/>
          <p:nvPr/>
        </p:nvSpPr>
        <p:spPr>
          <a:xfrm>
            <a:off x="2114560" y="3450704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TreeSet</a:t>
            </a:r>
            <a:endParaRPr lang="en-US" sz="1400" dirty="0"/>
          </a:p>
        </p:txBody>
      </p:sp>
      <p:sp>
        <p:nvSpPr>
          <p:cNvPr id="120" name="Shape 38"/>
          <p:cNvSpPr/>
          <p:nvPr/>
        </p:nvSpPr>
        <p:spPr>
          <a:xfrm>
            <a:off x="3851920" y="3414128"/>
            <a:ext cx="2514600" cy="438912"/>
          </a:xfrm>
          <a:prstGeom prst="rect">
            <a:avLst/>
          </a:prstGeom>
          <a:solidFill>
            <a:srgbClr val="F0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1" name="Text 39"/>
          <p:cNvSpPr/>
          <p:nvPr/>
        </p:nvSpPr>
        <p:spPr>
          <a:xfrm>
            <a:off x="3943360" y="3450704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Trié naturellement, O(log n)</a:t>
            </a:r>
            <a:endParaRPr lang="en-US" sz="1400" dirty="0"/>
          </a:p>
        </p:txBody>
      </p:sp>
      <p:sp>
        <p:nvSpPr>
          <p:cNvPr id="122" name="Shape 40"/>
          <p:cNvSpPr/>
          <p:nvPr/>
        </p:nvSpPr>
        <p:spPr>
          <a:xfrm>
            <a:off x="6412240" y="3414128"/>
            <a:ext cx="2240280" cy="438912"/>
          </a:xfrm>
          <a:prstGeom prst="rect">
            <a:avLst/>
          </a:prstGeom>
          <a:solidFill>
            <a:srgbClr val="F0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3" name="Text 41"/>
          <p:cNvSpPr/>
          <p:nvPr/>
        </p:nvSpPr>
        <p:spPr>
          <a:xfrm>
            <a:off x="6503680" y="345070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triées</a:t>
            </a:r>
            <a:endParaRPr lang="en-US" sz="1400" dirty="0"/>
          </a:p>
        </p:txBody>
      </p:sp>
      <p:sp>
        <p:nvSpPr>
          <p:cNvPr id="124" name="Shape 42"/>
          <p:cNvSpPr/>
          <p:nvPr/>
        </p:nvSpPr>
        <p:spPr>
          <a:xfrm>
            <a:off x="377200" y="3889616"/>
            <a:ext cx="16002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5" name="Text 43"/>
          <p:cNvSpPr/>
          <p:nvPr/>
        </p:nvSpPr>
        <p:spPr>
          <a:xfrm>
            <a:off x="468640" y="392619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Map&lt;K,V&gt;</a:t>
            </a:r>
            <a:endParaRPr lang="en-US" sz="1400" dirty="0"/>
          </a:p>
        </p:txBody>
      </p:sp>
      <p:sp>
        <p:nvSpPr>
          <p:cNvPr id="126" name="Shape 44"/>
          <p:cNvSpPr/>
          <p:nvPr/>
        </p:nvSpPr>
        <p:spPr>
          <a:xfrm>
            <a:off x="2023120" y="3889616"/>
            <a:ext cx="1783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7" name="Text 45"/>
          <p:cNvSpPr/>
          <p:nvPr/>
        </p:nvSpPr>
        <p:spPr>
          <a:xfrm>
            <a:off x="2114560" y="392619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HashMap</a:t>
            </a:r>
            <a:endParaRPr lang="en-US" sz="1400" dirty="0"/>
          </a:p>
        </p:txBody>
      </p:sp>
      <p:sp>
        <p:nvSpPr>
          <p:cNvPr id="128" name="Shape 46"/>
          <p:cNvSpPr/>
          <p:nvPr/>
        </p:nvSpPr>
        <p:spPr>
          <a:xfrm>
            <a:off x="3851920" y="3889616"/>
            <a:ext cx="25146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9" name="Text 47"/>
          <p:cNvSpPr/>
          <p:nvPr/>
        </p:nvSpPr>
        <p:spPr>
          <a:xfrm>
            <a:off x="3943360" y="392619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Clé→Valeur, O(1)</a:t>
            </a:r>
            <a:endParaRPr lang="en-US" sz="1400" dirty="0"/>
          </a:p>
        </p:txBody>
      </p:sp>
      <p:sp>
        <p:nvSpPr>
          <p:cNvPr id="130" name="Shape 48"/>
          <p:cNvSpPr/>
          <p:nvPr/>
        </p:nvSpPr>
        <p:spPr>
          <a:xfrm>
            <a:off x="6412240" y="3889616"/>
            <a:ext cx="22402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1" name="Text 49"/>
          <p:cNvSpPr/>
          <p:nvPr/>
        </p:nvSpPr>
        <p:spPr>
          <a:xfrm>
            <a:off x="6503680" y="392619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Dictionnaires</a:t>
            </a:r>
            <a:endParaRPr lang="en-US" sz="1400" dirty="0"/>
          </a:p>
        </p:txBody>
      </p:sp>
      <p:sp>
        <p:nvSpPr>
          <p:cNvPr id="132" name="Shape 50"/>
          <p:cNvSpPr/>
          <p:nvPr/>
        </p:nvSpPr>
        <p:spPr>
          <a:xfrm>
            <a:off x="377200" y="4365104"/>
            <a:ext cx="1600200" cy="438912"/>
          </a:xfrm>
          <a:prstGeom prst="rect">
            <a:avLst/>
          </a:prstGeom>
          <a:solidFill>
            <a:srgbClr val="F0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3" name="Text 51"/>
          <p:cNvSpPr/>
          <p:nvPr/>
        </p:nvSpPr>
        <p:spPr>
          <a:xfrm>
            <a:off x="468640" y="44016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Queue&lt;E&gt;</a:t>
            </a:r>
            <a:endParaRPr lang="en-US" sz="1400" dirty="0"/>
          </a:p>
        </p:txBody>
      </p:sp>
      <p:sp>
        <p:nvSpPr>
          <p:cNvPr id="134" name="Shape 52"/>
          <p:cNvSpPr/>
          <p:nvPr/>
        </p:nvSpPr>
        <p:spPr>
          <a:xfrm>
            <a:off x="2023120" y="4365104"/>
            <a:ext cx="1783080" cy="438912"/>
          </a:xfrm>
          <a:prstGeom prst="rect">
            <a:avLst/>
          </a:prstGeom>
          <a:solidFill>
            <a:srgbClr val="F0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5" name="Text 53"/>
          <p:cNvSpPr/>
          <p:nvPr/>
        </p:nvSpPr>
        <p:spPr>
          <a:xfrm>
            <a:off x="2114560" y="440168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PriorityQueue</a:t>
            </a:r>
            <a:endParaRPr lang="en-US" sz="1400" dirty="0"/>
          </a:p>
        </p:txBody>
      </p:sp>
      <p:sp>
        <p:nvSpPr>
          <p:cNvPr id="136" name="Shape 54"/>
          <p:cNvSpPr/>
          <p:nvPr/>
        </p:nvSpPr>
        <p:spPr>
          <a:xfrm>
            <a:off x="3851920" y="4365104"/>
            <a:ext cx="2514600" cy="438912"/>
          </a:xfrm>
          <a:prstGeom prst="rect">
            <a:avLst/>
          </a:prstGeom>
          <a:solidFill>
            <a:srgbClr val="F0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7" name="Text 55"/>
          <p:cNvSpPr/>
          <p:nvPr/>
        </p:nvSpPr>
        <p:spPr>
          <a:xfrm>
            <a:off x="3943360" y="440168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Ordre de priorité</a:t>
            </a:r>
            <a:endParaRPr lang="en-US" sz="1400" dirty="0"/>
          </a:p>
        </p:txBody>
      </p:sp>
      <p:sp>
        <p:nvSpPr>
          <p:cNvPr id="138" name="Shape 56"/>
          <p:cNvSpPr/>
          <p:nvPr/>
        </p:nvSpPr>
        <p:spPr>
          <a:xfrm>
            <a:off x="6412240" y="4365104"/>
            <a:ext cx="2240280" cy="438912"/>
          </a:xfrm>
          <a:prstGeom prst="rect">
            <a:avLst/>
          </a:prstGeom>
          <a:solidFill>
            <a:srgbClr val="F0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9" name="Text 57"/>
          <p:cNvSpPr/>
          <p:nvPr/>
        </p:nvSpPr>
        <p:spPr>
          <a:xfrm>
            <a:off x="6503680" y="440168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Traitements ordonnés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4191145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6400800"/>
            <a:ext cx="15541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re 1">
            <a:extLst>
              <a:ext uri="{FF2B5EF4-FFF2-40B4-BE49-F238E27FC236}">
                <a16:creationId xmlns:a16="http://schemas.microsoft.com/office/drawing/2014/main" id="{88197348-5CC2-499B-8197-C94C5D8BC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576" y="151802"/>
            <a:ext cx="8208912" cy="540894"/>
          </a:xfr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sz="2400" cap="none" dirty="0" smtClean="0">
                <a:solidFill>
                  <a:srgbClr val="FF0000"/>
                </a:solidFill>
              </a:rPr>
              <a:t>IV. </a:t>
            </a:r>
            <a:r>
              <a:rPr lang="el-GR" sz="2400" cap="none" dirty="0" smtClean="0">
                <a:solidFill>
                  <a:srgbClr val="FF0000"/>
                </a:solidFill>
              </a:rPr>
              <a:t>λ  </a:t>
            </a:r>
            <a:r>
              <a:rPr lang="fr-CA" sz="2400" cap="none" dirty="0">
                <a:solidFill>
                  <a:srgbClr val="FF0000"/>
                </a:solidFill>
              </a:rPr>
              <a:t>Expressions Lambda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AC68D4D3-B500-4716-B843-F3048BF30CA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6336" y="6307338"/>
            <a:ext cx="1296144" cy="515307"/>
          </a:xfrm>
          <a:prstGeom prst="rect">
            <a:avLst/>
          </a:prstGeom>
        </p:spPr>
      </p:pic>
      <p:sp>
        <p:nvSpPr>
          <p:cNvPr id="67" name="Text 7"/>
          <p:cNvSpPr/>
          <p:nvPr/>
        </p:nvSpPr>
        <p:spPr>
          <a:xfrm>
            <a:off x="2339940" y="1095286"/>
            <a:ext cx="478812" cy="6338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-&gt;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Text 9"/>
          <p:cNvSpPr/>
          <p:nvPr/>
        </p:nvSpPr>
        <p:spPr>
          <a:xfrm>
            <a:off x="2822770" y="1093386"/>
            <a:ext cx="1723722" cy="6338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 corps }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8" name="Shape 2"/>
          <p:cNvSpPr/>
          <p:nvPr/>
        </p:nvSpPr>
        <p:spPr>
          <a:xfrm>
            <a:off x="250611" y="1185890"/>
            <a:ext cx="8595360" cy="594360"/>
          </a:xfrm>
          <a:prstGeom prst="rect">
            <a:avLst/>
          </a:prstGeom>
          <a:solidFill>
            <a:srgbClr val="E8F8E8"/>
          </a:solidFill>
          <a:ln/>
        </p:spPr>
      </p:sp>
      <p:sp>
        <p:nvSpPr>
          <p:cNvPr id="109" name="Shape 3"/>
          <p:cNvSpPr/>
          <p:nvPr/>
        </p:nvSpPr>
        <p:spPr>
          <a:xfrm>
            <a:off x="250611" y="1161343"/>
            <a:ext cx="64008" cy="5943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10" name="Text 4"/>
          <p:cNvSpPr/>
          <p:nvPr/>
        </p:nvSpPr>
        <p:spPr>
          <a:xfrm>
            <a:off x="433491" y="1161343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1A3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Une lambda est une fonction anonyme courte qu'on peut passer </a:t>
            </a:r>
            <a:r>
              <a:rPr lang="en-US" sz="1400" dirty="0" err="1">
                <a:solidFill>
                  <a:srgbClr val="1A3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en</a:t>
            </a:r>
            <a:r>
              <a:rPr lang="en-US" sz="1400" dirty="0">
                <a:solidFill>
                  <a:srgbClr val="1A3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argument. Elle remplace les classes anonymes pour les interfaces fonctionnelles (1 seule méthode abstraite).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1" name="Text 5"/>
          <p:cNvSpPr/>
          <p:nvPr/>
        </p:nvSpPr>
        <p:spPr>
          <a:xfrm>
            <a:off x="292881" y="2083501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162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Évolution de la syntaxe :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2" name="Shape 6"/>
          <p:cNvSpPr/>
          <p:nvPr/>
        </p:nvSpPr>
        <p:spPr>
          <a:xfrm>
            <a:off x="151422" y="2589434"/>
            <a:ext cx="4206240" cy="320040"/>
          </a:xfrm>
          <a:prstGeom prst="rect">
            <a:avLst/>
          </a:prstGeom>
          <a:solidFill>
            <a:schemeClr val="bg1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13" name="Text 7"/>
          <p:cNvSpPr/>
          <p:nvPr/>
        </p:nvSpPr>
        <p:spPr>
          <a:xfrm>
            <a:off x="447630" y="258204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❌ Avant Java 8 — Classe Anonyme</a:t>
            </a:r>
          </a:p>
        </p:txBody>
      </p:sp>
      <p:sp>
        <p:nvSpPr>
          <p:cNvPr id="114" name="Shape 8"/>
          <p:cNvSpPr/>
          <p:nvPr/>
        </p:nvSpPr>
        <p:spPr>
          <a:xfrm>
            <a:off x="247161" y="2937965"/>
            <a:ext cx="4206240" cy="265176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115" name="Text 9"/>
          <p:cNvSpPr/>
          <p:nvPr/>
        </p:nvSpPr>
        <p:spPr>
          <a:xfrm>
            <a:off x="356889" y="3029405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Runnable r = new Runnable() {</a:t>
            </a:r>
          </a:p>
        </p:txBody>
      </p:sp>
      <p:sp>
        <p:nvSpPr>
          <p:cNvPr id="116" name="Text 10"/>
          <p:cNvSpPr/>
          <p:nvPr/>
        </p:nvSpPr>
        <p:spPr>
          <a:xfrm>
            <a:off x="356889" y="3331157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@Override</a:t>
            </a:r>
          </a:p>
        </p:txBody>
      </p:sp>
      <p:sp>
        <p:nvSpPr>
          <p:cNvPr id="117" name="Text 11"/>
          <p:cNvSpPr/>
          <p:nvPr/>
        </p:nvSpPr>
        <p:spPr>
          <a:xfrm>
            <a:off x="356889" y="3632909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public void run() {</a:t>
            </a:r>
          </a:p>
        </p:txBody>
      </p:sp>
      <p:sp>
        <p:nvSpPr>
          <p:cNvPr id="118" name="Text 12"/>
          <p:cNvSpPr/>
          <p:nvPr/>
        </p:nvSpPr>
        <p:spPr>
          <a:xfrm>
            <a:off x="356889" y="3934661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System.out.println("Bonjour!");</a:t>
            </a:r>
          </a:p>
        </p:txBody>
      </p:sp>
      <p:sp>
        <p:nvSpPr>
          <p:cNvPr id="119" name="Text 13"/>
          <p:cNvSpPr/>
          <p:nvPr/>
        </p:nvSpPr>
        <p:spPr>
          <a:xfrm>
            <a:off x="356889" y="4236413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</p:txBody>
      </p:sp>
      <p:sp>
        <p:nvSpPr>
          <p:cNvPr id="120" name="Text 14"/>
          <p:cNvSpPr/>
          <p:nvPr/>
        </p:nvSpPr>
        <p:spPr>
          <a:xfrm>
            <a:off x="356889" y="4538165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};</a:t>
            </a:r>
          </a:p>
        </p:txBody>
      </p:sp>
      <p:sp>
        <p:nvSpPr>
          <p:cNvPr id="121" name="Shape 15"/>
          <p:cNvSpPr/>
          <p:nvPr/>
        </p:nvSpPr>
        <p:spPr>
          <a:xfrm>
            <a:off x="4727721" y="2589434"/>
            <a:ext cx="4206240" cy="320040"/>
          </a:xfrm>
          <a:prstGeom prst="rect">
            <a:avLst/>
          </a:prstGeom>
          <a:solidFill>
            <a:schemeClr val="bg1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22" name="Text 16"/>
          <p:cNvSpPr/>
          <p:nvPr/>
        </p:nvSpPr>
        <p:spPr>
          <a:xfrm>
            <a:off x="5120640" y="2617925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7AE6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✅ Java 8+ — Lambda Expression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3" name="Shape 17"/>
          <p:cNvSpPr/>
          <p:nvPr/>
        </p:nvSpPr>
        <p:spPr>
          <a:xfrm>
            <a:off x="4727721" y="2937965"/>
            <a:ext cx="4206240" cy="767514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128" name="Text 22"/>
          <p:cNvSpPr/>
          <p:nvPr/>
        </p:nvSpPr>
        <p:spPr>
          <a:xfrm>
            <a:off x="4837449" y="4236413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0" name="Text 24"/>
          <p:cNvSpPr/>
          <p:nvPr/>
        </p:nvSpPr>
        <p:spPr>
          <a:xfrm>
            <a:off x="4748107" y="4041323"/>
            <a:ext cx="4545375" cy="156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 smtClean="0">
                <a:solidFill>
                  <a:srgbClr val="FF0000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Runnable r2 = () -&gt; </a:t>
            </a:r>
            <a:r>
              <a:rPr lang="en-US" sz="1600" dirty="0" err="1" smtClean="0">
                <a:solidFill>
                  <a:srgbClr val="FF0000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System.out.println</a:t>
            </a:r>
            <a:r>
              <a:rPr lang="en-US" sz="1600" dirty="0" smtClean="0">
                <a:solidFill>
                  <a:srgbClr val="FF0000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("Bonjour!");</a:t>
            </a:r>
            <a:endParaRPr lang="en-US" sz="1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968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" grpId="0" animBg="1"/>
      <p:bldP spid="111" grpId="0" animBg="1"/>
      <p:bldP spid="113" grpId="0" animBg="1"/>
      <p:bldP spid="115" grpId="0" animBg="1"/>
      <p:bldP spid="116" grpId="0" animBg="1"/>
      <p:bldP spid="117" grpId="0" animBg="1"/>
      <p:bldP spid="118" grpId="0" animBg="1"/>
      <p:bldP spid="119" grpId="0" animBg="1"/>
      <p:bldP spid="120" grpId="0" animBg="1"/>
      <p:bldP spid="122" grpId="0" animBg="1"/>
      <p:bldP spid="13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6400800"/>
            <a:ext cx="15541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re 1">
            <a:extLst>
              <a:ext uri="{FF2B5EF4-FFF2-40B4-BE49-F238E27FC236}">
                <a16:creationId xmlns:a16="http://schemas.microsoft.com/office/drawing/2014/main" id="{88197348-5CC2-499B-8197-C94C5D8BC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68" y="226846"/>
            <a:ext cx="8856984" cy="540894"/>
          </a:xfr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sz="2400" cap="none" dirty="0">
                <a:solidFill>
                  <a:srgbClr val="FF0000"/>
                </a:solidFill>
              </a:rPr>
              <a:t>IV. </a:t>
            </a:r>
            <a:r>
              <a:rPr lang="en-US" sz="2400" cap="none" dirty="0" smtClean="0">
                <a:solidFill>
                  <a:srgbClr val="FF0000"/>
                </a:solidFill>
              </a:rPr>
              <a:t>1.</a:t>
            </a:r>
            <a:r>
              <a:rPr lang="en-US" sz="2000" cap="none" dirty="0" smtClean="0">
                <a:solidFill>
                  <a:srgbClr val="FF0000"/>
                </a:solidFill>
              </a:rPr>
              <a:t> </a:t>
            </a:r>
            <a:r>
              <a:rPr lang="fr-FR" sz="2000" cap="none" dirty="0" smtClean="0">
                <a:solidFill>
                  <a:srgbClr val="FF0000"/>
                </a:solidFill>
              </a:rPr>
              <a:t>λ  </a:t>
            </a:r>
            <a:r>
              <a:rPr lang="fr-FR" sz="2000" cap="none" dirty="0">
                <a:solidFill>
                  <a:srgbClr val="FF0000"/>
                </a:solidFill>
              </a:rPr>
              <a:t>Syntaxe Lambda — Formes &amp; Interfaces Fonctionnelles</a:t>
            </a:r>
            <a:endParaRPr lang="fr-FR" sz="2400" cap="none" dirty="0">
              <a:solidFill>
                <a:srgbClr val="FF0000"/>
              </a:solidFill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AC68D4D3-B500-4716-B843-F3048BF30CA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6336" y="6307338"/>
            <a:ext cx="1296144" cy="515307"/>
          </a:xfrm>
          <a:prstGeom prst="rect">
            <a:avLst/>
          </a:prstGeom>
        </p:spPr>
      </p:pic>
      <p:sp>
        <p:nvSpPr>
          <p:cNvPr id="30" name="Text 2"/>
          <p:cNvSpPr/>
          <p:nvPr/>
        </p:nvSpPr>
        <p:spPr>
          <a:xfrm>
            <a:off x="532696" y="1218171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Formes de lambda :</a:t>
            </a:r>
            <a:endParaRPr lang="en-US" sz="1400" dirty="0"/>
          </a:p>
        </p:txBody>
      </p:sp>
      <p:sp>
        <p:nvSpPr>
          <p:cNvPr id="31" name="Shape 3"/>
          <p:cNvSpPr/>
          <p:nvPr/>
        </p:nvSpPr>
        <p:spPr>
          <a:xfrm>
            <a:off x="395536" y="1705178"/>
            <a:ext cx="4206240" cy="352044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32" name="Text 4"/>
          <p:cNvSpPr/>
          <p:nvPr/>
        </p:nvSpPr>
        <p:spPr>
          <a:xfrm>
            <a:off x="532696" y="177833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Aucun paramètre</a:t>
            </a:r>
            <a:endParaRPr lang="en-US" sz="1400" dirty="0"/>
          </a:p>
        </p:txBody>
      </p:sp>
      <p:sp>
        <p:nvSpPr>
          <p:cNvPr id="33" name="Text 5"/>
          <p:cNvSpPr/>
          <p:nvPr/>
        </p:nvSpPr>
        <p:spPr>
          <a:xfrm>
            <a:off x="532696" y="197492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-&gt; System.out.println(42)</a:t>
            </a:r>
            <a:endParaRPr lang="en-US" sz="1400" dirty="0"/>
          </a:p>
        </p:txBody>
      </p:sp>
      <p:sp>
        <p:nvSpPr>
          <p:cNvPr id="34" name="Text 6"/>
          <p:cNvSpPr/>
          <p:nvPr/>
        </p:nvSpPr>
        <p:spPr>
          <a:xfrm>
            <a:off x="532696" y="217152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35" name="Text 7"/>
          <p:cNvSpPr/>
          <p:nvPr/>
        </p:nvSpPr>
        <p:spPr>
          <a:xfrm>
            <a:off x="532696" y="236811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Un paramètre</a:t>
            </a:r>
            <a:endParaRPr lang="en-US" sz="1400" dirty="0"/>
          </a:p>
        </p:txBody>
      </p:sp>
      <p:sp>
        <p:nvSpPr>
          <p:cNvPr id="36" name="Text 8"/>
          <p:cNvSpPr/>
          <p:nvPr/>
        </p:nvSpPr>
        <p:spPr>
          <a:xfrm>
            <a:off x="532696" y="256471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-&gt; x * x</a:t>
            </a:r>
            <a:endParaRPr lang="en-US" sz="1400" dirty="0"/>
          </a:p>
        </p:txBody>
      </p:sp>
      <p:sp>
        <p:nvSpPr>
          <p:cNvPr id="37" name="Text 9"/>
          <p:cNvSpPr/>
          <p:nvPr/>
        </p:nvSpPr>
        <p:spPr>
          <a:xfrm>
            <a:off x="532696" y="276131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38" name="Text 10"/>
          <p:cNvSpPr/>
          <p:nvPr/>
        </p:nvSpPr>
        <p:spPr>
          <a:xfrm>
            <a:off x="532696" y="295790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Deux paramètres</a:t>
            </a:r>
            <a:endParaRPr lang="en-US" sz="1400" dirty="0"/>
          </a:p>
        </p:txBody>
      </p:sp>
      <p:sp>
        <p:nvSpPr>
          <p:cNvPr id="39" name="Text 11"/>
          <p:cNvSpPr/>
          <p:nvPr/>
        </p:nvSpPr>
        <p:spPr>
          <a:xfrm>
            <a:off x="532696" y="315450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(a, b) -&gt; a + b</a:t>
            </a:r>
            <a:endParaRPr lang="en-US" sz="1400" dirty="0"/>
          </a:p>
        </p:txBody>
      </p:sp>
      <p:sp>
        <p:nvSpPr>
          <p:cNvPr id="40" name="Text 12"/>
          <p:cNvSpPr/>
          <p:nvPr/>
        </p:nvSpPr>
        <p:spPr>
          <a:xfrm>
            <a:off x="532696" y="335109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41" name="Text 13"/>
          <p:cNvSpPr/>
          <p:nvPr/>
        </p:nvSpPr>
        <p:spPr>
          <a:xfrm>
            <a:off x="532696" y="354769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Bloc de code</a:t>
            </a:r>
            <a:endParaRPr lang="en-US" sz="1400" dirty="0"/>
          </a:p>
        </p:txBody>
      </p:sp>
      <p:sp>
        <p:nvSpPr>
          <p:cNvPr id="42" name="Text 14"/>
          <p:cNvSpPr/>
          <p:nvPr/>
        </p:nvSpPr>
        <p:spPr>
          <a:xfrm>
            <a:off x="532696" y="374429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(a, b) -&gt; {</a:t>
            </a:r>
            <a:endParaRPr lang="en-US" sz="1400" dirty="0"/>
          </a:p>
        </p:txBody>
      </p:sp>
      <p:sp>
        <p:nvSpPr>
          <p:cNvPr id="43" name="Text 15"/>
          <p:cNvSpPr/>
          <p:nvPr/>
        </p:nvSpPr>
        <p:spPr>
          <a:xfrm>
            <a:off x="532696" y="394088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res = a + b;</a:t>
            </a:r>
            <a:endParaRPr lang="en-US" sz="1400" dirty="0"/>
          </a:p>
        </p:txBody>
      </p:sp>
      <p:sp>
        <p:nvSpPr>
          <p:cNvPr id="44" name="Text 16"/>
          <p:cNvSpPr/>
          <p:nvPr/>
        </p:nvSpPr>
        <p:spPr>
          <a:xfrm>
            <a:off x="532696" y="413748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res;</a:t>
            </a:r>
            <a:endParaRPr lang="en-US" sz="1400" dirty="0"/>
          </a:p>
        </p:txBody>
      </p:sp>
      <p:sp>
        <p:nvSpPr>
          <p:cNvPr id="45" name="Text 17"/>
          <p:cNvSpPr/>
          <p:nvPr/>
        </p:nvSpPr>
        <p:spPr>
          <a:xfrm>
            <a:off x="532696" y="433407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46" name="Text 18"/>
          <p:cNvSpPr/>
          <p:nvPr/>
        </p:nvSpPr>
        <p:spPr>
          <a:xfrm>
            <a:off x="532696" y="453067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47" name="Text 19"/>
          <p:cNvSpPr/>
          <p:nvPr/>
        </p:nvSpPr>
        <p:spPr>
          <a:xfrm>
            <a:off x="532696" y="472727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Méthode référence</a:t>
            </a:r>
            <a:endParaRPr lang="en-US" sz="1400" dirty="0"/>
          </a:p>
        </p:txBody>
      </p:sp>
      <p:sp>
        <p:nvSpPr>
          <p:cNvPr id="48" name="Text 20"/>
          <p:cNvSpPr/>
          <p:nvPr/>
        </p:nvSpPr>
        <p:spPr>
          <a:xfrm>
            <a:off x="532696" y="492386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String::toUpperCase</a:t>
            </a:r>
            <a:endParaRPr lang="en-US" sz="1400" dirty="0"/>
          </a:p>
        </p:txBody>
      </p:sp>
      <p:sp>
        <p:nvSpPr>
          <p:cNvPr id="49" name="Text 21"/>
          <p:cNvSpPr/>
          <p:nvPr/>
        </p:nvSpPr>
        <p:spPr>
          <a:xfrm>
            <a:off x="4838700" y="1286590"/>
            <a:ext cx="4189592" cy="215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Interfaces Fonctionnelles (java.util.function) :</a:t>
            </a:r>
            <a:endParaRPr lang="en-US" sz="1400" dirty="0"/>
          </a:p>
        </p:txBody>
      </p:sp>
      <p:sp>
        <p:nvSpPr>
          <p:cNvPr id="50" name="Shape 22"/>
          <p:cNvSpPr/>
          <p:nvPr/>
        </p:nvSpPr>
        <p:spPr>
          <a:xfrm>
            <a:off x="4830376" y="1705178"/>
            <a:ext cx="420624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51" name="Shape 23"/>
          <p:cNvSpPr/>
          <p:nvPr/>
        </p:nvSpPr>
        <p:spPr>
          <a:xfrm>
            <a:off x="4830503" y="1773936"/>
            <a:ext cx="63754" cy="502564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52" name="Text 24"/>
          <p:cNvSpPr/>
          <p:nvPr/>
        </p:nvSpPr>
        <p:spPr>
          <a:xfrm>
            <a:off x="4952867" y="1776437"/>
            <a:ext cx="1821562" cy="18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Predicate&lt;T&gt;</a:t>
            </a:r>
            <a:endParaRPr lang="en-US" sz="1400" dirty="0"/>
          </a:p>
        </p:txBody>
      </p:sp>
      <p:sp>
        <p:nvSpPr>
          <p:cNvPr id="53" name="Text 25"/>
          <p:cNvSpPr/>
          <p:nvPr/>
        </p:nvSpPr>
        <p:spPr>
          <a:xfrm>
            <a:off x="6800498" y="1776437"/>
            <a:ext cx="2094796" cy="18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→ boolean</a:t>
            </a:r>
            <a:endParaRPr lang="en-US" sz="1400" dirty="0"/>
          </a:p>
        </p:txBody>
      </p:sp>
      <p:sp>
        <p:nvSpPr>
          <p:cNvPr id="54" name="Text 26"/>
          <p:cNvSpPr/>
          <p:nvPr/>
        </p:nvSpPr>
        <p:spPr>
          <a:xfrm>
            <a:off x="4957120" y="2050757"/>
            <a:ext cx="3961896" cy="18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4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= s -&gt; s.length() &gt; 3</a:t>
            </a:r>
            <a:endParaRPr lang="en-US" sz="1400" dirty="0"/>
          </a:p>
        </p:txBody>
      </p:sp>
      <p:sp>
        <p:nvSpPr>
          <p:cNvPr id="55" name="Shape 27"/>
          <p:cNvSpPr/>
          <p:nvPr/>
        </p:nvSpPr>
        <p:spPr>
          <a:xfrm>
            <a:off x="4838700" y="2534793"/>
            <a:ext cx="4189592" cy="502564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56" name="Shape 28"/>
          <p:cNvSpPr/>
          <p:nvPr/>
        </p:nvSpPr>
        <p:spPr>
          <a:xfrm>
            <a:off x="4830376" y="2418410"/>
            <a:ext cx="64008" cy="6400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57" name="Text 29"/>
          <p:cNvSpPr/>
          <p:nvPr/>
        </p:nvSpPr>
        <p:spPr>
          <a:xfrm>
            <a:off x="4952867" y="2489669"/>
            <a:ext cx="1821562" cy="18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Function&lt;T,R&gt;</a:t>
            </a:r>
            <a:endParaRPr lang="en-US" sz="1400" dirty="0"/>
          </a:p>
        </p:txBody>
      </p:sp>
      <p:sp>
        <p:nvSpPr>
          <p:cNvPr id="58" name="Text 30"/>
          <p:cNvSpPr/>
          <p:nvPr/>
        </p:nvSpPr>
        <p:spPr>
          <a:xfrm>
            <a:off x="6800498" y="2489669"/>
            <a:ext cx="2094796" cy="18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→ R</a:t>
            </a:r>
            <a:endParaRPr lang="en-US" sz="1400" dirty="0"/>
          </a:p>
        </p:txBody>
      </p:sp>
      <p:sp>
        <p:nvSpPr>
          <p:cNvPr id="59" name="Text 31"/>
          <p:cNvSpPr/>
          <p:nvPr/>
        </p:nvSpPr>
        <p:spPr>
          <a:xfrm>
            <a:off x="4957120" y="2763989"/>
            <a:ext cx="3961896" cy="18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4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 = s -&gt; s.toUpperCase()</a:t>
            </a:r>
            <a:endParaRPr lang="en-US" sz="1400" dirty="0"/>
          </a:p>
        </p:txBody>
      </p:sp>
      <p:sp>
        <p:nvSpPr>
          <p:cNvPr id="60" name="Shape 32"/>
          <p:cNvSpPr/>
          <p:nvPr/>
        </p:nvSpPr>
        <p:spPr>
          <a:xfrm>
            <a:off x="4838700" y="3200400"/>
            <a:ext cx="4189592" cy="502564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61" name="Shape 33"/>
          <p:cNvSpPr/>
          <p:nvPr/>
        </p:nvSpPr>
        <p:spPr>
          <a:xfrm>
            <a:off x="4830376" y="3131642"/>
            <a:ext cx="64008" cy="64008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62" name="Text 34"/>
          <p:cNvSpPr/>
          <p:nvPr/>
        </p:nvSpPr>
        <p:spPr>
          <a:xfrm>
            <a:off x="4952867" y="3202901"/>
            <a:ext cx="1821562" cy="18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Consumer&lt;T&gt;</a:t>
            </a:r>
            <a:endParaRPr lang="en-US" sz="1400" dirty="0"/>
          </a:p>
        </p:txBody>
      </p:sp>
      <p:sp>
        <p:nvSpPr>
          <p:cNvPr id="63" name="Text 35"/>
          <p:cNvSpPr/>
          <p:nvPr/>
        </p:nvSpPr>
        <p:spPr>
          <a:xfrm>
            <a:off x="6800498" y="3177362"/>
            <a:ext cx="20947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→ void</a:t>
            </a:r>
            <a:endParaRPr lang="en-US" sz="1400" dirty="0"/>
          </a:p>
        </p:txBody>
      </p:sp>
      <p:sp>
        <p:nvSpPr>
          <p:cNvPr id="64" name="Text 36"/>
          <p:cNvSpPr/>
          <p:nvPr/>
        </p:nvSpPr>
        <p:spPr>
          <a:xfrm>
            <a:off x="4957120" y="3451682"/>
            <a:ext cx="3961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4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= s -&gt; System.out.println(s)</a:t>
            </a:r>
            <a:endParaRPr lang="en-US" sz="1400" dirty="0"/>
          </a:p>
        </p:txBody>
      </p:sp>
      <p:sp>
        <p:nvSpPr>
          <p:cNvPr id="65" name="Shape 37"/>
          <p:cNvSpPr/>
          <p:nvPr/>
        </p:nvSpPr>
        <p:spPr>
          <a:xfrm>
            <a:off x="4838700" y="3844874"/>
            <a:ext cx="4189592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66" name="Shape 38"/>
          <p:cNvSpPr/>
          <p:nvPr/>
        </p:nvSpPr>
        <p:spPr>
          <a:xfrm>
            <a:off x="4830376" y="3844874"/>
            <a:ext cx="64008" cy="640080"/>
          </a:xfrm>
          <a:prstGeom prst="rect">
            <a:avLst/>
          </a:prstGeom>
          <a:solidFill>
            <a:srgbClr val="58D68D"/>
          </a:solidFill>
          <a:ln w="12700">
            <a:solidFill>
              <a:srgbClr val="58D68D"/>
            </a:solidFill>
            <a:prstDash val="solid"/>
          </a:ln>
        </p:spPr>
      </p:sp>
      <p:sp>
        <p:nvSpPr>
          <p:cNvPr id="68" name="Text 39"/>
          <p:cNvSpPr/>
          <p:nvPr/>
        </p:nvSpPr>
        <p:spPr>
          <a:xfrm>
            <a:off x="4952867" y="3890594"/>
            <a:ext cx="182156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Supplier&lt;T&gt;</a:t>
            </a:r>
            <a:endParaRPr lang="en-US" sz="1400" dirty="0"/>
          </a:p>
        </p:txBody>
      </p:sp>
      <p:sp>
        <p:nvSpPr>
          <p:cNvPr id="70" name="Text 40"/>
          <p:cNvSpPr/>
          <p:nvPr/>
        </p:nvSpPr>
        <p:spPr>
          <a:xfrm>
            <a:off x="6800498" y="3890594"/>
            <a:ext cx="20947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8D6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() → T</a:t>
            </a:r>
            <a:endParaRPr lang="en-US" sz="1400" dirty="0"/>
          </a:p>
        </p:txBody>
      </p:sp>
      <p:sp>
        <p:nvSpPr>
          <p:cNvPr id="71" name="Text 41"/>
          <p:cNvSpPr/>
          <p:nvPr/>
        </p:nvSpPr>
        <p:spPr>
          <a:xfrm>
            <a:off x="4957120" y="4164914"/>
            <a:ext cx="3961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4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 = () -&gt; "Bonjour"</a:t>
            </a:r>
            <a:endParaRPr lang="en-US" sz="1400" dirty="0"/>
          </a:p>
        </p:txBody>
      </p:sp>
      <p:sp>
        <p:nvSpPr>
          <p:cNvPr id="72" name="Shape 42"/>
          <p:cNvSpPr/>
          <p:nvPr/>
        </p:nvSpPr>
        <p:spPr>
          <a:xfrm>
            <a:off x="4838700" y="4558106"/>
            <a:ext cx="4189592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3" name="Shape 43"/>
          <p:cNvSpPr/>
          <p:nvPr/>
        </p:nvSpPr>
        <p:spPr>
          <a:xfrm>
            <a:off x="4830376" y="4558106"/>
            <a:ext cx="64008" cy="64008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74" name="Text 44"/>
          <p:cNvSpPr/>
          <p:nvPr/>
        </p:nvSpPr>
        <p:spPr>
          <a:xfrm>
            <a:off x="4952867" y="4603826"/>
            <a:ext cx="182156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BiFunction&lt;T,U,R&gt;</a:t>
            </a:r>
            <a:endParaRPr lang="en-US" sz="1400" dirty="0"/>
          </a:p>
        </p:txBody>
      </p:sp>
      <p:sp>
        <p:nvSpPr>
          <p:cNvPr id="75" name="Text 45"/>
          <p:cNvSpPr/>
          <p:nvPr/>
        </p:nvSpPr>
        <p:spPr>
          <a:xfrm>
            <a:off x="6796336" y="4603826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(T,U) → R</a:t>
            </a:r>
            <a:endParaRPr lang="en-US" sz="1400" dirty="0"/>
          </a:p>
        </p:txBody>
      </p:sp>
      <p:sp>
        <p:nvSpPr>
          <p:cNvPr id="76" name="Text 46"/>
          <p:cNvSpPr/>
          <p:nvPr/>
        </p:nvSpPr>
        <p:spPr>
          <a:xfrm>
            <a:off x="4949248" y="4878146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4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bf = (a,b) -&gt; a + b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375026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2" grpId="0" animBg="1"/>
      <p:bldP spid="33" grpId="0" animBg="1"/>
      <p:bldP spid="35" grpId="0" animBg="1"/>
      <p:bldP spid="36" grpId="0" animBg="1"/>
      <p:bldP spid="38" grpId="0" animBg="1"/>
      <p:bldP spid="39" grpId="0" animBg="1"/>
      <p:bldP spid="41" grpId="0" animBg="1"/>
      <p:bldP spid="42" grpId="0" animBg="1"/>
      <p:bldP spid="43" grpId="0" animBg="1"/>
      <p:bldP spid="44" grpId="0" animBg="1"/>
      <p:bldP spid="47" grpId="0" animBg="1"/>
      <p:bldP spid="48" grpId="0" animBg="1"/>
      <p:bldP spid="49" grpId="0" animBg="1"/>
      <p:bldP spid="52" grpId="0" animBg="1"/>
      <p:bldP spid="53" grpId="0" animBg="1"/>
      <p:bldP spid="54" grpId="0" animBg="1"/>
      <p:bldP spid="57" grpId="0" animBg="1"/>
      <p:bldP spid="58" grpId="0" animBg="1"/>
      <p:bldP spid="59" grpId="0" animBg="1"/>
      <p:bldP spid="62" grpId="0" animBg="1"/>
      <p:bldP spid="63" grpId="0" animBg="1"/>
      <p:bldP spid="64" grpId="0" animBg="1"/>
      <p:bldP spid="68" grpId="0" animBg="1"/>
      <p:bldP spid="70" grpId="0" animBg="1"/>
      <p:bldP spid="71" grpId="0" animBg="1"/>
      <p:bldP spid="74" grpId="0" animBg="1"/>
      <p:bldP spid="7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6400800"/>
            <a:ext cx="15541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re 1">
            <a:extLst>
              <a:ext uri="{FF2B5EF4-FFF2-40B4-BE49-F238E27FC236}">
                <a16:creationId xmlns:a16="http://schemas.microsoft.com/office/drawing/2014/main" id="{88197348-5CC2-499B-8197-C94C5D8BC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576" y="151802"/>
            <a:ext cx="8208912" cy="540894"/>
          </a:xfr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indent="0">
              <a:buNone/>
            </a:pPr>
            <a:r>
              <a:rPr lang="en-US" sz="2400" cap="none" dirty="0">
                <a:solidFill>
                  <a:srgbClr val="FF0000"/>
                </a:solidFill>
              </a:rPr>
              <a:t>IV. </a:t>
            </a:r>
            <a:r>
              <a:rPr lang="en-US" sz="2400" cap="none" dirty="0" smtClean="0">
                <a:solidFill>
                  <a:srgbClr val="FF0000"/>
                </a:solidFill>
              </a:rPr>
              <a:t>2.</a:t>
            </a:r>
            <a:r>
              <a:rPr lang="fr-FR" sz="2400" dirty="0" smtClean="0">
                <a:solidFill>
                  <a:srgbClr val="FF0000"/>
                </a:solidFill>
                <a:latin typeface="+mn-lt"/>
              </a:rPr>
              <a:t> </a:t>
            </a:r>
            <a:r>
              <a:rPr lang="fr-FR" sz="2400" dirty="0">
                <a:solidFill>
                  <a:srgbClr val="FF0000"/>
                </a:solidFill>
                <a:latin typeface="+mn-lt"/>
              </a:rPr>
              <a:t>Stream API — Pipeline de Données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AC68D4D3-B500-4716-B843-F3048BF30CA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6336" y="6307338"/>
            <a:ext cx="1296144" cy="515307"/>
          </a:xfrm>
          <a:prstGeom prst="rect">
            <a:avLst/>
          </a:prstGeom>
        </p:spPr>
      </p:pic>
      <p:sp>
        <p:nvSpPr>
          <p:cNvPr id="34" name="Text 12"/>
          <p:cNvSpPr/>
          <p:nvPr/>
        </p:nvSpPr>
        <p:spPr>
          <a:xfrm>
            <a:off x="5843571" y="2168683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</a:rPr>
              <a:t>Collection / Array</a:t>
            </a:r>
          </a:p>
        </p:txBody>
      </p:sp>
      <p:sp>
        <p:nvSpPr>
          <p:cNvPr id="39" name="Text 17"/>
          <p:cNvSpPr/>
          <p:nvPr/>
        </p:nvSpPr>
        <p:spPr>
          <a:xfrm>
            <a:off x="5843571" y="2945923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</a:rPr>
              <a:t>Opération intermédiaire</a:t>
            </a:r>
          </a:p>
        </p:txBody>
      </p:sp>
      <p:sp>
        <p:nvSpPr>
          <p:cNvPr id="43" name="Text 21"/>
          <p:cNvSpPr/>
          <p:nvPr/>
        </p:nvSpPr>
        <p:spPr>
          <a:xfrm>
            <a:off x="5816462" y="366397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map()</a:t>
            </a:r>
            <a:endParaRPr lang="en-US" sz="1300" dirty="0"/>
          </a:p>
        </p:txBody>
      </p:sp>
      <p:sp>
        <p:nvSpPr>
          <p:cNvPr id="44" name="Text 22"/>
          <p:cNvSpPr/>
          <p:nvPr/>
        </p:nvSpPr>
        <p:spPr>
          <a:xfrm>
            <a:off x="5816462" y="3956584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</a:rPr>
              <a:t>Opération intermédiaire</a:t>
            </a:r>
          </a:p>
        </p:txBody>
      </p:sp>
      <p:sp>
        <p:nvSpPr>
          <p:cNvPr id="49" name="Text 27"/>
          <p:cNvSpPr/>
          <p:nvPr/>
        </p:nvSpPr>
        <p:spPr>
          <a:xfrm>
            <a:off x="5816462" y="4733824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</a:rPr>
              <a:t>Opération terminale</a:t>
            </a:r>
          </a:p>
        </p:txBody>
      </p:sp>
      <p:sp>
        <p:nvSpPr>
          <p:cNvPr id="50" name="Shape 2"/>
          <p:cNvSpPr/>
          <p:nvPr/>
        </p:nvSpPr>
        <p:spPr>
          <a:xfrm>
            <a:off x="369787" y="1069902"/>
            <a:ext cx="8595360" cy="548640"/>
          </a:xfrm>
          <a:prstGeom prst="rect">
            <a:avLst/>
          </a:prstGeom>
          <a:solidFill>
            <a:srgbClr val="E8F8E8"/>
          </a:solidFill>
          <a:ln/>
        </p:spPr>
      </p:sp>
      <p:sp>
        <p:nvSpPr>
          <p:cNvPr id="51" name="Shape 3"/>
          <p:cNvSpPr/>
          <p:nvPr/>
        </p:nvSpPr>
        <p:spPr>
          <a:xfrm>
            <a:off x="369787" y="1069902"/>
            <a:ext cx="64008" cy="5486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52" name="Text 4"/>
          <p:cNvSpPr/>
          <p:nvPr/>
        </p:nvSpPr>
        <p:spPr>
          <a:xfrm>
            <a:off x="552667" y="106990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Stream est une séquence d'éléments sur laquelle on applique des opérations </a:t>
            </a:r>
            <a:r>
              <a:rPr lang="en-US" sz="1400" dirty="0" err="1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4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chaîne (pipeline). Il ne modifie pas la collection source — il produit un nouveau résultat.</a:t>
            </a:r>
            <a:endParaRPr lang="en-US" sz="1400" dirty="0"/>
          </a:p>
        </p:txBody>
      </p:sp>
      <p:sp>
        <p:nvSpPr>
          <p:cNvPr id="53" name="Shape 5"/>
          <p:cNvSpPr/>
          <p:nvPr/>
        </p:nvSpPr>
        <p:spPr>
          <a:xfrm>
            <a:off x="344158" y="1885343"/>
            <a:ext cx="1554480" cy="1188720"/>
          </a:xfrm>
          <a:prstGeom prst="rect">
            <a:avLst/>
          </a:prstGeom>
          <a:solidFill>
            <a:srgbClr val="1A5276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4" name="Text 6"/>
          <p:cNvSpPr/>
          <p:nvPr/>
        </p:nvSpPr>
        <p:spPr>
          <a:xfrm>
            <a:off x="344158" y="1931063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📦</a:t>
            </a:r>
            <a:endParaRPr lang="en-US" sz="1400" dirty="0"/>
          </a:p>
        </p:txBody>
      </p:sp>
      <p:sp>
        <p:nvSpPr>
          <p:cNvPr id="55" name="Text 7"/>
          <p:cNvSpPr/>
          <p:nvPr/>
        </p:nvSpPr>
        <p:spPr>
          <a:xfrm>
            <a:off x="344158" y="2251103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</a:t>
            </a:r>
            <a:endParaRPr lang="en-US" sz="1400" dirty="0"/>
          </a:p>
        </p:txBody>
      </p:sp>
      <p:sp>
        <p:nvSpPr>
          <p:cNvPr id="56" name="Text 8"/>
          <p:cNvSpPr/>
          <p:nvPr/>
        </p:nvSpPr>
        <p:spPr>
          <a:xfrm>
            <a:off x="344158" y="2543711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C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/ Array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CC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fichier</a:t>
            </a:r>
            <a:endParaRPr lang="en-US" sz="1400" dirty="0"/>
          </a:p>
        </p:txBody>
      </p:sp>
      <p:sp>
        <p:nvSpPr>
          <p:cNvPr id="57" name="Text 9"/>
          <p:cNvSpPr/>
          <p:nvPr/>
        </p:nvSpPr>
        <p:spPr>
          <a:xfrm>
            <a:off x="1916926" y="2251103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7AE60"/>
                </a:solidFill>
              </a:rPr>
              <a:t>→</a:t>
            </a:r>
            <a:endParaRPr lang="en-US" sz="1400" dirty="0"/>
          </a:p>
        </p:txBody>
      </p:sp>
      <p:sp>
        <p:nvSpPr>
          <p:cNvPr id="58" name="Shape 10"/>
          <p:cNvSpPr/>
          <p:nvPr/>
        </p:nvSpPr>
        <p:spPr>
          <a:xfrm>
            <a:off x="2081518" y="1885343"/>
            <a:ext cx="1554480" cy="1188720"/>
          </a:xfrm>
          <a:prstGeom prst="rect">
            <a:avLst/>
          </a:prstGeom>
          <a:solidFill>
            <a:srgbClr val="1E8449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9" name="Text 11"/>
          <p:cNvSpPr/>
          <p:nvPr/>
        </p:nvSpPr>
        <p:spPr>
          <a:xfrm>
            <a:off x="2081518" y="1931063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🔍</a:t>
            </a:r>
            <a:endParaRPr lang="en-US" sz="1400" dirty="0"/>
          </a:p>
        </p:txBody>
      </p:sp>
      <p:sp>
        <p:nvSpPr>
          <p:cNvPr id="60" name="Text 12"/>
          <p:cNvSpPr/>
          <p:nvPr/>
        </p:nvSpPr>
        <p:spPr>
          <a:xfrm>
            <a:off x="2081518" y="2251103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filter()</a:t>
            </a:r>
            <a:endParaRPr lang="en-US" sz="1400" dirty="0"/>
          </a:p>
        </p:txBody>
      </p:sp>
      <p:sp>
        <p:nvSpPr>
          <p:cNvPr id="61" name="Text 13"/>
          <p:cNvSpPr/>
          <p:nvPr/>
        </p:nvSpPr>
        <p:spPr>
          <a:xfrm>
            <a:off x="2081518" y="2543711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C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Opération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CC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intermédiaire</a:t>
            </a:r>
            <a:endParaRPr lang="en-US" sz="1400" dirty="0"/>
          </a:p>
        </p:txBody>
      </p:sp>
      <p:sp>
        <p:nvSpPr>
          <p:cNvPr id="62" name="Text 14"/>
          <p:cNvSpPr/>
          <p:nvPr/>
        </p:nvSpPr>
        <p:spPr>
          <a:xfrm>
            <a:off x="3654286" y="2251103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7AE60"/>
                </a:solidFill>
              </a:rPr>
              <a:t>→</a:t>
            </a:r>
            <a:endParaRPr lang="en-US" sz="1400" dirty="0"/>
          </a:p>
        </p:txBody>
      </p:sp>
      <p:sp>
        <p:nvSpPr>
          <p:cNvPr id="63" name="Shape 15"/>
          <p:cNvSpPr/>
          <p:nvPr/>
        </p:nvSpPr>
        <p:spPr>
          <a:xfrm>
            <a:off x="3818878" y="1885343"/>
            <a:ext cx="1554480" cy="1188720"/>
          </a:xfrm>
          <a:prstGeom prst="rect">
            <a:avLst/>
          </a:prstGeom>
          <a:solidFill>
            <a:srgbClr val="27AE60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4" name="Text 16"/>
          <p:cNvSpPr/>
          <p:nvPr/>
        </p:nvSpPr>
        <p:spPr>
          <a:xfrm>
            <a:off x="3818878" y="1931063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🔄</a:t>
            </a:r>
            <a:endParaRPr lang="en-US" sz="1400" dirty="0"/>
          </a:p>
        </p:txBody>
      </p:sp>
      <p:sp>
        <p:nvSpPr>
          <p:cNvPr id="65" name="Text 17"/>
          <p:cNvSpPr/>
          <p:nvPr/>
        </p:nvSpPr>
        <p:spPr>
          <a:xfrm>
            <a:off x="3818878" y="2251103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map()</a:t>
            </a:r>
            <a:endParaRPr lang="en-US" sz="1400" dirty="0"/>
          </a:p>
        </p:txBody>
      </p:sp>
      <p:sp>
        <p:nvSpPr>
          <p:cNvPr id="66" name="Text 18"/>
          <p:cNvSpPr/>
          <p:nvPr/>
        </p:nvSpPr>
        <p:spPr>
          <a:xfrm>
            <a:off x="3818878" y="2543711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C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Opération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CC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intermédiaire</a:t>
            </a:r>
            <a:endParaRPr lang="en-US" sz="1400" dirty="0"/>
          </a:p>
        </p:txBody>
      </p:sp>
      <p:sp>
        <p:nvSpPr>
          <p:cNvPr id="67" name="Text 19"/>
          <p:cNvSpPr/>
          <p:nvPr/>
        </p:nvSpPr>
        <p:spPr>
          <a:xfrm>
            <a:off x="5391646" y="2251103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7AE60"/>
                </a:solidFill>
              </a:rPr>
              <a:t>→</a:t>
            </a:r>
            <a:endParaRPr lang="en-US" sz="1400" dirty="0"/>
          </a:p>
        </p:txBody>
      </p:sp>
      <p:sp>
        <p:nvSpPr>
          <p:cNvPr id="68" name="Shape 20"/>
          <p:cNvSpPr/>
          <p:nvPr/>
        </p:nvSpPr>
        <p:spPr>
          <a:xfrm>
            <a:off x="5556238" y="1885343"/>
            <a:ext cx="1554480" cy="1188720"/>
          </a:xfrm>
          <a:prstGeom prst="rect">
            <a:avLst/>
          </a:prstGeom>
          <a:solidFill>
            <a:srgbClr val="2ECC71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9" name="Text 21"/>
          <p:cNvSpPr/>
          <p:nvPr/>
        </p:nvSpPr>
        <p:spPr>
          <a:xfrm>
            <a:off x="5556238" y="1931063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↕️</a:t>
            </a:r>
            <a:endParaRPr lang="en-US" sz="1400" dirty="0"/>
          </a:p>
        </p:txBody>
      </p:sp>
      <p:sp>
        <p:nvSpPr>
          <p:cNvPr id="70" name="Text 22"/>
          <p:cNvSpPr/>
          <p:nvPr/>
        </p:nvSpPr>
        <p:spPr>
          <a:xfrm>
            <a:off x="5556238" y="2251103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sorted()</a:t>
            </a:r>
            <a:endParaRPr lang="en-US" sz="1400" dirty="0"/>
          </a:p>
        </p:txBody>
      </p:sp>
      <p:sp>
        <p:nvSpPr>
          <p:cNvPr id="71" name="Text 23"/>
          <p:cNvSpPr/>
          <p:nvPr/>
        </p:nvSpPr>
        <p:spPr>
          <a:xfrm>
            <a:off x="5556238" y="2543711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C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Opération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CC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intermédiaire</a:t>
            </a:r>
            <a:endParaRPr lang="en-US" sz="1400" dirty="0"/>
          </a:p>
        </p:txBody>
      </p:sp>
      <p:sp>
        <p:nvSpPr>
          <p:cNvPr id="72" name="Text 24"/>
          <p:cNvSpPr/>
          <p:nvPr/>
        </p:nvSpPr>
        <p:spPr>
          <a:xfrm>
            <a:off x="7129006" y="2251103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7AE60"/>
                </a:solidFill>
              </a:rPr>
              <a:t>→</a:t>
            </a:r>
            <a:endParaRPr lang="en-US" sz="1400" dirty="0"/>
          </a:p>
        </p:txBody>
      </p:sp>
      <p:sp>
        <p:nvSpPr>
          <p:cNvPr id="73" name="Shape 25"/>
          <p:cNvSpPr/>
          <p:nvPr/>
        </p:nvSpPr>
        <p:spPr>
          <a:xfrm>
            <a:off x="7293598" y="1885343"/>
            <a:ext cx="1554480" cy="1188720"/>
          </a:xfrm>
          <a:prstGeom prst="rect">
            <a:avLst/>
          </a:prstGeom>
          <a:solidFill>
            <a:srgbClr val="C0392B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4" name="Text 26"/>
          <p:cNvSpPr/>
          <p:nvPr/>
        </p:nvSpPr>
        <p:spPr>
          <a:xfrm>
            <a:off x="7293598" y="1931063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🎯</a:t>
            </a:r>
            <a:endParaRPr lang="en-US" sz="1400" dirty="0"/>
          </a:p>
        </p:txBody>
      </p:sp>
      <p:sp>
        <p:nvSpPr>
          <p:cNvPr id="75" name="Text 27"/>
          <p:cNvSpPr/>
          <p:nvPr/>
        </p:nvSpPr>
        <p:spPr>
          <a:xfrm>
            <a:off x="7293598" y="2251103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collect()</a:t>
            </a:r>
            <a:endParaRPr lang="en-US" sz="1400" dirty="0"/>
          </a:p>
        </p:txBody>
      </p:sp>
      <p:sp>
        <p:nvSpPr>
          <p:cNvPr id="76" name="Text 28"/>
          <p:cNvSpPr/>
          <p:nvPr/>
        </p:nvSpPr>
        <p:spPr>
          <a:xfrm>
            <a:off x="7293598" y="2543711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C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Opération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CC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terminale</a:t>
            </a:r>
            <a:endParaRPr lang="en-US" sz="1400" dirty="0"/>
          </a:p>
        </p:txBody>
      </p:sp>
      <p:sp>
        <p:nvSpPr>
          <p:cNvPr id="77" name="Text 29"/>
          <p:cNvSpPr/>
          <p:nvPr/>
        </p:nvSpPr>
        <p:spPr>
          <a:xfrm>
            <a:off x="1121398" y="3305011"/>
            <a:ext cx="6913842" cy="3343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Opérations intermédiaires (lazy)                                    Opérations terminales (eager)</a:t>
            </a:r>
            <a:endParaRPr lang="en-US" sz="1400" dirty="0"/>
          </a:p>
        </p:txBody>
      </p:sp>
      <p:sp>
        <p:nvSpPr>
          <p:cNvPr id="78" name="Shape 30"/>
          <p:cNvSpPr/>
          <p:nvPr/>
        </p:nvSpPr>
        <p:spPr>
          <a:xfrm>
            <a:off x="317049" y="3782972"/>
            <a:ext cx="4160520" cy="310896"/>
          </a:xfrm>
          <a:prstGeom prst="rect">
            <a:avLst/>
          </a:prstGeom>
          <a:solidFill>
            <a:srgbClr val="E8F8E8"/>
          </a:solidFill>
          <a:ln/>
        </p:spPr>
      </p:sp>
      <p:sp>
        <p:nvSpPr>
          <p:cNvPr id="79" name="Text 31"/>
          <p:cNvSpPr/>
          <p:nvPr/>
        </p:nvSpPr>
        <p:spPr>
          <a:xfrm>
            <a:off x="408489" y="380126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84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filter(Predicate)</a:t>
            </a:r>
            <a:endParaRPr lang="en-US" sz="1400" dirty="0"/>
          </a:p>
        </p:txBody>
      </p:sp>
      <p:sp>
        <p:nvSpPr>
          <p:cNvPr id="80" name="Text 32"/>
          <p:cNvSpPr/>
          <p:nvPr/>
        </p:nvSpPr>
        <p:spPr>
          <a:xfrm>
            <a:off x="2164137" y="3801260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Garde les éléments qui correspondent</a:t>
            </a:r>
            <a:endParaRPr lang="en-US" sz="1400" dirty="0"/>
          </a:p>
        </p:txBody>
      </p:sp>
      <p:sp>
        <p:nvSpPr>
          <p:cNvPr id="81" name="Shape 33"/>
          <p:cNvSpPr/>
          <p:nvPr/>
        </p:nvSpPr>
        <p:spPr>
          <a:xfrm>
            <a:off x="317049" y="4130444"/>
            <a:ext cx="4160520" cy="310896"/>
          </a:xfrm>
          <a:prstGeom prst="rect">
            <a:avLst/>
          </a:prstGeom>
          <a:solidFill>
            <a:srgbClr val="F0FFF0"/>
          </a:solidFill>
          <a:ln/>
        </p:spPr>
      </p:sp>
      <p:sp>
        <p:nvSpPr>
          <p:cNvPr id="82" name="Text 34"/>
          <p:cNvSpPr/>
          <p:nvPr/>
        </p:nvSpPr>
        <p:spPr>
          <a:xfrm>
            <a:off x="408489" y="414873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84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map(Function)</a:t>
            </a:r>
            <a:endParaRPr lang="en-US" sz="1400" dirty="0"/>
          </a:p>
        </p:txBody>
      </p:sp>
      <p:sp>
        <p:nvSpPr>
          <p:cNvPr id="83" name="Text 35"/>
          <p:cNvSpPr/>
          <p:nvPr/>
        </p:nvSpPr>
        <p:spPr>
          <a:xfrm>
            <a:off x="2164137" y="4148732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 chaque élément</a:t>
            </a:r>
            <a:endParaRPr lang="en-US" sz="1400" dirty="0"/>
          </a:p>
        </p:txBody>
      </p:sp>
      <p:sp>
        <p:nvSpPr>
          <p:cNvPr id="84" name="Shape 36"/>
          <p:cNvSpPr/>
          <p:nvPr/>
        </p:nvSpPr>
        <p:spPr>
          <a:xfrm>
            <a:off x="317049" y="4477916"/>
            <a:ext cx="4160520" cy="310896"/>
          </a:xfrm>
          <a:prstGeom prst="rect">
            <a:avLst/>
          </a:prstGeom>
          <a:solidFill>
            <a:srgbClr val="E8F8E8"/>
          </a:solidFill>
          <a:ln/>
        </p:spPr>
      </p:sp>
      <p:sp>
        <p:nvSpPr>
          <p:cNvPr id="85" name="Text 37"/>
          <p:cNvSpPr/>
          <p:nvPr/>
        </p:nvSpPr>
        <p:spPr>
          <a:xfrm>
            <a:off x="408489" y="449620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84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sorted()</a:t>
            </a:r>
            <a:endParaRPr lang="en-US" sz="1400" dirty="0"/>
          </a:p>
        </p:txBody>
      </p:sp>
      <p:sp>
        <p:nvSpPr>
          <p:cNvPr id="86" name="Text 38"/>
          <p:cNvSpPr/>
          <p:nvPr/>
        </p:nvSpPr>
        <p:spPr>
          <a:xfrm>
            <a:off x="2164137" y="4496204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Trie les éléments</a:t>
            </a:r>
            <a:endParaRPr lang="en-US" sz="1400" dirty="0"/>
          </a:p>
        </p:txBody>
      </p:sp>
      <p:sp>
        <p:nvSpPr>
          <p:cNvPr id="87" name="Shape 39"/>
          <p:cNvSpPr/>
          <p:nvPr/>
        </p:nvSpPr>
        <p:spPr>
          <a:xfrm>
            <a:off x="317049" y="4825388"/>
            <a:ext cx="4160520" cy="310896"/>
          </a:xfrm>
          <a:prstGeom prst="rect">
            <a:avLst/>
          </a:prstGeom>
          <a:solidFill>
            <a:srgbClr val="F0FFF0"/>
          </a:solidFill>
          <a:ln/>
        </p:spPr>
      </p:sp>
      <p:sp>
        <p:nvSpPr>
          <p:cNvPr id="88" name="Text 40"/>
          <p:cNvSpPr/>
          <p:nvPr/>
        </p:nvSpPr>
        <p:spPr>
          <a:xfrm>
            <a:off x="408489" y="484367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84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distinct()</a:t>
            </a:r>
            <a:endParaRPr lang="en-US" sz="1400" dirty="0"/>
          </a:p>
        </p:txBody>
      </p:sp>
      <p:sp>
        <p:nvSpPr>
          <p:cNvPr id="89" name="Text 41"/>
          <p:cNvSpPr/>
          <p:nvPr/>
        </p:nvSpPr>
        <p:spPr>
          <a:xfrm>
            <a:off x="2164137" y="4843676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Supprime les doublons</a:t>
            </a:r>
            <a:endParaRPr lang="en-US" sz="1400" dirty="0"/>
          </a:p>
        </p:txBody>
      </p:sp>
      <p:sp>
        <p:nvSpPr>
          <p:cNvPr id="90" name="Shape 42"/>
          <p:cNvSpPr/>
          <p:nvPr/>
        </p:nvSpPr>
        <p:spPr>
          <a:xfrm>
            <a:off x="317049" y="5172860"/>
            <a:ext cx="4160520" cy="310896"/>
          </a:xfrm>
          <a:prstGeom prst="rect">
            <a:avLst/>
          </a:prstGeom>
          <a:solidFill>
            <a:srgbClr val="E8F8E8"/>
          </a:solidFill>
          <a:ln/>
        </p:spPr>
      </p:sp>
      <p:sp>
        <p:nvSpPr>
          <p:cNvPr id="91" name="Text 43"/>
          <p:cNvSpPr/>
          <p:nvPr/>
        </p:nvSpPr>
        <p:spPr>
          <a:xfrm>
            <a:off x="408489" y="519114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84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limit(n)</a:t>
            </a:r>
            <a:endParaRPr lang="en-US" sz="1400" dirty="0"/>
          </a:p>
        </p:txBody>
      </p:sp>
      <p:sp>
        <p:nvSpPr>
          <p:cNvPr id="92" name="Text 44"/>
          <p:cNvSpPr/>
          <p:nvPr/>
        </p:nvSpPr>
        <p:spPr>
          <a:xfrm>
            <a:off x="2164137" y="5191148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Garde les n premiers éléments</a:t>
            </a:r>
            <a:endParaRPr lang="en-US" sz="1400" dirty="0"/>
          </a:p>
        </p:txBody>
      </p:sp>
      <p:sp>
        <p:nvSpPr>
          <p:cNvPr id="93" name="Shape 45"/>
          <p:cNvSpPr/>
          <p:nvPr/>
        </p:nvSpPr>
        <p:spPr>
          <a:xfrm>
            <a:off x="4751889" y="3782972"/>
            <a:ext cx="4160520" cy="310896"/>
          </a:xfrm>
          <a:prstGeom prst="rect">
            <a:avLst/>
          </a:prstGeom>
          <a:solidFill>
            <a:srgbClr val="FDECEA"/>
          </a:solidFill>
          <a:ln/>
        </p:spPr>
      </p:sp>
      <p:sp>
        <p:nvSpPr>
          <p:cNvPr id="94" name="Text 46"/>
          <p:cNvSpPr/>
          <p:nvPr/>
        </p:nvSpPr>
        <p:spPr>
          <a:xfrm>
            <a:off x="4843329" y="380126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collect()</a:t>
            </a:r>
            <a:endParaRPr lang="en-US" sz="1400" dirty="0"/>
          </a:p>
        </p:txBody>
      </p:sp>
      <p:sp>
        <p:nvSpPr>
          <p:cNvPr id="95" name="Text 47"/>
          <p:cNvSpPr/>
          <p:nvPr/>
        </p:nvSpPr>
        <p:spPr>
          <a:xfrm>
            <a:off x="6598977" y="3801260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 </a:t>
            </a:r>
            <a:r>
              <a:rPr lang="en-US" sz="1400" dirty="0" err="1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4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List, Set, Map...</a:t>
            </a:r>
            <a:endParaRPr lang="en-US" sz="1400" dirty="0"/>
          </a:p>
        </p:txBody>
      </p:sp>
      <p:sp>
        <p:nvSpPr>
          <p:cNvPr id="96" name="Shape 48"/>
          <p:cNvSpPr/>
          <p:nvPr/>
        </p:nvSpPr>
        <p:spPr>
          <a:xfrm>
            <a:off x="4751889" y="4130444"/>
            <a:ext cx="4160520" cy="310896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97" name="Text 49"/>
          <p:cNvSpPr/>
          <p:nvPr/>
        </p:nvSpPr>
        <p:spPr>
          <a:xfrm>
            <a:off x="4843329" y="414873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forEach()</a:t>
            </a:r>
            <a:endParaRPr lang="en-US" sz="1400" dirty="0"/>
          </a:p>
        </p:txBody>
      </p:sp>
      <p:sp>
        <p:nvSpPr>
          <p:cNvPr id="98" name="Text 50"/>
          <p:cNvSpPr/>
          <p:nvPr/>
        </p:nvSpPr>
        <p:spPr>
          <a:xfrm>
            <a:off x="6598977" y="4148732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Itère sur chaque élément</a:t>
            </a:r>
            <a:endParaRPr lang="en-US" sz="1400" dirty="0"/>
          </a:p>
        </p:txBody>
      </p:sp>
      <p:sp>
        <p:nvSpPr>
          <p:cNvPr id="99" name="Shape 51"/>
          <p:cNvSpPr/>
          <p:nvPr/>
        </p:nvSpPr>
        <p:spPr>
          <a:xfrm>
            <a:off x="4751889" y="4477916"/>
            <a:ext cx="4160520" cy="310896"/>
          </a:xfrm>
          <a:prstGeom prst="rect">
            <a:avLst/>
          </a:prstGeom>
          <a:solidFill>
            <a:srgbClr val="FDECEA"/>
          </a:solidFill>
          <a:ln/>
        </p:spPr>
      </p:sp>
      <p:sp>
        <p:nvSpPr>
          <p:cNvPr id="100" name="Text 52"/>
          <p:cNvSpPr/>
          <p:nvPr/>
        </p:nvSpPr>
        <p:spPr>
          <a:xfrm>
            <a:off x="4843329" y="449620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count()</a:t>
            </a:r>
            <a:endParaRPr lang="en-US" sz="1400" dirty="0"/>
          </a:p>
        </p:txBody>
      </p:sp>
      <p:sp>
        <p:nvSpPr>
          <p:cNvPr id="101" name="Text 53"/>
          <p:cNvSpPr/>
          <p:nvPr/>
        </p:nvSpPr>
        <p:spPr>
          <a:xfrm>
            <a:off x="6598977" y="4496204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 le nombre d'éléments</a:t>
            </a:r>
            <a:endParaRPr lang="en-US" sz="1400" dirty="0"/>
          </a:p>
        </p:txBody>
      </p:sp>
      <p:sp>
        <p:nvSpPr>
          <p:cNvPr id="102" name="Shape 54"/>
          <p:cNvSpPr/>
          <p:nvPr/>
        </p:nvSpPr>
        <p:spPr>
          <a:xfrm>
            <a:off x="4751889" y="4825388"/>
            <a:ext cx="4160520" cy="310896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103" name="Text 55"/>
          <p:cNvSpPr/>
          <p:nvPr/>
        </p:nvSpPr>
        <p:spPr>
          <a:xfrm>
            <a:off x="4843329" y="484367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findFirst()</a:t>
            </a:r>
            <a:endParaRPr lang="en-US" sz="1400" dirty="0"/>
          </a:p>
        </p:txBody>
      </p:sp>
      <p:sp>
        <p:nvSpPr>
          <p:cNvPr id="104" name="Text 56"/>
          <p:cNvSpPr/>
          <p:nvPr/>
        </p:nvSpPr>
        <p:spPr>
          <a:xfrm>
            <a:off x="6598977" y="4843676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Retourne le premier élément (Optional)</a:t>
            </a:r>
            <a:endParaRPr lang="en-US" sz="1400" dirty="0"/>
          </a:p>
        </p:txBody>
      </p:sp>
      <p:sp>
        <p:nvSpPr>
          <p:cNvPr id="105" name="Shape 57"/>
          <p:cNvSpPr/>
          <p:nvPr/>
        </p:nvSpPr>
        <p:spPr>
          <a:xfrm>
            <a:off x="4751889" y="5172860"/>
            <a:ext cx="4160520" cy="310896"/>
          </a:xfrm>
          <a:prstGeom prst="rect">
            <a:avLst/>
          </a:prstGeom>
          <a:solidFill>
            <a:srgbClr val="FDECEA"/>
          </a:solidFill>
          <a:ln/>
        </p:spPr>
      </p:sp>
      <p:sp>
        <p:nvSpPr>
          <p:cNvPr id="106" name="Text 58"/>
          <p:cNvSpPr/>
          <p:nvPr/>
        </p:nvSpPr>
        <p:spPr>
          <a:xfrm>
            <a:off x="4843329" y="519114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reduce()</a:t>
            </a:r>
            <a:endParaRPr lang="en-US" sz="1400" dirty="0"/>
          </a:p>
        </p:txBody>
      </p:sp>
      <p:sp>
        <p:nvSpPr>
          <p:cNvPr id="107" name="Text 59"/>
          <p:cNvSpPr/>
          <p:nvPr/>
        </p:nvSpPr>
        <p:spPr>
          <a:xfrm>
            <a:off x="6598977" y="5191148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Réduit à une seule valeur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9353528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  <p:bldP spid="49" grpId="0" animBg="1"/>
      <p:bldP spid="52" grpId="0" animBg="1"/>
      <p:bldP spid="54" grpId="0" animBg="1"/>
      <p:bldP spid="55" grpId="0" animBg="1"/>
      <p:bldP spid="56" grpId="0" animBg="1"/>
      <p:bldP spid="57" grpId="0" animBg="1"/>
      <p:bldP spid="59" grpId="0" animBg="1"/>
      <p:bldP spid="60" grpId="0" animBg="1"/>
      <p:bldP spid="61" grpId="0" animBg="1"/>
      <p:bldP spid="62" grpId="0" animBg="1"/>
      <p:bldP spid="64" grpId="0" animBg="1"/>
      <p:bldP spid="65" grpId="0" animBg="1"/>
      <p:bldP spid="66" grpId="0" animBg="1"/>
      <p:bldP spid="67" grpId="0" animBg="1"/>
      <p:bldP spid="69" grpId="0" animBg="1"/>
      <p:bldP spid="70" grpId="0" animBg="1"/>
      <p:bldP spid="71" grpId="0" animBg="1"/>
      <p:bldP spid="72" grpId="0" animBg="1"/>
      <p:bldP spid="74" grpId="0" animBg="1"/>
      <p:bldP spid="75" grpId="0" animBg="1"/>
      <p:bldP spid="76" grpId="0" animBg="1"/>
      <p:bldP spid="77" grpId="0" animBg="1"/>
      <p:bldP spid="79" grpId="0" animBg="1"/>
      <p:bldP spid="80" grpId="0" animBg="1"/>
      <p:bldP spid="82" grpId="0" animBg="1"/>
      <p:bldP spid="83" grpId="0" animBg="1"/>
      <p:bldP spid="85" grpId="0" animBg="1"/>
      <p:bldP spid="86" grpId="0" animBg="1"/>
      <p:bldP spid="88" grpId="0" animBg="1"/>
      <p:bldP spid="89" grpId="0" animBg="1"/>
      <p:bldP spid="91" grpId="0" animBg="1"/>
      <p:bldP spid="92" grpId="0" animBg="1"/>
      <p:bldP spid="94" grpId="0" animBg="1"/>
      <p:bldP spid="95" grpId="0" animBg="1"/>
      <p:bldP spid="97" grpId="0" animBg="1"/>
      <p:bldP spid="98" grpId="0" animBg="1"/>
      <p:bldP spid="100" grpId="0" animBg="1"/>
      <p:bldP spid="101" grpId="0" animBg="1"/>
      <p:bldP spid="103" grpId="0" animBg="1"/>
      <p:bldP spid="104" grpId="0" animBg="1"/>
      <p:bldP spid="106" grpId="0" animBg="1"/>
      <p:bldP spid="10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6400800"/>
            <a:ext cx="15541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re 1">
            <a:extLst>
              <a:ext uri="{FF2B5EF4-FFF2-40B4-BE49-F238E27FC236}">
                <a16:creationId xmlns:a16="http://schemas.microsoft.com/office/drawing/2014/main" id="{88197348-5CC2-499B-8197-C94C5D8BC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576" y="151802"/>
            <a:ext cx="8208912" cy="540894"/>
          </a:xfr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indent="0">
              <a:buNone/>
            </a:pPr>
            <a:r>
              <a:rPr lang="en-US" sz="2400" cap="none" dirty="0">
                <a:solidFill>
                  <a:srgbClr val="FF0000"/>
                </a:solidFill>
              </a:rPr>
              <a:t>IV. </a:t>
            </a:r>
            <a:r>
              <a:rPr lang="en-US" sz="2400" cap="none" dirty="0" smtClean="0">
                <a:solidFill>
                  <a:srgbClr val="FF0000"/>
                </a:solidFill>
              </a:rPr>
              <a:t>2.</a:t>
            </a:r>
            <a:r>
              <a:rPr lang="fr-FR" sz="2400" dirty="0" smtClean="0">
                <a:solidFill>
                  <a:srgbClr val="FF0000"/>
                </a:solidFill>
                <a:latin typeface="+mn-lt"/>
              </a:rPr>
              <a:t>  </a:t>
            </a:r>
            <a:r>
              <a:rPr lang="fr-FR" sz="2400" dirty="0">
                <a:solidFill>
                  <a:srgbClr val="FF0000"/>
                </a:solidFill>
                <a:latin typeface="+mn-lt"/>
              </a:rPr>
              <a:t>Stream API — Pipeline de Données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AC68D4D3-B500-4716-B843-F3048BF30CA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6336" y="6307338"/>
            <a:ext cx="1296144" cy="515307"/>
          </a:xfrm>
          <a:prstGeom prst="rect">
            <a:avLst/>
          </a:prstGeom>
        </p:spPr>
      </p:pic>
      <p:sp>
        <p:nvSpPr>
          <p:cNvPr id="190" name="Shape 2"/>
          <p:cNvSpPr/>
          <p:nvPr/>
        </p:nvSpPr>
        <p:spPr>
          <a:xfrm>
            <a:off x="250626" y="1045074"/>
            <a:ext cx="8595360" cy="502920"/>
          </a:xfrm>
          <a:prstGeom prst="rect">
            <a:avLst/>
          </a:prstGeom>
          <a:solidFill>
            <a:srgbClr val="E8F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1" name="Text 3"/>
          <p:cNvSpPr/>
          <p:nvPr/>
        </p:nvSpPr>
        <p:spPr>
          <a:xfrm>
            <a:off x="592705" y="945772"/>
            <a:ext cx="8229600" cy="641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1A3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👨‍💼  Scénario : Filtrer les employés seniors (salaire &gt; 50 000€), extraire leurs noms, trier et afficher — </a:t>
            </a:r>
            <a:r>
              <a:rPr lang="en-US" sz="1400" dirty="0" err="1">
                <a:solidFill>
                  <a:srgbClr val="1A3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en</a:t>
            </a:r>
            <a:r>
              <a:rPr lang="en-US" sz="1400" dirty="0">
                <a:solidFill>
                  <a:srgbClr val="1A3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quelques lignes avec Lambda + Stream.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2" name="Shape 4"/>
          <p:cNvSpPr/>
          <p:nvPr/>
        </p:nvSpPr>
        <p:spPr>
          <a:xfrm>
            <a:off x="336673" y="2126298"/>
            <a:ext cx="5303520" cy="3429000"/>
          </a:xfrm>
          <a:prstGeom prst="rect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3" name="Text 5"/>
          <p:cNvSpPr/>
          <p:nvPr/>
        </p:nvSpPr>
        <p:spPr>
          <a:xfrm>
            <a:off x="473833" y="219945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Modèle</a:t>
            </a:r>
            <a:endParaRPr lang="en-US" sz="1400" b="1" dirty="0"/>
          </a:p>
        </p:txBody>
      </p:sp>
      <p:sp>
        <p:nvSpPr>
          <p:cNvPr id="194" name="Text 6"/>
          <p:cNvSpPr/>
          <p:nvPr/>
        </p:nvSpPr>
        <p:spPr>
          <a:xfrm>
            <a:off x="473833" y="2373186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Employe {</a:t>
            </a:r>
            <a:endParaRPr lang="en-US" sz="1400" b="1" dirty="0"/>
          </a:p>
        </p:txBody>
      </p:sp>
      <p:sp>
        <p:nvSpPr>
          <p:cNvPr id="195" name="Text 7"/>
          <p:cNvSpPr/>
          <p:nvPr/>
        </p:nvSpPr>
        <p:spPr>
          <a:xfrm>
            <a:off x="473833" y="254692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b="1" dirty="0">
                <a:solidFill>
                  <a:srgbClr val="FF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nom;</a:t>
            </a:r>
            <a:endParaRPr lang="en-US" sz="1400" b="1" dirty="0">
              <a:solidFill>
                <a:srgbClr val="FF0000"/>
              </a:solidFill>
            </a:endParaRPr>
          </a:p>
        </p:txBody>
      </p:sp>
      <p:sp>
        <p:nvSpPr>
          <p:cNvPr id="196" name="Text 8"/>
          <p:cNvSpPr/>
          <p:nvPr/>
        </p:nvSpPr>
        <p:spPr>
          <a:xfrm>
            <a:off x="473833" y="2720658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b="1" dirty="0">
                <a:solidFill>
                  <a:srgbClr val="FF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 salaire;</a:t>
            </a:r>
            <a:endParaRPr lang="en-US" sz="1400" b="1" dirty="0">
              <a:solidFill>
                <a:srgbClr val="FF0000"/>
              </a:solidFill>
            </a:endParaRPr>
          </a:p>
        </p:txBody>
      </p:sp>
      <p:sp>
        <p:nvSpPr>
          <p:cNvPr id="197" name="Text 9"/>
          <p:cNvSpPr/>
          <p:nvPr/>
        </p:nvSpPr>
        <p:spPr>
          <a:xfrm>
            <a:off x="473833" y="2894394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b="1" dirty="0">
                <a:solidFill>
                  <a:srgbClr val="FF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departement;</a:t>
            </a:r>
            <a:endParaRPr lang="en-US" sz="1400" b="1" dirty="0">
              <a:solidFill>
                <a:srgbClr val="FF0000"/>
              </a:solidFill>
            </a:endParaRPr>
          </a:p>
        </p:txBody>
      </p:sp>
      <p:sp>
        <p:nvSpPr>
          <p:cNvPr id="198" name="Text 10"/>
          <p:cNvSpPr/>
          <p:nvPr/>
        </p:nvSpPr>
        <p:spPr>
          <a:xfrm>
            <a:off x="473833" y="306813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b="1" dirty="0"/>
          </a:p>
        </p:txBody>
      </p:sp>
      <p:sp>
        <p:nvSpPr>
          <p:cNvPr id="199" name="Text 11"/>
          <p:cNvSpPr/>
          <p:nvPr/>
        </p:nvSpPr>
        <p:spPr>
          <a:xfrm>
            <a:off x="473833" y="3241866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b="1" dirty="0"/>
          </a:p>
        </p:txBody>
      </p:sp>
      <p:sp>
        <p:nvSpPr>
          <p:cNvPr id="200" name="Text 12"/>
          <p:cNvSpPr/>
          <p:nvPr/>
        </p:nvSpPr>
        <p:spPr>
          <a:xfrm>
            <a:off x="473833" y="341560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Traitement avec Lambda + Stream</a:t>
            </a:r>
            <a:endParaRPr lang="en-US" sz="1400" b="1" dirty="0"/>
          </a:p>
        </p:txBody>
      </p:sp>
      <p:sp>
        <p:nvSpPr>
          <p:cNvPr id="201" name="Text 13"/>
          <p:cNvSpPr/>
          <p:nvPr/>
        </p:nvSpPr>
        <p:spPr>
          <a:xfrm>
            <a:off x="473833" y="3589338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List&lt;String&gt; nomsSeniors = employes</a:t>
            </a:r>
            <a:endParaRPr lang="en-US" sz="1400" b="1" dirty="0">
              <a:solidFill>
                <a:srgbClr val="FF0000"/>
              </a:solidFill>
            </a:endParaRPr>
          </a:p>
        </p:txBody>
      </p:sp>
      <p:sp>
        <p:nvSpPr>
          <p:cNvPr id="202" name="Text 14"/>
          <p:cNvSpPr/>
          <p:nvPr/>
        </p:nvSpPr>
        <p:spPr>
          <a:xfrm>
            <a:off x="473833" y="3763074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.stream()</a:t>
            </a:r>
            <a:endParaRPr lang="en-US" sz="1400" b="1" dirty="0"/>
          </a:p>
        </p:txBody>
      </p:sp>
      <p:sp>
        <p:nvSpPr>
          <p:cNvPr id="203" name="Text 15"/>
          <p:cNvSpPr/>
          <p:nvPr/>
        </p:nvSpPr>
        <p:spPr>
          <a:xfrm>
            <a:off x="473833" y="393681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8D6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.filter(e -&gt; e.salaire &gt; 50_000)</a:t>
            </a:r>
            <a:endParaRPr lang="en-US" sz="1400" b="1" dirty="0"/>
          </a:p>
        </p:txBody>
      </p:sp>
      <p:sp>
        <p:nvSpPr>
          <p:cNvPr id="204" name="Text 16"/>
          <p:cNvSpPr/>
          <p:nvPr/>
        </p:nvSpPr>
        <p:spPr>
          <a:xfrm>
            <a:off x="473833" y="4110546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</a:t>
            </a:r>
            <a:r>
              <a:rPr lang="en-US" sz="1400" b="1" dirty="0">
                <a:solidFill>
                  <a:srgbClr val="00B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sorted(Comparator.comparing(</a:t>
            </a:r>
            <a:endParaRPr lang="en-US" sz="1400" b="1" dirty="0">
              <a:solidFill>
                <a:srgbClr val="00B050"/>
              </a:solidFill>
            </a:endParaRPr>
          </a:p>
        </p:txBody>
      </p:sp>
      <p:sp>
        <p:nvSpPr>
          <p:cNvPr id="205" name="Text 17"/>
          <p:cNvSpPr/>
          <p:nvPr/>
        </p:nvSpPr>
        <p:spPr>
          <a:xfrm>
            <a:off x="473833" y="428428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 -&gt; e.nom))</a:t>
            </a:r>
            <a:endParaRPr lang="en-US" sz="1400" b="1" dirty="0">
              <a:solidFill>
                <a:srgbClr val="00B050"/>
              </a:solidFill>
            </a:endParaRPr>
          </a:p>
        </p:txBody>
      </p:sp>
      <p:sp>
        <p:nvSpPr>
          <p:cNvPr id="206" name="Text 18"/>
          <p:cNvSpPr/>
          <p:nvPr/>
        </p:nvSpPr>
        <p:spPr>
          <a:xfrm>
            <a:off x="473833" y="4458018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8D6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.map(e -&gt; e.nom)</a:t>
            </a:r>
            <a:endParaRPr lang="en-US" sz="1400" b="1" dirty="0"/>
          </a:p>
        </p:txBody>
      </p:sp>
      <p:sp>
        <p:nvSpPr>
          <p:cNvPr id="207" name="Text 19"/>
          <p:cNvSpPr/>
          <p:nvPr/>
        </p:nvSpPr>
        <p:spPr>
          <a:xfrm>
            <a:off x="473833" y="4631754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4C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.collect(Collectors.toList());</a:t>
            </a:r>
            <a:endParaRPr lang="en-US" sz="1400" b="1" dirty="0"/>
          </a:p>
        </p:txBody>
      </p:sp>
      <p:sp>
        <p:nvSpPr>
          <p:cNvPr id="208" name="Text 20"/>
          <p:cNvSpPr/>
          <p:nvPr/>
        </p:nvSpPr>
        <p:spPr>
          <a:xfrm>
            <a:off x="473833" y="480549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b="1" dirty="0"/>
          </a:p>
        </p:txBody>
      </p:sp>
      <p:sp>
        <p:nvSpPr>
          <p:cNvPr id="209" name="Text 21"/>
          <p:cNvSpPr/>
          <p:nvPr/>
        </p:nvSpPr>
        <p:spPr>
          <a:xfrm>
            <a:off x="473833" y="4979226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Affichage</a:t>
            </a:r>
            <a:endParaRPr lang="en-US" sz="1400" b="1" dirty="0"/>
          </a:p>
        </p:txBody>
      </p:sp>
      <p:sp>
        <p:nvSpPr>
          <p:cNvPr id="210" name="Text 22"/>
          <p:cNvSpPr/>
          <p:nvPr/>
        </p:nvSpPr>
        <p:spPr>
          <a:xfrm>
            <a:off x="473833" y="515296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nomsSeniors.forEach(</a:t>
            </a:r>
            <a:endParaRPr lang="en-US" sz="1400" b="1" dirty="0">
              <a:solidFill>
                <a:srgbClr val="00B050"/>
              </a:solidFill>
            </a:endParaRPr>
          </a:p>
        </p:txBody>
      </p:sp>
      <p:sp>
        <p:nvSpPr>
          <p:cNvPr id="211" name="Text 23"/>
          <p:cNvSpPr/>
          <p:nvPr/>
        </p:nvSpPr>
        <p:spPr>
          <a:xfrm>
            <a:off x="473833" y="5326698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System.out::println);</a:t>
            </a:r>
            <a:endParaRPr lang="en-US" sz="1400" b="1" dirty="0"/>
          </a:p>
        </p:txBody>
      </p:sp>
      <p:sp>
        <p:nvSpPr>
          <p:cNvPr id="212" name="Shape 24"/>
          <p:cNvSpPr/>
          <p:nvPr/>
        </p:nvSpPr>
        <p:spPr>
          <a:xfrm>
            <a:off x="5868793" y="2126298"/>
            <a:ext cx="3063240" cy="61264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13" name="Shape 25"/>
          <p:cNvSpPr/>
          <p:nvPr/>
        </p:nvSpPr>
        <p:spPr>
          <a:xfrm>
            <a:off x="5868793" y="2126298"/>
            <a:ext cx="64008" cy="61264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14" name="Text 26"/>
          <p:cNvSpPr/>
          <p:nvPr/>
        </p:nvSpPr>
        <p:spPr>
          <a:xfrm>
            <a:off x="6005953" y="2172018"/>
            <a:ext cx="2816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1️⃣ .stream()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5" name="Text 27"/>
          <p:cNvSpPr/>
          <p:nvPr/>
        </p:nvSpPr>
        <p:spPr>
          <a:xfrm>
            <a:off x="6005953" y="2428050"/>
            <a:ext cx="2816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Crée un Stream depuis la List&lt;Employe&gt;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6" name="Shape 28"/>
          <p:cNvSpPr/>
          <p:nvPr/>
        </p:nvSpPr>
        <p:spPr>
          <a:xfrm>
            <a:off x="5868793" y="2812098"/>
            <a:ext cx="3063240" cy="61264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17" name="Shape 29"/>
          <p:cNvSpPr/>
          <p:nvPr/>
        </p:nvSpPr>
        <p:spPr>
          <a:xfrm>
            <a:off x="5868793" y="2812098"/>
            <a:ext cx="64008" cy="61264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218" name="Text 30"/>
          <p:cNvSpPr/>
          <p:nvPr/>
        </p:nvSpPr>
        <p:spPr>
          <a:xfrm>
            <a:off x="6005953" y="2857818"/>
            <a:ext cx="2816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2️⃣ .filter()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9" name="Text 31"/>
          <p:cNvSpPr/>
          <p:nvPr/>
        </p:nvSpPr>
        <p:spPr>
          <a:xfrm>
            <a:off x="6005953" y="3113850"/>
            <a:ext cx="2816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Garde uniquement les employés avec salaire &gt; 50 000€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0" name="Shape 32"/>
          <p:cNvSpPr/>
          <p:nvPr/>
        </p:nvSpPr>
        <p:spPr>
          <a:xfrm>
            <a:off x="5868793" y="3497898"/>
            <a:ext cx="3063240" cy="61264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21" name="Shape 33"/>
          <p:cNvSpPr/>
          <p:nvPr/>
        </p:nvSpPr>
        <p:spPr>
          <a:xfrm>
            <a:off x="5868793" y="3497898"/>
            <a:ext cx="64008" cy="61264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22" name="Text 34"/>
          <p:cNvSpPr/>
          <p:nvPr/>
        </p:nvSpPr>
        <p:spPr>
          <a:xfrm>
            <a:off x="6005953" y="3543618"/>
            <a:ext cx="2816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3️⃣ .sorted()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3" name="Text 35"/>
          <p:cNvSpPr/>
          <p:nvPr/>
        </p:nvSpPr>
        <p:spPr>
          <a:xfrm>
            <a:off x="6005953" y="3799650"/>
            <a:ext cx="2816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Trie alphabétiquement par nom (Comparator lambda)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4" name="Shape 36"/>
          <p:cNvSpPr/>
          <p:nvPr/>
        </p:nvSpPr>
        <p:spPr>
          <a:xfrm>
            <a:off x="5868793" y="4183698"/>
            <a:ext cx="3063240" cy="61264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25" name="Shape 37"/>
          <p:cNvSpPr/>
          <p:nvPr/>
        </p:nvSpPr>
        <p:spPr>
          <a:xfrm>
            <a:off x="5868793" y="4183698"/>
            <a:ext cx="64008" cy="612648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26" name="Text 38"/>
          <p:cNvSpPr/>
          <p:nvPr/>
        </p:nvSpPr>
        <p:spPr>
          <a:xfrm>
            <a:off x="6005953" y="4229418"/>
            <a:ext cx="2816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4️⃣ .map()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7" name="Text 39"/>
          <p:cNvSpPr/>
          <p:nvPr/>
        </p:nvSpPr>
        <p:spPr>
          <a:xfrm>
            <a:off x="6005953" y="4485450"/>
            <a:ext cx="2816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Transforme chaque Employe </a:t>
            </a:r>
            <a:r>
              <a:rPr lang="en-US" sz="1200" dirty="0" err="1">
                <a:solidFill>
                  <a:srgbClr val="33445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en</a:t>
            </a: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String (son nom)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8" name="Shape 40"/>
          <p:cNvSpPr/>
          <p:nvPr/>
        </p:nvSpPr>
        <p:spPr>
          <a:xfrm>
            <a:off x="5868793" y="4869498"/>
            <a:ext cx="3063240" cy="61264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29" name="Shape 41"/>
          <p:cNvSpPr/>
          <p:nvPr/>
        </p:nvSpPr>
        <p:spPr>
          <a:xfrm>
            <a:off x="5868793" y="4869498"/>
            <a:ext cx="64008" cy="6126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30" name="Text 42"/>
          <p:cNvSpPr/>
          <p:nvPr/>
        </p:nvSpPr>
        <p:spPr>
          <a:xfrm>
            <a:off x="6005953" y="4915218"/>
            <a:ext cx="2816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5️⃣ .collect()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1" name="Text 43"/>
          <p:cNvSpPr/>
          <p:nvPr/>
        </p:nvSpPr>
        <p:spPr>
          <a:xfrm>
            <a:off x="6005953" y="5171250"/>
            <a:ext cx="2816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Collecte les noms dans une List&lt;String&gt;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734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0" grpId="0" animBg="1"/>
      <p:bldP spid="191" grpId="0" animBg="1"/>
      <p:bldP spid="192" grpId="0" animBg="1"/>
      <p:bldP spid="193" grpId="0" animBg="1"/>
      <p:bldP spid="194" grpId="0" animBg="1"/>
      <p:bldP spid="195" grpId="0" animBg="1"/>
      <p:bldP spid="196" grpId="0" animBg="1"/>
      <p:bldP spid="197" grpId="0" animBg="1"/>
      <p:bldP spid="198" grpId="0" animBg="1"/>
      <p:bldP spid="200" grpId="0" animBg="1"/>
      <p:bldP spid="201" grpId="0" animBg="1"/>
      <p:bldP spid="202" grpId="0" animBg="1"/>
      <p:bldP spid="203" grpId="0" animBg="1"/>
      <p:bldP spid="204" grpId="0" animBg="1"/>
      <p:bldP spid="205" grpId="0" animBg="1"/>
      <p:bldP spid="206" grpId="0" animBg="1"/>
      <p:bldP spid="207" grpId="0" animBg="1"/>
      <p:bldP spid="209" grpId="0" animBg="1"/>
      <p:bldP spid="210" grpId="0" animBg="1"/>
      <p:bldP spid="211" grpId="0" animBg="1"/>
      <p:bldP spid="214" grpId="0" animBg="1"/>
      <p:bldP spid="215" grpId="0" animBg="1"/>
      <p:bldP spid="218" grpId="0" animBg="1"/>
      <p:bldP spid="219" grpId="0" animBg="1"/>
      <p:bldP spid="222" grpId="0" animBg="1"/>
      <p:bldP spid="223" grpId="0" animBg="1"/>
      <p:bldP spid="226" grpId="0" animBg="1"/>
      <p:bldP spid="227" grpId="0" animBg="1"/>
      <p:bldP spid="230" grpId="0" animBg="1"/>
      <p:bldP spid="23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6400800"/>
            <a:ext cx="15541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re 1">
            <a:extLst>
              <a:ext uri="{FF2B5EF4-FFF2-40B4-BE49-F238E27FC236}">
                <a16:creationId xmlns:a16="http://schemas.microsoft.com/office/drawing/2014/main" id="{88197348-5CC2-499B-8197-C94C5D8BC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576" y="151802"/>
            <a:ext cx="8208912" cy="540894"/>
          </a:xfr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fr-CA" sz="2400" cap="none" dirty="0" smtClean="0">
                <a:solidFill>
                  <a:srgbClr val="FF0000"/>
                </a:solidFill>
              </a:rPr>
              <a:t>V. INNER CLASSE (CLASSE INTERN)</a:t>
            </a:r>
            <a:endParaRPr lang="fr-CA" sz="2400" cap="none" dirty="0">
              <a:solidFill>
                <a:srgbClr val="FF0000"/>
              </a:solidFill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AC68D4D3-B500-4716-B843-F3048BF30CA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6336" y="6307338"/>
            <a:ext cx="1296144" cy="515307"/>
          </a:xfrm>
          <a:prstGeom prst="rect">
            <a:avLst/>
          </a:prstGeom>
        </p:spPr>
      </p:pic>
      <p:sp>
        <p:nvSpPr>
          <p:cNvPr id="19" name="Text 8"/>
          <p:cNvSpPr/>
          <p:nvPr/>
        </p:nvSpPr>
        <p:spPr>
          <a:xfrm>
            <a:off x="2051720" y="1772816"/>
            <a:ext cx="6029013" cy="36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Voiture {</a:t>
            </a:r>
            <a:endParaRPr lang="en-US" sz="1400" dirty="0">
              <a:solidFill>
                <a:schemeClr val="bg1"/>
              </a:solidFill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String marque = "Toyota";</a:t>
            </a:r>
            <a:endParaRPr lang="en-US" sz="1400" dirty="0">
              <a:solidFill>
                <a:schemeClr val="bg1"/>
              </a:solidFill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int vitesse = 0;</a:t>
            </a:r>
            <a:endParaRPr lang="en-US" sz="1400" dirty="0">
              <a:solidFill>
                <a:schemeClr val="bg1"/>
              </a:solidFill>
            </a:endParaRPr>
          </a:p>
          <a:p>
            <a:pPr marL="0" indent="0" algn="l">
              <a:buNone/>
            </a:pPr>
            <a:endParaRPr lang="en-US" sz="1400" dirty="0">
              <a:solidFill>
                <a:schemeClr val="bg1"/>
              </a:solidFill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──── Inner Class ────</a:t>
            </a:r>
            <a:endParaRPr lang="en-US" sz="1400" dirty="0">
              <a:solidFill>
                <a:schemeClr val="bg1"/>
              </a:solidFill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class Moteur {</a:t>
            </a:r>
            <a:endParaRPr lang="en-US" sz="1400" dirty="0">
              <a:solidFill>
                <a:schemeClr val="bg1"/>
              </a:solidFill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demarrer() {</a:t>
            </a:r>
            <a:endParaRPr lang="en-US" sz="1400" dirty="0">
              <a:solidFill>
                <a:schemeClr val="bg1"/>
              </a:solidFill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// Accès direct aux membres privés de Voiture</a:t>
            </a:r>
            <a:endParaRPr lang="en-US" sz="1400" dirty="0">
              <a:solidFill>
                <a:schemeClr val="bg1"/>
              </a:solidFill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System.out.println(marque + " démarre...");</a:t>
            </a:r>
            <a:endParaRPr lang="en-US" sz="1400" dirty="0">
              <a:solidFill>
                <a:schemeClr val="bg1"/>
              </a:solidFill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vitesse = 10;</a:t>
            </a:r>
            <a:endParaRPr lang="en-US" sz="1400" dirty="0">
              <a:solidFill>
                <a:schemeClr val="bg1"/>
              </a:solidFill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400" dirty="0">
              <a:solidFill>
                <a:schemeClr val="bg1"/>
              </a:solidFill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accelerer(int delta) {</a:t>
            </a:r>
            <a:endParaRPr lang="en-US" sz="1400" dirty="0">
              <a:solidFill>
                <a:schemeClr val="bg1"/>
              </a:solidFill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vitesse += delta;</a:t>
            </a:r>
            <a:endParaRPr lang="en-US" sz="1400" dirty="0">
              <a:solidFill>
                <a:schemeClr val="bg1"/>
              </a:solidFill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System.out.println("Vitesse: " + vitesse + " km/h");</a:t>
            </a:r>
            <a:endParaRPr lang="en-US" sz="1400" dirty="0">
              <a:solidFill>
                <a:schemeClr val="bg1"/>
              </a:solidFill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400" dirty="0">
              <a:solidFill>
                <a:schemeClr val="bg1"/>
              </a:solidFill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400" dirty="0">
              <a:solidFill>
                <a:schemeClr val="bg1"/>
              </a:solidFill>
            </a:endParaRPr>
          </a:p>
          <a:p>
            <a:pPr marL="0" indent="0" algn="l">
              <a:buNone/>
            </a:pPr>
            <a:endParaRPr lang="en-US" sz="1400" dirty="0">
              <a:solidFill>
                <a:schemeClr val="bg1"/>
              </a:solidFill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void rouler() {</a:t>
            </a:r>
            <a:endParaRPr lang="en-US" sz="1400" dirty="0">
              <a:solidFill>
                <a:schemeClr val="bg1"/>
              </a:solidFill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Moteur m = new Moteur(); // Instanciation depuis l'extérieur</a:t>
            </a:r>
            <a:endParaRPr lang="en-US" sz="1400" dirty="0">
              <a:solidFill>
                <a:schemeClr val="bg1"/>
              </a:solidFill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m.demarrer();</a:t>
            </a:r>
            <a:endParaRPr lang="en-US" sz="1400" dirty="0">
              <a:solidFill>
                <a:schemeClr val="bg1"/>
              </a:solidFill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m.accelerer(50);</a:t>
            </a:r>
            <a:endParaRPr lang="en-US" sz="1400" dirty="0">
              <a:solidFill>
                <a:schemeClr val="bg1"/>
              </a:solidFill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400" dirty="0">
              <a:solidFill>
                <a:schemeClr val="bg1"/>
              </a:solidFill>
            </a:endParaRPr>
          </a:p>
          <a:p>
            <a:pPr marL="0" indent="0" algn="l">
              <a:buNone/>
            </a:pPr>
            <a:endParaRPr lang="en-US" sz="1400" dirty="0">
              <a:solidFill>
                <a:schemeClr val="bg1"/>
              </a:solidFill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4" name="Shape 2"/>
          <p:cNvSpPr/>
          <p:nvPr/>
        </p:nvSpPr>
        <p:spPr>
          <a:xfrm>
            <a:off x="295345" y="1641169"/>
            <a:ext cx="416052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3"/>
          <p:cNvSpPr/>
          <p:nvPr/>
        </p:nvSpPr>
        <p:spPr>
          <a:xfrm>
            <a:off x="295345" y="1641169"/>
            <a:ext cx="4160520" cy="7315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6" name="Text 4"/>
          <p:cNvSpPr/>
          <p:nvPr/>
        </p:nvSpPr>
        <p:spPr>
          <a:xfrm>
            <a:off x="459937" y="1769185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 Classe Membre</a:t>
            </a:r>
            <a:endParaRPr lang="en-US" sz="1400" dirty="0"/>
          </a:p>
        </p:txBody>
      </p:sp>
      <p:sp>
        <p:nvSpPr>
          <p:cNvPr id="27" name="Text 5"/>
          <p:cNvSpPr/>
          <p:nvPr/>
        </p:nvSpPr>
        <p:spPr>
          <a:xfrm>
            <a:off x="459937" y="2116657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E8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Non-static inner class</a:t>
            </a:r>
            <a:endParaRPr lang="en-US" sz="1400" dirty="0"/>
          </a:p>
        </p:txBody>
      </p:sp>
      <p:sp>
        <p:nvSpPr>
          <p:cNvPr id="28" name="Shape 6"/>
          <p:cNvSpPr/>
          <p:nvPr/>
        </p:nvSpPr>
        <p:spPr>
          <a:xfrm>
            <a:off x="459937" y="2390977"/>
            <a:ext cx="3749040" cy="18288"/>
          </a:xfrm>
          <a:prstGeom prst="rect">
            <a:avLst/>
          </a:prstGeom>
          <a:solidFill>
            <a:srgbClr val="E0EAF0"/>
          </a:solidFill>
          <a:ln w="12700">
            <a:solidFill>
              <a:srgbClr val="E0EAF0"/>
            </a:solidFill>
            <a:prstDash val="solid"/>
          </a:ln>
        </p:spPr>
      </p:sp>
      <p:sp>
        <p:nvSpPr>
          <p:cNvPr id="29" name="Text 7"/>
          <p:cNvSpPr/>
          <p:nvPr/>
        </p:nvSpPr>
        <p:spPr>
          <a:xfrm>
            <a:off x="459937" y="2482417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Déclarée dans une autre classe. Accède aux membres privés de la classe externe.</a:t>
            </a:r>
            <a:endParaRPr lang="en-US" sz="1400" dirty="0"/>
          </a:p>
        </p:txBody>
      </p:sp>
      <p:sp>
        <p:nvSpPr>
          <p:cNvPr id="30" name="Shape 8"/>
          <p:cNvSpPr/>
          <p:nvPr/>
        </p:nvSpPr>
        <p:spPr>
          <a:xfrm>
            <a:off x="4730185" y="1641169"/>
            <a:ext cx="416052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Shape 9"/>
          <p:cNvSpPr/>
          <p:nvPr/>
        </p:nvSpPr>
        <p:spPr>
          <a:xfrm>
            <a:off x="4730185" y="1641169"/>
            <a:ext cx="4160520" cy="73152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32" name="Text 10"/>
          <p:cNvSpPr/>
          <p:nvPr/>
        </p:nvSpPr>
        <p:spPr>
          <a:xfrm>
            <a:off x="4894777" y="1769185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Classe Statique</a:t>
            </a:r>
            <a:endParaRPr lang="en-US" sz="1400" dirty="0"/>
          </a:p>
        </p:txBody>
      </p:sp>
      <p:sp>
        <p:nvSpPr>
          <p:cNvPr id="33" name="Text 11"/>
          <p:cNvSpPr/>
          <p:nvPr/>
        </p:nvSpPr>
        <p:spPr>
          <a:xfrm>
            <a:off x="4894777" y="2116657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A6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 nested class</a:t>
            </a:r>
            <a:endParaRPr lang="en-US" sz="1400" dirty="0"/>
          </a:p>
        </p:txBody>
      </p:sp>
      <p:sp>
        <p:nvSpPr>
          <p:cNvPr id="34" name="Shape 12"/>
          <p:cNvSpPr/>
          <p:nvPr/>
        </p:nvSpPr>
        <p:spPr>
          <a:xfrm>
            <a:off x="4894777" y="2390977"/>
            <a:ext cx="3749040" cy="18288"/>
          </a:xfrm>
          <a:prstGeom prst="rect">
            <a:avLst/>
          </a:prstGeom>
          <a:solidFill>
            <a:srgbClr val="E0EAF0"/>
          </a:solidFill>
          <a:ln w="12700">
            <a:solidFill>
              <a:srgbClr val="E0EAF0"/>
            </a:solidFill>
            <a:prstDash val="solid"/>
          </a:ln>
        </p:spPr>
      </p:sp>
      <p:sp>
        <p:nvSpPr>
          <p:cNvPr id="35" name="Text 13"/>
          <p:cNvSpPr/>
          <p:nvPr/>
        </p:nvSpPr>
        <p:spPr>
          <a:xfrm>
            <a:off x="4894777" y="2482417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Déclarée avec static. N'a pas besoin d'une instance de la classe externe.</a:t>
            </a:r>
            <a:endParaRPr lang="en-US" sz="1400" dirty="0"/>
          </a:p>
        </p:txBody>
      </p:sp>
      <p:sp>
        <p:nvSpPr>
          <p:cNvPr id="36" name="Shape 14"/>
          <p:cNvSpPr/>
          <p:nvPr/>
        </p:nvSpPr>
        <p:spPr>
          <a:xfrm>
            <a:off x="295345" y="3671137"/>
            <a:ext cx="416052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7" name="Shape 15"/>
          <p:cNvSpPr/>
          <p:nvPr/>
        </p:nvSpPr>
        <p:spPr>
          <a:xfrm>
            <a:off x="295345" y="3671137"/>
            <a:ext cx="4160520" cy="73152"/>
          </a:xfrm>
          <a:prstGeom prst="rect">
            <a:avLst/>
          </a:prstGeom>
          <a:solidFill>
            <a:srgbClr val="0E4D6B"/>
          </a:solidFill>
          <a:ln w="12700">
            <a:solidFill>
              <a:srgbClr val="0E4D6B"/>
            </a:solidFill>
            <a:prstDash val="solid"/>
          </a:ln>
        </p:spPr>
      </p:sp>
      <p:sp>
        <p:nvSpPr>
          <p:cNvPr id="38" name="Text 16"/>
          <p:cNvSpPr/>
          <p:nvPr/>
        </p:nvSpPr>
        <p:spPr>
          <a:xfrm>
            <a:off x="459937" y="3799153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 Classe Locale</a:t>
            </a:r>
            <a:endParaRPr lang="en-US" sz="1400" dirty="0"/>
          </a:p>
        </p:txBody>
      </p:sp>
      <p:sp>
        <p:nvSpPr>
          <p:cNvPr id="39" name="Text 17"/>
          <p:cNvSpPr/>
          <p:nvPr/>
        </p:nvSpPr>
        <p:spPr>
          <a:xfrm>
            <a:off x="459937" y="4146625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E4D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 inner class</a:t>
            </a:r>
            <a:endParaRPr lang="en-US" sz="1400" dirty="0"/>
          </a:p>
        </p:txBody>
      </p:sp>
      <p:sp>
        <p:nvSpPr>
          <p:cNvPr id="40" name="Shape 18"/>
          <p:cNvSpPr/>
          <p:nvPr/>
        </p:nvSpPr>
        <p:spPr>
          <a:xfrm>
            <a:off x="459937" y="4420945"/>
            <a:ext cx="3749040" cy="18288"/>
          </a:xfrm>
          <a:prstGeom prst="rect">
            <a:avLst/>
          </a:prstGeom>
          <a:solidFill>
            <a:srgbClr val="E0EAF0"/>
          </a:solidFill>
          <a:ln w="12700">
            <a:solidFill>
              <a:srgbClr val="E0EAF0"/>
            </a:solidFill>
            <a:prstDash val="solid"/>
          </a:ln>
        </p:spPr>
      </p:sp>
      <p:sp>
        <p:nvSpPr>
          <p:cNvPr id="41" name="Text 19"/>
          <p:cNvSpPr/>
          <p:nvPr/>
        </p:nvSpPr>
        <p:spPr>
          <a:xfrm>
            <a:off x="459937" y="4512385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Déclarée à l'intérieur d'une méthode. Visible uniquement dans cette méthode.</a:t>
            </a:r>
            <a:endParaRPr lang="en-US" sz="1400" dirty="0"/>
          </a:p>
        </p:txBody>
      </p:sp>
      <p:sp>
        <p:nvSpPr>
          <p:cNvPr id="42" name="Shape 20"/>
          <p:cNvSpPr/>
          <p:nvPr/>
        </p:nvSpPr>
        <p:spPr>
          <a:xfrm>
            <a:off x="4730185" y="3671137"/>
            <a:ext cx="416052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3" name="Shape 21"/>
          <p:cNvSpPr/>
          <p:nvPr/>
        </p:nvSpPr>
        <p:spPr>
          <a:xfrm>
            <a:off x="4730185" y="3671137"/>
            <a:ext cx="4160520" cy="73152"/>
          </a:xfrm>
          <a:prstGeom prst="rect">
            <a:avLst/>
          </a:prstGeom>
          <a:solidFill>
            <a:srgbClr val="5DADE2"/>
          </a:solidFill>
          <a:ln w="12700">
            <a:solidFill>
              <a:srgbClr val="5DADE2"/>
            </a:solidFill>
            <a:prstDash val="solid"/>
          </a:ln>
        </p:spPr>
      </p:sp>
      <p:sp>
        <p:nvSpPr>
          <p:cNvPr id="44" name="Text 22"/>
          <p:cNvSpPr/>
          <p:nvPr/>
        </p:nvSpPr>
        <p:spPr>
          <a:xfrm>
            <a:off x="4894777" y="3799153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👻  Classe Anonyme</a:t>
            </a:r>
            <a:endParaRPr lang="en-US" sz="1400" dirty="0"/>
          </a:p>
        </p:txBody>
      </p:sp>
      <p:sp>
        <p:nvSpPr>
          <p:cNvPr id="45" name="Text 23"/>
          <p:cNvSpPr/>
          <p:nvPr/>
        </p:nvSpPr>
        <p:spPr>
          <a:xfrm>
            <a:off x="4894777" y="4146625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DAD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Anonymous class</a:t>
            </a:r>
            <a:endParaRPr lang="en-US" sz="1400" dirty="0"/>
          </a:p>
        </p:txBody>
      </p:sp>
      <p:sp>
        <p:nvSpPr>
          <p:cNvPr id="46" name="Shape 24"/>
          <p:cNvSpPr/>
          <p:nvPr/>
        </p:nvSpPr>
        <p:spPr>
          <a:xfrm>
            <a:off x="4894777" y="4420945"/>
            <a:ext cx="3749040" cy="18288"/>
          </a:xfrm>
          <a:prstGeom prst="rect">
            <a:avLst/>
          </a:prstGeom>
          <a:solidFill>
            <a:srgbClr val="E0EAF0"/>
          </a:solidFill>
          <a:ln w="12700">
            <a:solidFill>
              <a:srgbClr val="E0EAF0"/>
            </a:solidFill>
            <a:prstDash val="solid"/>
          </a:ln>
        </p:spPr>
      </p:sp>
      <p:sp>
        <p:nvSpPr>
          <p:cNvPr id="47" name="Text 25"/>
          <p:cNvSpPr/>
          <p:nvPr/>
        </p:nvSpPr>
        <p:spPr>
          <a:xfrm>
            <a:off x="4894777" y="4512385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nom, déclarée et instanciée </a:t>
            </a:r>
            <a:r>
              <a:rPr lang="en-US" sz="1400" dirty="0" err="1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4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une seule expression. Usage unique.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4432219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6400800"/>
            <a:ext cx="15541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re 1">
            <a:extLst>
              <a:ext uri="{FF2B5EF4-FFF2-40B4-BE49-F238E27FC236}">
                <a16:creationId xmlns:a16="http://schemas.microsoft.com/office/drawing/2014/main" id="{88197348-5CC2-499B-8197-C94C5D8BC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576" y="151802"/>
            <a:ext cx="8208912" cy="540894"/>
          </a:xfr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fr-CA" sz="2400" cap="none" dirty="0" smtClean="0">
                <a:solidFill>
                  <a:srgbClr val="FF0000"/>
                </a:solidFill>
              </a:rPr>
              <a:t>V. INNER CLASSE (CLASSE INTERN)</a:t>
            </a:r>
            <a:endParaRPr lang="fr-CA" sz="2400" cap="none" dirty="0">
              <a:solidFill>
                <a:srgbClr val="FF0000"/>
              </a:solidFill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AC68D4D3-B500-4716-B843-F3048BF30CA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6336" y="6307338"/>
            <a:ext cx="1296144" cy="515307"/>
          </a:xfrm>
          <a:prstGeom prst="rect">
            <a:avLst/>
          </a:prstGeom>
        </p:spPr>
      </p:pic>
      <p:sp>
        <p:nvSpPr>
          <p:cNvPr id="48" name="Shape 2"/>
          <p:cNvSpPr/>
          <p:nvPr/>
        </p:nvSpPr>
        <p:spPr>
          <a:xfrm>
            <a:off x="179512" y="1638546"/>
            <a:ext cx="4160520" cy="34747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49" name="Text 3"/>
          <p:cNvSpPr/>
          <p:nvPr/>
        </p:nvSpPr>
        <p:spPr>
          <a:xfrm>
            <a:off x="179512" y="1638546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Classe Membre (non-static)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Shape 4"/>
          <p:cNvSpPr/>
          <p:nvPr/>
        </p:nvSpPr>
        <p:spPr>
          <a:xfrm>
            <a:off x="179512" y="1986018"/>
            <a:ext cx="4160520" cy="338328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51" name="Text 5"/>
          <p:cNvSpPr/>
          <p:nvPr/>
        </p:nvSpPr>
        <p:spPr>
          <a:xfrm>
            <a:off x="316672" y="205917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4EC9B0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class Voiture {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Text 6"/>
          <p:cNvSpPr/>
          <p:nvPr/>
        </p:nvSpPr>
        <p:spPr>
          <a:xfrm>
            <a:off x="316672" y="226491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9CDCFE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</a:t>
            </a:r>
            <a:r>
              <a:rPr lang="en-US" b="1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private String marque;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Text 7"/>
          <p:cNvSpPr/>
          <p:nvPr/>
        </p:nvSpPr>
        <p:spPr>
          <a:xfrm>
            <a:off x="316672" y="247065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Text 8"/>
          <p:cNvSpPr/>
          <p:nvPr/>
        </p:nvSpPr>
        <p:spPr>
          <a:xfrm>
            <a:off x="316672" y="267639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6A9955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// </a:t>
            </a:r>
            <a:r>
              <a:rPr lang="en-US" b="1" dirty="0">
                <a:solidFill>
                  <a:srgbClr val="6A9955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Classe interne membre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Text 9"/>
          <p:cNvSpPr/>
          <p:nvPr/>
        </p:nvSpPr>
        <p:spPr>
          <a:xfrm>
            <a:off x="316672" y="288213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4EC9B0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class Moteur {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Text 10"/>
          <p:cNvSpPr/>
          <p:nvPr/>
        </p:nvSpPr>
        <p:spPr>
          <a:xfrm>
            <a:off x="316672" y="308787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9CDCFE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  int chevaux</a:t>
            </a:r>
            <a:r>
              <a:rPr lang="en-US" dirty="0">
                <a:solidFill>
                  <a:srgbClr val="9CDCFE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;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Text 11"/>
          <p:cNvSpPr/>
          <p:nvPr/>
        </p:nvSpPr>
        <p:spPr>
          <a:xfrm>
            <a:off x="316672" y="329361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Text 12"/>
          <p:cNvSpPr/>
          <p:nvPr/>
        </p:nvSpPr>
        <p:spPr>
          <a:xfrm>
            <a:off x="316672" y="349935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DCDCA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 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void demarrer() {</a:t>
            </a:r>
            <a:endParaRPr 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Text 13"/>
          <p:cNvSpPr/>
          <p:nvPr/>
        </p:nvSpPr>
        <p:spPr>
          <a:xfrm>
            <a:off x="316672" y="370509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6A9955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    // accède à marque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Text 14"/>
          <p:cNvSpPr/>
          <p:nvPr/>
        </p:nvSpPr>
        <p:spPr>
          <a:xfrm>
            <a:off x="316672" y="391083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D4D4D4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    </a:t>
            </a:r>
            <a:r>
              <a:rPr lang="en-US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System.out.println(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Text 15"/>
          <p:cNvSpPr/>
          <p:nvPr/>
        </p:nvSpPr>
        <p:spPr>
          <a:xfrm>
            <a:off x="316672" y="411657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9CDCFE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      </a:t>
            </a:r>
            <a:r>
              <a:rPr lang="en-US" b="1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marque);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Text 16"/>
          <p:cNvSpPr/>
          <p:nvPr/>
        </p:nvSpPr>
        <p:spPr>
          <a:xfrm>
            <a:off x="316672" y="432231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D4D4D4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  }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Text 17"/>
          <p:cNvSpPr/>
          <p:nvPr/>
        </p:nvSpPr>
        <p:spPr>
          <a:xfrm>
            <a:off x="316672" y="452805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D4D4D4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}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Text 18"/>
          <p:cNvSpPr/>
          <p:nvPr/>
        </p:nvSpPr>
        <p:spPr>
          <a:xfrm>
            <a:off x="316672" y="473379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4EC9B0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}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Shape 19"/>
          <p:cNvSpPr/>
          <p:nvPr/>
        </p:nvSpPr>
        <p:spPr>
          <a:xfrm>
            <a:off x="4614352" y="1638546"/>
            <a:ext cx="4160520" cy="347472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66" name="Text 20"/>
          <p:cNvSpPr/>
          <p:nvPr/>
        </p:nvSpPr>
        <p:spPr>
          <a:xfrm>
            <a:off x="4614352" y="1638546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Classe Statique (static nested)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" name="Shape 21"/>
          <p:cNvSpPr/>
          <p:nvPr/>
        </p:nvSpPr>
        <p:spPr>
          <a:xfrm>
            <a:off x="4614352" y="1986018"/>
            <a:ext cx="4160520" cy="338328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68" name="Text 22"/>
          <p:cNvSpPr/>
          <p:nvPr/>
        </p:nvSpPr>
        <p:spPr>
          <a:xfrm>
            <a:off x="4751512" y="205917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4EC9B0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class Universite {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Text 23"/>
          <p:cNvSpPr/>
          <p:nvPr/>
        </p:nvSpPr>
        <p:spPr>
          <a:xfrm>
            <a:off x="4751512" y="226491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9CDCFE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</a:t>
            </a:r>
            <a:r>
              <a:rPr lang="en-US" b="1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String nom;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Text 24"/>
          <p:cNvSpPr/>
          <p:nvPr/>
        </p:nvSpPr>
        <p:spPr>
          <a:xfrm>
            <a:off x="4751512" y="247065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" name="Text 25"/>
          <p:cNvSpPr/>
          <p:nvPr/>
        </p:nvSpPr>
        <p:spPr>
          <a:xfrm>
            <a:off x="4751512" y="267639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6A9955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// </a:t>
            </a:r>
            <a:r>
              <a:rPr lang="en-US" b="1" dirty="0">
                <a:solidFill>
                  <a:srgbClr val="6A9955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Classe statique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" name="Text 26"/>
          <p:cNvSpPr/>
          <p:nvPr/>
        </p:nvSpPr>
        <p:spPr>
          <a:xfrm>
            <a:off x="4751512" y="288213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4EC9B0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static class Etudiant {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Text 27"/>
          <p:cNvSpPr/>
          <p:nvPr/>
        </p:nvSpPr>
        <p:spPr>
          <a:xfrm>
            <a:off x="4751512" y="308787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  String prenom;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" name="Text 28"/>
          <p:cNvSpPr/>
          <p:nvPr/>
        </p:nvSpPr>
        <p:spPr>
          <a:xfrm>
            <a:off x="4751512" y="329361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9CDCFE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  </a:t>
            </a:r>
            <a:r>
              <a:rPr lang="en-US" b="1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int age;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" name="Text 29"/>
          <p:cNvSpPr/>
          <p:nvPr/>
        </p:nvSpPr>
        <p:spPr>
          <a:xfrm>
            <a:off x="4751512" y="349935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6" name="Text 30"/>
          <p:cNvSpPr/>
          <p:nvPr/>
        </p:nvSpPr>
        <p:spPr>
          <a:xfrm>
            <a:off x="4751512" y="370509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  void afficher() {</a:t>
            </a:r>
            <a:endParaRPr 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7" name="Text 31"/>
          <p:cNvSpPr/>
          <p:nvPr/>
        </p:nvSpPr>
        <p:spPr>
          <a:xfrm>
            <a:off x="4751512" y="391083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D4D4D4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    </a:t>
            </a:r>
            <a:r>
              <a:rPr lang="en-US" b="1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System.out.println(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8" name="Text 32"/>
          <p:cNvSpPr/>
          <p:nvPr/>
        </p:nvSpPr>
        <p:spPr>
          <a:xfrm>
            <a:off x="4751512" y="411657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9CDCFE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      </a:t>
            </a:r>
            <a:r>
              <a:rPr lang="en-US" b="1" dirty="0">
                <a:solidFill>
                  <a:srgbClr val="9CDCFE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prenom);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" name="Text 33"/>
          <p:cNvSpPr/>
          <p:nvPr/>
        </p:nvSpPr>
        <p:spPr>
          <a:xfrm>
            <a:off x="4751512" y="432231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D4D4D4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  }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0" name="Text 34"/>
          <p:cNvSpPr/>
          <p:nvPr/>
        </p:nvSpPr>
        <p:spPr>
          <a:xfrm>
            <a:off x="4751512" y="452805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D4D4D4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}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1" name="Text 35"/>
          <p:cNvSpPr/>
          <p:nvPr/>
        </p:nvSpPr>
        <p:spPr>
          <a:xfrm>
            <a:off x="4751512" y="473379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4EC9B0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}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1599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6400800"/>
            <a:ext cx="15541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re 1">
            <a:extLst>
              <a:ext uri="{FF2B5EF4-FFF2-40B4-BE49-F238E27FC236}">
                <a16:creationId xmlns:a16="http://schemas.microsoft.com/office/drawing/2014/main" id="{88197348-5CC2-499B-8197-C94C5D8BC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576" y="151802"/>
            <a:ext cx="8208912" cy="540894"/>
          </a:xfr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fr-CA" sz="2400" cap="none" dirty="0" smtClean="0">
                <a:solidFill>
                  <a:srgbClr val="FF0000"/>
                </a:solidFill>
              </a:rPr>
              <a:t>V. INNER CLASSE (CLASSE INTERN)</a:t>
            </a:r>
            <a:endParaRPr lang="fr-CA" sz="2400" cap="none" dirty="0">
              <a:solidFill>
                <a:srgbClr val="FF0000"/>
              </a:solidFill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AC68D4D3-B500-4716-B843-F3048BF30CA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6336" y="6307338"/>
            <a:ext cx="1296144" cy="515307"/>
          </a:xfrm>
          <a:prstGeom prst="rect">
            <a:avLst/>
          </a:prstGeom>
        </p:spPr>
      </p:pic>
      <p:sp>
        <p:nvSpPr>
          <p:cNvPr id="49" name="Text 3"/>
          <p:cNvSpPr/>
          <p:nvPr/>
        </p:nvSpPr>
        <p:spPr>
          <a:xfrm>
            <a:off x="283276" y="1735753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Classe Membre (non-static)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Shape 2"/>
          <p:cNvSpPr/>
          <p:nvPr/>
        </p:nvSpPr>
        <p:spPr>
          <a:xfrm>
            <a:off x="208494" y="1280067"/>
            <a:ext cx="8595360" cy="566928"/>
          </a:xfrm>
          <a:prstGeom prst="rect">
            <a:avLst/>
          </a:prstGeom>
          <a:solidFill>
            <a:srgbClr val="E8F4FD"/>
          </a:solidFill>
          <a:ln/>
        </p:spPr>
      </p:sp>
      <p:sp>
        <p:nvSpPr>
          <p:cNvPr id="40" name="Text 3"/>
          <p:cNvSpPr/>
          <p:nvPr/>
        </p:nvSpPr>
        <p:spPr>
          <a:xfrm>
            <a:off x="425256" y="1249914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D1B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🏦  Scénario : Un compte bancaire contient des transactions. La classe Transaction est interne à CompteBancaire car elle n'a de sens que dans ce contexte.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Shape 4"/>
          <p:cNvSpPr/>
          <p:nvPr/>
        </p:nvSpPr>
        <p:spPr>
          <a:xfrm>
            <a:off x="251520" y="2397672"/>
            <a:ext cx="5303520" cy="3364992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42" name="Text 5"/>
          <p:cNvSpPr/>
          <p:nvPr/>
        </p:nvSpPr>
        <p:spPr>
          <a:xfrm>
            <a:off x="388680" y="2470824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CompteBancaire {</a:t>
            </a:r>
            <a:endParaRPr lang="en-US" sz="1600" b="1" dirty="0">
              <a:solidFill>
                <a:srgbClr val="00B0F0"/>
              </a:solidFill>
            </a:endParaRPr>
          </a:p>
        </p:txBody>
      </p:sp>
      <p:sp>
        <p:nvSpPr>
          <p:cNvPr id="43" name="Text 6"/>
          <p:cNvSpPr/>
          <p:nvPr/>
        </p:nvSpPr>
        <p:spPr>
          <a:xfrm>
            <a:off x="388680" y="264456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600" b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double solde;</a:t>
            </a:r>
            <a:endParaRPr lang="en-US" sz="1600" b="1" dirty="0"/>
          </a:p>
        </p:txBody>
      </p:sp>
      <p:sp>
        <p:nvSpPr>
          <p:cNvPr id="44" name="Text 7"/>
          <p:cNvSpPr/>
          <p:nvPr/>
        </p:nvSpPr>
        <p:spPr>
          <a:xfrm>
            <a:off x="388680" y="2818296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600" b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String titulaire;</a:t>
            </a:r>
            <a:endParaRPr lang="en-US" sz="1600" b="1" dirty="0"/>
          </a:p>
        </p:txBody>
      </p:sp>
      <p:sp>
        <p:nvSpPr>
          <p:cNvPr id="45" name="Text 8"/>
          <p:cNvSpPr/>
          <p:nvPr/>
        </p:nvSpPr>
        <p:spPr>
          <a:xfrm>
            <a:off x="388680" y="299203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b="1" dirty="0"/>
          </a:p>
        </p:txBody>
      </p:sp>
      <p:sp>
        <p:nvSpPr>
          <p:cNvPr id="46" name="Text 9"/>
          <p:cNvSpPr/>
          <p:nvPr/>
        </p:nvSpPr>
        <p:spPr>
          <a:xfrm>
            <a:off x="388680" y="3165768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Classe interne membre</a:t>
            </a:r>
            <a:endParaRPr lang="en-US" sz="1600" b="1" dirty="0"/>
          </a:p>
        </p:txBody>
      </p:sp>
      <p:sp>
        <p:nvSpPr>
          <p:cNvPr id="47" name="Text 10"/>
          <p:cNvSpPr/>
          <p:nvPr/>
        </p:nvSpPr>
        <p:spPr>
          <a:xfrm>
            <a:off x="388680" y="3339504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class Transaction {</a:t>
            </a:r>
            <a:endParaRPr lang="en-US" sz="1600" b="1" dirty="0"/>
          </a:p>
        </p:txBody>
      </p:sp>
      <p:sp>
        <p:nvSpPr>
          <p:cNvPr id="82" name="Text 11"/>
          <p:cNvSpPr/>
          <p:nvPr/>
        </p:nvSpPr>
        <p:spPr>
          <a:xfrm>
            <a:off x="388680" y="351324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600" b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double montant;</a:t>
            </a:r>
            <a:endParaRPr lang="en-US" sz="1600" b="1" dirty="0"/>
          </a:p>
        </p:txBody>
      </p:sp>
      <p:sp>
        <p:nvSpPr>
          <p:cNvPr id="83" name="Text 12"/>
          <p:cNvSpPr/>
          <p:nvPr/>
        </p:nvSpPr>
        <p:spPr>
          <a:xfrm>
            <a:off x="388680" y="3686976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   String type; // "debit"/"credit"</a:t>
            </a:r>
            <a:endParaRPr lang="en-US" sz="1600" b="1" dirty="0"/>
          </a:p>
        </p:txBody>
      </p:sp>
      <p:sp>
        <p:nvSpPr>
          <p:cNvPr id="84" name="Text 13"/>
          <p:cNvSpPr/>
          <p:nvPr/>
        </p:nvSpPr>
        <p:spPr>
          <a:xfrm>
            <a:off x="388680" y="386071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b="1" dirty="0"/>
          </a:p>
        </p:txBody>
      </p:sp>
      <p:sp>
        <p:nvSpPr>
          <p:cNvPr id="85" name="Text 14"/>
          <p:cNvSpPr/>
          <p:nvPr/>
        </p:nvSpPr>
        <p:spPr>
          <a:xfrm>
            <a:off x="388680" y="4034448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600" b="1" dirty="0">
                <a:solidFill>
                  <a:srgbClr val="FF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executer() {</a:t>
            </a:r>
            <a:endParaRPr lang="en-US" sz="1600" b="1" dirty="0">
              <a:solidFill>
                <a:srgbClr val="FF0000"/>
              </a:solidFill>
            </a:endParaRPr>
          </a:p>
        </p:txBody>
      </p:sp>
      <p:sp>
        <p:nvSpPr>
          <p:cNvPr id="86" name="Text 15"/>
          <p:cNvSpPr/>
          <p:nvPr/>
        </p:nvSpPr>
        <p:spPr>
          <a:xfrm>
            <a:off x="388680" y="4208184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if (type.equals("credit")) {</a:t>
            </a:r>
            <a:endParaRPr lang="en-US" sz="1600" b="1" dirty="0">
              <a:solidFill>
                <a:srgbClr val="FF0000"/>
              </a:solidFill>
            </a:endParaRPr>
          </a:p>
        </p:txBody>
      </p:sp>
      <p:sp>
        <p:nvSpPr>
          <p:cNvPr id="87" name="Text 16"/>
          <p:cNvSpPr/>
          <p:nvPr/>
        </p:nvSpPr>
        <p:spPr>
          <a:xfrm>
            <a:off x="388680" y="438192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600" b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solde += montant;</a:t>
            </a:r>
            <a:endParaRPr lang="en-US" sz="1600" b="1" dirty="0"/>
          </a:p>
        </p:txBody>
      </p:sp>
      <p:sp>
        <p:nvSpPr>
          <p:cNvPr id="88" name="Text 17"/>
          <p:cNvSpPr/>
          <p:nvPr/>
        </p:nvSpPr>
        <p:spPr>
          <a:xfrm>
            <a:off x="388680" y="4555656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r>
              <a:rPr lang="en-US" sz="1600" b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} else {</a:t>
            </a:r>
            <a:endParaRPr lang="en-US" sz="1600" b="1" dirty="0"/>
          </a:p>
        </p:txBody>
      </p:sp>
      <p:sp>
        <p:nvSpPr>
          <p:cNvPr id="89" name="Text 18"/>
          <p:cNvSpPr/>
          <p:nvPr/>
        </p:nvSpPr>
        <p:spPr>
          <a:xfrm>
            <a:off x="388680" y="472939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600" b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solde -= montant;</a:t>
            </a:r>
            <a:endParaRPr lang="en-US" sz="1600" b="1" dirty="0"/>
          </a:p>
        </p:txBody>
      </p:sp>
      <p:sp>
        <p:nvSpPr>
          <p:cNvPr id="90" name="Text 19"/>
          <p:cNvSpPr/>
          <p:nvPr/>
        </p:nvSpPr>
        <p:spPr>
          <a:xfrm>
            <a:off x="388680" y="4903128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</a:t>
            </a:r>
            <a:endParaRPr lang="en-US" sz="1600" b="1" dirty="0"/>
          </a:p>
        </p:txBody>
      </p:sp>
      <p:sp>
        <p:nvSpPr>
          <p:cNvPr id="91" name="Text 20"/>
          <p:cNvSpPr/>
          <p:nvPr/>
        </p:nvSpPr>
        <p:spPr>
          <a:xfrm>
            <a:off x="388680" y="5076864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600" b="1" dirty="0"/>
          </a:p>
        </p:txBody>
      </p:sp>
      <p:sp>
        <p:nvSpPr>
          <p:cNvPr id="92" name="Text 21"/>
          <p:cNvSpPr/>
          <p:nvPr/>
        </p:nvSpPr>
        <p:spPr>
          <a:xfrm>
            <a:off x="388680" y="525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600" b="1" dirty="0"/>
          </a:p>
        </p:txBody>
      </p:sp>
      <p:sp>
        <p:nvSpPr>
          <p:cNvPr id="93" name="Text 22"/>
          <p:cNvSpPr/>
          <p:nvPr/>
        </p:nvSpPr>
        <p:spPr>
          <a:xfrm>
            <a:off x="388680" y="5424336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600" b="1" dirty="0"/>
          </a:p>
        </p:txBody>
      </p:sp>
      <p:sp>
        <p:nvSpPr>
          <p:cNvPr id="94" name="Shape 23"/>
          <p:cNvSpPr/>
          <p:nvPr/>
        </p:nvSpPr>
        <p:spPr>
          <a:xfrm>
            <a:off x="5829240" y="2320632"/>
            <a:ext cx="306324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5" name="Shape 24"/>
          <p:cNvSpPr/>
          <p:nvPr/>
        </p:nvSpPr>
        <p:spPr>
          <a:xfrm>
            <a:off x="5875080" y="2562264"/>
            <a:ext cx="329184" cy="329184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96" name="Text 25"/>
          <p:cNvSpPr/>
          <p:nvPr/>
        </p:nvSpPr>
        <p:spPr>
          <a:xfrm>
            <a:off x="5875080" y="25622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7" name="Text 26"/>
          <p:cNvSpPr/>
          <p:nvPr/>
        </p:nvSpPr>
        <p:spPr>
          <a:xfrm>
            <a:off x="6364728" y="1967904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Encapsulation forte</a:t>
            </a:r>
            <a:endParaRPr lang="en-US" sz="1600" dirty="0"/>
          </a:p>
        </p:txBody>
      </p:sp>
      <p:sp>
        <p:nvSpPr>
          <p:cNvPr id="98" name="Text 27"/>
          <p:cNvSpPr/>
          <p:nvPr/>
        </p:nvSpPr>
        <p:spPr>
          <a:xfrm>
            <a:off x="6415184" y="2404213"/>
            <a:ext cx="2487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ne peut exister sans CompteBancaire. Logique métier respectée.</a:t>
            </a:r>
            <a:endParaRPr lang="en-US" sz="1600" dirty="0"/>
          </a:p>
        </p:txBody>
      </p:sp>
      <p:sp>
        <p:nvSpPr>
          <p:cNvPr id="99" name="Shape 28"/>
          <p:cNvSpPr/>
          <p:nvPr/>
        </p:nvSpPr>
        <p:spPr>
          <a:xfrm>
            <a:off x="5783640" y="3238920"/>
            <a:ext cx="306324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0" name="Shape 29"/>
          <p:cNvSpPr/>
          <p:nvPr/>
        </p:nvSpPr>
        <p:spPr>
          <a:xfrm>
            <a:off x="5875080" y="3403512"/>
            <a:ext cx="329184" cy="329184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01" name="Text 30"/>
          <p:cNvSpPr/>
          <p:nvPr/>
        </p:nvSpPr>
        <p:spPr>
          <a:xfrm>
            <a:off x="5875080" y="34035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2" name="Text 31"/>
          <p:cNvSpPr/>
          <p:nvPr/>
        </p:nvSpPr>
        <p:spPr>
          <a:xfrm>
            <a:off x="6468944" y="3110904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privilégié</a:t>
            </a:r>
            <a:endParaRPr lang="en-US" sz="1600" dirty="0"/>
          </a:p>
        </p:txBody>
      </p:sp>
      <p:sp>
        <p:nvSpPr>
          <p:cNvPr id="103" name="Text 32"/>
          <p:cNvSpPr/>
          <p:nvPr/>
        </p:nvSpPr>
        <p:spPr>
          <a:xfrm>
            <a:off x="6479180" y="3457008"/>
            <a:ext cx="2487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classe interne accède directement à solde (private) de la classe externe.</a:t>
            </a:r>
            <a:endParaRPr lang="en-US" sz="1600" dirty="0"/>
          </a:p>
        </p:txBody>
      </p:sp>
      <p:sp>
        <p:nvSpPr>
          <p:cNvPr id="104" name="Shape 33"/>
          <p:cNvSpPr/>
          <p:nvPr/>
        </p:nvSpPr>
        <p:spPr>
          <a:xfrm>
            <a:off x="5783640" y="4080168"/>
            <a:ext cx="306324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5" name="Shape 34"/>
          <p:cNvSpPr/>
          <p:nvPr/>
        </p:nvSpPr>
        <p:spPr>
          <a:xfrm>
            <a:off x="5875080" y="4244760"/>
            <a:ext cx="329184" cy="329184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06" name="Text 35"/>
          <p:cNvSpPr/>
          <p:nvPr/>
        </p:nvSpPr>
        <p:spPr>
          <a:xfrm>
            <a:off x="5875080" y="42447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07" name="Text 36"/>
          <p:cNvSpPr/>
          <p:nvPr/>
        </p:nvSpPr>
        <p:spPr>
          <a:xfrm>
            <a:off x="6468944" y="4017567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</a:t>
            </a:r>
            <a:endParaRPr lang="en-US" sz="1600" dirty="0"/>
          </a:p>
        </p:txBody>
      </p:sp>
      <p:sp>
        <p:nvSpPr>
          <p:cNvPr id="108" name="Text 37"/>
          <p:cNvSpPr/>
          <p:nvPr/>
        </p:nvSpPr>
        <p:spPr>
          <a:xfrm>
            <a:off x="6479180" y="4513024"/>
            <a:ext cx="2487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groupé logiquement — tout ce qui concerne le compte est dans la même classe.</a:t>
            </a:r>
            <a:endParaRPr lang="en-US" sz="1600" dirty="0"/>
          </a:p>
        </p:txBody>
      </p:sp>
      <p:sp>
        <p:nvSpPr>
          <p:cNvPr id="109" name="Shape 38"/>
          <p:cNvSpPr/>
          <p:nvPr/>
        </p:nvSpPr>
        <p:spPr>
          <a:xfrm>
            <a:off x="5723956" y="5447919"/>
            <a:ext cx="306324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0" name="Shape 39"/>
          <p:cNvSpPr/>
          <p:nvPr/>
        </p:nvSpPr>
        <p:spPr>
          <a:xfrm>
            <a:off x="5931858" y="5583252"/>
            <a:ext cx="329184" cy="329184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11" name="Text 40"/>
          <p:cNvSpPr/>
          <p:nvPr/>
        </p:nvSpPr>
        <p:spPr>
          <a:xfrm>
            <a:off x="5931858" y="5561379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12" name="Text 41"/>
          <p:cNvSpPr/>
          <p:nvPr/>
        </p:nvSpPr>
        <p:spPr>
          <a:xfrm>
            <a:off x="6345201" y="5185488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Utilisation</a:t>
            </a:r>
            <a:endParaRPr lang="en-US" sz="1600" dirty="0"/>
          </a:p>
        </p:txBody>
      </p:sp>
      <p:sp>
        <p:nvSpPr>
          <p:cNvPr id="113" name="Text 42"/>
          <p:cNvSpPr/>
          <p:nvPr/>
        </p:nvSpPr>
        <p:spPr>
          <a:xfrm>
            <a:off x="6468944" y="5725971"/>
            <a:ext cx="2487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CompteBancaire cb = new CompteBancaire();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t = cb.new Transaction();</a:t>
            </a:r>
            <a:endParaRPr lang="en-US" sz="1600" dirty="0"/>
          </a:p>
        </p:txBody>
      </p:sp>
      <p:sp>
        <p:nvSpPr>
          <p:cNvPr id="2" name="Rectangle 1"/>
          <p:cNvSpPr/>
          <p:nvPr/>
        </p:nvSpPr>
        <p:spPr>
          <a:xfrm>
            <a:off x="313853" y="891605"/>
            <a:ext cx="384234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Exemple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Réel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Système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Bancaire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69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6400800"/>
            <a:ext cx="15541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re 1">
            <a:extLst>
              <a:ext uri="{FF2B5EF4-FFF2-40B4-BE49-F238E27FC236}">
                <a16:creationId xmlns:a16="http://schemas.microsoft.com/office/drawing/2014/main" id="{88197348-5CC2-499B-8197-C94C5D8BC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576" y="151802"/>
            <a:ext cx="8208912" cy="540894"/>
          </a:xfr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fr-CA" sz="2400" cap="none" dirty="0" smtClean="0">
                <a:solidFill>
                  <a:srgbClr val="FF0000"/>
                </a:solidFill>
              </a:rPr>
              <a:t>VI. </a:t>
            </a:r>
            <a:r>
              <a:rPr lang="fr-CA" sz="2400" cap="none" dirty="0" err="1" smtClean="0">
                <a:solidFill>
                  <a:srgbClr val="FF0000"/>
                </a:solidFill>
              </a:rPr>
              <a:t>Anonymos</a:t>
            </a:r>
            <a:r>
              <a:rPr lang="fr-CA" sz="2400" cap="none" dirty="0" smtClean="0">
                <a:solidFill>
                  <a:srgbClr val="FF0000"/>
                </a:solidFill>
              </a:rPr>
              <a:t> Class</a:t>
            </a:r>
            <a:endParaRPr lang="fr-CA" sz="2400" cap="none" dirty="0">
              <a:solidFill>
                <a:srgbClr val="FF0000"/>
              </a:solidFill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AC68D4D3-B500-4716-B843-F3048BF30CA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6336" y="6307338"/>
            <a:ext cx="1296144" cy="515307"/>
          </a:xfrm>
          <a:prstGeom prst="rect">
            <a:avLst/>
          </a:prstGeom>
        </p:spPr>
      </p:pic>
      <p:sp>
        <p:nvSpPr>
          <p:cNvPr id="12" name="Shape 2"/>
          <p:cNvSpPr/>
          <p:nvPr/>
        </p:nvSpPr>
        <p:spPr>
          <a:xfrm>
            <a:off x="274320" y="868680"/>
            <a:ext cx="3840480" cy="1791004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3"/>
          <p:cNvSpPr/>
          <p:nvPr/>
        </p:nvSpPr>
        <p:spPr>
          <a:xfrm>
            <a:off x="274320" y="868680"/>
            <a:ext cx="64008" cy="1791004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4" name="Text 4"/>
          <p:cNvSpPr/>
          <p:nvPr/>
        </p:nvSpPr>
        <p:spPr>
          <a:xfrm>
            <a:off x="457200" y="941831"/>
            <a:ext cx="3566160" cy="544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📌  Définition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5"/>
          <p:cNvSpPr/>
          <p:nvPr/>
        </p:nvSpPr>
        <p:spPr>
          <a:xfrm>
            <a:off x="457200" y="1307591"/>
            <a:ext cx="3566160" cy="9313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4446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Une classe sans nom déclarée et instanciée </a:t>
            </a:r>
            <a:r>
              <a:rPr lang="en-US" sz="1600" dirty="0" err="1">
                <a:solidFill>
                  <a:srgbClr val="44446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en</a:t>
            </a:r>
            <a:r>
              <a:rPr lang="en-US" sz="1600" dirty="0">
                <a:solidFill>
                  <a:srgbClr val="44446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une seule expression.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6"/>
          <p:cNvSpPr/>
          <p:nvPr/>
        </p:nvSpPr>
        <p:spPr>
          <a:xfrm>
            <a:off x="274320" y="2194560"/>
            <a:ext cx="3840480" cy="1791004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7"/>
          <p:cNvSpPr/>
          <p:nvPr/>
        </p:nvSpPr>
        <p:spPr>
          <a:xfrm>
            <a:off x="274320" y="2194560"/>
            <a:ext cx="64008" cy="1791004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8" name="Text 8"/>
          <p:cNvSpPr/>
          <p:nvPr/>
        </p:nvSpPr>
        <p:spPr>
          <a:xfrm>
            <a:off x="457200" y="2267711"/>
            <a:ext cx="3566160" cy="544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⚡  Utilisation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9"/>
          <p:cNvSpPr/>
          <p:nvPr/>
        </p:nvSpPr>
        <p:spPr>
          <a:xfrm>
            <a:off x="457200" y="2633471"/>
            <a:ext cx="3566160" cy="9313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4446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Étendre une classe abstraite ou implémenter une interface à la volée.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0"/>
          <p:cNvSpPr/>
          <p:nvPr/>
        </p:nvSpPr>
        <p:spPr>
          <a:xfrm>
            <a:off x="274320" y="3520440"/>
            <a:ext cx="3840480" cy="1791004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1"/>
          <p:cNvSpPr/>
          <p:nvPr/>
        </p:nvSpPr>
        <p:spPr>
          <a:xfrm>
            <a:off x="274320" y="3520440"/>
            <a:ext cx="64008" cy="1791004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22" name="Text 12"/>
          <p:cNvSpPr/>
          <p:nvPr/>
        </p:nvSpPr>
        <p:spPr>
          <a:xfrm>
            <a:off x="457200" y="3593591"/>
            <a:ext cx="3566160" cy="544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🚫  Limite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13"/>
          <p:cNvSpPr/>
          <p:nvPr/>
        </p:nvSpPr>
        <p:spPr>
          <a:xfrm>
            <a:off x="457200" y="3959351"/>
            <a:ext cx="3566160" cy="9313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4446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Utilisée une seule fois. Pour la réutilisation, préférez une classe nommée.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14"/>
          <p:cNvSpPr/>
          <p:nvPr/>
        </p:nvSpPr>
        <p:spPr>
          <a:xfrm>
            <a:off x="4251960" y="892690"/>
            <a:ext cx="4434840" cy="4431385"/>
          </a:xfrm>
          <a:prstGeom prst="rect">
            <a:avLst/>
          </a:prstGeom>
          <a:solidFill>
            <a:schemeClr val="bg1"/>
          </a:solidFill>
          <a:ln/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15"/>
          <p:cNvSpPr/>
          <p:nvPr/>
        </p:nvSpPr>
        <p:spPr>
          <a:xfrm>
            <a:off x="4572000" y="960119"/>
            <a:ext cx="4114800" cy="5014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F8F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Syntaxe générale</a:t>
            </a:r>
            <a:endParaRPr lang="en-US" sz="1400" dirty="0"/>
          </a:p>
        </p:txBody>
      </p:sp>
      <p:sp>
        <p:nvSpPr>
          <p:cNvPr id="26" name="Text 16"/>
          <p:cNvSpPr/>
          <p:nvPr/>
        </p:nvSpPr>
        <p:spPr>
          <a:xfrm>
            <a:off x="4617720" y="1371599"/>
            <a:ext cx="4160520" cy="40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Interface</a:t>
            </a:r>
            <a:endParaRPr lang="en-US" sz="1400" dirty="0"/>
          </a:p>
        </p:txBody>
      </p:sp>
      <p:sp>
        <p:nvSpPr>
          <p:cNvPr id="27" name="Text 17"/>
          <p:cNvSpPr/>
          <p:nvPr/>
        </p:nvSpPr>
        <p:spPr>
          <a:xfrm>
            <a:off x="4617720" y="1627631"/>
            <a:ext cx="4160520" cy="40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monObjet = new</a:t>
            </a:r>
            <a:endParaRPr lang="en-US" sz="1400" dirty="0"/>
          </a:p>
        </p:txBody>
      </p:sp>
      <p:sp>
        <p:nvSpPr>
          <p:cNvPr id="28" name="Text 18"/>
          <p:cNvSpPr/>
          <p:nvPr/>
        </p:nvSpPr>
        <p:spPr>
          <a:xfrm>
            <a:off x="6300192" y="1625998"/>
            <a:ext cx="4160520" cy="40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Interface()</a:t>
            </a:r>
            <a:endParaRPr lang="en-US" sz="1400" dirty="0"/>
          </a:p>
        </p:txBody>
      </p:sp>
      <p:sp>
        <p:nvSpPr>
          <p:cNvPr id="29" name="Text 19"/>
          <p:cNvSpPr/>
          <p:nvPr/>
        </p:nvSpPr>
        <p:spPr>
          <a:xfrm>
            <a:off x="4617720" y="2139695"/>
            <a:ext cx="4160520" cy="40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1400" dirty="0"/>
          </a:p>
        </p:txBody>
      </p:sp>
      <p:sp>
        <p:nvSpPr>
          <p:cNvPr id="30" name="Text 20"/>
          <p:cNvSpPr/>
          <p:nvPr/>
        </p:nvSpPr>
        <p:spPr>
          <a:xfrm>
            <a:off x="4617720" y="2395727"/>
            <a:ext cx="4160520" cy="40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@Override</a:t>
            </a:r>
            <a:endParaRPr lang="en-US" sz="1400" dirty="0"/>
          </a:p>
        </p:txBody>
      </p:sp>
      <p:sp>
        <p:nvSpPr>
          <p:cNvPr id="31" name="Text 21"/>
          <p:cNvSpPr/>
          <p:nvPr/>
        </p:nvSpPr>
        <p:spPr>
          <a:xfrm>
            <a:off x="4617720" y="2651759"/>
            <a:ext cx="4160520" cy="40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</a:t>
            </a:r>
            <a:endParaRPr lang="en-US" sz="1400" dirty="0"/>
          </a:p>
        </p:txBody>
      </p:sp>
      <p:sp>
        <p:nvSpPr>
          <p:cNvPr id="32" name="Text 22"/>
          <p:cNvSpPr/>
          <p:nvPr/>
        </p:nvSpPr>
        <p:spPr>
          <a:xfrm>
            <a:off x="4617720" y="2907791"/>
            <a:ext cx="4160520" cy="40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b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methode() {</a:t>
            </a:r>
            <a:endParaRPr lang="en-US" sz="1400" b="1" dirty="0"/>
          </a:p>
        </p:txBody>
      </p:sp>
      <p:sp>
        <p:nvSpPr>
          <p:cNvPr id="33" name="Text 23"/>
          <p:cNvSpPr/>
          <p:nvPr/>
        </p:nvSpPr>
        <p:spPr>
          <a:xfrm>
            <a:off x="4617720" y="3163823"/>
            <a:ext cx="4160520" cy="40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// Code</a:t>
            </a:r>
            <a:endParaRPr lang="en-US" sz="1400" dirty="0"/>
          </a:p>
        </p:txBody>
      </p:sp>
      <p:sp>
        <p:nvSpPr>
          <p:cNvPr id="34" name="Text 24"/>
          <p:cNvSpPr/>
          <p:nvPr/>
        </p:nvSpPr>
        <p:spPr>
          <a:xfrm>
            <a:off x="4617720" y="3419855"/>
            <a:ext cx="4160520" cy="40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400" dirty="0"/>
          </a:p>
        </p:txBody>
      </p:sp>
      <p:sp>
        <p:nvSpPr>
          <p:cNvPr id="35" name="Text 25"/>
          <p:cNvSpPr/>
          <p:nvPr/>
        </p:nvSpPr>
        <p:spPr>
          <a:xfrm>
            <a:off x="4617720" y="3675887"/>
            <a:ext cx="4160520" cy="40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};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4573485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6400800"/>
            <a:ext cx="15541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re 1">
            <a:extLst>
              <a:ext uri="{FF2B5EF4-FFF2-40B4-BE49-F238E27FC236}">
                <a16:creationId xmlns:a16="http://schemas.microsoft.com/office/drawing/2014/main" id="{88197348-5CC2-499B-8197-C94C5D8BC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576" y="151802"/>
            <a:ext cx="8208912" cy="540894"/>
          </a:xfr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fr-CA" sz="2400" cap="none" dirty="0">
                <a:solidFill>
                  <a:srgbClr val="FF0000"/>
                </a:solidFill>
              </a:rPr>
              <a:t>VI. </a:t>
            </a:r>
            <a:r>
              <a:rPr lang="fr-CA" sz="2400" cap="none" dirty="0" err="1">
                <a:solidFill>
                  <a:srgbClr val="FF0000"/>
                </a:solidFill>
              </a:rPr>
              <a:t>Anonymos</a:t>
            </a:r>
            <a:r>
              <a:rPr lang="fr-CA" sz="2400" cap="none" dirty="0">
                <a:solidFill>
                  <a:srgbClr val="FF0000"/>
                </a:solidFill>
              </a:rPr>
              <a:t> Class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AC68D4D3-B500-4716-B843-F3048BF30CA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6336" y="6307338"/>
            <a:ext cx="1296144" cy="515307"/>
          </a:xfrm>
          <a:prstGeom prst="rect">
            <a:avLst/>
          </a:prstGeom>
        </p:spPr>
      </p:pic>
      <p:sp>
        <p:nvSpPr>
          <p:cNvPr id="5" name="Text 3"/>
          <p:cNvSpPr/>
          <p:nvPr/>
        </p:nvSpPr>
        <p:spPr>
          <a:xfrm>
            <a:off x="516696" y="102757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🎯  Scénario : Gérer le clic d'un bouton dans une application Android sans créer une classe séparée.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251520" y="1916832"/>
            <a:ext cx="5303520" cy="333756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8" name="Text 5"/>
          <p:cNvSpPr/>
          <p:nvPr/>
        </p:nvSpPr>
        <p:spPr>
          <a:xfrm>
            <a:off x="388680" y="2008272"/>
            <a:ext cx="5074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6A9955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// Classe Anonyme — clic bouton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388680" y="2195724"/>
            <a:ext cx="5074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Button btn = findViewById(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388680" y="2383176"/>
            <a:ext cx="5074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9CDCFE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  </a:t>
            </a:r>
            <a:r>
              <a:rPr lang="en-US" b="1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R.id.monBouton);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388680" y="2570628"/>
            <a:ext cx="5074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388680" y="2758080"/>
            <a:ext cx="5074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btn.setOnClickListener(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388680" y="2945532"/>
            <a:ext cx="5074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4EC9B0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</a:t>
            </a:r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new View.OnClickListener() {</a:t>
            </a:r>
            <a:endParaRPr lang="en-US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388680" y="3132984"/>
            <a:ext cx="5074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388680" y="3320436"/>
            <a:ext cx="5074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C586C0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  @Override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388680" y="3507888"/>
            <a:ext cx="5074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69CD6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  public void onClick(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388680" y="3695340"/>
            <a:ext cx="5074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00B050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      </a:t>
            </a:r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View v) {</a:t>
            </a:r>
            <a:endParaRPr lang="en-US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388680" y="3882792"/>
            <a:ext cx="5074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    Toast.makeText(ctx,</a:t>
            </a:r>
            <a:endParaRPr lang="en-US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388680" y="4070244"/>
            <a:ext cx="5074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CE9178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      "Bouton cliqué !",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388680" y="4257696"/>
            <a:ext cx="5074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9CDCFE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      Toast.LENGTH_SHORT)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388680" y="4445148"/>
            <a:ext cx="5074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D4D4D4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      </a:t>
            </a:r>
            <a:r>
              <a:rPr lang="en-US" b="1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.show();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388680" y="4632600"/>
            <a:ext cx="5074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D4D4D4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  }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388680" y="4820052"/>
            <a:ext cx="5074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D4D4D4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}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388680" y="5007504"/>
            <a:ext cx="5074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D4D4D4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);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5875080" y="2081424"/>
            <a:ext cx="329184" cy="329184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75080" y="20814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259128" y="1971696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Sans nom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259128" y="2246016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7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Pas besoin de déclarer une classe séparée OnClickListener.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Shape 28"/>
          <p:cNvSpPr/>
          <p:nvPr/>
        </p:nvSpPr>
        <p:spPr>
          <a:xfrm>
            <a:off x="5875080" y="2922672"/>
            <a:ext cx="329184" cy="329184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30" name="Text 29"/>
          <p:cNvSpPr/>
          <p:nvPr/>
        </p:nvSpPr>
        <p:spPr>
          <a:xfrm>
            <a:off x="5875080" y="29226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30"/>
          <p:cNvSpPr/>
          <p:nvPr/>
        </p:nvSpPr>
        <p:spPr>
          <a:xfrm>
            <a:off x="6259128" y="2812944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À la volée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31"/>
          <p:cNvSpPr/>
          <p:nvPr/>
        </p:nvSpPr>
        <p:spPr>
          <a:xfrm>
            <a:off x="6259128" y="3087264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7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L'interface View.OnClickListener est implémentée directement.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Shape 33"/>
          <p:cNvSpPr/>
          <p:nvPr/>
        </p:nvSpPr>
        <p:spPr>
          <a:xfrm>
            <a:off x="5875080" y="3763920"/>
            <a:ext cx="329184" cy="329184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34" name="Text 34"/>
          <p:cNvSpPr/>
          <p:nvPr/>
        </p:nvSpPr>
        <p:spPr>
          <a:xfrm>
            <a:off x="5875080" y="37639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35"/>
          <p:cNvSpPr/>
          <p:nvPr/>
        </p:nvSpPr>
        <p:spPr>
          <a:xfrm>
            <a:off x="6259128" y="3654192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Concis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 36"/>
          <p:cNvSpPr/>
          <p:nvPr/>
        </p:nvSpPr>
        <p:spPr>
          <a:xfrm>
            <a:off x="6259128" y="3928512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7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Logique du clic localisée → code plus lisible et maintenable.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Shape 38"/>
          <p:cNvSpPr/>
          <p:nvPr/>
        </p:nvSpPr>
        <p:spPr>
          <a:xfrm>
            <a:off x="5875080" y="4605168"/>
            <a:ext cx="329184" cy="329184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38" name="Text 39"/>
          <p:cNvSpPr/>
          <p:nvPr/>
        </p:nvSpPr>
        <p:spPr>
          <a:xfrm>
            <a:off x="5875080" y="46051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4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 40"/>
          <p:cNvSpPr/>
          <p:nvPr/>
        </p:nvSpPr>
        <p:spPr>
          <a:xfrm>
            <a:off x="6259128" y="4495440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Usage unique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 41"/>
          <p:cNvSpPr/>
          <p:nvPr/>
        </p:nvSpPr>
        <p:spPr>
          <a:xfrm>
            <a:off x="6259128" y="4769760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7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Parfait car ce listener ne sera pas réutilisé ailleurs.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8949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6400800"/>
            <a:ext cx="15541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re 1">
            <a:extLst>
              <a:ext uri="{FF2B5EF4-FFF2-40B4-BE49-F238E27FC236}">
                <a16:creationId xmlns:a16="http://schemas.microsoft.com/office/drawing/2014/main" id="{88197348-5CC2-499B-8197-C94C5D8BC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576" y="151802"/>
            <a:ext cx="8208912" cy="540894"/>
          </a:xfr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fr-CA" sz="2400" cap="none" smtClean="0">
                <a:solidFill>
                  <a:srgbClr val="FF0000"/>
                </a:solidFill>
              </a:rPr>
              <a:t>VII. </a:t>
            </a:r>
            <a:r>
              <a:rPr lang="fr-CA" sz="2400" cap="none" dirty="0" smtClean="0">
                <a:solidFill>
                  <a:srgbClr val="FF0000"/>
                </a:solidFill>
              </a:rPr>
              <a:t>Conclusion</a:t>
            </a:r>
            <a:endParaRPr lang="fr-CA" sz="2400" cap="none" dirty="0">
              <a:solidFill>
                <a:srgbClr val="FF0000"/>
              </a:solidFill>
            </a:endParaRPr>
          </a:p>
        </p:txBody>
      </p:sp>
      <p:sp>
        <p:nvSpPr>
          <p:cNvPr id="40" name="ConclusionIntro"/>
          <p:cNvSpPr/>
          <p:nvPr/>
        </p:nvSpPr>
        <p:spPr>
          <a:xfrm>
            <a:off x="731218" y="1345844"/>
            <a:ext cx="8580000" cy="49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CA" sz="1400" b="1" i="1" dirty="0">
                <a:solidFill>
                  <a:srgbClr val="475569"/>
                </a:solidFill>
                <a:latin typeface="Times New Roman" panose="02020603050405020304" pitchFamily="18" charset="0"/>
              </a:rPr>
              <a:t>Les Génériques et Collections forment un écosystème cohérent qui rend le code Java plus sûr, plus lisible et plus puissant</a:t>
            </a:r>
            <a:r>
              <a:rPr lang="fr-CA" sz="1300" i="1" dirty="0">
                <a:solidFill>
                  <a:srgbClr val="475569"/>
                </a:solidFill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41" name="Box1"/>
          <p:cNvSpPr/>
          <p:nvPr/>
        </p:nvSpPr>
        <p:spPr>
          <a:xfrm>
            <a:off x="702079" y="2437072"/>
            <a:ext cx="2680000" cy="1480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</p:sp>
      <p:sp>
        <p:nvSpPr>
          <p:cNvPr id="42" name="Bar1"/>
          <p:cNvSpPr/>
          <p:nvPr/>
        </p:nvSpPr>
        <p:spPr>
          <a:xfrm>
            <a:off x="702079" y="2437072"/>
            <a:ext cx="2680000" cy="55000"/>
          </a:xfrm>
          <a:prstGeom prst="rect">
            <a:avLst/>
          </a:prstGeom>
          <a:solidFill>
            <a:srgbClr val="FF0000"/>
          </a:solidFill>
          <a:ln>
            <a:noFill/>
          </a:ln>
        </p:spPr>
      </p:sp>
      <p:sp>
        <p:nvSpPr>
          <p:cNvPr id="43" name="Text1"/>
          <p:cNvSpPr/>
          <p:nvPr/>
        </p:nvSpPr>
        <p:spPr>
          <a:xfrm>
            <a:off x="786655" y="2537072"/>
            <a:ext cx="2510000" cy="1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CA" sz="1400" b="1" dirty="0">
                <a:solidFill>
                  <a:srgbClr val="1E293B"/>
                </a:solidFill>
                <a:latin typeface="Times New Roman" panose="02020603050405020304" pitchFamily="18" charset="0"/>
              </a:rPr>
              <a:t>🧬 Génériques &lt;T&gt;</a:t>
            </a:r>
          </a:p>
          <a:p>
            <a:pPr marL="0" indent="0">
              <a:buNone/>
            </a:pPr>
            <a:r>
              <a:rPr lang="fr-CA" sz="1200" dirty="0">
                <a:solidFill>
                  <a:srgbClr val="475569"/>
                </a:solidFill>
                <a:latin typeface="Times New Roman" panose="02020603050405020304" pitchFamily="18" charset="0"/>
              </a:rPr>
              <a:t>Sécurité à la compilation, fin des casts manuels. Un seul code réutilisable pour tous les types.</a:t>
            </a:r>
          </a:p>
        </p:txBody>
      </p:sp>
      <p:sp>
        <p:nvSpPr>
          <p:cNvPr id="44" name="Box2"/>
          <p:cNvSpPr/>
          <p:nvPr/>
        </p:nvSpPr>
        <p:spPr>
          <a:xfrm>
            <a:off x="3514155" y="2437072"/>
            <a:ext cx="2680000" cy="1480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</p:sp>
      <p:sp>
        <p:nvSpPr>
          <p:cNvPr id="45" name="Bar2"/>
          <p:cNvSpPr/>
          <p:nvPr/>
        </p:nvSpPr>
        <p:spPr>
          <a:xfrm>
            <a:off x="3514155" y="2437072"/>
            <a:ext cx="2680000" cy="55000"/>
          </a:xfrm>
          <a:prstGeom prst="rect">
            <a:avLst/>
          </a:prstGeom>
          <a:solidFill>
            <a:srgbClr val="16A34A"/>
          </a:solidFill>
          <a:ln>
            <a:noFill/>
          </a:ln>
        </p:spPr>
      </p:sp>
      <p:sp>
        <p:nvSpPr>
          <p:cNvPr id="46" name="Text2"/>
          <p:cNvSpPr/>
          <p:nvPr/>
        </p:nvSpPr>
        <p:spPr>
          <a:xfrm>
            <a:off x="3599155" y="2537072"/>
            <a:ext cx="2510000" cy="1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CA" sz="1400" b="1" dirty="0">
                <a:solidFill>
                  <a:srgbClr val="1E293B"/>
                </a:solidFill>
                <a:latin typeface="Times New Roman" panose="02020603050405020304" pitchFamily="18" charset="0"/>
              </a:rPr>
              <a:t>📦 Collections JCF</a:t>
            </a:r>
          </a:p>
          <a:p>
            <a:pPr marL="0" indent="0">
              <a:buNone/>
            </a:pPr>
            <a:r>
              <a:rPr lang="fr-CA" sz="1200" dirty="0">
                <a:solidFill>
                  <a:srgbClr val="475569"/>
                </a:solidFill>
                <a:latin typeface="Times New Roman" panose="02020603050405020304" pitchFamily="18" charset="0"/>
              </a:rPr>
              <a:t>List, Set, Map, Queue : chaque structure a son usage. Taille dynamique, méthodes intégrées.</a:t>
            </a:r>
          </a:p>
        </p:txBody>
      </p:sp>
      <p:sp>
        <p:nvSpPr>
          <p:cNvPr id="47" name="Box3"/>
          <p:cNvSpPr/>
          <p:nvPr/>
        </p:nvSpPr>
        <p:spPr>
          <a:xfrm>
            <a:off x="6326655" y="2437072"/>
            <a:ext cx="2680000" cy="1480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</p:sp>
      <p:sp>
        <p:nvSpPr>
          <p:cNvPr id="48" name="Bar3"/>
          <p:cNvSpPr/>
          <p:nvPr/>
        </p:nvSpPr>
        <p:spPr>
          <a:xfrm>
            <a:off x="6326655" y="2437072"/>
            <a:ext cx="2680000" cy="550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49" name="Text3"/>
          <p:cNvSpPr/>
          <p:nvPr/>
        </p:nvSpPr>
        <p:spPr>
          <a:xfrm>
            <a:off x="6411655" y="2537072"/>
            <a:ext cx="2510000" cy="1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CA" sz="1400" b="1" dirty="0">
                <a:solidFill>
                  <a:srgbClr val="1E293B"/>
                </a:solidFill>
                <a:latin typeface="Times New Roman" panose="02020603050405020304" pitchFamily="18" charset="0"/>
              </a:rPr>
              <a:t>λ Lambda &amp; Streams</a:t>
            </a:r>
          </a:p>
          <a:p>
            <a:pPr marL="0" indent="0">
              <a:buNone/>
            </a:pPr>
            <a:r>
              <a:rPr lang="fr-CA" sz="1200" dirty="0">
                <a:solidFill>
                  <a:srgbClr val="475569"/>
                </a:solidFill>
                <a:latin typeface="Times New Roman" panose="02020603050405020304" pitchFamily="18" charset="0"/>
              </a:rPr>
              <a:t>Code fonctionnel, concis et expressif. Pipeline filter → map → collect sur toute collection.</a:t>
            </a:r>
          </a:p>
        </p:txBody>
      </p:sp>
      <p:sp>
        <p:nvSpPr>
          <p:cNvPr id="50" name="Box4"/>
          <p:cNvSpPr/>
          <p:nvPr/>
        </p:nvSpPr>
        <p:spPr>
          <a:xfrm>
            <a:off x="702079" y="4077072"/>
            <a:ext cx="2680000" cy="1480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</p:sp>
      <p:sp>
        <p:nvSpPr>
          <p:cNvPr id="51" name="Bar4"/>
          <p:cNvSpPr/>
          <p:nvPr/>
        </p:nvSpPr>
        <p:spPr>
          <a:xfrm>
            <a:off x="702079" y="4077072"/>
            <a:ext cx="2680000" cy="55000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52" name="Text4"/>
          <p:cNvSpPr/>
          <p:nvPr/>
        </p:nvSpPr>
        <p:spPr>
          <a:xfrm>
            <a:off x="786655" y="4177072"/>
            <a:ext cx="2510000" cy="1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CA" sz="1400" b="1" dirty="0">
                <a:solidFill>
                  <a:srgbClr val="1E293B"/>
                </a:solidFill>
                <a:latin typeface="Times New Roman" panose="02020603050405020304" pitchFamily="18" charset="0"/>
              </a:rPr>
              <a:t>🏛 Interfaces &amp; Abstraites</a:t>
            </a:r>
          </a:p>
          <a:p>
            <a:pPr marL="0" indent="0">
              <a:buNone/>
            </a:pPr>
            <a:r>
              <a:rPr lang="fr-CA" sz="1200" dirty="0">
                <a:solidFill>
                  <a:srgbClr val="475569"/>
                </a:solidFill>
                <a:latin typeface="Times New Roman" panose="02020603050405020304" pitchFamily="18" charset="0"/>
              </a:rPr>
              <a:t>Les interfaces fonctionnelles donnent vie aux lambdas. Méthodes default : évolution sans casser l’existant.</a:t>
            </a:r>
          </a:p>
        </p:txBody>
      </p:sp>
      <p:sp>
        <p:nvSpPr>
          <p:cNvPr id="53" name="Box5"/>
          <p:cNvSpPr/>
          <p:nvPr/>
        </p:nvSpPr>
        <p:spPr>
          <a:xfrm>
            <a:off x="3514155" y="4077072"/>
            <a:ext cx="2680000" cy="1480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</p:sp>
      <p:sp>
        <p:nvSpPr>
          <p:cNvPr id="54" name="Bar5"/>
          <p:cNvSpPr/>
          <p:nvPr/>
        </p:nvSpPr>
        <p:spPr>
          <a:xfrm>
            <a:off x="3514155" y="4077072"/>
            <a:ext cx="2680000" cy="55000"/>
          </a:xfrm>
          <a:prstGeom prst="rect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55" name="Text5"/>
          <p:cNvSpPr/>
          <p:nvPr/>
        </p:nvSpPr>
        <p:spPr>
          <a:xfrm>
            <a:off x="3599155" y="4177072"/>
            <a:ext cx="2510000" cy="1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CA" sz="1400" b="1" dirty="0">
                <a:solidFill>
                  <a:srgbClr val="1E293B"/>
                </a:solidFill>
                <a:latin typeface="Times New Roman" panose="02020603050405020304" pitchFamily="18" charset="0"/>
              </a:rPr>
              <a:t>🏠 Classes Internes &amp; Anonymes</a:t>
            </a:r>
          </a:p>
          <a:p>
            <a:pPr marL="0" indent="0">
              <a:buNone/>
            </a:pPr>
            <a:r>
              <a:rPr lang="fr-CA" sz="1200" dirty="0">
                <a:solidFill>
                  <a:srgbClr val="475569"/>
                </a:solidFill>
                <a:latin typeface="Times New Roman" panose="02020603050405020304" pitchFamily="18" charset="0"/>
              </a:rPr>
              <a:t>Encapsulation forte, accès privilégié aux membres. Les classes anonymes ont évolué vers les lambdas.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AC68D4D3-B500-4716-B843-F3048BF30CA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6336" y="6307338"/>
            <a:ext cx="1296144" cy="515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51750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684213" y="99119"/>
            <a:ext cx="8064500" cy="665585"/>
          </a:xfrm>
        </p:spPr>
        <p:txBody>
          <a:bodyPr/>
          <a:lstStyle/>
          <a:p>
            <a:endParaRPr lang="fr-CA" dirty="0">
              <a:solidFill>
                <a:srgbClr val="FF0000"/>
              </a:solidFill>
            </a:endParaRPr>
          </a:p>
        </p:txBody>
      </p:sp>
      <p:sp>
        <p:nvSpPr>
          <p:cNvPr id="6" name="ZoneTexte 5"/>
          <p:cNvSpPr txBox="1"/>
          <p:nvPr/>
        </p:nvSpPr>
        <p:spPr>
          <a:xfrm>
            <a:off x="2310710" y="2780928"/>
            <a:ext cx="4493538" cy="156966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r>
              <a:rPr lang="fr-CA" sz="9600" b="1" dirty="0">
                <a:ln w="11430"/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Merci !</a:t>
            </a:r>
            <a:r>
              <a:rPr lang="fr-CA" sz="9600" b="1" dirty="0">
                <a:ln w="11430"/>
                <a:solidFill>
                  <a:schemeClr val="bg1">
                    <a:lumMod val="50000"/>
                  </a:schemeClr>
                </a:soli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 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01421D6F-C5F1-42E4-86F1-5ED2F5C6A9C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8344" y="6307338"/>
            <a:ext cx="1296144" cy="51530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684213" y="44624"/>
            <a:ext cx="8208962" cy="837456"/>
          </a:xfrm>
        </p:spPr>
        <p:txBody>
          <a:bodyPr/>
          <a:lstStyle/>
          <a:p>
            <a:r>
              <a:rPr lang="fr-CA">
                <a:solidFill>
                  <a:srgbClr val="C00000"/>
                </a:solidFill>
              </a:rPr>
              <a:t>Questions …</a:t>
            </a:r>
            <a:endParaRPr lang="fr-FR" dirty="0"/>
          </a:p>
        </p:txBody>
      </p:sp>
      <p:sp>
        <p:nvSpPr>
          <p:cNvPr id="6" name="ZoneTexte 5"/>
          <p:cNvSpPr txBox="1"/>
          <p:nvPr/>
        </p:nvSpPr>
        <p:spPr>
          <a:xfrm>
            <a:off x="2627784" y="2708920"/>
            <a:ext cx="3456384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6000" b="1" dirty="0">
                <a:solidFill>
                  <a:schemeClr val="bg1"/>
                </a:solidFill>
              </a:rPr>
              <a:t>Q&amp;A</a:t>
            </a:r>
          </a:p>
          <a:p>
            <a:pPr algn="ctr"/>
            <a:r>
              <a:rPr lang="fr-FR" b="1" dirty="0">
                <a:solidFill>
                  <a:schemeClr val="bg1"/>
                </a:solidFill>
              </a:rPr>
              <a:t>www.osositechnologies.com</a:t>
            </a: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88" y="2119313"/>
            <a:ext cx="8963025" cy="2619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ZoneTexte 1"/>
          <p:cNvSpPr txBox="1"/>
          <p:nvPr/>
        </p:nvSpPr>
        <p:spPr>
          <a:xfrm>
            <a:off x="744949" y="2691713"/>
            <a:ext cx="741682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A" sz="6000" b="1" dirty="0">
                <a:solidFill>
                  <a:schemeClr val="bg1"/>
                </a:solidFill>
              </a:rPr>
              <a:t>Q&amp;A</a:t>
            </a:r>
          </a:p>
          <a:p>
            <a:pPr algn="ctr"/>
            <a:r>
              <a:rPr lang="fr-CA" sz="2800" b="1" dirty="0">
                <a:solidFill>
                  <a:schemeClr val="bg1"/>
                </a:solidFill>
              </a:rPr>
              <a:t>www.osistechnologies.com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DF8C955B-5C10-4975-B7E2-47CF609D45A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8344" y="6307338"/>
            <a:ext cx="1296144" cy="515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25233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ection OIM">
  <a:themeElements>
    <a:clrScheme name="Section OIM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Section OIM">
      <a:majorFont>
        <a:latin typeface="Arial"/>
        <a:ea typeface="ＭＳ Ｐゴシック"/>
        <a:cs typeface=""/>
      </a:majorFont>
      <a:minorFont>
        <a:latin typeface="Trebuchet MS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ection OIM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ection OIM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ection OIM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ection OIM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ection OIM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ection OIM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ection OIM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ection OIM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ection OIM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ection OIM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ection OIM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ection OIM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15772</TotalTime>
  <Words>2327</Words>
  <Application>Microsoft Office PowerPoint</Application>
  <PresentationFormat>On-screen Show (4:3)</PresentationFormat>
  <Paragraphs>438</Paragraphs>
  <Slides>23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2" baseType="lpstr">
      <vt:lpstr>ＭＳ Ｐゴシック</vt:lpstr>
      <vt:lpstr>Arial</vt:lpstr>
      <vt:lpstr>Arial Narrow</vt:lpstr>
      <vt:lpstr>Calibri</vt:lpstr>
      <vt:lpstr>Consolas</vt:lpstr>
      <vt:lpstr>Times New Roman</vt:lpstr>
      <vt:lpstr>Trebuchet MS</vt:lpstr>
      <vt:lpstr>Wingdings</vt:lpstr>
      <vt:lpstr>Section OIM</vt:lpstr>
      <vt:lpstr>THEME: Génériques et Collections (1)</vt:lpstr>
      <vt:lpstr>SOMMAIRE</vt:lpstr>
      <vt:lpstr>I. INTRODUCTION</vt:lpstr>
      <vt:lpstr>I. INTRODUCTION</vt:lpstr>
      <vt:lpstr>II. Générique (Syntaxe de base) </vt:lpstr>
      <vt:lpstr>II. Générique (Syntaxe de base) </vt:lpstr>
      <vt:lpstr>II. Générique (Syntaxe de base) </vt:lpstr>
      <vt:lpstr>III. Collection</vt:lpstr>
      <vt:lpstr>III.1. Hierachie des collections</vt:lpstr>
      <vt:lpstr>III.1. Hierachie des collections</vt:lpstr>
      <vt:lpstr>PowerPoint Presentation</vt:lpstr>
      <vt:lpstr>IV. λ  Expressions Lambda</vt:lpstr>
      <vt:lpstr>IV. 1. λ  Syntaxe Lambda — Formes &amp; Interfaces Fonctionnelles</vt:lpstr>
      <vt:lpstr>IV. 2. Stream API — Pipeline de Données</vt:lpstr>
      <vt:lpstr>IV. 2.  Stream API — Pipeline de Données</vt:lpstr>
      <vt:lpstr>V. INNER CLASSE (CLASSE INTERN)</vt:lpstr>
      <vt:lpstr>V. INNER CLASSE (CLASSE INTERN)</vt:lpstr>
      <vt:lpstr>V. INNER CLASSE (CLASSE INTERN)</vt:lpstr>
      <vt:lpstr>VI. Anonymos Class</vt:lpstr>
      <vt:lpstr>VI. Anonymos Class</vt:lpstr>
      <vt:lpstr>VII. Conclusion</vt:lpstr>
      <vt:lpstr>PowerPoint Presentation</vt:lpstr>
      <vt:lpstr>Questions …</vt:lpstr>
    </vt:vector>
  </TitlesOfParts>
  <Company>Momentum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Maxime Yapi</dc:creator>
  <cp:lastModifiedBy>Ibrahim SAVADOGO</cp:lastModifiedBy>
  <cp:revision>740</cp:revision>
  <dcterms:created xsi:type="dcterms:W3CDTF">2010-02-03T20:06:36Z</dcterms:created>
  <dcterms:modified xsi:type="dcterms:W3CDTF">2026-04-24T10:49:58Z</dcterms:modified>
</cp:coreProperties>
</file>