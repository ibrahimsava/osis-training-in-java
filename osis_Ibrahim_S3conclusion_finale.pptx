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25"/>
  </p:notesMasterIdLst>
  <p:handoutMasterIdLst>
    <p:handoutMasterId r:id="rId26"/>
  </p:handoutMasterIdLst>
  <p:sldIdLst>
    <p:sldId id="256" r:id="rId2"/>
    <p:sldId id="356" r:id="rId3"/>
    <p:sldId id="357" r:id="rId4"/>
    <p:sldId id="372" r:id="rId5"/>
    <p:sldId id="373" r:id="rId6"/>
    <p:sldId id="374" r:id="rId7"/>
    <p:sldId id="375" r:id="rId8"/>
    <p:sldId id="377" r:id="rId9"/>
    <p:sldId id="379" r:id="rId10"/>
    <p:sldId id="388" r:id="rId11"/>
    <p:sldId id="378" r:id="rId12"/>
    <p:sldId id="380" r:id="rId13"/>
    <p:sldId id="391" r:id="rId14"/>
    <p:sldId id="381" r:id="rId15"/>
    <p:sldId id="392" r:id="rId16"/>
    <p:sldId id="382" r:id="rId17"/>
    <p:sldId id="389" r:id="rId18"/>
    <p:sldId id="390" r:id="rId19"/>
    <p:sldId id="383" r:id="rId20"/>
    <p:sldId id="384" r:id="rId21"/>
    <p:sldId id="385" r:id="rId22"/>
    <p:sldId id="327" r:id="rId23"/>
    <p:sldId id="345" r:id="rId24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85550" autoAdjust="0"/>
  </p:normalViewPr>
  <p:slideViewPr>
    <p:cSldViewPr>
      <p:cViewPr varScale="1">
        <p:scale>
          <a:sx n="67" d="100"/>
          <a:sy n="67" d="100"/>
        </p:scale>
        <p:origin x="1260" y="52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 xml:space="preserve">Collection </a:t>
            </a:r>
            <a:r>
              <a:rPr lang="en-US" dirty="0" err="1" smtClean="0"/>
              <a:t>etais</a:t>
            </a:r>
            <a:r>
              <a:rPr lang="en-US" dirty="0" smtClean="0"/>
              <a:t xml:space="preserve"> pas</a:t>
            </a:r>
            <a:r>
              <a:rPr lang="en-US" baseline="0" dirty="0" smtClean="0"/>
              <a:t xml:space="preserve"> la </a:t>
            </a:r>
            <a:r>
              <a:rPr lang="en-US" baseline="0" dirty="0" err="1" smtClean="0"/>
              <a:t>en</a:t>
            </a:r>
            <a:r>
              <a:rPr lang="en-US" baseline="0" dirty="0" smtClean="0"/>
              <a:t xml:space="preserve"> 1.0</a:t>
            </a:r>
          </a:p>
          <a:p>
            <a:r>
              <a:rPr lang="en-US" baseline="0" dirty="0" smtClean="0"/>
              <a:t>Vu jour 1.2</a:t>
            </a:r>
          </a:p>
          <a:p>
            <a:r>
              <a:rPr lang="en-US" baseline="0" dirty="0" smtClean="0"/>
              <a:t>Et generic en1.5</a:t>
            </a:r>
          </a:p>
          <a:p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,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mais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fallait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effectuer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un </a:t>
            </a:r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"cast"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à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chaque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fois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qu'on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veut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récupérer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un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élément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baseline="0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38060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Bien</a:t>
            </a:r>
            <a:r>
              <a:rPr lang="en-US" baseline="0" dirty="0" smtClean="0"/>
              <a:t xml:space="preserve"> </a:t>
            </a:r>
            <a:r>
              <a:rPr lang="en-US" baseline="0" dirty="0" err="1" smtClean="0"/>
              <a:t>vrai</a:t>
            </a:r>
            <a:r>
              <a:rPr lang="en-US" baseline="0" dirty="0" smtClean="0"/>
              <a:t xml:space="preserve"> que Map fait </a:t>
            </a:r>
            <a:r>
              <a:rPr lang="en-US" baseline="0" dirty="0" err="1" smtClean="0"/>
              <a:t>partie</a:t>
            </a:r>
            <a:r>
              <a:rPr lang="en-US" baseline="0" dirty="0" smtClean="0"/>
              <a:t xml:space="preserve"> du </a:t>
            </a:r>
            <a:r>
              <a:rPr lang="en-US" baseline="0" dirty="0" err="1" smtClean="0"/>
              <a:t>frsmewok</a:t>
            </a:r>
            <a:r>
              <a:rPr lang="en-US" baseline="0" dirty="0" smtClean="0"/>
              <a:t xml:space="preserve"> </a:t>
            </a:r>
            <a:r>
              <a:rPr lang="en-US" baseline="0" dirty="0" err="1" smtClean="0"/>
              <a:t>mais</a:t>
            </a:r>
            <a:r>
              <a:rPr lang="en-US" baseline="0" dirty="0" smtClean="0"/>
              <a:t xml:space="preserve"> </a:t>
            </a:r>
            <a:r>
              <a:rPr lang="en-US" baseline="0" dirty="0" err="1" smtClean="0"/>
              <a:t>elle</a:t>
            </a:r>
            <a:r>
              <a:rPr lang="en-US" baseline="0" dirty="0" smtClean="0"/>
              <a:t xml:space="preserve"> </a:t>
            </a:r>
            <a:r>
              <a:rPr lang="en-US" baseline="0" dirty="0" err="1" smtClean="0"/>
              <a:t>nherite</a:t>
            </a:r>
            <a:r>
              <a:rPr lang="en-US" baseline="0" dirty="0" smtClean="0"/>
              <a:t xml:space="preserve"> pas de collections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7908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3020110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 xml:space="preserve"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3688" y="191683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Génériques et Collections (1)</a:t>
            </a:r>
            <a:endParaRPr lang="fr-FR" sz="4800" dirty="0"/>
          </a:p>
        </p:txBody>
      </p:sp>
      <p:sp>
        <p:nvSpPr>
          <p:cNvPr id="2" name="TextBox 1"/>
          <p:cNvSpPr txBox="1"/>
          <p:nvPr/>
        </p:nvSpPr>
        <p:spPr>
          <a:xfrm>
            <a:off x="5688124" y="5445224"/>
            <a:ext cx="3096344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 err="1" smtClean="0"/>
              <a:t>Presente</a:t>
            </a:r>
            <a:r>
              <a:rPr lang="en-US" b="1" dirty="0" smtClean="0"/>
              <a:t xml:space="preserve"> par:</a:t>
            </a:r>
          </a:p>
          <a:p>
            <a:pPr>
              <a:lnSpc>
                <a:spcPct val="150000"/>
              </a:lnSpc>
            </a:pPr>
            <a:r>
              <a:rPr lang="en-US" b="1" dirty="0" smtClean="0"/>
              <a:t>Ibrahim SAVADOGO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5576" y="1268760"/>
            <a:ext cx="4666662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INTRODUCTION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GÉNÉRIQUE (SYNTAXE DE BASE)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COLLECTION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en-US" b="1" dirty="0" smtClean="0"/>
              <a:t xml:space="preserve"> </a:t>
            </a:r>
            <a:r>
              <a:rPr lang="el-GR" b="1" dirty="0"/>
              <a:t>λ</a:t>
            </a:r>
            <a:r>
              <a:rPr lang="el-GR" b="1" dirty="0" smtClean="0"/>
              <a:t xml:space="preserve">  </a:t>
            </a:r>
            <a:r>
              <a:rPr lang="fr-CA" b="1" dirty="0" smtClean="0"/>
              <a:t>EXPRESSIONS LAMBDA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INNER CLASSE (CLASSE INTERNE) 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ANONYMOUS CLASS 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 xml:space="preserve"> CONCLUSION</a:t>
            </a:r>
          </a:p>
          <a:p>
            <a:pPr marL="400050" indent="-400050">
              <a:buAutoNum type="romanUcPeriod"/>
            </a:pPr>
            <a:endParaRPr lang="fr-CA" dirty="0" smtClean="0">
              <a:solidFill>
                <a:srgbClr val="FF0000"/>
              </a:solidFill>
            </a:endParaRPr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4183" y="2983393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génériques ?</a:t>
            </a:r>
            <a:endParaRPr lang="en-US" sz="2400" dirty="0"/>
          </a:p>
        </p:txBody>
      </p:sp>
      <p:sp>
        <p:nvSpPr>
          <p:cNvPr id="5" name="Rectangle 4"/>
          <p:cNvSpPr/>
          <p:nvPr/>
        </p:nvSpPr>
        <p:spPr>
          <a:xfrm>
            <a:off x="467543" y="897203"/>
            <a:ext cx="812231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hangingPunct="0"/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Java Collections Framework (JCF)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1998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2 (JDK 1.2)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.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moment-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qu'apparaissent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les interfaces List, Set, Map et les classes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HashMap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eaLnBrk="0" hangingPunct="0"/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Les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2004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5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. Avant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cette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date, on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pouvait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mettre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n'importe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objet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641681" y="3501008"/>
            <a:ext cx="3931920" cy="2997416"/>
          </a:xfrm>
          <a:prstGeom prst="rect">
            <a:avLst/>
          </a:prstGeom>
          <a:solidFill>
            <a:schemeClr val="bg1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"/>
          <p:cNvSpPr/>
          <p:nvPr/>
        </p:nvSpPr>
        <p:spPr>
          <a:xfrm>
            <a:off x="3726990" y="3596756"/>
            <a:ext cx="1603423" cy="380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❌  Avant Java 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2733121" y="4095368"/>
            <a:ext cx="3749040" cy="96487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5"/>
          <p:cNvSpPr/>
          <p:nvPr/>
        </p:nvSpPr>
        <p:spPr>
          <a:xfrm>
            <a:off x="2824561" y="4122800"/>
            <a:ext cx="3566160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 liste = new ArrayList();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(String) liste.get(0</a:t>
            </a:r>
            <a:r>
              <a:rPr lang="en-US" sz="1400" dirty="0" smtClean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2824561" y="5283393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7"/>
          <p:cNvSpPr/>
          <p:nvPr/>
        </p:nvSpPr>
        <p:spPr>
          <a:xfrm>
            <a:off x="3120004" y="5246945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Cast manuel obligatoire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2824561" y="5702182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Text 9"/>
          <p:cNvSpPr/>
          <p:nvPr/>
        </p:nvSpPr>
        <p:spPr>
          <a:xfrm>
            <a:off x="3098881" y="5673464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Erreurs seulement à l'exécution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2824561" y="6116228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11"/>
          <p:cNvSpPr/>
          <p:nvPr/>
        </p:nvSpPr>
        <p:spPr>
          <a:xfrm>
            <a:off x="3098881" y="6116228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peu lisible et fragile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9" grpId="0" animBg="1"/>
      <p:bldP spid="41" grpId="0" animBg="1"/>
      <p:bldP spid="43" grpId="0" animBg="1"/>
      <p:bldP spid="45" grpId="0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1" name="Shape 12"/>
          <p:cNvSpPr/>
          <p:nvPr/>
        </p:nvSpPr>
        <p:spPr>
          <a:xfrm>
            <a:off x="5342696" y="1340768"/>
            <a:ext cx="3236640" cy="178177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5583469" y="1321048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4"/>
          <p:cNvSpPr/>
          <p:nvPr/>
        </p:nvSpPr>
        <p:spPr>
          <a:xfrm>
            <a:off x="5605228" y="1556143"/>
            <a:ext cx="2016224" cy="30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6"/>
          <p:cNvSpPr/>
          <p:nvPr/>
        </p:nvSpPr>
        <p:spPr>
          <a:xfrm>
            <a:off x="5342696" y="3142265"/>
            <a:ext cx="3236640" cy="141457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5673124" y="19722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Les erreurs de type sont détectées avant </a:t>
            </a:r>
            <a:r>
              <a:rPr lang="en-US" sz="1400" dirty="0" smtClean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l’exécution du </a:t>
            </a: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programme, pas pendant.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8"/>
          <p:cNvSpPr/>
          <p:nvPr/>
        </p:nvSpPr>
        <p:spPr>
          <a:xfrm>
            <a:off x="6156176" y="3425147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Lisibilité du code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5706947" y="3650626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exactement quel type est attendu sans lire toute la logique.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5605228" y="3268771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hape 20"/>
          <p:cNvSpPr/>
          <p:nvPr/>
        </p:nvSpPr>
        <p:spPr>
          <a:xfrm>
            <a:off x="5342696" y="4683344"/>
            <a:ext cx="3236640" cy="154300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6156176" y="5020179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 des casts manuels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5636668" y="486579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3"/>
          <p:cNvSpPr/>
          <p:nvPr/>
        </p:nvSpPr>
        <p:spPr>
          <a:xfrm>
            <a:off x="5812069" y="5357331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compilateur insère lui-même les conversions nécessaires, de manière sûre.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15424" y="1321048"/>
            <a:ext cx="3931920" cy="3474720"/>
          </a:xfrm>
          <a:prstGeom prst="rect">
            <a:avLst/>
          </a:prstGeom>
          <a:solidFill>
            <a:schemeClr val="bg1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898304" y="1458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Avec les Génériques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806864" y="1915408"/>
            <a:ext cx="374904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898304" y="1942840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liste = new ArrayList&lt;&gt;();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✔️ Vérifié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898304" y="340588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1172624" y="337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Vérification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898304" y="379907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1172624" y="377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de cast manuel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898304" y="4192264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1172624" y="4164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clair et réutilisable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64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8" grpId="0" animBg="1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 xml:space="preserve">II. 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 flipH="1">
            <a:off x="395536" y="1124744"/>
            <a:ext cx="8568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En 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Java, le mot générique (ou Generics) désigne un mécanisme qui permet d’écrire des classes, interfaces ou méthodes paramétrées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par des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39411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9"/>
          <p:cNvSpPr/>
          <p:nvPr/>
        </p:nvSpPr>
        <p:spPr>
          <a:xfrm>
            <a:off x="39411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10"/>
          <p:cNvSpPr/>
          <p:nvPr/>
        </p:nvSpPr>
        <p:spPr>
          <a:xfrm>
            <a:off x="48555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&lt;T&gt;</a:t>
            </a:r>
            <a:endParaRPr lang="en-US" sz="2000" dirty="0"/>
          </a:p>
        </p:txBody>
      </p:sp>
      <p:sp>
        <p:nvSpPr>
          <p:cNvPr id="35" name="Text 11"/>
          <p:cNvSpPr/>
          <p:nvPr/>
        </p:nvSpPr>
        <p:spPr>
          <a:xfrm>
            <a:off x="46726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paramètre générique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9723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13"/>
          <p:cNvSpPr/>
          <p:nvPr/>
        </p:nvSpPr>
        <p:spPr>
          <a:xfrm>
            <a:off x="249723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8" name="Text 14"/>
          <p:cNvSpPr/>
          <p:nvPr/>
        </p:nvSpPr>
        <p:spPr>
          <a:xfrm>
            <a:off x="258867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&lt;E&gt;</a:t>
            </a:r>
            <a:endParaRPr lang="en-US" sz="2000" dirty="0"/>
          </a:p>
        </p:txBody>
      </p:sp>
      <p:sp>
        <p:nvSpPr>
          <p:cNvPr id="39" name="Text 15"/>
          <p:cNvSpPr/>
          <p:nvPr/>
        </p:nvSpPr>
        <p:spPr>
          <a:xfrm>
            <a:off x="257038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Élement (utilisé dans List)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460035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17"/>
          <p:cNvSpPr/>
          <p:nvPr/>
        </p:nvSpPr>
        <p:spPr>
          <a:xfrm>
            <a:off x="460035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2" name="Text 18"/>
          <p:cNvSpPr/>
          <p:nvPr/>
        </p:nvSpPr>
        <p:spPr>
          <a:xfrm>
            <a:off x="469179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&lt;K,V&gt;</a:t>
            </a:r>
            <a:endParaRPr lang="en-US" sz="2000" dirty="0"/>
          </a:p>
        </p:txBody>
      </p:sp>
      <p:sp>
        <p:nvSpPr>
          <p:cNvPr id="43" name="Text 19"/>
          <p:cNvSpPr/>
          <p:nvPr/>
        </p:nvSpPr>
        <p:spPr>
          <a:xfrm>
            <a:off x="467350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Clé / Valeur (Map)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0"/>
          <p:cNvSpPr/>
          <p:nvPr/>
        </p:nvSpPr>
        <p:spPr>
          <a:xfrm>
            <a:off x="670347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21"/>
          <p:cNvSpPr/>
          <p:nvPr/>
        </p:nvSpPr>
        <p:spPr>
          <a:xfrm>
            <a:off x="670347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22"/>
          <p:cNvSpPr/>
          <p:nvPr/>
        </p:nvSpPr>
        <p:spPr>
          <a:xfrm>
            <a:off x="679491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&lt;?&gt;</a:t>
            </a:r>
            <a:endParaRPr lang="en-US" sz="2000" dirty="0"/>
          </a:p>
        </p:txBody>
      </p:sp>
      <p:sp>
        <p:nvSpPr>
          <p:cNvPr id="47" name="Text 23"/>
          <p:cNvSpPr/>
          <p:nvPr/>
        </p:nvSpPr>
        <p:spPr>
          <a:xfrm>
            <a:off x="677662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inconnu (wildcard)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86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4" grpId="0" animBg="1"/>
      <p:bldP spid="35" grpId="0" animBg="1"/>
      <p:bldP spid="38" grpId="0" animBg="1"/>
      <p:bldP spid="39" grpId="0" animBg="1"/>
      <p:bldP spid="42" grpId="0" animBg="1"/>
      <p:bldP spid="43" grpId="0" animBg="1"/>
      <p:bldP spid="46" grpId="0" animBg="1"/>
      <p:bldP spid="4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 xml:space="preserve">II. </a:t>
            </a:r>
            <a:r>
              <a:rPr lang="fr-CA" sz="2400" cap="none" dirty="0" smtClean="0">
                <a:solidFill>
                  <a:srgbClr val="FF0000"/>
                </a:solidFill>
              </a:rPr>
              <a:t xml:space="preserve">Générique </a:t>
            </a:r>
            <a:r>
              <a:rPr lang="fr-CA" sz="2400" cap="none" dirty="0">
                <a:solidFill>
                  <a:srgbClr val="FF0000"/>
                </a:solidFill>
              </a:rPr>
              <a:t xml:space="preserve"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3"/>
          <p:cNvSpPr/>
          <p:nvPr/>
        </p:nvSpPr>
        <p:spPr>
          <a:xfrm>
            <a:off x="430932" y="1130729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paramètre de type T est déclaré entre chevrons après le nom de la classe. T est un alias qui sera remplacé par un type réel à l'utilisation.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95536" y="1916832"/>
            <a:ext cx="4846320" cy="2468880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5"/>
          <p:cNvSpPr/>
          <p:nvPr/>
        </p:nvSpPr>
        <p:spPr>
          <a:xfrm>
            <a:off x="505264" y="1989984"/>
            <a:ext cx="462686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Declaration : &lt;T&gt; apres le nom de la classe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Boite&lt;T&gt;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private T contenu;          // T est utilise comme un vrai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public void mettre(T valeur)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this.contenu = valeur;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public T prendre()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return contenu;         // retourne exactement le bon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6"/>
          <p:cNvSpPr/>
          <p:nvPr/>
        </p:nvSpPr>
        <p:spPr>
          <a:xfrm flipV="1">
            <a:off x="5260144" y="2114550"/>
            <a:ext cx="388181" cy="345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7" name="Text 7"/>
          <p:cNvSpPr/>
          <p:nvPr/>
        </p:nvSpPr>
        <p:spPr>
          <a:xfrm>
            <a:off x="5744776" y="2008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= paramètre de type (convention : T, E, K, V...)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60144" y="2556912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9" name="Text 9"/>
          <p:cNvSpPr/>
          <p:nvPr/>
        </p:nvSpPr>
        <p:spPr>
          <a:xfrm>
            <a:off x="5744776" y="24471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utilisé comme n'importe quel autre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0"/>
          <p:cNvSpPr/>
          <p:nvPr/>
        </p:nvSpPr>
        <p:spPr>
          <a:xfrm flipV="1">
            <a:off x="5260143" y="3114697"/>
            <a:ext cx="1718445" cy="36575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1" name="Text 11"/>
          <p:cNvSpPr/>
          <p:nvPr/>
        </p:nvSpPr>
        <p:spPr>
          <a:xfrm>
            <a:off x="6978589" y="2979853"/>
            <a:ext cx="2016224" cy="21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reçoit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2"/>
          <p:cNvSpPr/>
          <p:nvPr/>
        </p:nvSpPr>
        <p:spPr>
          <a:xfrm flipV="1">
            <a:off x="5260144" y="3769943"/>
            <a:ext cx="1443676" cy="21409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3" name="Text 13"/>
          <p:cNvSpPr/>
          <p:nvPr/>
        </p:nvSpPr>
        <p:spPr>
          <a:xfrm>
            <a:off x="6703820" y="3647077"/>
            <a:ext cx="2139592" cy="217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retourne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Utilisation — T est remplacé par le type concret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395536" y="4797191"/>
            <a:ext cx="8412480" cy="1527047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7" name="Text 17"/>
          <p:cNvSpPr/>
          <p:nvPr/>
        </p:nvSpPr>
        <p:spPr>
          <a:xfrm>
            <a:off x="505264" y="4870344"/>
            <a:ext cx="8193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Boite&lt;String&gt;  boiteTexte  = new Boite&lt;&gt;();  // T =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Boite&lt;Integer&gt; boiteNombre = new Boite&lt;&gt;();  // T = Integer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Boite&lt;Boolean&gt; boiteBool   = new Boite&lt;&gt;();  // T = Boolean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boiteTexte.mettre("Bonjour");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boiteTexte.prendre();  // pas de cast, c'est deja un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7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 animBg="1"/>
      <p:bldP spid="29" grpId="0" animBg="1"/>
      <p:bldP spid="31" grpId="0" animBg="1"/>
      <p:bldP spid="33" grpId="0" animBg="1"/>
      <p:bldP spid="35" grpId="0" animBg="1"/>
      <p:bldP spid="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 xml:space="preserve">II. </a:t>
            </a:r>
            <a:r>
              <a:rPr lang="fr-CA" sz="2400" cap="none" dirty="0" smtClean="0">
                <a:solidFill>
                  <a:srgbClr val="FF0000"/>
                </a:solidFill>
              </a:rPr>
              <a:t xml:space="preserve">Générique </a:t>
            </a:r>
            <a:r>
              <a:rPr lang="fr-CA" sz="2400" cap="none" dirty="0">
                <a:solidFill>
                  <a:srgbClr val="FF0000"/>
                </a:solidFill>
              </a:rPr>
              <a:t xml:space="preserve"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2"/>
          <p:cNvSpPr/>
          <p:nvPr/>
        </p:nvSpPr>
        <p:spPr>
          <a:xfrm>
            <a:off x="477606" y="1341521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</a:t>
            </a:r>
            <a:r>
              <a:rPr lang="en-US" sz="1400" b="1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&lt;T&gt; 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c'est comme une boîte de livraison 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511660" y="1710592"/>
            <a:ext cx="6696744" cy="510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Le carton est toujours le même — seul le contenu change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de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 qu'on y met.</a:t>
            </a:r>
          </a:p>
        </p:txBody>
      </p:sp>
      <p:sp>
        <p:nvSpPr>
          <p:cNvPr id="25" name="Shape 4"/>
          <p:cNvSpPr/>
          <p:nvPr/>
        </p:nvSpPr>
        <p:spPr>
          <a:xfrm>
            <a:off x="294726" y="2639224"/>
            <a:ext cx="2743200" cy="2926080"/>
          </a:xfrm>
          <a:prstGeom prst="rect">
            <a:avLst/>
          </a:prstGeom>
          <a:noFill/>
          <a:ln w="19050">
            <a:solidFill>
              <a:srgbClr val="C4B5FD"/>
            </a:solidFill>
            <a:prstDash val="solid"/>
          </a:ln>
        </p:spPr>
      </p:sp>
      <p:sp>
        <p:nvSpPr>
          <p:cNvPr id="26" name="Shape 5"/>
          <p:cNvSpPr/>
          <p:nvPr/>
        </p:nvSpPr>
        <p:spPr>
          <a:xfrm>
            <a:off x="294726" y="2639224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6"/>
          <p:cNvSpPr/>
          <p:nvPr/>
        </p:nvSpPr>
        <p:spPr>
          <a:xfrm>
            <a:off x="3861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8" name="Shape 7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Boite&lt;Telephone&gt;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9"/>
          <p:cNvSpPr/>
          <p:nvPr/>
        </p:nvSpPr>
        <p:spPr>
          <a:xfrm>
            <a:off x="3861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téléphone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418982" y="4374072"/>
            <a:ext cx="2523744" cy="71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On sait que c'est un téléphone à l'intérieur. Pas besoin de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verifier</a:t>
            </a:r>
          </a:p>
          <a:p>
            <a:pPr marL="0" indent="0" algn="l">
              <a:buNone/>
            </a:pP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garantit le contenu.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3266526" y="2639224"/>
            <a:ext cx="2743200" cy="2926080"/>
          </a:xfrm>
          <a:prstGeom prst="rect">
            <a:avLst/>
          </a:prstGeom>
          <a:noFill/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2"/>
          <p:cNvSpPr/>
          <p:nvPr/>
        </p:nvSpPr>
        <p:spPr>
          <a:xfrm>
            <a:off x="3266526" y="2639224"/>
            <a:ext cx="27432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13"/>
          <p:cNvSpPr/>
          <p:nvPr/>
        </p:nvSpPr>
        <p:spPr>
          <a:xfrm>
            <a:off x="33579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🍕</a:t>
            </a:r>
            <a:endParaRPr lang="en-US" sz="3200" dirty="0"/>
          </a:p>
        </p:txBody>
      </p:sp>
      <p:sp>
        <p:nvSpPr>
          <p:cNvPr id="35" name="Shape 14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15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Boite&lt;Pizza&gt;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33579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à pizza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3348822" y="436286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Même boîte, autre contenu. On ne peut pas mettre un téléphone dans une boîte à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pizza, 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l'interdit.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8"/>
          <p:cNvSpPr/>
          <p:nvPr/>
        </p:nvSpPr>
        <p:spPr>
          <a:xfrm>
            <a:off x="6238326" y="2639224"/>
            <a:ext cx="2743200" cy="2926080"/>
          </a:xfrm>
          <a:prstGeom prst="rect">
            <a:avLst/>
          </a:prstGeom>
          <a:noFill/>
          <a:ln w="19050">
            <a:solidFill>
              <a:srgbClr val="86EFAC"/>
            </a:solidFill>
            <a:prstDash val="solid"/>
          </a:ln>
        </p:spPr>
      </p:sp>
      <p:sp>
        <p:nvSpPr>
          <p:cNvPr id="40" name="Shape 19"/>
          <p:cNvSpPr/>
          <p:nvPr/>
        </p:nvSpPr>
        <p:spPr>
          <a:xfrm>
            <a:off x="6238326" y="2639224"/>
            <a:ext cx="274320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22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Boite&lt;Medicament&gt;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63297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médicaments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6348054" y="4293963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Sans générique, n'importe quoi pourrait entrer. Avec &lt;T&gt;, seul le bon type </a:t>
            </a:r>
            <a:r>
              <a:rPr lang="en-US" sz="1400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accepté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,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garantie.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25"/>
          <p:cNvSpPr/>
          <p:nvPr/>
        </p:nvSpPr>
        <p:spPr>
          <a:xfrm>
            <a:off x="375110" y="5912776"/>
            <a:ext cx="8412480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466550" y="5912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💡  En Java : T = le type du contenu. Une fois défini, impossible de mettre le mauvais objet dedans — le compilateur le refuse 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91880" y="920201"/>
            <a:ext cx="1553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: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206937" y="2773141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💊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423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6" grpId="0" animBg="1"/>
      <p:bldP spid="37" grpId="0" animBg="1"/>
      <p:bldP spid="38" grpId="0" animBg="1"/>
      <p:bldP spid="42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 Collection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520" y="967016"/>
            <a:ext cx="8784976" cy="123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Collection 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une boîte fixe : tu dois décider la taille à l'avance. Une Collection, c'est comme un sac à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dos,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peux y mettre autant d'objets que tu veux, chercher dedans, trier, filtrer, etc.</a:t>
            </a:r>
          </a:p>
        </p:txBody>
      </p:sp>
      <p:sp>
        <p:nvSpPr>
          <p:cNvPr id="11" name="Text 7"/>
          <p:cNvSpPr/>
          <p:nvPr/>
        </p:nvSpPr>
        <p:spPr>
          <a:xfrm>
            <a:off x="387536" y="2236597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❌  Problème avec les tableaux ordinaires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1520" y="2803768"/>
            <a:ext cx="4049648" cy="2449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97264" y="3083088"/>
            <a:ext cx="3803904" cy="171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fixe — on doit tout prévoir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String[] etudiants = new String[30];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etudiants[0] = "Alice";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etudiants[1] = "Bob";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Et si on a 31 étudiants ? ❌ Impossible !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Pas de méthode pour chercher, trier...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822376" y="220260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Solution avec ArrayList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30936" y="2756794"/>
            <a:ext cx="4031747" cy="249646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4958779" y="3094158"/>
            <a:ext cx="38039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dynamique — s'adapte automatiquement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etudiants = new ArrayList&lt;&gt;();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etudiants.add("Alice");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etudiants.add("Bob");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etudiants.add("Clara"); // Autant qu'on veut ✅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etudiants.contains("Alice"); // true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etudiants.size();             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3766085" y="5507200"/>
            <a:ext cx="2834640" cy="502920"/>
          </a:xfrm>
          <a:prstGeom prst="rect">
            <a:avLst/>
          </a:prstGeom>
          <a:solidFill>
            <a:schemeClr val="bg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2077" y="5509248"/>
            <a:ext cx="6400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208971" y="5587961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Taille dynamique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24"/>
          <p:cNvSpPr/>
          <p:nvPr/>
        </p:nvSpPr>
        <p:spPr>
          <a:xfrm>
            <a:off x="7564332" y="5507200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15637" y="5794619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add, remove, sort, contains, size…</a:t>
            </a:r>
          </a:p>
        </p:txBody>
      </p:sp>
    </p:spTree>
    <p:extLst>
      <p:ext uri="{BB962C8B-B14F-4D97-AF65-F5344CB8AC3E}">
        <p14:creationId xmlns:p14="http://schemas.microsoft.com/office/powerpoint/2010/main" val="353806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6" grpId="0" animBg="1"/>
      <p:bldP spid="17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 xml:space="preserve"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 xml:space="preserve"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12776"/>
            <a:ext cx="748883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0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 xml:space="preserve"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 xml:space="preserve"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92" y="1484784"/>
            <a:ext cx="7488832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3568" y="260648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 xml:space="preserve">III.2. Implementation </a:t>
            </a:r>
            <a:r>
              <a:rPr lang="en-US" sz="2800" dirty="0" err="1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principale</a:t>
            </a:r>
            <a:endParaRPr lang="en-US" sz="2800" dirty="0">
              <a:solidFill>
                <a:srgbClr val="FF0000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77200" y="1585328"/>
            <a:ext cx="16002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5" name="Text 3"/>
          <p:cNvSpPr/>
          <p:nvPr/>
        </p:nvSpPr>
        <p:spPr>
          <a:xfrm>
            <a:off x="450352" y="1585328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86" name="Shape 4"/>
          <p:cNvSpPr/>
          <p:nvPr/>
        </p:nvSpPr>
        <p:spPr>
          <a:xfrm>
            <a:off x="2023120" y="1585328"/>
            <a:ext cx="17830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7" name="Text 5"/>
          <p:cNvSpPr/>
          <p:nvPr/>
        </p:nvSpPr>
        <p:spPr>
          <a:xfrm>
            <a:off x="2096272" y="1585328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400" dirty="0"/>
          </a:p>
        </p:txBody>
      </p:sp>
      <p:sp>
        <p:nvSpPr>
          <p:cNvPr id="88" name="Shape 6"/>
          <p:cNvSpPr/>
          <p:nvPr/>
        </p:nvSpPr>
        <p:spPr>
          <a:xfrm>
            <a:off x="3851920" y="1585328"/>
            <a:ext cx="25146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9" name="Text 7"/>
          <p:cNvSpPr/>
          <p:nvPr/>
        </p:nvSpPr>
        <p:spPr>
          <a:xfrm>
            <a:off x="3925072" y="1585328"/>
            <a:ext cx="2441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400" dirty="0"/>
          </a:p>
        </p:txBody>
      </p:sp>
      <p:sp>
        <p:nvSpPr>
          <p:cNvPr id="90" name="Shape 8"/>
          <p:cNvSpPr/>
          <p:nvPr/>
        </p:nvSpPr>
        <p:spPr>
          <a:xfrm>
            <a:off x="6412240" y="1585328"/>
            <a:ext cx="22402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1" name="Text 9"/>
          <p:cNvSpPr/>
          <p:nvPr/>
        </p:nvSpPr>
        <p:spPr>
          <a:xfrm>
            <a:off x="6485392" y="158532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d'usage</a:t>
            </a:r>
            <a:endParaRPr lang="en-US" sz="1400" dirty="0"/>
          </a:p>
        </p:txBody>
      </p:sp>
      <p:sp>
        <p:nvSpPr>
          <p:cNvPr id="92" name="Shape 10"/>
          <p:cNvSpPr/>
          <p:nvPr/>
        </p:nvSpPr>
        <p:spPr>
          <a:xfrm>
            <a:off x="377200" y="1987664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11"/>
          <p:cNvSpPr/>
          <p:nvPr/>
        </p:nvSpPr>
        <p:spPr>
          <a:xfrm>
            <a:off x="468640" y="2024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94" name="Shape 12"/>
          <p:cNvSpPr/>
          <p:nvPr/>
        </p:nvSpPr>
        <p:spPr>
          <a:xfrm>
            <a:off x="2023120" y="198766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13"/>
          <p:cNvSpPr/>
          <p:nvPr/>
        </p:nvSpPr>
        <p:spPr>
          <a:xfrm>
            <a:off x="2114560" y="2024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</a:t>
            </a:r>
            <a:endParaRPr lang="en-US" sz="1400" dirty="0"/>
          </a:p>
        </p:txBody>
      </p:sp>
      <p:sp>
        <p:nvSpPr>
          <p:cNvPr id="96" name="Shape 14"/>
          <p:cNvSpPr/>
          <p:nvPr/>
        </p:nvSpPr>
        <p:spPr>
          <a:xfrm>
            <a:off x="3851920" y="1987664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15"/>
          <p:cNvSpPr/>
          <p:nvPr/>
        </p:nvSpPr>
        <p:spPr>
          <a:xfrm>
            <a:off x="3943360" y="2024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rapide par index, O(1)</a:t>
            </a:r>
            <a:endParaRPr lang="en-US" sz="1400" dirty="0"/>
          </a:p>
        </p:txBody>
      </p:sp>
      <p:sp>
        <p:nvSpPr>
          <p:cNvPr id="98" name="Shape 16"/>
          <p:cNvSpPr/>
          <p:nvPr/>
        </p:nvSpPr>
        <p:spPr>
          <a:xfrm>
            <a:off x="6412240" y="1987664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17"/>
          <p:cNvSpPr/>
          <p:nvPr/>
        </p:nvSpPr>
        <p:spPr>
          <a:xfrm>
            <a:off x="6503680" y="2024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ordonnées</a:t>
            </a:r>
            <a:endParaRPr lang="en-US" sz="1400" dirty="0"/>
          </a:p>
        </p:txBody>
      </p:sp>
      <p:sp>
        <p:nvSpPr>
          <p:cNvPr id="100" name="Shape 18"/>
          <p:cNvSpPr/>
          <p:nvPr/>
        </p:nvSpPr>
        <p:spPr>
          <a:xfrm>
            <a:off x="377200" y="2463152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19"/>
          <p:cNvSpPr/>
          <p:nvPr/>
        </p:nvSpPr>
        <p:spPr>
          <a:xfrm>
            <a:off x="468640" y="2499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102" name="Shape 20"/>
          <p:cNvSpPr/>
          <p:nvPr/>
        </p:nvSpPr>
        <p:spPr>
          <a:xfrm>
            <a:off x="2023120" y="2463152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21"/>
          <p:cNvSpPr/>
          <p:nvPr/>
        </p:nvSpPr>
        <p:spPr>
          <a:xfrm>
            <a:off x="2114560" y="24997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LinkedList</a:t>
            </a:r>
            <a:endParaRPr lang="en-US" sz="1400" dirty="0"/>
          </a:p>
        </p:txBody>
      </p:sp>
      <p:sp>
        <p:nvSpPr>
          <p:cNvPr id="104" name="Shape 22"/>
          <p:cNvSpPr/>
          <p:nvPr/>
        </p:nvSpPr>
        <p:spPr>
          <a:xfrm>
            <a:off x="3851920" y="2463152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23"/>
          <p:cNvSpPr/>
          <p:nvPr/>
        </p:nvSpPr>
        <p:spPr>
          <a:xfrm>
            <a:off x="3943360" y="24997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Insertion/suppression rapide</a:t>
            </a:r>
            <a:endParaRPr lang="en-US" sz="1400" dirty="0"/>
          </a:p>
        </p:txBody>
      </p:sp>
      <p:sp>
        <p:nvSpPr>
          <p:cNvPr id="106" name="Shape 24"/>
          <p:cNvSpPr/>
          <p:nvPr/>
        </p:nvSpPr>
        <p:spPr>
          <a:xfrm>
            <a:off x="6412240" y="2463152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25"/>
          <p:cNvSpPr/>
          <p:nvPr/>
        </p:nvSpPr>
        <p:spPr>
          <a:xfrm>
            <a:off x="6503680" y="24997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piles</a:t>
            </a:r>
            <a:endParaRPr lang="en-US" sz="1400" dirty="0"/>
          </a:p>
        </p:txBody>
      </p:sp>
      <p:sp>
        <p:nvSpPr>
          <p:cNvPr id="108" name="Shape 26"/>
          <p:cNvSpPr/>
          <p:nvPr/>
        </p:nvSpPr>
        <p:spPr>
          <a:xfrm>
            <a:off x="377200" y="2938640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27"/>
          <p:cNvSpPr/>
          <p:nvPr/>
        </p:nvSpPr>
        <p:spPr>
          <a:xfrm>
            <a:off x="468640" y="29752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0" name="Shape 28"/>
          <p:cNvSpPr/>
          <p:nvPr/>
        </p:nvSpPr>
        <p:spPr>
          <a:xfrm>
            <a:off x="2023120" y="2995790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Text 29"/>
          <p:cNvSpPr/>
          <p:nvPr/>
        </p:nvSpPr>
        <p:spPr>
          <a:xfrm>
            <a:off x="2114560" y="29752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HashSet</a:t>
            </a:r>
            <a:endParaRPr lang="en-US" sz="1400" dirty="0"/>
          </a:p>
        </p:txBody>
      </p:sp>
      <p:sp>
        <p:nvSpPr>
          <p:cNvPr id="112" name="Shape 30"/>
          <p:cNvSpPr/>
          <p:nvPr/>
        </p:nvSpPr>
        <p:spPr>
          <a:xfrm>
            <a:off x="3851920" y="293864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Text 31"/>
          <p:cNvSpPr/>
          <p:nvPr/>
        </p:nvSpPr>
        <p:spPr>
          <a:xfrm>
            <a:off x="3943360" y="297521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doublons, O(1)</a:t>
            </a:r>
            <a:endParaRPr lang="en-US" sz="1400" dirty="0"/>
          </a:p>
        </p:txBody>
      </p:sp>
      <p:sp>
        <p:nvSpPr>
          <p:cNvPr id="114" name="Shape 32"/>
          <p:cNvSpPr/>
          <p:nvPr/>
        </p:nvSpPr>
        <p:spPr>
          <a:xfrm>
            <a:off x="6412240" y="2938640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5" name="Text 33"/>
          <p:cNvSpPr/>
          <p:nvPr/>
        </p:nvSpPr>
        <p:spPr>
          <a:xfrm>
            <a:off x="6503680" y="29752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d'éléments</a:t>
            </a:r>
            <a:endParaRPr lang="en-US" sz="1400" dirty="0"/>
          </a:p>
        </p:txBody>
      </p:sp>
      <p:sp>
        <p:nvSpPr>
          <p:cNvPr id="116" name="Shape 34"/>
          <p:cNvSpPr/>
          <p:nvPr/>
        </p:nvSpPr>
        <p:spPr>
          <a:xfrm>
            <a:off x="377200" y="3414128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Text 35"/>
          <p:cNvSpPr/>
          <p:nvPr/>
        </p:nvSpPr>
        <p:spPr>
          <a:xfrm>
            <a:off x="468640" y="34507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8" name="Shape 36"/>
          <p:cNvSpPr/>
          <p:nvPr/>
        </p:nvSpPr>
        <p:spPr>
          <a:xfrm>
            <a:off x="2023120" y="3414128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9" name="Text 37"/>
          <p:cNvSpPr/>
          <p:nvPr/>
        </p:nvSpPr>
        <p:spPr>
          <a:xfrm>
            <a:off x="2114560" y="3450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TreeSet</a:t>
            </a:r>
            <a:endParaRPr lang="en-US" sz="1400" dirty="0"/>
          </a:p>
        </p:txBody>
      </p:sp>
      <p:sp>
        <p:nvSpPr>
          <p:cNvPr id="120" name="Shape 38"/>
          <p:cNvSpPr/>
          <p:nvPr/>
        </p:nvSpPr>
        <p:spPr>
          <a:xfrm>
            <a:off x="3851920" y="3414128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Text 39"/>
          <p:cNvSpPr/>
          <p:nvPr/>
        </p:nvSpPr>
        <p:spPr>
          <a:xfrm>
            <a:off x="3943360" y="3450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Trié naturellement, O(log n)</a:t>
            </a:r>
            <a:endParaRPr lang="en-US" sz="1400" dirty="0"/>
          </a:p>
        </p:txBody>
      </p:sp>
      <p:sp>
        <p:nvSpPr>
          <p:cNvPr id="122" name="Shape 40"/>
          <p:cNvSpPr/>
          <p:nvPr/>
        </p:nvSpPr>
        <p:spPr>
          <a:xfrm>
            <a:off x="6412240" y="3414128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3" name="Text 41"/>
          <p:cNvSpPr/>
          <p:nvPr/>
        </p:nvSpPr>
        <p:spPr>
          <a:xfrm>
            <a:off x="6503680" y="34507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triées</a:t>
            </a:r>
            <a:endParaRPr lang="en-US" sz="1400" dirty="0"/>
          </a:p>
        </p:txBody>
      </p:sp>
      <p:sp>
        <p:nvSpPr>
          <p:cNvPr id="124" name="Shape 42"/>
          <p:cNvSpPr/>
          <p:nvPr/>
        </p:nvSpPr>
        <p:spPr>
          <a:xfrm>
            <a:off x="377200" y="3889616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5" name="Text 43"/>
          <p:cNvSpPr/>
          <p:nvPr/>
        </p:nvSpPr>
        <p:spPr>
          <a:xfrm>
            <a:off x="468640" y="39261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Map&lt;K,V&gt;</a:t>
            </a:r>
            <a:endParaRPr lang="en-US" sz="1400" dirty="0"/>
          </a:p>
        </p:txBody>
      </p:sp>
      <p:sp>
        <p:nvSpPr>
          <p:cNvPr id="126" name="Shape 44"/>
          <p:cNvSpPr/>
          <p:nvPr/>
        </p:nvSpPr>
        <p:spPr>
          <a:xfrm>
            <a:off x="2023120" y="388961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7" name="Text 45"/>
          <p:cNvSpPr/>
          <p:nvPr/>
        </p:nvSpPr>
        <p:spPr>
          <a:xfrm>
            <a:off x="2114560" y="39261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HashMap</a:t>
            </a:r>
            <a:endParaRPr lang="en-US" sz="1400" dirty="0"/>
          </a:p>
        </p:txBody>
      </p:sp>
      <p:sp>
        <p:nvSpPr>
          <p:cNvPr id="128" name="Shape 46"/>
          <p:cNvSpPr/>
          <p:nvPr/>
        </p:nvSpPr>
        <p:spPr>
          <a:xfrm>
            <a:off x="3851920" y="3889616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47"/>
          <p:cNvSpPr/>
          <p:nvPr/>
        </p:nvSpPr>
        <p:spPr>
          <a:xfrm>
            <a:off x="3943360" y="39261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Clé→Valeur, O(1)</a:t>
            </a:r>
            <a:endParaRPr lang="en-US" sz="1400" dirty="0"/>
          </a:p>
        </p:txBody>
      </p:sp>
      <p:sp>
        <p:nvSpPr>
          <p:cNvPr id="130" name="Shape 48"/>
          <p:cNvSpPr/>
          <p:nvPr/>
        </p:nvSpPr>
        <p:spPr>
          <a:xfrm>
            <a:off x="6412240" y="3889616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1" name="Text 49"/>
          <p:cNvSpPr/>
          <p:nvPr/>
        </p:nvSpPr>
        <p:spPr>
          <a:xfrm>
            <a:off x="6503680" y="3926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Dictionnaires</a:t>
            </a:r>
            <a:endParaRPr lang="en-US" sz="1400" dirty="0"/>
          </a:p>
        </p:txBody>
      </p:sp>
      <p:sp>
        <p:nvSpPr>
          <p:cNvPr id="132" name="Shape 50"/>
          <p:cNvSpPr/>
          <p:nvPr/>
        </p:nvSpPr>
        <p:spPr>
          <a:xfrm>
            <a:off x="377200" y="4365104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3" name="Text 51"/>
          <p:cNvSpPr/>
          <p:nvPr/>
        </p:nvSpPr>
        <p:spPr>
          <a:xfrm>
            <a:off x="468640" y="4401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Queue&lt;E&gt;</a:t>
            </a:r>
            <a:endParaRPr lang="en-US" sz="1400" dirty="0"/>
          </a:p>
        </p:txBody>
      </p:sp>
      <p:sp>
        <p:nvSpPr>
          <p:cNvPr id="134" name="Shape 52"/>
          <p:cNvSpPr/>
          <p:nvPr/>
        </p:nvSpPr>
        <p:spPr>
          <a:xfrm>
            <a:off x="2023120" y="4365104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5" name="Text 53"/>
          <p:cNvSpPr/>
          <p:nvPr/>
        </p:nvSpPr>
        <p:spPr>
          <a:xfrm>
            <a:off x="2114560" y="4401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PriorityQueue</a:t>
            </a:r>
            <a:endParaRPr lang="en-US" sz="1400" dirty="0"/>
          </a:p>
        </p:txBody>
      </p:sp>
      <p:sp>
        <p:nvSpPr>
          <p:cNvPr id="136" name="Shape 54"/>
          <p:cNvSpPr/>
          <p:nvPr/>
        </p:nvSpPr>
        <p:spPr>
          <a:xfrm>
            <a:off x="3851920" y="4365104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7" name="Text 55"/>
          <p:cNvSpPr/>
          <p:nvPr/>
        </p:nvSpPr>
        <p:spPr>
          <a:xfrm>
            <a:off x="3943360" y="440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 priorité</a:t>
            </a:r>
            <a:endParaRPr lang="en-US" sz="1400" dirty="0"/>
          </a:p>
        </p:txBody>
      </p:sp>
      <p:sp>
        <p:nvSpPr>
          <p:cNvPr id="138" name="Shape 56"/>
          <p:cNvSpPr/>
          <p:nvPr/>
        </p:nvSpPr>
        <p:spPr>
          <a:xfrm>
            <a:off x="6412240" y="4365104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9" name="Text 57"/>
          <p:cNvSpPr/>
          <p:nvPr/>
        </p:nvSpPr>
        <p:spPr>
          <a:xfrm>
            <a:off x="6503680" y="44016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ordonnés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9114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 smtClean="0">
                <a:solidFill>
                  <a:srgbClr val="FF0000"/>
                </a:solidFill>
              </a:rPr>
              <a:t xml:space="preserve">IV. </a:t>
            </a:r>
            <a:r>
              <a:rPr lang="el-GR" sz="2400" cap="none" dirty="0" smtClean="0">
                <a:solidFill>
                  <a:srgbClr val="FF0000"/>
                </a:solidFill>
              </a:rPr>
              <a:t xml:space="preserve">λ  </a:t>
            </a:r>
            <a:r>
              <a:rPr lang="fr-CA" sz="2400" cap="none" dirty="0">
                <a:solidFill>
                  <a:srgbClr val="FF0000"/>
                </a:solidFill>
              </a:rPr>
              <a:t>Expressions Lambda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67" name="Text 7"/>
          <p:cNvSpPr/>
          <p:nvPr/>
        </p:nvSpPr>
        <p:spPr>
          <a:xfrm>
            <a:off x="2339940" y="1095286"/>
            <a:ext cx="47881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9"/>
          <p:cNvSpPr/>
          <p:nvPr/>
        </p:nvSpPr>
        <p:spPr>
          <a:xfrm>
            <a:off x="2822770" y="1093386"/>
            <a:ext cx="172372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corps }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250611" y="1185890"/>
            <a:ext cx="8595360" cy="59436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109" name="Shape 3"/>
          <p:cNvSpPr/>
          <p:nvPr/>
        </p:nvSpPr>
        <p:spPr>
          <a:xfrm>
            <a:off x="250611" y="1161343"/>
            <a:ext cx="64008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0" name="Text 4"/>
          <p:cNvSpPr/>
          <p:nvPr/>
        </p:nvSpPr>
        <p:spPr>
          <a:xfrm>
            <a:off x="433491" y="1161343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Une lambda est une fonction anonyme courte qu'on peut passer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argument. Elle remplace les classes anonymes pour les interfaces fonctionnelles (1 seule méthode abstraite).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292881" y="208350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Évolution de la syntaxe 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151422" y="2589434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3" name="Text 7"/>
          <p:cNvSpPr/>
          <p:nvPr/>
        </p:nvSpPr>
        <p:spPr>
          <a:xfrm>
            <a:off x="447630" y="258204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 Avant Java 8 — Classe Anonyme</a:t>
            </a:r>
          </a:p>
        </p:txBody>
      </p:sp>
      <p:sp>
        <p:nvSpPr>
          <p:cNvPr id="114" name="Shape 8"/>
          <p:cNvSpPr/>
          <p:nvPr/>
        </p:nvSpPr>
        <p:spPr>
          <a:xfrm>
            <a:off x="247161" y="2937965"/>
            <a:ext cx="4206240" cy="26517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15" name="Text 9"/>
          <p:cNvSpPr/>
          <p:nvPr/>
        </p:nvSpPr>
        <p:spPr>
          <a:xfrm>
            <a:off x="356889" y="302940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new Runnable() {</a:t>
            </a:r>
          </a:p>
        </p:txBody>
      </p:sp>
      <p:sp>
        <p:nvSpPr>
          <p:cNvPr id="116" name="Text 10"/>
          <p:cNvSpPr/>
          <p:nvPr/>
        </p:nvSpPr>
        <p:spPr>
          <a:xfrm>
            <a:off x="356889" y="333115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   @Override</a:t>
            </a:r>
          </a:p>
        </p:txBody>
      </p:sp>
      <p:sp>
        <p:nvSpPr>
          <p:cNvPr id="117" name="Text 11"/>
          <p:cNvSpPr/>
          <p:nvPr/>
        </p:nvSpPr>
        <p:spPr>
          <a:xfrm>
            <a:off x="356889" y="363290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   public void run() {</a:t>
            </a:r>
          </a:p>
        </p:txBody>
      </p:sp>
      <p:sp>
        <p:nvSpPr>
          <p:cNvPr id="118" name="Text 12"/>
          <p:cNvSpPr/>
          <p:nvPr/>
        </p:nvSpPr>
        <p:spPr>
          <a:xfrm>
            <a:off x="356889" y="393466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       System.out.println("Bonjour!");</a:t>
            </a:r>
          </a:p>
        </p:txBody>
      </p:sp>
      <p:sp>
        <p:nvSpPr>
          <p:cNvPr id="119" name="Text 13"/>
          <p:cNvSpPr/>
          <p:nvPr/>
        </p:nvSpPr>
        <p:spPr>
          <a:xfrm>
            <a:off x="35688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   }</a:t>
            </a:r>
          </a:p>
        </p:txBody>
      </p:sp>
      <p:sp>
        <p:nvSpPr>
          <p:cNvPr id="120" name="Text 14"/>
          <p:cNvSpPr/>
          <p:nvPr/>
        </p:nvSpPr>
        <p:spPr>
          <a:xfrm>
            <a:off x="356889" y="453816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};</a:t>
            </a:r>
          </a:p>
        </p:txBody>
      </p:sp>
      <p:sp>
        <p:nvSpPr>
          <p:cNvPr id="121" name="Shape 15"/>
          <p:cNvSpPr/>
          <p:nvPr/>
        </p:nvSpPr>
        <p:spPr>
          <a:xfrm>
            <a:off x="4727721" y="2589434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2" name="Text 16"/>
          <p:cNvSpPr/>
          <p:nvPr/>
        </p:nvSpPr>
        <p:spPr>
          <a:xfrm>
            <a:off x="5120640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Java 8+ — Lambda Expression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4727721" y="2937965"/>
            <a:ext cx="4206240" cy="767514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8" name="Text 22"/>
          <p:cNvSpPr/>
          <p:nvPr/>
        </p:nvSpPr>
        <p:spPr>
          <a:xfrm>
            <a:off x="483744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4748107" y="4041323"/>
            <a:ext cx="4545375" cy="156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Runnable r2 = () -&gt; </a:t>
            </a:r>
            <a:r>
              <a:rPr lang="en-US" sz="1600" dirty="0" err="1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</a:t>
            </a: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("Bonjour!");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96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1" grpId="0" animBg="1"/>
      <p:bldP spid="113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2" grpId="0" animBg="1"/>
      <p:bldP spid="13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226846"/>
            <a:ext cx="8856984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>
                <a:solidFill>
                  <a:srgbClr val="FF0000"/>
                </a:solidFill>
              </a:rPr>
              <a:t xml:space="preserve">IV. </a:t>
            </a:r>
            <a:r>
              <a:rPr lang="en-US" sz="2400" cap="none" dirty="0" smtClean="0">
                <a:solidFill>
                  <a:srgbClr val="FF0000"/>
                </a:solidFill>
              </a:rPr>
              <a:t>1.</a:t>
            </a:r>
            <a:r>
              <a:rPr lang="en-US" sz="2000" cap="none" dirty="0" smtClean="0">
                <a:solidFill>
                  <a:srgbClr val="FF0000"/>
                </a:solidFill>
              </a:rPr>
              <a:t xml:space="preserve"> </a:t>
            </a:r>
            <a:r>
              <a:rPr lang="fr-FR" sz="2000" cap="none" dirty="0" smtClean="0">
                <a:solidFill>
                  <a:srgbClr val="FF0000"/>
                </a:solidFill>
              </a:rPr>
              <a:t xml:space="preserve">λ  </a:t>
            </a:r>
            <a:r>
              <a:rPr lang="fr-FR" sz="2000" cap="none" dirty="0">
                <a:solidFill>
                  <a:srgbClr val="FF0000"/>
                </a:solidFill>
              </a:rPr>
              <a:t>Syntaxe Lambda — Formes &amp; Interfaces Fonctionnelles</a:t>
            </a:r>
            <a:endParaRPr lang="fr-FR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0" name="Text 2"/>
          <p:cNvSpPr/>
          <p:nvPr/>
        </p:nvSpPr>
        <p:spPr>
          <a:xfrm>
            <a:off x="532696" y="121817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de lambda :</a:t>
            </a:r>
            <a:endParaRPr lang="en-US" sz="1400" dirty="0"/>
          </a:p>
        </p:txBody>
      </p:sp>
      <p:sp>
        <p:nvSpPr>
          <p:cNvPr id="31" name="Shape 3"/>
          <p:cNvSpPr/>
          <p:nvPr/>
        </p:nvSpPr>
        <p:spPr>
          <a:xfrm>
            <a:off x="395536" y="1705178"/>
            <a:ext cx="4206240" cy="3520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2" name="Text 4"/>
          <p:cNvSpPr/>
          <p:nvPr/>
        </p:nvSpPr>
        <p:spPr>
          <a:xfrm>
            <a:off x="532696" y="177833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Aucun paramètre</a:t>
            </a:r>
            <a:endParaRPr lang="en-US" sz="1400" dirty="0"/>
          </a:p>
        </p:txBody>
      </p:sp>
      <p:sp>
        <p:nvSpPr>
          <p:cNvPr id="33" name="Text 5"/>
          <p:cNvSpPr/>
          <p:nvPr/>
        </p:nvSpPr>
        <p:spPr>
          <a:xfrm>
            <a:off x="532696" y="197492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-&gt; System.out.println(42)</a:t>
            </a:r>
            <a:endParaRPr lang="en-US" sz="1400" dirty="0"/>
          </a:p>
        </p:txBody>
      </p:sp>
      <p:sp>
        <p:nvSpPr>
          <p:cNvPr id="34" name="Text 6"/>
          <p:cNvSpPr/>
          <p:nvPr/>
        </p:nvSpPr>
        <p:spPr>
          <a:xfrm>
            <a:off x="532696" y="217152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5" name="Text 7"/>
          <p:cNvSpPr/>
          <p:nvPr/>
        </p:nvSpPr>
        <p:spPr>
          <a:xfrm>
            <a:off x="532696" y="236811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paramètre</a:t>
            </a:r>
            <a:endParaRPr lang="en-US" sz="1400" dirty="0"/>
          </a:p>
        </p:txBody>
      </p:sp>
      <p:sp>
        <p:nvSpPr>
          <p:cNvPr id="36" name="Text 8"/>
          <p:cNvSpPr/>
          <p:nvPr/>
        </p:nvSpPr>
        <p:spPr>
          <a:xfrm>
            <a:off x="532696" y="256471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-&gt; x * x</a:t>
            </a:r>
            <a:endParaRPr lang="en-US" sz="1400" dirty="0"/>
          </a:p>
        </p:txBody>
      </p:sp>
      <p:sp>
        <p:nvSpPr>
          <p:cNvPr id="37" name="Text 9"/>
          <p:cNvSpPr/>
          <p:nvPr/>
        </p:nvSpPr>
        <p:spPr>
          <a:xfrm>
            <a:off x="532696" y="276131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8" name="Text 10"/>
          <p:cNvSpPr/>
          <p:nvPr/>
        </p:nvSpPr>
        <p:spPr>
          <a:xfrm>
            <a:off x="532696" y="295790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Deux paramètres</a:t>
            </a:r>
            <a:endParaRPr lang="en-US" sz="1400" dirty="0"/>
          </a:p>
        </p:txBody>
      </p:sp>
      <p:sp>
        <p:nvSpPr>
          <p:cNvPr id="39" name="Text 11"/>
          <p:cNvSpPr/>
          <p:nvPr/>
        </p:nvSpPr>
        <p:spPr>
          <a:xfrm>
            <a:off x="532696" y="315450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a + b</a:t>
            </a:r>
            <a:endParaRPr lang="en-US" sz="1400" dirty="0"/>
          </a:p>
        </p:txBody>
      </p:sp>
      <p:sp>
        <p:nvSpPr>
          <p:cNvPr id="40" name="Text 12"/>
          <p:cNvSpPr/>
          <p:nvPr/>
        </p:nvSpPr>
        <p:spPr>
          <a:xfrm>
            <a:off x="532696" y="335109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1" name="Text 13"/>
          <p:cNvSpPr/>
          <p:nvPr/>
        </p:nvSpPr>
        <p:spPr>
          <a:xfrm>
            <a:off x="532696" y="354769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 de code</a:t>
            </a:r>
            <a:endParaRPr lang="en-US" sz="1400" dirty="0"/>
          </a:p>
        </p:txBody>
      </p:sp>
      <p:sp>
        <p:nvSpPr>
          <p:cNvPr id="42" name="Text 14"/>
          <p:cNvSpPr/>
          <p:nvPr/>
        </p:nvSpPr>
        <p:spPr>
          <a:xfrm>
            <a:off x="532696" y="374429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{</a:t>
            </a:r>
            <a:endParaRPr lang="en-US" sz="1400" dirty="0"/>
          </a:p>
        </p:txBody>
      </p:sp>
      <p:sp>
        <p:nvSpPr>
          <p:cNvPr id="43" name="Text 15"/>
          <p:cNvSpPr/>
          <p:nvPr/>
        </p:nvSpPr>
        <p:spPr>
          <a:xfrm>
            <a:off x="532696" y="39408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int res = a + b;</a:t>
            </a:r>
            <a:endParaRPr lang="en-US" sz="1400" dirty="0"/>
          </a:p>
        </p:txBody>
      </p:sp>
      <p:sp>
        <p:nvSpPr>
          <p:cNvPr id="44" name="Text 16"/>
          <p:cNvSpPr/>
          <p:nvPr/>
        </p:nvSpPr>
        <p:spPr>
          <a:xfrm>
            <a:off x="532696" y="413748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return res;</a:t>
            </a:r>
            <a:endParaRPr lang="en-US" sz="1400" dirty="0"/>
          </a:p>
        </p:txBody>
      </p:sp>
      <p:sp>
        <p:nvSpPr>
          <p:cNvPr id="45" name="Text 17"/>
          <p:cNvSpPr/>
          <p:nvPr/>
        </p:nvSpPr>
        <p:spPr>
          <a:xfrm>
            <a:off x="532696" y="433407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46" name="Text 18"/>
          <p:cNvSpPr/>
          <p:nvPr/>
        </p:nvSpPr>
        <p:spPr>
          <a:xfrm>
            <a:off x="532696" y="453067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7" name="Text 19"/>
          <p:cNvSpPr/>
          <p:nvPr/>
        </p:nvSpPr>
        <p:spPr>
          <a:xfrm>
            <a:off x="532696" y="472727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Méthode référence</a:t>
            </a:r>
            <a:endParaRPr lang="en-US" sz="1400" dirty="0"/>
          </a:p>
        </p:txBody>
      </p:sp>
      <p:sp>
        <p:nvSpPr>
          <p:cNvPr id="48" name="Text 20"/>
          <p:cNvSpPr/>
          <p:nvPr/>
        </p:nvSpPr>
        <p:spPr>
          <a:xfrm>
            <a:off x="532696" y="492386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String::toUpperCase</a:t>
            </a:r>
            <a:endParaRPr lang="en-US" sz="1400" dirty="0"/>
          </a:p>
        </p:txBody>
      </p:sp>
      <p:sp>
        <p:nvSpPr>
          <p:cNvPr id="49" name="Text 21"/>
          <p:cNvSpPr/>
          <p:nvPr/>
        </p:nvSpPr>
        <p:spPr>
          <a:xfrm>
            <a:off x="4838700" y="1286590"/>
            <a:ext cx="4189592" cy="215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Fonctionnelles (java.util.function) :</a:t>
            </a:r>
            <a:endParaRPr lang="en-US" sz="1400" dirty="0"/>
          </a:p>
        </p:txBody>
      </p:sp>
      <p:sp>
        <p:nvSpPr>
          <p:cNvPr id="50" name="Shape 22"/>
          <p:cNvSpPr/>
          <p:nvPr/>
        </p:nvSpPr>
        <p:spPr>
          <a:xfrm>
            <a:off x="4830376" y="1705178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1" name="Shape 23"/>
          <p:cNvSpPr/>
          <p:nvPr/>
        </p:nvSpPr>
        <p:spPr>
          <a:xfrm>
            <a:off x="4830503" y="1773936"/>
            <a:ext cx="63754" cy="502564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2" name="Text 24"/>
          <p:cNvSpPr/>
          <p:nvPr/>
        </p:nvSpPr>
        <p:spPr>
          <a:xfrm>
            <a:off x="4952867" y="1776437"/>
            <a:ext cx="1821562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Predicate&lt;T&gt;</a:t>
            </a:r>
            <a:endParaRPr lang="en-US" sz="1400" dirty="0"/>
          </a:p>
        </p:txBody>
      </p:sp>
      <p:sp>
        <p:nvSpPr>
          <p:cNvPr id="53" name="Text 25"/>
          <p:cNvSpPr/>
          <p:nvPr/>
        </p:nvSpPr>
        <p:spPr>
          <a:xfrm>
            <a:off x="6800498" y="1776437"/>
            <a:ext cx="2094796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boolean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4957120" y="2050757"/>
            <a:ext cx="3961896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 -&gt; s.length() &gt; 3</a:t>
            </a:r>
            <a:endParaRPr lang="en-US" sz="1400" dirty="0"/>
          </a:p>
        </p:txBody>
      </p:sp>
      <p:sp>
        <p:nvSpPr>
          <p:cNvPr id="55" name="Shape 27"/>
          <p:cNvSpPr/>
          <p:nvPr/>
        </p:nvSpPr>
        <p:spPr>
          <a:xfrm>
            <a:off x="4838700" y="2534793"/>
            <a:ext cx="4189592" cy="50256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6" name="Shape 28"/>
          <p:cNvSpPr/>
          <p:nvPr/>
        </p:nvSpPr>
        <p:spPr>
          <a:xfrm>
            <a:off x="4830376" y="241841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7" name="Text 29"/>
          <p:cNvSpPr/>
          <p:nvPr/>
        </p:nvSpPr>
        <p:spPr>
          <a:xfrm>
            <a:off x="4952867" y="2489669"/>
            <a:ext cx="1821562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Function&lt;T,R&gt;</a:t>
            </a:r>
            <a:endParaRPr lang="en-US" sz="1400" dirty="0"/>
          </a:p>
        </p:txBody>
      </p:sp>
      <p:sp>
        <p:nvSpPr>
          <p:cNvPr id="58" name="Text 30"/>
          <p:cNvSpPr/>
          <p:nvPr/>
        </p:nvSpPr>
        <p:spPr>
          <a:xfrm>
            <a:off x="6800498" y="2489669"/>
            <a:ext cx="2094796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R</a:t>
            </a:r>
            <a:endParaRPr lang="en-US" sz="1400" dirty="0"/>
          </a:p>
        </p:txBody>
      </p:sp>
      <p:sp>
        <p:nvSpPr>
          <p:cNvPr id="59" name="Text 31"/>
          <p:cNvSpPr/>
          <p:nvPr/>
        </p:nvSpPr>
        <p:spPr>
          <a:xfrm>
            <a:off x="4957120" y="2763989"/>
            <a:ext cx="3961896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s -&gt; s.toUpperCase()</a:t>
            </a:r>
            <a:endParaRPr lang="en-US" sz="1400" dirty="0"/>
          </a:p>
        </p:txBody>
      </p:sp>
      <p:sp>
        <p:nvSpPr>
          <p:cNvPr id="60" name="Shape 32"/>
          <p:cNvSpPr/>
          <p:nvPr/>
        </p:nvSpPr>
        <p:spPr>
          <a:xfrm>
            <a:off x="4838700" y="3200400"/>
            <a:ext cx="4189592" cy="50256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1" name="Shape 33"/>
          <p:cNvSpPr/>
          <p:nvPr/>
        </p:nvSpPr>
        <p:spPr>
          <a:xfrm>
            <a:off x="4830376" y="3131642"/>
            <a:ext cx="64008" cy="6400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62" name="Text 34"/>
          <p:cNvSpPr/>
          <p:nvPr/>
        </p:nvSpPr>
        <p:spPr>
          <a:xfrm>
            <a:off x="4952867" y="3202901"/>
            <a:ext cx="1821562" cy="186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Consumer&lt;T&gt;</a:t>
            </a:r>
            <a:endParaRPr lang="en-US" sz="1400" dirty="0"/>
          </a:p>
        </p:txBody>
      </p:sp>
      <p:sp>
        <p:nvSpPr>
          <p:cNvPr id="63" name="Text 35"/>
          <p:cNvSpPr/>
          <p:nvPr/>
        </p:nvSpPr>
        <p:spPr>
          <a:xfrm>
            <a:off x="6800498" y="3177362"/>
            <a:ext cx="20947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void</a:t>
            </a:r>
            <a:endParaRPr lang="en-US" sz="1400" dirty="0"/>
          </a:p>
        </p:txBody>
      </p:sp>
      <p:sp>
        <p:nvSpPr>
          <p:cNvPr id="64" name="Text 36"/>
          <p:cNvSpPr/>
          <p:nvPr/>
        </p:nvSpPr>
        <p:spPr>
          <a:xfrm>
            <a:off x="4957120" y="3451682"/>
            <a:ext cx="3961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s -&gt; System.out.println(s)</a:t>
            </a:r>
            <a:endParaRPr lang="en-US" sz="1400" dirty="0"/>
          </a:p>
        </p:txBody>
      </p:sp>
      <p:sp>
        <p:nvSpPr>
          <p:cNvPr id="65" name="Shape 37"/>
          <p:cNvSpPr/>
          <p:nvPr/>
        </p:nvSpPr>
        <p:spPr>
          <a:xfrm>
            <a:off x="4838700" y="3844874"/>
            <a:ext cx="4189592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6" name="Shape 38"/>
          <p:cNvSpPr/>
          <p:nvPr/>
        </p:nvSpPr>
        <p:spPr>
          <a:xfrm>
            <a:off x="4830376" y="3844874"/>
            <a:ext cx="64008" cy="640080"/>
          </a:xfrm>
          <a:prstGeom prst="rect">
            <a:avLst/>
          </a:prstGeom>
          <a:solidFill>
            <a:srgbClr val="58D68D"/>
          </a:solidFill>
          <a:ln w="12700">
            <a:solidFill>
              <a:srgbClr val="58D68D"/>
            </a:solidFill>
            <a:prstDash val="solid"/>
          </a:ln>
        </p:spPr>
      </p:sp>
      <p:sp>
        <p:nvSpPr>
          <p:cNvPr id="68" name="Text 39"/>
          <p:cNvSpPr/>
          <p:nvPr/>
        </p:nvSpPr>
        <p:spPr>
          <a:xfrm>
            <a:off x="4952867" y="3890594"/>
            <a:ext cx="18215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Supplier&lt;T&gt;</a:t>
            </a:r>
            <a:endParaRPr lang="en-US" sz="1400" dirty="0"/>
          </a:p>
        </p:txBody>
      </p:sp>
      <p:sp>
        <p:nvSpPr>
          <p:cNvPr id="70" name="Text 40"/>
          <p:cNvSpPr/>
          <p:nvPr/>
        </p:nvSpPr>
        <p:spPr>
          <a:xfrm>
            <a:off x="6800498" y="3890594"/>
            <a:ext cx="20947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→ T</a:t>
            </a:r>
            <a:endParaRPr lang="en-US" sz="1400" dirty="0"/>
          </a:p>
        </p:txBody>
      </p:sp>
      <p:sp>
        <p:nvSpPr>
          <p:cNvPr id="71" name="Text 41"/>
          <p:cNvSpPr/>
          <p:nvPr/>
        </p:nvSpPr>
        <p:spPr>
          <a:xfrm>
            <a:off x="4957120" y="4164914"/>
            <a:ext cx="3961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 = () -&gt; "Bonjour"</a:t>
            </a:r>
            <a:endParaRPr lang="en-US" sz="1400" dirty="0"/>
          </a:p>
        </p:txBody>
      </p:sp>
      <p:sp>
        <p:nvSpPr>
          <p:cNvPr id="72" name="Shape 42"/>
          <p:cNvSpPr/>
          <p:nvPr/>
        </p:nvSpPr>
        <p:spPr>
          <a:xfrm>
            <a:off x="4838700" y="4558106"/>
            <a:ext cx="4189592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3" name="Shape 43"/>
          <p:cNvSpPr/>
          <p:nvPr/>
        </p:nvSpPr>
        <p:spPr>
          <a:xfrm>
            <a:off x="4830376" y="4558106"/>
            <a:ext cx="64008" cy="64008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4" name="Text 44"/>
          <p:cNvSpPr/>
          <p:nvPr/>
        </p:nvSpPr>
        <p:spPr>
          <a:xfrm>
            <a:off x="4952867" y="4603826"/>
            <a:ext cx="18215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BiFunction&lt;T,U,R&gt;</a:t>
            </a:r>
            <a:endParaRPr lang="en-US" sz="1400" dirty="0"/>
          </a:p>
        </p:txBody>
      </p:sp>
      <p:sp>
        <p:nvSpPr>
          <p:cNvPr id="75" name="Text 45"/>
          <p:cNvSpPr/>
          <p:nvPr/>
        </p:nvSpPr>
        <p:spPr>
          <a:xfrm>
            <a:off x="6796336" y="460382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(T,U) → R</a:t>
            </a:r>
            <a:endParaRPr lang="en-US" sz="1400" dirty="0"/>
          </a:p>
        </p:txBody>
      </p:sp>
      <p:sp>
        <p:nvSpPr>
          <p:cNvPr id="76" name="Text 46"/>
          <p:cNvSpPr/>
          <p:nvPr/>
        </p:nvSpPr>
        <p:spPr>
          <a:xfrm>
            <a:off x="4949248" y="487814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 = (a,b) -&gt; a + b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5026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7" grpId="0" animBg="1"/>
      <p:bldP spid="58" grpId="0" animBg="1"/>
      <p:bldP spid="59" grpId="0" animBg="1"/>
      <p:bldP spid="62" grpId="0" animBg="1"/>
      <p:bldP spid="63" grpId="0" animBg="1"/>
      <p:bldP spid="64" grpId="0" animBg="1"/>
      <p:bldP spid="68" grpId="0" animBg="1"/>
      <p:bldP spid="70" grpId="0" animBg="1"/>
      <p:bldP spid="71" grpId="0" animBg="1"/>
      <p:bldP spid="74" grpId="0" animBg="1"/>
      <p:bldP spid="7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 xml:space="preserve"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 xml:space="preserve">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5843571" y="216868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Collection / Array</a:t>
            </a:r>
          </a:p>
        </p:txBody>
      </p:sp>
      <p:sp>
        <p:nvSpPr>
          <p:cNvPr id="39" name="Text 17"/>
          <p:cNvSpPr/>
          <p:nvPr/>
        </p:nvSpPr>
        <p:spPr>
          <a:xfrm>
            <a:off x="5843571" y="294592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3" name="Text 21"/>
          <p:cNvSpPr/>
          <p:nvPr/>
        </p:nvSpPr>
        <p:spPr>
          <a:xfrm>
            <a:off x="5816462" y="366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map()</a:t>
            </a:r>
            <a:endParaRPr lang="en-US" sz="1300" dirty="0"/>
          </a:p>
        </p:txBody>
      </p:sp>
      <p:sp>
        <p:nvSpPr>
          <p:cNvPr id="44" name="Text 22"/>
          <p:cNvSpPr/>
          <p:nvPr/>
        </p:nvSpPr>
        <p:spPr>
          <a:xfrm>
            <a:off x="5816462" y="39565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9" name="Text 27"/>
          <p:cNvSpPr/>
          <p:nvPr/>
        </p:nvSpPr>
        <p:spPr>
          <a:xfrm>
            <a:off x="5816462" y="47338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terminale</a:t>
            </a:r>
          </a:p>
        </p:txBody>
      </p:sp>
      <p:sp>
        <p:nvSpPr>
          <p:cNvPr id="50" name="Shape 2"/>
          <p:cNvSpPr/>
          <p:nvPr/>
        </p:nvSpPr>
        <p:spPr>
          <a:xfrm>
            <a:off x="369787" y="1069902"/>
            <a:ext cx="8595360" cy="54864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51" name="Shape 3"/>
          <p:cNvSpPr/>
          <p:nvPr/>
        </p:nvSpPr>
        <p:spPr>
          <a:xfrm>
            <a:off x="369787" y="1069902"/>
            <a:ext cx="64008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2" name="Text 4"/>
          <p:cNvSpPr/>
          <p:nvPr/>
        </p:nvSpPr>
        <p:spPr>
          <a:xfrm>
            <a:off x="552667" y="106990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Un Stream est une séquence d'éléments sur laquelle on applique des opérations </a:t>
            </a:r>
            <a:r>
              <a:rPr lang="en-US" sz="1400" dirty="0" err="1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chaîne (pipeline). Il ne modifie pas la collection source — il produit un nouveau résultat.</a:t>
            </a:r>
            <a:endParaRPr lang="en-US" sz="1400" dirty="0"/>
          </a:p>
        </p:txBody>
      </p:sp>
      <p:sp>
        <p:nvSpPr>
          <p:cNvPr id="53" name="Shape 5"/>
          <p:cNvSpPr/>
          <p:nvPr/>
        </p:nvSpPr>
        <p:spPr>
          <a:xfrm>
            <a:off x="344158" y="1885343"/>
            <a:ext cx="1554480" cy="1188720"/>
          </a:xfrm>
          <a:prstGeom prst="rect">
            <a:avLst/>
          </a:prstGeom>
          <a:solidFill>
            <a:srgbClr val="1A527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6"/>
          <p:cNvSpPr/>
          <p:nvPr/>
        </p:nvSpPr>
        <p:spPr>
          <a:xfrm>
            <a:off x="34415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📦</a:t>
            </a:r>
            <a:endParaRPr lang="en-US" sz="1400" dirty="0"/>
          </a:p>
        </p:txBody>
      </p:sp>
      <p:sp>
        <p:nvSpPr>
          <p:cNvPr id="55" name="Text 7"/>
          <p:cNvSpPr/>
          <p:nvPr/>
        </p:nvSpPr>
        <p:spPr>
          <a:xfrm>
            <a:off x="34415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400" dirty="0"/>
          </a:p>
        </p:txBody>
      </p:sp>
      <p:sp>
        <p:nvSpPr>
          <p:cNvPr id="56" name="Text 8"/>
          <p:cNvSpPr/>
          <p:nvPr/>
        </p:nvSpPr>
        <p:spPr>
          <a:xfrm>
            <a:off x="34415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Array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fichier</a:t>
            </a:r>
            <a:endParaRPr lang="en-US" sz="1400" dirty="0"/>
          </a:p>
        </p:txBody>
      </p:sp>
      <p:sp>
        <p:nvSpPr>
          <p:cNvPr id="57" name="Text 9"/>
          <p:cNvSpPr/>
          <p:nvPr/>
        </p:nvSpPr>
        <p:spPr>
          <a:xfrm>
            <a:off x="191692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Shape 10"/>
          <p:cNvSpPr/>
          <p:nvPr/>
        </p:nvSpPr>
        <p:spPr>
          <a:xfrm>
            <a:off x="2081518" y="1885343"/>
            <a:ext cx="1554480" cy="1188720"/>
          </a:xfrm>
          <a:prstGeom prst="rect">
            <a:avLst/>
          </a:prstGeom>
          <a:solidFill>
            <a:srgbClr val="1E844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9" name="Text 11"/>
          <p:cNvSpPr/>
          <p:nvPr/>
        </p:nvSpPr>
        <p:spPr>
          <a:xfrm>
            <a:off x="208151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60" name="Text 12"/>
          <p:cNvSpPr/>
          <p:nvPr/>
        </p:nvSpPr>
        <p:spPr>
          <a:xfrm>
            <a:off x="208151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400" dirty="0"/>
          </a:p>
        </p:txBody>
      </p:sp>
      <p:sp>
        <p:nvSpPr>
          <p:cNvPr id="61" name="Text 13"/>
          <p:cNvSpPr/>
          <p:nvPr/>
        </p:nvSpPr>
        <p:spPr>
          <a:xfrm>
            <a:off x="208151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2" name="Text 14"/>
          <p:cNvSpPr/>
          <p:nvPr/>
        </p:nvSpPr>
        <p:spPr>
          <a:xfrm>
            <a:off x="365428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3" name="Shape 15"/>
          <p:cNvSpPr/>
          <p:nvPr/>
        </p:nvSpPr>
        <p:spPr>
          <a:xfrm>
            <a:off x="3818878" y="1885343"/>
            <a:ext cx="1554480" cy="1188720"/>
          </a:xfrm>
          <a:prstGeom prst="rect">
            <a:avLst/>
          </a:prstGeom>
          <a:solidFill>
            <a:srgbClr val="27AE6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4" name="Text 16"/>
          <p:cNvSpPr/>
          <p:nvPr/>
        </p:nvSpPr>
        <p:spPr>
          <a:xfrm>
            <a:off x="381887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65" name="Text 17"/>
          <p:cNvSpPr/>
          <p:nvPr/>
        </p:nvSpPr>
        <p:spPr>
          <a:xfrm>
            <a:off x="381887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400" dirty="0"/>
          </a:p>
        </p:txBody>
      </p:sp>
      <p:sp>
        <p:nvSpPr>
          <p:cNvPr id="66" name="Text 18"/>
          <p:cNvSpPr/>
          <p:nvPr/>
        </p:nvSpPr>
        <p:spPr>
          <a:xfrm>
            <a:off x="381887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7" name="Text 19"/>
          <p:cNvSpPr/>
          <p:nvPr/>
        </p:nvSpPr>
        <p:spPr>
          <a:xfrm>
            <a:off x="539164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8" name="Shape 20"/>
          <p:cNvSpPr/>
          <p:nvPr/>
        </p:nvSpPr>
        <p:spPr>
          <a:xfrm>
            <a:off x="5556238" y="1885343"/>
            <a:ext cx="1554480" cy="1188720"/>
          </a:xfrm>
          <a:prstGeom prst="rect">
            <a:avLst/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Text 21"/>
          <p:cNvSpPr/>
          <p:nvPr/>
        </p:nvSpPr>
        <p:spPr>
          <a:xfrm>
            <a:off x="555623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↕️</a:t>
            </a:r>
            <a:endParaRPr lang="en-US" sz="1400" dirty="0"/>
          </a:p>
        </p:txBody>
      </p:sp>
      <p:sp>
        <p:nvSpPr>
          <p:cNvPr id="70" name="Text 22"/>
          <p:cNvSpPr/>
          <p:nvPr/>
        </p:nvSpPr>
        <p:spPr>
          <a:xfrm>
            <a:off x="555623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71" name="Text 23"/>
          <p:cNvSpPr/>
          <p:nvPr/>
        </p:nvSpPr>
        <p:spPr>
          <a:xfrm>
            <a:off x="555623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72" name="Text 24"/>
          <p:cNvSpPr/>
          <p:nvPr/>
        </p:nvSpPr>
        <p:spPr>
          <a:xfrm>
            <a:off x="712900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73" name="Shape 25"/>
          <p:cNvSpPr/>
          <p:nvPr/>
        </p:nvSpPr>
        <p:spPr>
          <a:xfrm>
            <a:off x="7293598" y="1885343"/>
            <a:ext cx="1554480" cy="1188720"/>
          </a:xfrm>
          <a:prstGeom prst="rect">
            <a:avLst/>
          </a:prstGeom>
          <a:solidFill>
            <a:srgbClr val="C0392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4" name="Text 26"/>
          <p:cNvSpPr/>
          <p:nvPr/>
        </p:nvSpPr>
        <p:spPr>
          <a:xfrm>
            <a:off x="729359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75" name="Text 27"/>
          <p:cNvSpPr/>
          <p:nvPr/>
        </p:nvSpPr>
        <p:spPr>
          <a:xfrm>
            <a:off x="729359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76" name="Text 28"/>
          <p:cNvSpPr/>
          <p:nvPr/>
        </p:nvSpPr>
        <p:spPr>
          <a:xfrm>
            <a:off x="729359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</a:t>
            </a:r>
            <a:endParaRPr lang="en-US" sz="1400" dirty="0"/>
          </a:p>
        </p:txBody>
      </p:sp>
      <p:sp>
        <p:nvSpPr>
          <p:cNvPr id="77" name="Text 29"/>
          <p:cNvSpPr/>
          <p:nvPr/>
        </p:nvSpPr>
        <p:spPr>
          <a:xfrm>
            <a:off x="1121398" y="3305011"/>
            <a:ext cx="6913842" cy="334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intermédiaires (lazy)                                    Opérations terminales (eager)</a:t>
            </a:r>
            <a:endParaRPr lang="en-US" sz="1400" dirty="0"/>
          </a:p>
        </p:txBody>
      </p:sp>
      <p:sp>
        <p:nvSpPr>
          <p:cNvPr id="78" name="Shape 30"/>
          <p:cNvSpPr/>
          <p:nvPr/>
        </p:nvSpPr>
        <p:spPr>
          <a:xfrm>
            <a:off x="317049" y="3782972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79" name="Text 31"/>
          <p:cNvSpPr/>
          <p:nvPr/>
        </p:nvSpPr>
        <p:spPr>
          <a:xfrm>
            <a:off x="40848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filter(Predicate)</a:t>
            </a:r>
            <a:endParaRPr lang="en-US" sz="1400" dirty="0"/>
          </a:p>
        </p:txBody>
      </p:sp>
      <p:sp>
        <p:nvSpPr>
          <p:cNvPr id="80" name="Text 32"/>
          <p:cNvSpPr/>
          <p:nvPr/>
        </p:nvSpPr>
        <p:spPr>
          <a:xfrm>
            <a:off x="216413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éléments qui correspondent</a:t>
            </a:r>
            <a:endParaRPr lang="en-US" sz="1400" dirty="0"/>
          </a:p>
        </p:txBody>
      </p:sp>
      <p:sp>
        <p:nvSpPr>
          <p:cNvPr id="81" name="Shape 33"/>
          <p:cNvSpPr/>
          <p:nvPr/>
        </p:nvSpPr>
        <p:spPr>
          <a:xfrm>
            <a:off x="317049" y="4130444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2" name="Text 34"/>
          <p:cNvSpPr/>
          <p:nvPr/>
        </p:nvSpPr>
        <p:spPr>
          <a:xfrm>
            <a:off x="40848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map(Function)</a:t>
            </a:r>
            <a:endParaRPr lang="en-US" sz="1400" dirty="0"/>
          </a:p>
        </p:txBody>
      </p:sp>
      <p:sp>
        <p:nvSpPr>
          <p:cNvPr id="83" name="Text 35"/>
          <p:cNvSpPr/>
          <p:nvPr/>
        </p:nvSpPr>
        <p:spPr>
          <a:xfrm>
            <a:off x="216413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chaque élément</a:t>
            </a:r>
            <a:endParaRPr lang="en-US" sz="1400" dirty="0"/>
          </a:p>
        </p:txBody>
      </p:sp>
      <p:sp>
        <p:nvSpPr>
          <p:cNvPr id="84" name="Shape 36"/>
          <p:cNvSpPr/>
          <p:nvPr/>
        </p:nvSpPr>
        <p:spPr>
          <a:xfrm>
            <a:off x="317049" y="4477916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85" name="Text 37"/>
          <p:cNvSpPr/>
          <p:nvPr/>
        </p:nvSpPr>
        <p:spPr>
          <a:xfrm>
            <a:off x="40848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86" name="Text 38"/>
          <p:cNvSpPr/>
          <p:nvPr/>
        </p:nvSpPr>
        <p:spPr>
          <a:xfrm>
            <a:off x="216413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les éléments</a:t>
            </a:r>
            <a:endParaRPr lang="en-US" sz="1400" dirty="0"/>
          </a:p>
        </p:txBody>
      </p:sp>
      <p:sp>
        <p:nvSpPr>
          <p:cNvPr id="87" name="Shape 39"/>
          <p:cNvSpPr/>
          <p:nvPr/>
        </p:nvSpPr>
        <p:spPr>
          <a:xfrm>
            <a:off x="317049" y="4825388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8" name="Text 40"/>
          <p:cNvSpPr/>
          <p:nvPr/>
        </p:nvSpPr>
        <p:spPr>
          <a:xfrm>
            <a:off x="40848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distinct()</a:t>
            </a:r>
            <a:endParaRPr lang="en-US" sz="1400" dirty="0"/>
          </a:p>
        </p:txBody>
      </p:sp>
      <p:sp>
        <p:nvSpPr>
          <p:cNvPr id="89" name="Text 41"/>
          <p:cNvSpPr/>
          <p:nvPr/>
        </p:nvSpPr>
        <p:spPr>
          <a:xfrm>
            <a:off x="216413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les doublons</a:t>
            </a:r>
            <a:endParaRPr lang="en-US" sz="1400" dirty="0"/>
          </a:p>
        </p:txBody>
      </p:sp>
      <p:sp>
        <p:nvSpPr>
          <p:cNvPr id="90" name="Shape 42"/>
          <p:cNvSpPr/>
          <p:nvPr/>
        </p:nvSpPr>
        <p:spPr>
          <a:xfrm>
            <a:off x="317049" y="5172860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91" name="Text 43"/>
          <p:cNvSpPr/>
          <p:nvPr/>
        </p:nvSpPr>
        <p:spPr>
          <a:xfrm>
            <a:off x="40848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limit(n)</a:t>
            </a:r>
            <a:endParaRPr lang="en-US" sz="1400" dirty="0"/>
          </a:p>
        </p:txBody>
      </p:sp>
      <p:sp>
        <p:nvSpPr>
          <p:cNvPr id="92" name="Text 44"/>
          <p:cNvSpPr/>
          <p:nvPr/>
        </p:nvSpPr>
        <p:spPr>
          <a:xfrm>
            <a:off x="216413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n premiers éléments</a:t>
            </a:r>
            <a:endParaRPr lang="en-US" sz="1400" dirty="0"/>
          </a:p>
        </p:txBody>
      </p:sp>
      <p:sp>
        <p:nvSpPr>
          <p:cNvPr id="93" name="Shape 45"/>
          <p:cNvSpPr/>
          <p:nvPr/>
        </p:nvSpPr>
        <p:spPr>
          <a:xfrm>
            <a:off x="4751889" y="3782972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94" name="Text 46"/>
          <p:cNvSpPr/>
          <p:nvPr/>
        </p:nvSpPr>
        <p:spPr>
          <a:xfrm>
            <a:off x="484332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95" name="Text 47"/>
          <p:cNvSpPr/>
          <p:nvPr/>
        </p:nvSpPr>
        <p:spPr>
          <a:xfrm>
            <a:off x="659897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Collecte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List, Set, Map...</a:t>
            </a:r>
            <a:endParaRPr lang="en-US" sz="1400" dirty="0"/>
          </a:p>
        </p:txBody>
      </p:sp>
      <p:sp>
        <p:nvSpPr>
          <p:cNvPr id="96" name="Shape 48"/>
          <p:cNvSpPr/>
          <p:nvPr/>
        </p:nvSpPr>
        <p:spPr>
          <a:xfrm>
            <a:off x="4751889" y="4130444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97" name="Text 49"/>
          <p:cNvSpPr/>
          <p:nvPr/>
        </p:nvSpPr>
        <p:spPr>
          <a:xfrm>
            <a:off x="484332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forEach()</a:t>
            </a:r>
            <a:endParaRPr lang="en-US" sz="1400" dirty="0"/>
          </a:p>
        </p:txBody>
      </p:sp>
      <p:sp>
        <p:nvSpPr>
          <p:cNvPr id="98" name="Text 50"/>
          <p:cNvSpPr/>
          <p:nvPr/>
        </p:nvSpPr>
        <p:spPr>
          <a:xfrm>
            <a:off x="659897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sur chaque élément</a:t>
            </a:r>
            <a:endParaRPr lang="en-US" sz="1400" dirty="0"/>
          </a:p>
        </p:txBody>
      </p:sp>
      <p:sp>
        <p:nvSpPr>
          <p:cNvPr id="99" name="Shape 51"/>
          <p:cNvSpPr/>
          <p:nvPr/>
        </p:nvSpPr>
        <p:spPr>
          <a:xfrm>
            <a:off x="4751889" y="4477916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0" name="Text 52"/>
          <p:cNvSpPr/>
          <p:nvPr/>
        </p:nvSpPr>
        <p:spPr>
          <a:xfrm>
            <a:off x="484332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count()</a:t>
            </a:r>
            <a:endParaRPr lang="en-US" sz="1400" dirty="0"/>
          </a:p>
        </p:txBody>
      </p:sp>
      <p:sp>
        <p:nvSpPr>
          <p:cNvPr id="101" name="Text 53"/>
          <p:cNvSpPr/>
          <p:nvPr/>
        </p:nvSpPr>
        <p:spPr>
          <a:xfrm>
            <a:off x="659897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le nombre d'éléments</a:t>
            </a:r>
            <a:endParaRPr lang="en-US" sz="1400" dirty="0"/>
          </a:p>
        </p:txBody>
      </p:sp>
      <p:sp>
        <p:nvSpPr>
          <p:cNvPr id="102" name="Shape 54"/>
          <p:cNvSpPr/>
          <p:nvPr/>
        </p:nvSpPr>
        <p:spPr>
          <a:xfrm>
            <a:off x="4751889" y="4825388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03" name="Text 55"/>
          <p:cNvSpPr/>
          <p:nvPr/>
        </p:nvSpPr>
        <p:spPr>
          <a:xfrm>
            <a:off x="484332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findFirst()</a:t>
            </a:r>
            <a:endParaRPr lang="en-US" sz="1400" dirty="0"/>
          </a:p>
        </p:txBody>
      </p:sp>
      <p:sp>
        <p:nvSpPr>
          <p:cNvPr id="104" name="Text 56"/>
          <p:cNvSpPr/>
          <p:nvPr/>
        </p:nvSpPr>
        <p:spPr>
          <a:xfrm>
            <a:off x="659897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 premier élément (Optional)</a:t>
            </a:r>
            <a:endParaRPr lang="en-US" sz="1400" dirty="0"/>
          </a:p>
        </p:txBody>
      </p:sp>
      <p:sp>
        <p:nvSpPr>
          <p:cNvPr id="105" name="Shape 57"/>
          <p:cNvSpPr/>
          <p:nvPr/>
        </p:nvSpPr>
        <p:spPr>
          <a:xfrm>
            <a:off x="4751889" y="5172860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6" name="Text 58"/>
          <p:cNvSpPr/>
          <p:nvPr/>
        </p:nvSpPr>
        <p:spPr>
          <a:xfrm>
            <a:off x="484332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reduce()</a:t>
            </a:r>
            <a:endParaRPr lang="en-US" sz="1400" dirty="0"/>
          </a:p>
        </p:txBody>
      </p:sp>
      <p:sp>
        <p:nvSpPr>
          <p:cNvPr id="107" name="Text 59"/>
          <p:cNvSpPr/>
          <p:nvPr/>
        </p:nvSpPr>
        <p:spPr>
          <a:xfrm>
            <a:off x="659897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Réduit à une seule valeur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35352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9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72" grpId="0" animBg="1"/>
      <p:bldP spid="74" grpId="0" animBg="1"/>
      <p:bldP spid="75" grpId="0" animBg="1"/>
      <p:bldP spid="76" grpId="0" animBg="1"/>
      <p:bldP spid="77" grpId="0" animBg="1"/>
      <p:bldP spid="79" grpId="0" animBg="1"/>
      <p:bldP spid="80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1" grpId="0" animBg="1"/>
      <p:bldP spid="92" grpId="0" animBg="1"/>
      <p:bldP spid="94" grpId="0" animBg="1"/>
      <p:bldP spid="95" grpId="0" animBg="1"/>
      <p:bldP spid="97" grpId="0" animBg="1"/>
      <p:bldP spid="98" grpId="0" animBg="1"/>
      <p:bldP spid="100" grpId="0" animBg="1"/>
      <p:bldP spid="101" grpId="0" animBg="1"/>
      <p:bldP spid="103" grpId="0" animBg="1"/>
      <p:bldP spid="104" grpId="0" animBg="1"/>
      <p:bldP spid="106" grpId="0" animBg="1"/>
      <p:bldP spid="10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 xml:space="preserve"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 xml:space="preserve"> 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0" name="Shape 2"/>
          <p:cNvSpPr/>
          <p:nvPr/>
        </p:nvSpPr>
        <p:spPr>
          <a:xfrm>
            <a:off x="250626" y="1045074"/>
            <a:ext cx="8595360" cy="50292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Text 3"/>
          <p:cNvSpPr/>
          <p:nvPr/>
        </p:nvSpPr>
        <p:spPr>
          <a:xfrm>
            <a:off x="592705" y="945772"/>
            <a:ext cx="8229600" cy="641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👨‍💼  Scénario : Filtrer les employés seniors (salaire &gt; 50 000€), extraire leurs noms, trier et afficher —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quelques lignes avec Lambda + Stream.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336673" y="2126298"/>
            <a:ext cx="5303520" cy="3429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" name="Text 5"/>
          <p:cNvSpPr/>
          <p:nvPr/>
        </p:nvSpPr>
        <p:spPr>
          <a:xfrm>
            <a:off x="473833" y="219945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Modèle</a:t>
            </a:r>
            <a:endParaRPr lang="en-US" sz="1400" b="1" dirty="0"/>
          </a:p>
        </p:txBody>
      </p:sp>
      <p:sp>
        <p:nvSpPr>
          <p:cNvPr id="194" name="Text 6"/>
          <p:cNvSpPr/>
          <p:nvPr/>
        </p:nvSpPr>
        <p:spPr>
          <a:xfrm>
            <a:off x="473833" y="237318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Employe {</a:t>
            </a:r>
            <a:endParaRPr lang="en-US" sz="1400" b="1" dirty="0"/>
          </a:p>
        </p:txBody>
      </p:sp>
      <p:sp>
        <p:nvSpPr>
          <p:cNvPr id="195" name="Text 7"/>
          <p:cNvSpPr/>
          <p:nvPr/>
        </p:nvSpPr>
        <p:spPr>
          <a:xfrm>
            <a:off x="473833" y="254692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nom;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196" name="Text 8"/>
          <p:cNvSpPr/>
          <p:nvPr/>
        </p:nvSpPr>
        <p:spPr>
          <a:xfrm>
            <a:off x="473833" y="272065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salaire;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197" name="Text 9"/>
          <p:cNvSpPr/>
          <p:nvPr/>
        </p:nvSpPr>
        <p:spPr>
          <a:xfrm>
            <a:off x="473833" y="289439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departement;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198" name="Text 10"/>
          <p:cNvSpPr/>
          <p:nvPr/>
        </p:nvSpPr>
        <p:spPr>
          <a:xfrm>
            <a:off x="473833" y="306813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b="1" dirty="0"/>
          </a:p>
        </p:txBody>
      </p:sp>
      <p:sp>
        <p:nvSpPr>
          <p:cNvPr id="199" name="Text 11"/>
          <p:cNvSpPr/>
          <p:nvPr/>
        </p:nvSpPr>
        <p:spPr>
          <a:xfrm>
            <a:off x="473833" y="324186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200" name="Text 12"/>
          <p:cNvSpPr/>
          <p:nvPr/>
        </p:nvSpPr>
        <p:spPr>
          <a:xfrm>
            <a:off x="473833" y="341560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Traitement avec Lambda + Stream</a:t>
            </a:r>
            <a:endParaRPr lang="en-US" sz="1400" b="1" dirty="0"/>
          </a:p>
        </p:txBody>
      </p:sp>
      <p:sp>
        <p:nvSpPr>
          <p:cNvPr id="201" name="Text 13"/>
          <p:cNvSpPr/>
          <p:nvPr/>
        </p:nvSpPr>
        <p:spPr>
          <a:xfrm>
            <a:off x="473833" y="358933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List&lt;String&gt; nomsSeniors = employes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202" name="Text 14"/>
          <p:cNvSpPr/>
          <p:nvPr/>
        </p:nvSpPr>
        <p:spPr>
          <a:xfrm>
            <a:off x="473833" y="376307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.stream()</a:t>
            </a:r>
            <a:endParaRPr lang="en-US" sz="1400" b="1" dirty="0"/>
          </a:p>
        </p:txBody>
      </p:sp>
      <p:sp>
        <p:nvSpPr>
          <p:cNvPr id="203" name="Text 15"/>
          <p:cNvSpPr/>
          <p:nvPr/>
        </p:nvSpPr>
        <p:spPr>
          <a:xfrm>
            <a:off x="473833" y="393681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.filter(e -&gt; e.salaire &gt; 50_000)</a:t>
            </a:r>
            <a:endParaRPr lang="en-US" sz="1400" b="1" dirty="0"/>
          </a:p>
        </p:txBody>
      </p:sp>
      <p:sp>
        <p:nvSpPr>
          <p:cNvPr id="204" name="Text 16"/>
          <p:cNvSpPr/>
          <p:nvPr/>
        </p:nvSpPr>
        <p:spPr>
          <a:xfrm>
            <a:off x="473833" y="411054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.</a:t>
            </a:r>
            <a:r>
              <a:rPr lang="en-US" sz="14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sorted(Comparator.comparing(</a:t>
            </a:r>
            <a:endParaRPr lang="en-US" sz="1400" b="1" dirty="0">
              <a:solidFill>
                <a:srgbClr val="00B050"/>
              </a:solidFill>
            </a:endParaRPr>
          </a:p>
        </p:txBody>
      </p:sp>
      <p:sp>
        <p:nvSpPr>
          <p:cNvPr id="205" name="Text 17"/>
          <p:cNvSpPr/>
          <p:nvPr/>
        </p:nvSpPr>
        <p:spPr>
          <a:xfrm>
            <a:off x="473833" y="428428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e -&gt; e.nom))</a:t>
            </a:r>
            <a:endParaRPr lang="en-US" sz="1400" b="1" dirty="0">
              <a:solidFill>
                <a:srgbClr val="00B050"/>
              </a:solidFill>
            </a:endParaRPr>
          </a:p>
        </p:txBody>
      </p:sp>
      <p:sp>
        <p:nvSpPr>
          <p:cNvPr id="206" name="Text 18"/>
          <p:cNvSpPr/>
          <p:nvPr/>
        </p:nvSpPr>
        <p:spPr>
          <a:xfrm>
            <a:off x="473833" y="445801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.map(e -&gt; e.nom)</a:t>
            </a:r>
            <a:endParaRPr lang="en-US" sz="1400" b="1" dirty="0"/>
          </a:p>
        </p:txBody>
      </p:sp>
      <p:sp>
        <p:nvSpPr>
          <p:cNvPr id="207" name="Text 19"/>
          <p:cNvSpPr/>
          <p:nvPr/>
        </p:nvSpPr>
        <p:spPr>
          <a:xfrm>
            <a:off x="473833" y="463175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.collect(Collectors.toList());</a:t>
            </a:r>
            <a:endParaRPr lang="en-US" sz="1400" b="1" dirty="0"/>
          </a:p>
        </p:txBody>
      </p:sp>
      <p:sp>
        <p:nvSpPr>
          <p:cNvPr id="208" name="Text 20"/>
          <p:cNvSpPr/>
          <p:nvPr/>
        </p:nvSpPr>
        <p:spPr>
          <a:xfrm>
            <a:off x="473833" y="480549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209" name="Text 21"/>
          <p:cNvSpPr/>
          <p:nvPr/>
        </p:nvSpPr>
        <p:spPr>
          <a:xfrm>
            <a:off x="473833" y="497922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Affichage</a:t>
            </a:r>
            <a:endParaRPr lang="en-US" sz="1400" b="1" dirty="0"/>
          </a:p>
        </p:txBody>
      </p:sp>
      <p:sp>
        <p:nvSpPr>
          <p:cNvPr id="210" name="Text 22"/>
          <p:cNvSpPr/>
          <p:nvPr/>
        </p:nvSpPr>
        <p:spPr>
          <a:xfrm>
            <a:off x="473833" y="515296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nomsSeniors.forEach(</a:t>
            </a:r>
            <a:endParaRPr lang="en-US" sz="1400" b="1" dirty="0">
              <a:solidFill>
                <a:srgbClr val="00B050"/>
              </a:solidFill>
            </a:endParaRPr>
          </a:p>
        </p:txBody>
      </p:sp>
      <p:sp>
        <p:nvSpPr>
          <p:cNvPr id="211" name="Text 23"/>
          <p:cNvSpPr/>
          <p:nvPr/>
        </p:nvSpPr>
        <p:spPr>
          <a:xfrm>
            <a:off x="473833" y="532669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System.out::println);</a:t>
            </a:r>
            <a:endParaRPr lang="en-US" sz="1400" b="1" dirty="0"/>
          </a:p>
        </p:txBody>
      </p:sp>
      <p:sp>
        <p:nvSpPr>
          <p:cNvPr id="212" name="Shape 24"/>
          <p:cNvSpPr/>
          <p:nvPr/>
        </p:nvSpPr>
        <p:spPr>
          <a:xfrm>
            <a:off x="5868793" y="21262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3" name="Shape 25"/>
          <p:cNvSpPr/>
          <p:nvPr/>
        </p:nvSpPr>
        <p:spPr>
          <a:xfrm>
            <a:off x="5868793" y="2126298"/>
            <a:ext cx="64008" cy="612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4" name="Text 26"/>
          <p:cNvSpPr/>
          <p:nvPr/>
        </p:nvSpPr>
        <p:spPr>
          <a:xfrm>
            <a:off x="6005953" y="21720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1️⃣ .stream()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Text 27"/>
          <p:cNvSpPr/>
          <p:nvPr/>
        </p:nvSpPr>
        <p:spPr>
          <a:xfrm>
            <a:off x="6005953" y="24280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Crée un Stream depuis la List&lt;Employe&gt;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Shape 28"/>
          <p:cNvSpPr/>
          <p:nvPr/>
        </p:nvSpPr>
        <p:spPr>
          <a:xfrm>
            <a:off x="5868793" y="28120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7" name="Shape 29"/>
          <p:cNvSpPr/>
          <p:nvPr/>
        </p:nvSpPr>
        <p:spPr>
          <a:xfrm>
            <a:off x="5868793" y="2812098"/>
            <a:ext cx="64008" cy="6126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8" name="Text 30"/>
          <p:cNvSpPr/>
          <p:nvPr/>
        </p:nvSpPr>
        <p:spPr>
          <a:xfrm>
            <a:off x="6005953" y="28578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2️⃣ .filter()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Text 31"/>
          <p:cNvSpPr/>
          <p:nvPr/>
        </p:nvSpPr>
        <p:spPr>
          <a:xfrm>
            <a:off x="6005953" y="31138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Garde uniquement les employés avec salaire &gt; 50 000€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Shape 32"/>
          <p:cNvSpPr/>
          <p:nvPr/>
        </p:nvSpPr>
        <p:spPr>
          <a:xfrm>
            <a:off x="5868793" y="34978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1" name="Shape 33"/>
          <p:cNvSpPr/>
          <p:nvPr/>
        </p:nvSpPr>
        <p:spPr>
          <a:xfrm>
            <a:off x="5868793" y="3497898"/>
            <a:ext cx="64008" cy="6126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2" name="Text 34"/>
          <p:cNvSpPr/>
          <p:nvPr/>
        </p:nvSpPr>
        <p:spPr>
          <a:xfrm>
            <a:off x="6005953" y="35436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3️⃣ .sorted()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Text 35"/>
          <p:cNvSpPr/>
          <p:nvPr/>
        </p:nvSpPr>
        <p:spPr>
          <a:xfrm>
            <a:off x="6005953" y="37996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Trie alphabétiquement par nom (Comparator lambda)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Shape 36"/>
          <p:cNvSpPr/>
          <p:nvPr/>
        </p:nvSpPr>
        <p:spPr>
          <a:xfrm>
            <a:off x="5868793" y="41836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5" name="Shape 37"/>
          <p:cNvSpPr/>
          <p:nvPr/>
        </p:nvSpPr>
        <p:spPr>
          <a:xfrm>
            <a:off x="5868793" y="4183698"/>
            <a:ext cx="64008" cy="61264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6" name="Text 38"/>
          <p:cNvSpPr/>
          <p:nvPr/>
        </p:nvSpPr>
        <p:spPr>
          <a:xfrm>
            <a:off x="6005953" y="42294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4️⃣ .map()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7" name="Text 39"/>
          <p:cNvSpPr/>
          <p:nvPr/>
        </p:nvSpPr>
        <p:spPr>
          <a:xfrm>
            <a:off x="6005953" y="44854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Transforme chaque Employe </a:t>
            </a:r>
            <a:r>
              <a:rPr lang="en-US" sz="1200" dirty="0" err="1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String (son nom)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Shape 40"/>
          <p:cNvSpPr/>
          <p:nvPr/>
        </p:nvSpPr>
        <p:spPr>
          <a:xfrm>
            <a:off x="5868793" y="48694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9" name="Shape 41"/>
          <p:cNvSpPr/>
          <p:nvPr/>
        </p:nvSpPr>
        <p:spPr>
          <a:xfrm>
            <a:off x="5868793" y="4869498"/>
            <a:ext cx="64008" cy="6126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0" name="Text 42"/>
          <p:cNvSpPr/>
          <p:nvPr/>
        </p:nvSpPr>
        <p:spPr>
          <a:xfrm>
            <a:off x="6005953" y="49152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5️⃣ .collect()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1" name="Text 43"/>
          <p:cNvSpPr/>
          <p:nvPr/>
        </p:nvSpPr>
        <p:spPr>
          <a:xfrm>
            <a:off x="6005953" y="51712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Collecte les noms dans une List&lt;String&gt;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0" grpId="0" animBg="1"/>
      <p:bldP spid="191" grpId="0" animBg="1"/>
      <p:bldP spid="192" grpId="0" animBg="1"/>
      <p:bldP spid="193" grpId="0" animBg="1"/>
      <p:bldP spid="194" grpId="0" animBg="1"/>
      <p:bldP spid="195" grpId="0" animBg="1"/>
      <p:bldP spid="196" grpId="0" animBg="1"/>
      <p:bldP spid="197" grpId="0" animBg="1"/>
      <p:bldP spid="198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7" grpId="0" animBg="1"/>
      <p:bldP spid="209" grpId="0" animBg="1"/>
      <p:bldP spid="210" grpId="0" animBg="1"/>
      <p:bldP spid="211" grpId="0" animBg="1"/>
      <p:bldP spid="214" grpId="0" animBg="1"/>
      <p:bldP spid="215" grpId="0" animBg="1"/>
      <p:bldP spid="218" grpId="0" animBg="1"/>
      <p:bldP spid="219" grpId="0" animBg="1"/>
      <p:bldP spid="222" grpId="0" animBg="1"/>
      <p:bldP spid="223" grpId="0" animBg="1"/>
      <p:bldP spid="226" grpId="0" animBg="1"/>
      <p:bldP spid="227" grpId="0" animBg="1"/>
      <p:bldP spid="230" grpId="0" animBg="1"/>
      <p:bldP spid="2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2051720" y="1772816"/>
            <a:ext cx="6029013" cy="36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Voiture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private String marque = "Toyota";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private int vitesse = 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──── Inner Class ────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class Moteur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void demarrer()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// Accès direct aux membres privés de Voiture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System.out.println(marque + " démarre...");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vitesse = 10;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void accelerer(int delta)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vitesse += delta;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System.out.println("Vitesse: " + vitesse + " km/h");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public void rouler()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Moteur m = new Moteur(); // Instanciation depuis l'extérieur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m.demarrer();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m.accelerer(50);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Shape 2"/>
          <p:cNvSpPr/>
          <p:nvPr/>
        </p:nvSpPr>
        <p:spPr>
          <a:xfrm>
            <a:off x="29534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3"/>
          <p:cNvSpPr/>
          <p:nvPr/>
        </p:nvSpPr>
        <p:spPr>
          <a:xfrm>
            <a:off x="295345" y="1641169"/>
            <a:ext cx="4160520" cy="7315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6" name="Text 4"/>
          <p:cNvSpPr/>
          <p:nvPr/>
        </p:nvSpPr>
        <p:spPr>
          <a:xfrm>
            <a:off x="45993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Classe Membre</a:t>
            </a:r>
            <a:endParaRPr lang="en-US" sz="1400" dirty="0"/>
          </a:p>
        </p:txBody>
      </p:sp>
      <p:sp>
        <p:nvSpPr>
          <p:cNvPr id="27" name="Text 5"/>
          <p:cNvSpPr/>
          <p:nvPr/>
        </p:nvSpPr>
        <p:spPr>
          <a:xfrm>
            <a:off x="45993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Non-static inner class</a:t>
            </a:r>
            <a:endParaRPr lang="en-US" sz="1400" dirty="0"/>
          </a:p>
        </p:txBody>
      </p:sp>
      <p:sp>
        <p:nvSpPr>
          <p:cNvPr id="28" name="Shape 6"/>
          <p:cNvSpPr/>
          <p:nvPr/>
        </p:nvSpPr>
        <p:spPr>
          <a:xfrm>
            <a:off x="45993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9" name="Text 7"/>
          <p:cNvSpPr/>
          <p:nvPr/>
        </p:nvSpPr>
        <p:spPr>
          <a:xfrm>
            <a:off x="45993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dans une autre classe. Accède aux membres privés de la classe externe.</a:t>
            </a:r>
            <a:endParaRPr lang="en-US" sz="1400" dirty="0"/>
          </a:p>
        </p:txBody>
      </p:sp>
      <p:sp>
        <p:nvSpPr>
          <p:cNvPr id="30" name="Shape 8"/>
          <p:cNvSpPr/>
          <p:nvPr/>
        </p:nvSpPr>
        <p:spPr>
          <a:xfrm>
            <a:off x="473018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9"/>
          <p:cNvSpPr/>
          <p:nvPr/>
        </p:nvSpPr>
        <p:spPr>
          <a:xfrm>
            <a:off x="4730185" y="1641169"/>
            <a:ext cx="4160520" cy="7315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2" name="Text 10"/>
          <p:cNvSpPr/>
          <p:nvPr/>
        </p:nvSpPr>
        <p:spPr>
          <a:xfrm>
            <a:off x="489477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Classe Statique</a:t>
            </a:r>
            <a:endParaRPr lang="en-US" sz="1400" dirty="0"/>
          </a:p>
        </p:txBody>
      </p:sp>
      <p:sp>
        <p:nvSpPr>
          <p:cNvPr id="33" name="Text 11"/>
          <p:cNvSpPr/>
          <p:nvPr/>
        </p:nvSpPr>
        <p:spPr>
          <a:xfrm>
            <a:off x="489477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6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nested class</a:t>
            </a:r>
            <a:endParaRPr lang="en-US" sz="1400" dirty="0"/>
          </a:p>
        </p:txBody>
      </p:sp>
      <p:sp>
        <p:nvSpPr>
          <p:cNvPr id="34" name="Shape 12"/>
          <p:cNvSpPr/>
          <p:nvPr/>
        </p:nvSpPr>
        <p:spPr>
          <a:xfrm>
            <a:off x="489477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35" name="Text 13"/>
          <p:cNvSpPr/>
          <p:nvPr/>
        </p:nvSpPr>
        <p:spPr>
          <a:xfrm>
            <a:off x="489477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avec static. N'a pas besoin d'une instance de la classe externe.</a:t>
            </a:r>
            <a:endParaRPr lang="en-US" sz="1400" dirty="0"/>
          </a:p>
        </p:txBody>
      </p:sp>
      <p:sp>
        <p:nvSpPr>
          <p:cNvPr id="36" name="Shape 14"/>
          <p:cNvSpPr/>
          <p:nvPr/>
        </p:nvSpPr>
        <p:spPr>
          <a:xfrm>
            <a:off x="29534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15"/>
          <p:cNvSpPr/>
          <p:nvPr/>
        </p:nvSpPr>
        <p:spPr>
          <a:xfrm>
            <a:off x="295345" y="3671137"/>
            <a:ext cx="4160520" cy="73152"/>
          </a:xfrm>
          <a:prstGeom prst="rect">
            <a:avLst/>
          </a:prstGeom>
          <a:solidFill>
            <a:srgbClr val="0E4D6B"/>
          </a:solidFill>
          <a:ln w="12700">
            <a:solidFill>
              <a:srgbClr val="0E4D6B"/>
            </a:solidFill>
            <a:prstDash val="solid"/>
          </a:ln>
        </p:spPr>
      </p:sp>
      <p:sp>
        <p:nvSpPr>
          <p:cNvPr id="38" name="Text 16"/>
          <p:cNvSpPr/>
          <p:nvPr/>
        </p:nvSpPr>
        <p:spPr>
          <a:xfrm>
            <a:off x="45993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Classe Locale</a:t>
            </a:r>
            <a:endParaRPr lang="en-US" sz="1400" dirty="0"/>
          </a:p>
        </p:txBody>
      </p:sp>
      <p:sp>
        <p:nvSpPr>
          <p:cNvPr id="39" name="Text 17"/>
          <p:cNvSpPr/>
          <p:nvPr/>
        </p:nvSpPr>
        <p:spPr>
          <a:xfrm>
            <a:off x="45993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4D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inner class</a:t>
            </a:r>
            <a:endParaRPr lang="en-US" sz="1400" dirty="0"/>
          </a:p>
        </p:txBody>
      </p:sp>
      <p:sp>
        <p:nvSpPr>
          <p:cNvPr id="40" name="Shape 18"/>
          <p:cNvSpPr/>
          <p:nvPr/>
        </p:nvSpPr>
        <p:spPr>
          <a:xfrm>
            <a:off x="45993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1" name="Text 19"/>
          <p:cNvSpPr/>
          <p:nvPr/>
        </p:nvSpPr>
        <p:spPr>
          <a:xfrm>
            <a:off x="45993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à l'intérieur d'une méthode. Visible uniquement dans cette méthode.</a:t>
            </a:r>
            <a:endParaRPr lang="en-US" sz="1400" dirty="0"/>
          </a:p>
        </p:txBody>
      </p:sp>
      <p:sp>
        <p:nvSpPr>
          <p:cNvPr id="42" name="Shape 20"/>
          <p:cNvSpPr/>
          <p:nvPr/>
        </p:nvSpPr>
        <p:spPr>
          <a:xfrm>
            <a:off x="473018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21"/>
          <p:cNvSpPr/>
          <p:nvPr/>
        </p:nvSpPr>
        <p:spPr>
          <a:xfrm>
            <a:off x="4730185" y="3671137"/>
            <a:ext cx="4160520" cy="7315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4" name="Text 22"/>
          <p:cNvSpPr/>
          <p:nvPr/>
        </p:nvSpPr>
        <p:spPr>
          <a:xfrm>
            <a:off x="489477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Classe Anonyme</a:t>
            </a:r>
            <a:endParaRPr lang="en-US" sz="1400" dirty="0"/>
          </a:p>
        </p:txBody>
      </p:sp>
      <p:sp>
        <p:nvSpPr>
          <p:cNvPr id="45" name="Text 23"/>
          <p:cNvSpPr/>
          <p:nvPr/>
        </p:nvSpPr>
        <p:spPr>
          <a:xfrm>
            <a:off x="489477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AD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 class</a:t>
            </a:r>
            <a:endParaRPr lang="en-US" sz="1400" dirty="0"/>
          </a:p>
        </p:txBody>
      </p:sp>
      <p:sp>
        <p:nvSpPr>
          <p:cNvPr id="46" name="Shape 24"/>
          <p:cNvSpPr/>
          <p:nvPr/>
        </p:nvSpPr>
        <p:spPr>
          <a:xfrm>
            <a:off x="489477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7" name="Text 25"/>
          <p:cNvSpPr/>
          <p:nvPr/>
        </p:nvSpPr>
        <p:spPr>
          <a:xfrm>
            <a:off x="489477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Sans nom, déclarée et instanciée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une seule expression. Usage unique.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3221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8" name="Shape 2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9" name="Text 3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17951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1" name="Text 5"/>
          <p:cNvSpPr/>
          <p:nvPr/>
        </p:nvSpPr>
        <p:spPr>
          <a:xfrm>
            <a:off x="31667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Voiture {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6"/>
          <p:cNvSpPr/>
          <p:nvPr/>
        </p:nvSpPr>
        <p:spPr>
          <a:xfrm>
            <a:off x="31667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private String marque;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7"/>
          <p:cNvSpPr/>
          <p:nvPr/>
        </p:nvSpPr>
        <p:spPr>
          <a:xfrm>
            <a:off x="31667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1667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// </a:t>
            </a:r>
            <a:r>
              <a:rPr lang="en-US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interne membre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 9"/>
          <p:cNvSpPr/>
          <p:nvPr/>
        </p:nvSpPr>
        <p:spPr>
          <a:xfrm>
            <a:off x="31667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class Moteur {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31667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int chevaux</a:t>
            </a: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;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31667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31667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CDCAA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void demarrer() {</a:t>
            </a:r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31667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// accède à marque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14"/>
          <p:cNvSpPr/>
          <p:nvPr/>
        </p:nvSpPr>
        <p:spPr>
          <a:xfrm>
            <a:off x="31667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</a:t>
            </a:r>
            <a:r>
              <a:rPr lang="en-US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31667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marque);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31667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31667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31667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Shape 19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6" name="Text 20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Statique (static nested)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461435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8" name="Text 22"/>
          <p:cNvSpPr/>
          <p:nvPr/>
        </p:nvSpPr>
        <p:spPr>
          <a:xfrm>
            <a:off x="475151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Universite {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475151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475151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 25"/>
          <p:cNvSpPr/>
          <p:nvPr/>
        </p:nvSpPr>
        <p:spPr>
          <a:xfrm>
            <a:off x="475151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// </a:t>
            </a:r>
            <a:r>
              <a:rPr lang="en-US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statique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 26"/>
          <p:cNvSpPr/>
          <p:nvPr/>
        </p:nvSpPr>
        <p:spPr>
          <a:xfrm>
            <a:off x="475151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static class Etudiant {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 27"/>
          <p:cNvSpPr/>
          <p:nvPr/>
        </p:nvSpPr>
        <p:spPr>
          <a:xfrm>
            <a:off x="475151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String prenom;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 28"/>
          <p:cNvSpPr/>
          <p:nvPr/>
        </p:nvSpPr>
        <p:spPr>
          <a:xfrm>
            <a:off x="475151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age;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 29"/>
          <p:cNvSpPr/>
          <p:nvPr/>
        </p:nvSpPr>
        <p:spPr>
          <a:xfrm>
            <a:off x="475151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 30"/>
          <p:cNvSpPr/>
          <p:nvPr/>
        </p:nvSpPr>
        <p:spPr>
          <a:xfrm>
            <a:off x="475151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void afficher() {</a:t>
            </a:r>
            <a:endParaRPr 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 31"/>
          <p:cNvSpPr/>
          <p:nvPr/>
        </p:nvSpPr>
        <p:spPr>
          <a:xfrm>
            <a:off x="475151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 32"/>
          <p:cNvSpPr/>
          <p:nvPr/>
        </p:nvSpPr>
        <p:spPr>
          <a:xfrm>
            <a:off x="475151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</a:t>
            </a:r>
            <a:r>
              <a:rPr lang="en-US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prenom);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 33"/>
          <p:cNvSpPr/>
          <p:nvPr/>
        </p:nvSpPr>
        <p:spPr>
          <a:xfrm>
            <a:off x="475151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 34"/>
          <p:cNvSpPr/>
          <p:nvPr/>
        </p:nvSpPr>
        <p:spPr>
          <a:xfrm>
            <a:off x="475151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 35"/>
          <p:cNvSpPr/>
          <p:nvPr/>
        </p:nvSpPr>
        <p:spPr>
          <a:xfrm>
            <a:off x="475151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59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283276" y="1735753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208494" y="1280067"/>
            <a:ext cx="8595360" cy="56692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40" name="Text 3"/>
          <p:cNvSpPr/>
          <p:nvPr/>
        </p:nvSpPr>
        <p:spPr>
          <a:xfrm>
            <a:off x="425256" y="1249914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D1B2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🏦  Scénario : Un compte bancaire contient des transactions. La classe Transaction est interne à CompteBancaire car elle n'a de sens que dans ce contexte.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4"/>
          <p:cNvSpPr/>
          <p:nvPr/>
        </p:nvSpPr>
        <p:spPr>
          <a:xfrm>
            <a:off x="251520" y="2397672"/>
            <a:ext cx="5303520" cy="3364992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2" name="Text 5"/>
          <p:cNvSpPr/>
          <p:nvPr/>
        </p:nvSpPr>
        <p:spPr>
          <a:xfrm>
            <a:off x="388680" y="24708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CompteBancaire {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43" name="Text 6"/>
          <p:cNvSpPr/>
          <p:nvPr/>
        </p:nvSpPr>
        <p:spPr>
          <a:xfrm>
            <a:off x="388680" y="26445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double solde;</a:t>
            </a:r>
            <a:endParaRPr lang="en-US" sz="1600" b="1" dirty="0"/>
          </a:p>
        </p:txBody>
      </p:sp>
      <p:sp>
        <p:nvSpPr>
          <p:cNvPr id="44" name="Text 7"/>
          <p:cNvSpPr/>
          <p:nvPr/>
        </p:nvSpPr>
        <p:spPr>
          <a:xfrm>
            <a:off x="388680" y="28182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String titulaire;</a:t>
            </a:r>
            <a:endParaRPr lang="en-US" sz="1600" b="1" dirty="0"/>
          </a:p>
        </p:txBody>
      </p:sp>
      <p:sp>
        <p:nvSpPr>
          <p:cNvPr id="45" name="Text 8"/>
          <p:cNvSpPr/>
          <p:nvPr/>
        </p:nvSpPr>
        <p:spPr>
          <a:xfrm>
            <a:off x="388680" y="29920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b="1" dirty="0"/>
          </a:p>
        </p:txBody>
      </p:sp>
      <p:sp>
        <p:nvSpPr>
          <p:cNvPr id="46" name="Text 9"/>
          <p:cNvSpPr/>
          <p:nvPr/>
        </p:nvSpPr>
        <p:spPr>
          <a:xfrm>
            <a:off x="388680" y="31657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Classe interne membre</a:t>
            </a:r>
            <a:endParaRPr lang="en-US" sz="1600" b="1" dirty="0"/>
          </a:p>
        </p:txBody>
      </p:sp>
      <p:sp>
        <p:nvSpPr>
          <p:cNvPr id="47" name="Text 10"/>
          <p:cNvSpPr/>
          <p:nvPr/>
        </p:nvSpPr>
        <p:spPr>
          <a:xfrm>
            <a:off x="388680" y="33395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class Transaction {</a:t>
            </a:r>
            <a:endParaRPr lang="en-US" sz="1600" b="1" dirty="0"/>
          </a:p>
        </p:txBody>
      </p:sp>
      <p:sp>
        <p:nvSpPr>
          <p:cNvPr id="82" name="Text 11"/>
          <p:cNvSpPr/>
          <p:nvPr/>
        </p:nvSpPr>
        <p:spPr>
          <a:xfrm>
            <a:off x="388680" y="35132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double montant;</a:t>
            </a:r>
            <a:endParaRPr lang="en-US" sz="1600" b="1" dirty="0"/>
          </a:p>
        </p:txBody>
      </p:sp>
      <p:sp>
        <p:nvSpPr>
          <p:cNvPr id="83" name="Text 12"/>
          <p:cNvSpPr/>
          <p:nvPr/>
        </p:nvSpPr>
        <p:spPr>
          <a:xfrm>
            <a:off x="388680" y="36869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String type; // "debit"/"credit"</a:t>
            </a:r>
            <a:endParaRPr lang="en-US" sz="1600" b="1" dirty="0"/>
          </a:p>
        </p:txBody>
      </p:sp>
      <p:sp>
        <p:nvSpPr>
          <p:cNvPr id="84" name="Text 13"/>
          <p:cNvSpPr/>
          <p:nvPr/>
        </p:nvSpPr>
        <p:spPr>
          <a:xfrm>
            <a:off x="388680" y="38607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b="1" dirty="0"/>
          </a:p>
        </p:txBody>
      </p:sp>
      <p:sp>
        <p:nvSpPr>
          <p:cNvPr id="85" name="Text 14"/>
          <p:cNvSpPr/>
          <p:nvPr/>
        </p:nvSpPr>
        <p:spPr>
          <a:xfrm>
            <a:off x="388680" y="40344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6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executer() {</a:t>
            </a:r>
            <a:endParaRPr lang="en-US" sz="1600" b="1" dirty="0">
              <a:solidFill>
                <a:srgbClr val="FF0000"/>
              </a:solidFill>
            </a:endParaRPr>
          </a:p>
        </p:txBody>
      </p:sp>
      <p:sp>
        <p:nvSpPr>
          <p:cNvPr id="86" name="Text 15"/>
          <p:cNvSpPr/>
          <p:nvPr/>
        </p:nvSpPr>
        <p:spPr>
          <a:xfrm>
            <a:off x="388680" y="42081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if (type.equals("credit")) {</a:t>
            </a:r>
            <a:endParaRPr lang="en-US" sz="1600" b="1" dirty="0">
              <a:solidFill>
                <a:srgbClr val="FF0000"/>
              </a:solidFill>
            </a:endParaRPr>
          </a:p>
        </p:txBody>
      </p:sp>
      <p:sp>
        <p:nvSpPr>
          <p:cNvPr id="87" name="Text 16"/>
          <p:cNvSpPr/>
          <p:nvPr/>
        </p:nvSpPr>
        <p:spPr>
          <a:xfrm>
            <a:off x="388680" y="4381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+= montant;</a:t>
            </a:r>
            <a:endParaRPr lang="en-US" sz="1600" b="1" dirty="0"/>
          </a:p>
        </p:txBody>
      </p:sp>
      <p:sp>
        <p:nvSpPr>
          <p:cNvPr id="88" name="Text 17"/>
          <p:cNvSpPr/>
          <p:nvPr/>
        </p:nvSpPr>
        <p:spPr>
          <a:xfrm>
            <a:off x="388680" y="45556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600" b="1" dirty="0"/>
          </a:p>
        </p:txBody>
      </p:sp>
      <p:sp>
        <p:nvSpPr>
          <p:cNvPr id="89" name="Text 18"/>
          <p:cNvSpPr/>
          <p:nvPr/>
        </p:nvSpPr>
        <p:spPr>
          <a:xfrm>
            <a:off x="388680" y="47293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</a:t>
            </a:r>
            <a:r>
              <a:rPr lang="en-US" sz="16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-= montant;</a:t>
            </a:r>
            <a:endParaRPr lang="en-US" sz="1600" b="1" dirty="0"/>
          </a:p>
        </p:txBody>
      </p:sp>
      <p:sp>
        <p:nvSpPr>
          <p:cNvPr id="90" name="Text 19"/>
          <p:cNvSpPr/>
          <p:nvPr/>
        </p:nvSpPr>
        <p:spPr>
          <a:xfrm>
            <a:off x="388680" y="4903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}</a:t>
            </a:r>
            <a:endParaRPr lang="en-US" sz="1600" b="1" dirty="0"/>
          </a:p>
        </p:txBody>
      </p:sp>
      <p:sp>
        <p:nvSpPr>
          <p:cNvPr id="91" name="Text 20"/>
          <p:cNvSpPr/>
          <p:nvPr/>
        </p:nvSpPr>
        <p:spPr>
          <a:xfrm>
            <a:off x="388680" y="50768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}</a:t>
            </a:r>
            <a:endParaRPr lang="en-US" sz="1600" b="1" dirty="0"/>
          </a:p>
        </p:txBody>
      </p:sp>
      <p:sp>
        <p:nvSpPr>
          <p:cNvPr id="92" name="Text 21"/>
          <p:cNvSpPr/>
          <p:nvPr/>
        </p:nvSpPr>
        <p:spPr>
          <a:xfrm>
            <a:off x="388680" y="52506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</a:t>
            </a:r>
            <a:endParaRPr lang="en-US" sz="1600" b="1" dirty="0"/>
          </a:p>
        </p:txBody>
      </p:sp>
      <p:sp>
        <p:nvSpPr>
          <p:cNvPr id="93" name="Text 22"/>
          <p:cNvSpPr/>
          <p:nvPr/>
        </p:nvSpPr>
        <p:spPr>
          <a:xfrm>
            <a:off x="388680" y="542433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b="1" dirty="0"/>
          </a:p>
        </p:txBody>
      </p:sp>
      <p:sp>
        <p:nvSpPr>
          <p:cNvPr id="94" name="Shape 23"/>
          <p:cNvSpPr/>
          <p:nvPr/>
        </p:nvSpPr>
        <p:spPr>
          <a:xfrm>
            <a:off x="5829240" y="2320632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5" name="Shape 24"/>
          <p:cNvSpPr/>
          <p:nvPr/>
        </p:nvSpPr>
        <p:spPr>
          <a:xfrm>
            <a:off x="5875080" y="2562264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6" name="Text 25"/>
          <p:cNvSpPr/>
          <p:nvPr/>
        </p:nvSpPr>
        <p:spPr>
          <a:xfrm>
            <a:off x="5875080" y="256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7" name="Text 26"/>
          <p:cNvSpPr/>
          <p:nvPr/>
        </p:nvSpPr>
        <p:spPr>
          <a:xfrm>
            <a:off x="6364728" y="196790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forte</a:t>
            </a:r>
            <a:endParaRPr lang="en-US" sz="1600" dirty="0"/>
          </a:p>
        </p:txBody>
      </p:sp>
      <p:sp>
        <p:nvSpPr>
          <p:cNvPr id="98" name="Text 27"/>
          <p:cNvSpPr/>
          <p:nvPr/>
        </p:nvSpPr>
        <p:spPr>
          <a:xfrm>
            <a:off x="6415184" y="2404213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ne peut exister sans CompteBancaire. Logique métier respectée.</a:t>
            </a:r>
            <a:endParaRPr lang="en-US" sz="1600" dirty="0"/>
          </a:p>
        </p:txBody>
      </p:sp>
      <p:sp>
        <p:nvSpPr>
          <p:cNvPr id="99" name="Shape 28"/>
          <p:cNvSpPr/>
          <p:nvPr/>
        </p:nvSpPr>
        <p:spPr>
          <a:xfrm>
            <a:off x="5783640" y="3238920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0" name="Shape 29"/>
          <p:cNvSpPr/>
          <p:nvPr/>
        </p:nvSpPr>
        <p:spPr>
          <a:xfrm>
            <a:off x="5875080" y="3403512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1" name="Text 30"/>
          <p:cNvSpPr/>
          <p:nvPr/>
        </p:nvSpPr>
        <p:spPr>
          <a:xfrm>
            <a:off x="5875080" y="340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2" name="Text 31"/>
          <p:cNvSpPr/>
          <p:nvPr/>
        </p:nvSpPr>
        <p:spPr>
          <a:xfrm>
            <a:off x="6468944" y="311090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privilégié</a:t>
            </a:r>
            <a:endParaRPr lang="en-US" sz="1600" dirty="0"/>
          </a:p>
        </p:txBody>
      </p:sp>
      <p:sp>
        <p:nvSpPr>
          <p:cNvPr id="103" name="Text 32"/>
          <p:cNvSpPr/>
          <p:nvPr/>
        </p:nvSpPr>
        <p:spPr>
          <a:xfrm>
            <a:off x="6479180" y="345700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interne accède directement à solde (private) de la classe externe.</a:t>
            </a:r>
            <a:endParaRPr lang="en-US" sz="1600" dirty="0"/>
          </a:p>
        </p:txBody>
      </p:sp>
      <p:sp>
        <p:nvSpPr>
          <p:cNvPr id="104" name="Shape 33"/>
          <p:cNvSpPr/>
          <p:nvPr/>
        </p:nvSpPr>
        <p:spPr>
          <a:xfrm>
            <a:off x="5783640" y="4080168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5" name="Shape 34"/>
          <p:cNvSpPr/>
          <p:nvPr/>
        </p:nvSpPr>
        <p:spPr>
          <a:xfrm>
            <a:off x="5875080" y="4244760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6" name="Text 35"/>
          <p:cNvSpPr/>
          <p:nvPr/>
        </p:nvSpPr>
        <p:spPr>
          <a:xfrm>
            <a:off x="5875080" y="424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7" name="Text 36"/>
          <p:cNvSpPr/>
          <p:nvPr/>
        </p:nvSpPr>
        <p:spPr>
          <a:xfrm>
            <a:off x="6468944" y="4017567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600" dirty="0"/>
          </a:p>
        </p:txBody>
      </p:sp>
      <p:sp>
        <p:nvSpPr>
          <p:cNvPr id="108" name="Text 37"/>
          <p:cNvSpPr/>
          <p:nvPr/>
        </p:nvSpPr>
        <p:spPr>
          <a:xfrm>
            <a:off x="6479180" y="4513024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groupé logiquement — tout ce qui concerne le compte est dans la même classe.</a:t>
            </a:r>
            <a:endParaRPr lang="en-US" sz="1600" dirty="0"/>
          </a:p>
        </p:txBody>
      </p:sp>
      <p:sp>
        <p:nvSpPr>
          <p:cNvPr id="109" name="Shape 38"/>
          <p:cNvSpPr/>
          <p:nvPr/>
        </p:nvSpPr>
        <p:spPr>
          <a:xfrm>
            <a:off x="5723956" y="5447919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0" name="Shape 39"/>
          <p:cNvSpPr/>
          <p:nvPr/>
        </p:nvSpPr>
        <p:spPr>
          <a:xfrm>
            <a:off x="5931858" y="5583252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1" name="Text 40"/>
          <p:cNvSpPr/>
          <p:nvPr/>
        </p:nvSpPr>
        <p:spPr>
          <a:xfrm>
            <a:off x="5931858" y="556137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2" name="Text 41"/>
          <p:cNvSpPr/>
          <p:nvPr/>
        </p:nvSpPr>
        <p:spPr>
          <a:xfrm>
            <a:off x="6345201" y="518548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600" dirty="0"/>
          </a:p>
        </p:txBody>
      </p:sp>
      <p:sp>
        <p:nvSpPr>
          <p:cNvPr id="113" name="Text 42"/>
          <p:cNvSpPr/>
          <p:nvPr/>
        </p:nvSpPr>
        <p:spPr>
          <a:xfrm>
            <a:off x="6468944" y="5725971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CompteBancaire cb = new CompteBancaire();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 = cb.new Transaction();</a:t>
            </a:r>
            <a:endParaRPr lang="en-US" sz="1600" dirty="0"/>
          </a:p>
        </p:txBody>
      </p:sp>
      <p:sp>
        <p:nvSpPr>
          <p:cNvPr id="2" name="Rectangle 1"/>
          <p:cNvSpPr/>
          <p:nvPr/>
        </p:nvSpPr>
        <p:spPr>
          <a:xfrm>
            <a:off x="313853" y="891605"/>
            <a:ext cx="384234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Réel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—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Système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Bancaire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 xml:space="preserve">VI.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Anonymos</a:t>
            </a:r>
            <a:r>
              <a:rPr lang="fr-CA" sz="2400" cap="none" dirty="0" smtClean="0">
                <a:solidFill>
                  <a:srgbClr val="FF0000"/>
                </a:solidFill>
              </a:rPr>
              <a:t xml:space="preserve"> Class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274320" y="86868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3"/>
          <p:cNvSpPr/>
          <p:nvPr/>
        </p:nvSpPr>
        <p:spPr>
          <a:xfrm>
            <a:off x="274320" y="86868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457200" y="94183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📌  Définition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130759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Une classe sans nom déclarée et instanciée </a:t>
            </a:r>
            <a:r>
              <a:rPr lang="en-US" sz="1600" dirty="0" err="1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 xml:space="preserve"> une seule expression.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74320" y="219456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7"/>
          <p:cNvSpPr/>
          <p:nvPr/>
        </p:nvSpPr>
        <p:spPr>
          <a:xfrm>
            <a:off x="274320" y="219456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57200" y="226771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⚡  Utilisation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57200" y="263347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Étendre une classe abstraite ou implémenter une interface à la volée.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274320" y="352044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1"/>
          <p:cNvSpPr/>
          <p:nvPr/>
        </p:nvSpPr>
        <p:spPr>
          <a:xfrm>
            <a:off x="274320" y="352044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12"/>
          <p:cNvSpPr/>
          <p:nvPr/>
        </p:nvSpPr>
        <p:spPr>
          <a:xfrm>
            <a:off x="457200" y="359359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🚫  Limite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457200" y="395935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Utilisée une seule fois. Pour la réutilisation, préférez une classe nommée.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251960" y="892690"/>
            <a:ext cx="4434840" cy="4431385"/>
          </a:xfrm>
          <a:prstGeom prst="rect">
            <a:avLst/>
          </a:prstGeom>
          <a:solidFill>
            <a:schemeClr val="bg1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15"/>
          <p:cNvSpPr/>
          <p:nvPr/>
        </p:nvSpPr>
        <p:spPr>
          <a:xfrm>
            <a:off x="4572000" y="960119"/>
            <a:ext cx="4114800" cy="50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8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 générale</a:t>
            </a:r>
            <a:endParaRPr lang="en-US" sz="1400" dirty="0"/>
          </a:p>
        </p:txBody>
      </p:sp>
      <p:sp>
        <p:nvSpPr>
          <p:cNvPr id="26" name="Text 16"/>
          <p:cNvSpPr/>
          <p:nvPr/>
        </p:nvSpPr>
        <p:spPr>
          <a:xfrm>
            <a:off x="4617720" y="137159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27" name="Text 17"/>
          <p:cNvSpPr/>
          <p:nvPr/>
        </p:nvSpPr>
        <p:spPr>
          <a:xfrm>
            <a:off x="4617720" y="162763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</a:t>
            </a:r>
            <a:r>
              <a:rPr lang="en-US" sz="14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monObjet = new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6300192" y="1625998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Interface()</a:t>
            </a:r>
            <a:endParaRPr lang="en-US" sz="1400" dirty="0"/>
          </a:p>
        </p:txBody>
      </p:sp>
      <p:sp>
        <p:nvSpPr>
          <p:cNvPr id="29" name="Text 19"/>
          <p:cNvSpPr/>
          <p:nvPr/>
        </p:nvSpPr>
        <p:spPr>
          <a:xfrm>
            <a:off x="4617720" y="213969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{</a:t>
            </a:r>
            <a:endParaRPr lang="en-US" sz="1400" dirty="0"/>
          </a:p>
        </p:txBody>
      </p:sp>
      <p:sp>
        <p:nvSpPr>
          <p:cNvPr id="30" name="Text 20"/>
          <p:cNvSpPr/>
          <p:nvPr/>
        </p:nvSpPr>
        <p:spPr>
          <a:xfrm>
            <a:off x="4617720" y="239572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@Override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4617720" y="265175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public void</a:t>
            </a:r>
            <a:endParaRPr lang="en-US" sz="1400" dirty="0"/>
          </a:p>
        </p:txBody>
      </p:sp>
      <p:sp>
        <p:nvSpPr>
          <p:cNvPr id="32" name="Text 22"/>
          <p:cNvSpPr/>
          <p:nvPr/>
        </p:nvSpPr>
        <p:spPr>
          <a:xfrm>
            <a:off x="4617720" y="290779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methode() {</a:t>
            </a:r>
            <a:endParaRPr lang="en-US" sz="1400" b="1" dirty="0"/>
          </a:p>
        </p:txBody>
      </p:sp>
      <p:sp>
        <p:nvSpPr>
          <p:cNvPr id="33" name="Text 23"/>
          <p:cNvSpPr/>
          <p:nvPr/>
        </p:nvSpPr>
        <p:spPr>
          <a:xfrm>
            <a:off x="4617720" y="3163823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// Code</a:t>
            </a:r>
            <a:endParaRPr lang="en-US" sz="1400" dirty="0"/>
          </a:p>
        </p:txBody>
      </p:sp>
      <p:sp>
        <p:nvSpPr>
          <p:cNvPr id="34" name="Text 24"/>
          <p:cNvSpPr/>
          <p:nvPr/>
        </p:nvSpPr>
        <p:spPr>
          <a:xfrm>
            <a:off x="4617720" y="341985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}</a:t>
            </a:r>
            <a:endParaRPr lang="en-US" sz="1400" dirty="0"/>
          </a:p>
        </p:txBody>
      </p:sp>
      <p:sp>
        <p:nvSpPr>
          <p:cNvPr id="35" name="Text 25"/>
          <p:cNvSpPr/>
          <p:nvPr/>
        </p:nvSpPr>
        <p:spPr>
          <a:xfrm>
            <a:off x="4617720" y="367588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734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 xml:space="preserve">VI. </a:t>
            </a:r>
            <a:r>
              <a:rPr lang="fr-CA" sz="2400" cap="none" dirty="0" err="1">
                <a:solidFill>
                  <a:srgbClr val="FF0000"/>
                </a:solidFill>
              </a:rPr>
              <a:t>Anonymos</a:t>
            </a:r>
            <a:r>
              <a:rPr lang="fr-CA" sz="2400" cap="none" dirty="0">
                <a:solidFill>
                  <a:srgbClr val="FF0000"/>
                </a:solidFill>
              </a:rPr>
              <a:t xml:space="preserve"> Class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516696" y="102757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🎯  Scénario : Gérer le clic d'un bouton dans une application Android sans créer une classe séparée.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51520" y="1916832"/>
            <a:ext cx="5303520" cy="33375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Text 5"/>
          <p:cNvSpPr/>
          <p:nvPr/>
        </p:nvSpPr>
        <p:spPr>
          <a:xfrm>
            <a:off x="388680" y="200827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Classe Anonyme — clic bouton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88680" y="219572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Button btn = findViewById(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8680" y="238317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R.id.monBouton);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8680" y="257062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8680" y="27580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btn.setOnClickListener(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8680" y="294553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new View.OnClickListener()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88680" y="313298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88680" y="332043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586C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@Override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88680" y="3507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69CD6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public void onClick(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8680" y="369534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View v)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8680" y="388279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Toast.makeText(ctx,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88680" y="407024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E917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"Bouton cliqué !",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88680" y="425769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Toast.LENGTH_SHORT)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88680" y="444514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.show();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88680" y="46326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8680" y="482005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 xml:space="preserve">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8680" y="500750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5080" y="2081424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5080" y="2081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9128" y="197169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nom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9128" y="224601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besoin de déclarer une classe séparée OnClickListener.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8"/>
          <p:cNvSpPr/>
          <p:nvPr/>
        </p:nvSpPr>
        <p:spPr>
          <a:xfrm>
            <a:off x="5875080" y="2922672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0" name="Text 29"/>
          <p:cNvSpPr/>
          <p:nvPr/>
        </p:nvSpPr>
        <p:spPr>
          <a:xfrm>
            <a:off x="5875080" y="2922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30"/>
          <p:cNvSpPr/>
          <p:nvPr/>
        </p:nvSpPr>
        <p:spPr>
          <a:xfrm>
            <a:off x="6259128" y="28129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la volée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1"/>
          <p:cNvSpPr/>
          <p:nvPr/>
        </p:nvSpPr>
        <p:spPr>
          <a:xfrm>
            <a:off x="6259128" y="308726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L'interface View.OnClickListener est implémentée directement.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5875080" y="3763920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5875080" y="37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5"/>
          <p:cNvSpPr/>
          <p:nvPr/>
        </p:nvSpPr>
        <p:spPr>
          <a:xfrm>
            <a:off x="6259128" y="36541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Concis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6"/>
          <p:cNvSpPr/>
          <p:nvPr/>
        </p:nvSpPr>
        <p:spPr>
          <a:xfrm>
            <a:off x="6259128" y="392851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Logique du clic localisée → code plus lisible et maintenable.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8"/>
          <p:cNvSpPr/>
          <p:nvPr/>
        </p:nvSpPr>
        <p:spPr>
          <a:xfrm>
            <a:off x="5875080" y="4605168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8" name="Text 39"/>
          <p:cNvSpPr/>
          <p:nvPr/>
        </p:nvSpPr>
        <p:spPr>
          <a:xfrm>
            <a:off x="5875080" y="4605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40"/>
          <p:cNvSpPr/>
          <p:nvPr/>
        </p:nvSpPr>
        <p:spPr>
          <a:xfrm>
            <a:off x="6259128" y="44954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Usage unique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41"/>
          <p:cNvSpPr/>
          <p:nvPr/>
        </p:nvSpPr>
        <p:spPr>
          <a:xfrm>
            <a:off x="6259128" y="476976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Parfait car ce listener ne sera pas réutilisé ailleurs.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94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 xml:space="preserve">VII. </a:t>
            </a:r>
            <a:r>
              <a:rPr lang="fr-CA" sz="2400" cap="none" dirty="0" smtClean="0">
                <a:solidFill>
                  <a:srgbClr val="FF0000"/>
                </a:solidFill>
              </a:rPr>
              <a:t>Conclusion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sp>
        <p:nvSpPr>
          <p:cNvPr id="40" name="ConclusionIntro"/>
          <p:cNvSpPr/>
          <p:nvPr/>
        </p:nvSpPr>
        <p:spPr>
          <a:xfrm>
            <a:off x="715424" y="800000"/>
            <a:ext cx="85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300" i="1" dirty="0">
                <a:solidFill>
                  <a:srgbClr val="475569"/>
                </a:solidFill>
                <a:latin typeface="Times New Roman" panose="02020603050405020304" pitchFamily="18" charset="0"/>
              </a:rPr>
              <a:t>Les Génériques et Collections forment un écosystème cohérent qui rend le code Java plus sûr, plus lisible et plus puissant.</a:t>
            </a:r>
          </a:p>
        </p:txBody>
      </p:sp>
      <p:sp>
        <p:nvSpPr>
          <p:cNvPr id="41" name="Box1"/>
          <p:cNvSpPr/>
          <p:nvPr/>
        </p:nvSpPr>
        <p:spPr>
          <a:xfrm>
            <a:off x="715424" y="1240000"/>
            <a:ext cx="2680000" cy="1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</p:sp>
      <p:sp>
        <p:nvSpPr>
          <p:cNvPr id="42" name="Bar1"/>
          <p:cNvSpPr/>
          <p:nvPr/>
        </p:nvSpPr>
        <p:spPr>
          <a:xfrm>
            <a:off x="715424" y="1240000"/>
            <a:ext cx="2680000" cy="55000"/>
          </a:xfrm>
          <a:prstGeom prst="rect">
            <a:avLst/>
          </a:prstGeom>
          <a:solidFill>
            <a:srgbClr val="FF0000"/>
          </a:solidFill>
          <a:ln>
            <a:noFill/>
          </a:ln>
        </p:spPr>
      </p:sp>
      <p:sp>
        <p:nvSpPr>
          <p:cNvPr id="43" name="Text1"/>
          <p:cNvSpPr/>
          <p:nvPr/>
        </p:nvSpPr>
        <p:spPr>
          <a:xfrm>
            <a:off x="800000" y="1340000"/>
            <a:ext cx="2510000" cy="1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dirty="0">
                <a:solidFill>
                  <a:srgbClr val="1E293B"/>
                </a:solidFill>
                <a:latin typeface="Times New Roman" panose="02020603050405020304" pitchFamily="18" charset="0"/>
              </a:rPr>
              <a:t>🧬 Génériques &lt;T&gt;</a:t>
            </a:r>
          </a:p>
          <a:p>
            <a:pPr marL="0" indent="0">
              <a:buNone/>
            </a:pPr>
            <a:r>
              <a:rPr lang="fr-CA" sz="1200" dirty="0">
                <a:solidFill>
                  <a:srgbClr val="475569"/>
                </a:solidFill>
                <a:latin typeface="Times New Roman" panose="02020603050405020304" pitchFamily="18" charset="0"/>
              </a:rPr>
              <a:t>Sécurité à la compilation, fin des casts manuels. Un seul code réutilisable pour tous les types.</a:t>
            </a:r>
          </a:p>
        </p:txBody>
      </p:sp>
      <p:sp>
        <p:nvSpPr>
          <p:cNvPr id="44" name="Box2"/>
          <p:cNvSpPr/>
          <p:nvPr/>
        </p:nvSpPr>
        <p:spPr>
          <a:xfrm>
            <a:off x="3527500" y="1240000"/>
            <a:ext cx="2680000" cy="1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</p:sp>
      <p:sp>
        <p:nvSpPr>
          <p:cNvPr id="45" name="Bar2"/>
          <p:cNvSpPr/>
          <p:nvPr/>
        </p:nvSpPr>
        <p:spPr>
          <a:xfrm>
            <a:off x="3527500" y="1240000"/>
            <a:ext cx="2680000" cy="5500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46" name="Text2"/>
          <p:cNvSpPr/>
          <p:nvPr/>
        </p:nvSpPr>
        <p:spPr>
          <a:xfrm>
            <a:off x="3612500" y="1340000"/>
            <a:ext cx="2510000" cy="1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dirty="0">
                <a:solidFill>
                  <a:srgbClr val="1E293B"/>
                </a:solidFill>
                <a:latin typeface="Times New Roman" panose="02020603050405020304" pitchFamily="18" charset="0"/>
              </a:rPr>
              <a:t>📦 Collections JCF</a:t>
            </a:r>
          </a:p>
          <a:p>
            <a:pPr marL="0" indent="0">
              <a:buNone/>
            </a:pPr>
            <a:r>
              <a:rPr lang="fr-CA" sz="1200" dirty="0">
                <a:solidFill>
                  <a:srgbClr val="475569"/>
                </a:solidFill>
                <a:latin typeface="Times New Roman" panose="02020603050405020304" pitchFamily="18" charset="0"/>
              </a:rPr>
              <a:t>List, Set, Map, Queue : chaque structure a son usage. Taille dynamique, méthodes intégrées.</a:t>
            </a:r>
          </a:p>
        </p:txBody>
      </p:sp>
      <p:sp>
        <p:nvSpPr>
          <p:cNvPr id="47" name="Box3"/>
          <p:cNvSpPr/>
          <p:nvPr/>
        </p:nvSpPr>
        <p:spPr>
          <a:xfrm>
            <a:off x="6340000" y="1240000"/>
            <a:ext cx="2680000" cy="1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</p:sp>
      <p:sp>
        <p:nvSpPr>
          <p:cNvPr id="48" name="Bar3"/>
          <p:cNvSpPr/>
          <p:nvPr/>
        </p:nvSpPr>
        <p:spPr>
          <a:xfrm>
            <a:off x="6340000" y="1240000"/>
            <a:ext cx="2680000" cy="550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49" name="Text3"/>
          <p:cNvSpPr/>
          <p:nvPr/>
        </p:nvSpPr>
        <p:spPr>
          <a:xfrm>
            <a:off x="6425000" y="1340000"/>
            <a:ext cx="2510000" cy="1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dirty="0">
                <a:solidFill>
                  <a:srgbClr val="1E293B"/>
                </a:solidFill>
                <a:latin typeface="Times New Roman" panose="02020603050405020304" pitchFamily="18" charset="0"/>
              </a:rPr>
              <a:t>λ Lambda &amp; Streams</a:t>
            </a:r>
          </a:p>
          <a:p>
            <a:pPr marL="0" indent="0">
              <a:buNone/>
            </a:pPr>
            <a:r>
              <a:rPr lang="fr-CA" sz="1200" dirty="0">
                <a:solidFill>
                  <a:srgbClr val="475569"/>
                </a:solidFill>
                <a:latin typeface="Times New Roman" panose="02020603050405020304" pitchFamily="18" charset="0"/>
              </a:rPr>
              <a:t>Code fonctionnel, concis et expressif. Pipeline filter → map → collect sur toute collection.</a:t>
            </a:r>
          </a:p>
        </p:txBody>
      </p:sp>
      <p:sp>
        <p:nvSpPr>
          <p:cNvPr id="50" name="Box4"/>
          <p:cNvSpPr/>
          <p:nvPr/>
        </p:nvSpPr>
        <p:spPr>
          <a:xfrm>
            <a:off x="715424" y="2880000"/>
            <a:ext cx="2680000" cy="1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</p:sp>
      <p:sp>
        <p:nvSpPr>
          <p:cNvPr id="51" name="Bar4"/>
          <p:cNvSpPr/>
          <p:nvPr/>
        </p:nvSpPr>
        <p:spPr>
          <a:xfrm>
            <a:off x="715424" y="2880000"/>
            <a:ext cx="2680000" cy="5500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52" name="Text4"/>
          <p:cNvSpPr/>
          <p:nvPr/>
        </p:nvSpPr>
        <p:spPr>
          <a:xfrm>
            <a:off x="800000" y="2980000"/>
            <a:ext cx="2510000" cy="1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dirty="0">
                <a:solidFill>
                  <a:srgbClr val="1E293B"/>
                </a:solidFill>
                <a:latin typeface="Times New Roman" panose="02020603050405020304" pitchFamily="18" charset="0"/>
              </a:rPr>
              <a:t>🏛 Interfaces &amp; Abstraites</a:t>
            </a:r>
          </a:p>
          <a:p>
            <a:pPr marL="0" indent="0">
              <a:buNone/>
            </a:pPr>
            <a:r>
              <a:rPr lang="fr-CA" sz="1200" dirty="0">
                <a:solidFill>
                  <a:srgbClr val="475569"/>
                </a:solidFill>
                <a:latin typeface="Times New Roman" panose="02020603050405020304" pitchFamily="18" charset="0"/>
              </a:rPr>
              <a:t>Les interfaces fonctionnelles donnent vie aux lambdas. Méthodes default : évolution sans casser l’existant.</a:t>
            </a:r>
          </a:p>
        </p:txBody>
      </p:sp>
      <p:sp>
        <p:nvSpPr>
          <p:cNvPr id="53" name="Box5"/>
          <p:cNvSpPr/>
          <p:nvPr/>
        </p:nvSpPr>
        <p:spPr>
          <a:xfrm>
            <a:off x="3527500" y="2880000"/>
            <a:ext cx="2680000" cy="1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</p:sp>
      <p:sp>
        <p:nvSpPr>
          <p:cNvPr id="54" name="Bar5"/>
          <p:cNvSpPr/>
          <p:nvPr/>
        </p:nvSpPr>
        <p:spPr>
          <a:xfrm>
            <a:off x="3527500" y="2880000"/>
            <a:ext cx="2680000" cy="5500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55" name="Text5"/>
          <p:cNvSpPr/>
          <p:nvPr/>
        </p:nvSpPr>
        <p:spPr>
          <a:xfrm>
            <a:off x="3612500" y="2980000"/>
            <a:ext cx="2510000" cy="1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dirty="0">
                <a:solidFill>
                  <a:srgbClr val="1E293B"/>
                </a:solidFill>
                <a:latin typeface="Times New Roman" panose="02020603050405020304" pitchFamily="18" charset="0"/>
              </a:rPr>
              <a:t>🏠 Classes Internes &amp; Anonymes</a:t>
            </a:r>
          </a:p>
          <a:p>
            <a:pPr marL="0" indent="0">
              <a:buNone/>
            </a:pPr>
            <a:r>
              <a:rPr lang="fr-CA" sz="1200" dirty="0">
                <a:solidFill>
                  <a:srgbClr val="475569"/>
                </a:solidFill>
                <a:latin typeface="Times New Roman" panose="02020603050405020304" pitchFamily="18" charset="0"/>
              </a:rPr>
              <a:t>Encapsulation forte, accès privilégié aux membres. Les classes anonymes ont évolué vers les lambdas.</a:t>
            </a:r>
          </a:p>
        </p:txBody>
      </p:sp>
      <p:sp>
        <p:nvSpPr>
          <p:cNvPr id="56" name="SyntheseBg"/>
          <p:cNvSpPr/>
          <p:nvPr/>
        </p:nvSpPr>
        <p:spPr>
          <a:xfrm>
            <a:off x="715424" y="4520000"/>
            <a:ext cx="8350000" cy="13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</p:sp>
      <p:sp>
        <p:nvSpPr>
          <p:cNvPr id="57" name="SyntheseText"/>
          <p:cNvSpPr/>
          <p:nvPr/>
        </p:nvSpPr>
        <p:spPr>
          <a:xfrm>
            <a:off x="900000" y="4570000"/>
            <a:ext cx="79800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marL="0" indent="0">
              <a:buNone/>
            </a:pPr>
            <a:r>
              <a:rPr lang="fr-CA" sz="1300" b="1" dirty="0">
                <a:solidFill>
                  <a:srgbClr val="86EFAC"/>
                </a:solidFill>
                <a:latin typeface="Times New Roman" panose="02020603050405020304" pitchFamily="18" charset="0"/>
              </a:rPr>
              <a:t xml:space="preserve">💡  En résumé : </a:t>
            </a:r>
            <a:r>
              <a:rPr lang="fr-CA" sz="1300" dirty="0">
                <a:solidFill>
                  <a:srgbClr val="CBD5E1"/>
                </a:solidFill>
                <a:latin typeface="Times New Roman" panose="02020603050405020304" pitchFamily="18" charset="0"/>
              </a:rPr>
              <a:t>Génériques → sécurisent les types  |  Collections → organisent les données  |  Lambdas &amp; Streams → traitent élégamment  |  Classes internes → structurent la logique</a:t>
            </a:r>
          </a:p>
          <a:p>
            <a:pPr algn="ctr" marL="0" indent="0">
              <a:buNone/>
            </a:pPr>
            <a:r>
              <a:rPr lang="fr-CA" sz="1200" dirty="0">
                <a:solidFill>
                  <a:srgbClr val="94A3B8"/>
                </a:solidFill>
                <a:latin typeface="Times New Roman" panose="02020603050405020304" pitchFamily="18" charset="0"/>
              </a:rPr>
              <a:t>Ensemble, ces concepts forment la base du Java moderne utilisé en entreprise.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7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 xml:space="preserve"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14979</TotalTime>
  <Words>2195</Words>
  <Application>Microsoft Office PowerPoint</Application>
  <PresentationFormat>On-screen Show (4:3)</PresentationFormat>
  <Paragraphs>427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MS PGothic</vt:lpstr>
      <vt:lpstr>Arial</vt:lpstr>
      <vt:lpstr>Arial Narrow</vt:lpstr>
      <vt:lpstr>Calibri</vt:lpstr>
      <vt:lpstr>Consolas</vt:lpstr>
      <vt:lpstr>Times New Roman</vt:lpstr>
      <vt:lpstr>Trebuchet MS</vt:lpstr>
      <vt:lpstr>Wingdings</vt:lpstr>
      <vt:lpstr>Section OIM</vt:lpstr>
      <vt:lpstr>THEME: Génériques et Collections (1)</vt:lpstr>
      <vt:lpstr>SOMMAIRE</vt:lpstr>
      <vt:lpstr>I. INTRODUCTION</vt:lpstr>
      <vt:lpstr>I. INTRODUCTION</vt:lpstr>
      <vt:lpstr>II. Générique (Syntaxe de base) </vt:lpstr>
      <vt:lpstr>II. Générique (Syntaxe de base) </vt:lpstr>
      <vt:lpstr>II. Générique (Syntaxe de base) </vt:lpstr>
      <vt:lpstr>III. Collection</vt:lpstr>
      <vt:lpstr>III.1. Hierachie des collections</vt:lpstr>
      <vt:lpstr>III.1. Hierachie des collections</vt:lpstr>
      <vt:lpstr>PowerPoint Presentation</vt:lpstr>
      <vt:lpstr>IV. λ  Expressions Lambda</vt:lpstr>
      <vt:lpstr>IV. 1. λ  Syntaxe Lambda — Formes &amp; Interfaces Fonctionnelles</vt:lpstr>
      <vt:lpstr>IV. 2. Stream API — Pipeline de Données</vt:lpstr>
      <vt:lpstr>IV. 2.  Stream API — Pipeline de Données</vt:lpstr>
      <vt:lpstr>V. INNER CLASSE (CLASSE INTERN)</vt:lpstr>
      <vt:lpstr>V. INNER CLASSE (CLASSE INTERN)</vt:lpstr>
      <vt:lpstr>V. INNER CLASSE (CLASSE INTERN)</vt:lpstr>
      <vt:lpstr>VI. Anonymos Class</vt:lpstr>
      <vt:lpstr>VI. Anonymos Class</vt:lpstr>
      <vt:lpstr>VII. Conclusion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739</cp:revision>
  <dcterms:created xsi:type="dcterms:W3CDTF">2010-02-03T20:06:36Z</dcterms:created>
  <dcterms:modified xsi:type="dcterms:W3CDTF">2026-04-23T18:41:50Z</dcterms:modified>
</cp:coreProperties>
</file>