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E9456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oval">
            <a:avLst/>
          </a:prstGeom>
          <a:solidFill>
            <a:srgbClr val="53348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 Patterns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8046720" cy="22860"/>
          </a:xfrm>
          <a:prstGeom prst="rect">
            <a:avLst/>
          </a:prstGeom>
          <a:solidFill>
            <a:srgbClr val="8892A4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8  —  Architecture Logicielle &amp; Développement Web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651760" cy="384048"/>
          </a:xfrm>
          <a:prstGeom prst="rect">
            <a:avLst/>
          </a:prstGeom>
          <a:solidFill>
            <a:srgbClr val="E9456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Typologie Services Web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657600"/>
            <a:ext cx="2651760" cy="384048"/>
          </a:xfrm>
          <a:prstGeom prst="rect">
            <a:avLst/>
          </a:prstGeom>
          <a:solidFill>
            <a:srgbClr val="53348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Marshalling / Unmarshalling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2651760" cy="384048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 avec Spring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2651760" cy="384048"/>
          </a:xfrm>
          <a:prstGeom prst="rect">
            <a:avLst/>
          </a:prstGeom>
          <a:solidFill>
            <a:srgbClr val="E9456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206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Jersey &amp; CXF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206240"/>
            <a:ext cx="2651760" cy="384048"/>
          </a:xfrm>
          <a:prstGeom prst="rect">
            <a:avLst/>
          </a:prstGeom>
          <a:solidFill>
            <a:srgbClr val="53348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4206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Consommation Services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2651760" cy="384048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4206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 Patterns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Qu'est-ce qu'un service web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517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Définition, contexte, histoire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64008" cy="77724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97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3483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68112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Typologies des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68112" y="15179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REST, SOAP, GraphQL, gRPC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57400"/>
            <a:ext cx="64008" cy="777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057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130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Marshalling / Unmarshalling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2478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Jackson, JAXB, Gson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05740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057400"/>
            <a:ext cx="64008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057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68112" y="2130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Exposer des endpoints REST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68112" y="2478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Spring MVC, Jersey, Apache CXF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175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17520"/>
            <a:ext cx="6400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017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6112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Consommer des services web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RestTemplate, WebClient, HttpClient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017520"/>
            <a:ext cx="64008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017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68112" y="3090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Design Patterns — Définition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68112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Pourquoi, histoire GoF, catégories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977640"/>
            <a:ext cx="64008" cy="77724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977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33483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6112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Exemples de patterns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" y="4398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Singleton, Factory, Observer, Strategy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977640"/>
            <a:ext cx="4160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977640"/>
            <a:ext cx="64008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977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68112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Travaux Pratiques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68112" y="4398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API REST + Design Patterns en Java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Web 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· Contexte · Pourquoi l'utiliser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— Définition : Service Web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73152" cy="14173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📖  Définition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Un service web est un composant logiciel accessible via le réseau (généralement Internet) grâce au protocole HTTP. Il permet à deux applications — écrites dans des langages différents, sur des machines différentes — de communiquer et échanger des données de façon standardisée.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542032"/>
            <a:ext cx="73152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  Pourquoi c'est utile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Interopérabilité : Java parle à Python, Node.js à PHP...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Réutilisabilité : un service = plusieurs clients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Scalabilité : déployer indépendamment chaque service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Standardisation : JSON, XML, HTTP sont universels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542032"/>
            <a:ext cx="73152" cy="1417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💡  Analogie simple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C'est comme un distributeur automatique : peu importe ta nationalité ou ta langue, tu insères une pièce (requête HTTP), tu appuies sur un bouton (URL + méthode), et tu reçois ton produit (réponse JSON/XML).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 modèle Client-Serveur — principe de base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Client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(navigateur, app mobile)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130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CCCCC"/>
                </a:solidFill>
              </a:rPr>
              <a:t>Envoie une requête HTTP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2011680" cy="10972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(API REST, Spring Boot)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2130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CCCCC"/>
                </a:solidFill>
              </a:rPr>
              <a:t>Traite et répond en JSON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2011680" cy="1097280"/>
          </a:xfrm>
          <a:prstGeom prst="rect">
            <a:avLst/>
          </a:prstGeom>
          <a:solidFill>
            <a:srgbClr val="53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 de données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(MySQL, PostgreSQL)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66560" y="2130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CCCCC"/>
                </a:solidFill>
              </a:rPr>
              <a:t>Stocke les données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2316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GET /api/users 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231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4560"/>
                </a:solidFill>
              </a:rPr>
              <a:t>← 200 OK {JSON}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0" y="16002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SQL Query  →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0" y="19202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4560"/>
                </a:solidFill>
              </a:rPr>
              <a:t>← ResultSet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84124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60320"/>
            <a:ext cx="64008" cy="2331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060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Exemple concret — Application mobile de livraison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2999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1️⃣  Tu ouvres l'app et tu cherches des restaurants → le client envoie GET /api/restaurants?ville=Abidjan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43814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2️⃣  Le serveur Spring Boot reçoit la requête, interroge la BD, et renvoie une liste JSON de restaurants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87705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3️⃣  Tu commandes → POST /api/commandes avec {restaurant:"X", plat:"Y", adresse:"Z"}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4️⃣  Le serveur enregistre en BD, déclenche une notification au livreur, retourne 201 Created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Typologies des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Web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SOAP · GraphQL · gRPC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Les 3 grands styles de services web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83464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🌐  REST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109728" cy="109728"/>
          </a:xfrm>
          <a:prstGeom prst="oval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URL identifie une ressource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2258568"/>
            <a:ext cx="109728" cy="109728"/>
          </a:xfrm>
          <a:prstGeom prst="oval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21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Verbes HTTP : GET, POST, PUT, DELETE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2852928"/>
            <a:ext cx="109728" cy="109728"/>
          </a:xfrm>
          <a:prstGeom prst="oval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16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Réponse en JSON ou XML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109728" cy="109728"/>
          </a:xfrm>
          <a:prstGeom prst="oval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10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Stateless — sans état serveur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4041648"/>
            <a:ext cx="109728" cy="109728"/>
          </a:xfrm>
          <a:prstGeom prst="oval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Exemple : API GitHub, Twitter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72968" y="1005840"/>
            <a:ext cx="2834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05840"/>
            <a:ext cx="2834640" cy="50292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9" name="Text 17"/>
          <p:cNvSpPr/>
          <p:nvPr/>
        </p:nvSpPr>
        <p:spPr>
          <a:xfrm>
            <a:off x="3264408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📦  SOAP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82696" y="1664208"/>
            <a:ext cx="109728" cy="109728"/>
          </a:xfrm>
          <a:prstGeom prst="oval">
            <a:avLst/>
          </a:prstGeom>
          <a:solidFill>
            <a:srgbClr val="533483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Messages XML enveloppe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2258568"/>
            <a:ext cx="109728" cy="109728"/>
          </a:xfrm>
          <a:prstGeom prst="oval">
            <a:avLst/>
          </a:prstGeom>
          <a:solidFill>
            <a:srgbClr val="533483"/>
          </a:solidFill>
          <a:ln/>
        </p:spPr>
      </p:sp>
      <p:sp>
        <p:nvSpPr>
          <p:cNvPr id="23" name="Text 21"/>
          <p:cNvSpPr/>
          <p:nvPr/>
        </p:nvSpPr>
        <p:spPr>
          <a:xfrm>
            <a:off x="3447288" y="2221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Protocole strict (WSDL)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82696" y="2852928"/>
            <a:ext cx="109728" cy="109728"/>
          </a:xfrm>
          <a:prstGeom prst="oval">
            <a:avLst/>
          </a:prstGeom>
          <a:solidFill>
            <a:srgbClr val="53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2816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Transport HTTP/SMTP/TCP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82696" y="3447288"/>
            <a:ext cx="109728" cy="109728"/>
          </a:xfrm>
          <a:prstGeom prst="oval">
            <a:avLst/>
          </a:prstGeom>
          <a:solidFill>
            <a:srgbClr val="533483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3410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Sécurité WS-Security intégrée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82696" y="4041648"/>
            <a:ext cx="109728" cy="109728"/>
          </a:xfrm>
          <a:prstGeom prst="oval">
            <a:avLst/>
          </a:prstGeom>
          <a:solidFill>
            <a:srgbClr val="533483"/>
          </a:solidFill>
          <a:ln/>
        </p:spPr>
      </p:sp>
      <p:sp>
        <p:nvSpPr>
          <p:cNvPr id="29" name="Text 27"/>
          <p:cNvSpPr/>
          <p:nvPr/>
        </p:nvSpPr>
        <p:spPr>
          <a:xfrm>
            <a:off x="3447288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Exemple : API bancaires, gouvernement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1005840"/>
            <a:ext cx="2834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1005840"/>
            <a:ext cx="2834640" cy="502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 GraphQL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72784" y="1664208"/>
            <a:ext cx="109728" cy="109728"/>
          </a:xfrm>
          <a:prstGeom prst="oval">
            <a:avLst/>
          </a:prstGeom>
          <a:solidFill>
            <a:srgbClr val="0F3460"/>
          </a:solidFill>
          <a:ln/>
        </p:spPr>
      </p:sp>
      <p:sp>
        <p:nvSpPr>
          <p:cNvPr id="34" name="Text 32"/>
          <p:cNvSpPr/>
          <p:nvPr/>
        </p:nvSpPr>
        <p:spPr>
          <a:xfrm>
            <a:off x="6437376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Une seule URL point d'entrée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72784" y="2258568"/>
            <a:ext cx="109728" cy="109728"/>
          </a:xfrm>
          <a:prstGeom prst="oval">
            <a:avLst/>
          </a:prstGeom>
          <a:solidFill>
            <a:srgbClr val="0F3460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2221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Le client choisit les champs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72784" y="2852928"/>
            <a:ext cx="109728" cy="109728"/>
          </a:xfrm>
          <a:prstGeom prst="oval">
            <a:avLst/>
          </a:prstGeom>
          <a:solidFill>
            <a:srgbClr val="0F3460"/>
          </a:solidFill>
          <a:ln/>
        </p:spPr>
      </p:sp>
      <p:sp>
        <p:nvSpPr>
          <p:cNvPr id="38" name="Text 36"/>
          <p:cNvSpPr/>
          <p:nvPr/>
        </p:nvSpPr>
        <p:spPr>
          <a:xfrm>
            <a:off x="6437376" y="2816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Mutations = écriture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72784" y="3447288"/>
            <a:ext cx="109728" cy="109728"/>
          </a:xfrm>
          <a:prstGeom prst="oval">
            <a:avLst/>
          </a:prstGeom>
          <a:solidFill>
            <a:srgbClr val="0F3460"/>
          </a:solidFill>
          <a:ln/>
        </p:spPr>
      </p:sp>
      <p:sp>
        <p:nvSpPr>
          <p:cNvPr id="40" name="Text 38"/>
          <p:cNvSpPr/>
          <p:nvPr/>
        </p:nvSpPr>
        <p:spPr>
          <a:xfrm>
            <a:off x="6437376" y="3410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Subscriptions = temps réel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72784" y="4041648"/>
            <a:ext cx="109728" cy="109728"/>
          </a:xfrm>
          <a:prstGeom prst="oval">
            <a:avLst/>
          </a:prstGeom>
          <a:solidFill>
            <a:srgbClr val="0F3460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Exemple : GitHub v4, Shopify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Marshalling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Unmarshalling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Sérialiser et désérialiser des données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— Définition : Marshalling &amp; Unmarshalling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73152" cy="1417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📖  Définition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Le Marshalling (sérialisation) est la conversion d'un objet Java en un format transmissible sur le réseau (JSON, XML). L'Unmarshalling (désérialisation) est l'opération inverse : transformer ce texte JSON/XML reçu en un objet Java exploitable par le programme.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542032"/>
            <a:ext cx="73152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  Pourquoi c'est utile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Indispensable pour toute communication réseau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Les APIs REST échangent du JSON → les objets Java doivent être convertis automatiquement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Évite d'écrire manuellement le parsing chaîne par chaîne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Bibliothèques : Jackson (Spring), JAXB (XML), Gson (Google)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542032"/>
            <a:ext cx="73152" cy="1417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💡  Analogie simple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Comme envoyer un meuble IKEA : tu démontes (marshalling) pour mettre dans la boîte, et le destinataire remonte les pièces (unmarshalling) pour avoir exactement le même meuble qu'au départ.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Jackson — Sérialisation JSON (le plus utilisé en Java)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34747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Annotations clés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Marshalling : Objet Java → JSON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Unmarshalling : JSON → Objet Java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Annotations utiles 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@JsonProperty → renommer un champ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@JsonIgnore → ignorer un champ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@JsonSerialize → format custom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Auto-détection via getters/setters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Gère listes, dates, null...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0" y="1005840"/>
            <a:ext cx="5120640" cy="3931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0" y="1097280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4059936" y="1097280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4187952" y="1097280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3950208" y="1261872"/>
            <a:ext cx="491947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Classe Java (modèle)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Utilisateur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@JsonProperty("nom_complet")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nomComplet;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@JsonIgnore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motDePasse;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age;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getters/setters...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Marshalling : Objet → JSON ──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ObjectMapper mapper = new ObjectMapper();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Utilisateur u = new Utilisateur("Alice", 30);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mapper.writeValueAsString(u);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Résultat : {"nom_complet":"Alice","age":30}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Unmarshalling : JSON → Objet ──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recu = "{"nom_complet":"Bob","age":25}";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Utilisateur bob = mapper.readValue(recu, Utilisateur.class);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System.out.println(bob.getNomComplet()); // Bob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des endpoints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· Jersey · Apache CXF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— Définition : Endpoint RESTful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73152" cy="1417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📖  Définition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Un endpoint (point de terminaison) est une URL précise sur laquelle un service web écoute et répond à des requêtes. "Exposer un endpoint" signifie rendre une fonctionnalité de ton application accessible via une URL HTTP. Ex : GET /api/produits expose la liste des produits.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542032"/>
            <a:ext cx="73152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  Pourquoi c'est utile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Sépare la logique métier de l'interface utilisateur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Permet à n'importe quel client (web, mobile, autre serveur) de consommer le service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Convention REST : URL = ressource, méthode HTTP = action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Spring simplifie l'exposition via des annotations Java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542032"/>
            <a:ext cx="73152" cy="1417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💡  Analogie simple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C'est comme créer des portes dans ton bâtiment : chaque porte (endpoint) mène à une pièce spécifique (ressource). GET = ouvrir la porte et regarder, POST = déposer quelque chose, DELETE = enlever quelque chose.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Contrôleur Spring REST — @RestController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32004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</a:rPr>
              <a:t>Annotations clés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0020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Déclare un contrôleur REST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020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Mapping URL de base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579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0200" y="21579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GET /ressource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05456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00200" y="2505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POST /ressource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@PutMapping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00200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PUT /ressource/{id}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DELETE /ressource/{id}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00200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Extrait {id} de l'URL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895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00200" y="38953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Corps JSON → Objet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242816"/>
            <a:ext cx="1280160" cy="2743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242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00200" y="4242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Paramètre ?page=1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1005840"/>
            <a:ext cx="5440680" cy="3931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11880" y="1097280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35" name="Shape 33"/>
          <p:cNvSpPr/>
          <p:nvPr/>
        </p:nvSpPr>
        <p:spPr>
          <a:xfrm>
            <a:off x="3739896" y="1097280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36" name="Shape 34"/>
          <p:cNvSpPr/>
          <p:nvPr/>
        </p:nvSpPr>
        <p:spPr>
          <a:xfrm>
            <a:off x="3867912" y="1097280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1261872"/>
            <a:ext cx="525780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@RequestMapping("/api/users")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UserController {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UserService userService;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 /api/users → liste complète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List&lt;User&gt; getAll()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userService.findAll();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 /api/users/42 → un utilisateur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@GetMapping("/{id}")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ResponseEntity&lt;User&gt; getById(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@PathVariable Long id)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userService.findById(id)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.map(ResponseEntity::ok)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.orElse(ResponseEntity.notFound().build());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POST /api/users → créer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@PostMapping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@ResponseStatus(HttpStatus.CREATED)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User create(@RequestBody User user)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userService.save(user);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Jersey &amp; Apache CXF — Alternatives à Spring MVC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5196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251960" cy="4114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🔷  Jersey (JAX-RS — implémentation de référence)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</a:rPr>
              <a:t>Implémentation officielle JAX-RS, standard Java EE. Utilisé hors Spring.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069080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" y="1920240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920240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84832"/>
            <a:ext cx="386791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@Path("/produits")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ProduitResource {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@Produces(MediaType.APPLICATION_JSON)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List&lt;Produit&gt; getAll()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service.findAll();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@Consumes(MediaType.APPLICATION_JSON)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 create(Produit p)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service.save(p);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Response.status(201).build();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25196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05840"/>
            <a:ext cx="425196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0058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Apache CXF (SOAP + REST)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A4"/>
                </a:solidFill>
              </a:rPr>
              <a:t>Framework Apache, supporte SOAP et REST. Très utilisé en entreprise.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1828800"/>
            <a:ext cx="4069080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920240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0056" y="1920240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148072" y="1920240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2084832"/>
            <a:ext cx="386791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@WebService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CommandeService {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@WebMethod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passerCommande(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produit, int quantite)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Logique métier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"Commande #" + genId();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 Spring Boot + CXF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Endpoint endpoint()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EndpointImpl(bus,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CommandeService());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05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Consommer des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Web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une API depuis Java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— Définition : Consommer un service web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73152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📖  Définition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Consommer un service web signifie envoyer une requête HTTP depuis ton application vers une API externe (ou interne) pour récupérer ou envoyer des données. C'est l'inverse d'exposer : au lieu de répondre aux requêtes, tu en envoies.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542032"/>
            <a:ext cx="73152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  Pourquoi c'est utile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Intégrer des APIs tierces : météo, paiement (Stripe), SMS...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Communication entre microservices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Récupérer des données en temps réel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Automatiser des interactions entre systèmes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Java offre plusieurs outils : RestTemplate, WebClient, HttpClient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542032"/>
            <a:ext cx="73152" cy="1417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💡  Analogie simple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Comme passer une commande au restaurant : tu (le client) envoies ta commande (requête HTTP GET/POST) au serveur (API), qui revient avec ton plat (réponse JSON). Tu n'as pas à savoir comment la cuisine fonctionne en interne.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Consommer un service REST depuis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20624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RestTemplate (Spring, synchrone — simple)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023360" cy="126187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" y="1536192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536192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700784"/>
            <a:ext cx="38221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RestTemplate rt = new RestTemplate();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u = rt.getForObject(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"https://api.exemple.com/users/1",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User.class);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System.out.println(u.getNom());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20624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WebClient (Spring, réactif / asynchrone)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444752"/>
            <a:ext cx="4023360" cy="126187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536192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065776" y="1536192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193792" y="1536192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1700784"/>
            <a:ext cx="38221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WebClient client = WebClient.create();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Mono&lt;User&gt; user = client.get()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.uri("https://api.exemple.com/users/1")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.retrieve()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.bodyToMono(User.class);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user.subscribe(u -&gt; log(u.getNom()));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971800"/>
            <a:ext cx="8778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971800"/>
            <a:ext cx="8778240" cy="36576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9718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HttpClient (Java 11 natif — sans framework)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401568"/>
            <a:ext cx="8595360" cy="138988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493008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" y="3493008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3493008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657600"/>
            <a:ext cx="8394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 client = HttpClient.newHttpClient();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request = HttpRequest.newBuilder()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.uri(URI.create("https://api.exemple.com/users/1"))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.header("Accept", "application/json")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HttpResponse&lt;String&gt; response = client.send(request, HttpResponse.BodyHandlers.ofString());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System.out.println(response.body()); // {"id":1,"nom":"Alice"...}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06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Définition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c'est · Histoire GoF · Pourquoi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— Définition : Design Pattern (Patron de conception)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73152" cy="141732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3483"/>
                </a:solidFill>
              </a:rPr>
              <a:t>📖  Définition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Un Design Pattern est une solution générique et réutilisable à un problème de conception logicielle récurrent. Ce n'est pas du code prêt à copier-coller, mais une "recette" décrivant comment structurer ses classes pour résoudre efficacement un type de problème courant.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542032"/>
            <a:ext cx="73152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✅  Pourquoi c'est utile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Éviter de réinventer la roue à chaque projet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Solutions éprouvées par des milliers de développeurs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Vocabulaire commun entre développeurs ("utilise un Singleton ici")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Code plus maintenable, extensible et compréhensible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Base de la conception orientée objet de qualité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542032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542032"/>
            <a:ext cx="73152" cy="1417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💡  Analogie simple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Comme des recettes de cuisine : tu n'inventes pas la béchamel à chaque fois. La recette existe, elle est éprouvée. Tu l'adaptes à ton plat (contexte) mais tu suis les grandes étapes (pattern).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Les 3 grandes familles — Gang of Four (GoF, 1994)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8778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64008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📚  Origine : En 1994, quatre ingénieurs ("Gang of Four") ont publié le livre "Design Patterns: Elements of Reusable Object-Oriented Software" qui catalogue 23 patterns fondamentaux. Ces patterns sont toujours la référence mondiale aujourd'hui.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901952"/>
            <a:ext cx="283464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901952"/>
            <a:ext cx="2834640" cy="5303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01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🏗  Créateurs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2311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DDDDD"/>
                </a:solidFill>
              </a:rPr>
              <a:t>Comment créer des objets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2496312"/>
            <a:ext cx="54864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Singleton — 1 seule instance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2953512"/>
            <a:ext cx="54864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26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Factory Method — déléguer la création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3410712"/>
            <a:ext cx="54864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383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Abstract Factory — familles d'objets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3867912"/>
            <a:ext cx="54864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Builder — construction étape par étape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4325112"/>
            <a:ext cx="54864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Prototype — cloner des objets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1901952"/>
            <a:ext cx="283464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1901952"/>
            <a:ext cx="2834640" cy="530352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3" name="Text 21"/>
          <p:cNvSpPr/>
          <p:nvPr/>
        </p:nvSpPr>
        <p:spPr>
          <a:xfrm>
            <a:off x="3264408" y="1901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🔧  Structurels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64408" y="22311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DDDDD"/>
                </a:solidFill>
              </a:rPr>
              <a:t>Comment assembler les classes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82696" y="2496312"/>
            <a:ext cx="54864" cy="2011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Adapter — interface compatible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82696" y="2953512"/>
            <a:ext cx="54864" cy="2011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8" name="Text 26"/>
          <p:cNvSpPr/>
          <p:nvPr/>
        </p:nvSpPr>
        <p:spPr>
          <a:xfrm>
            <a:off x="3401568" y="2926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Decorator — ajouter des comportements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82696" y="3410712"/>
            <a:ext cx="54864" cy="2011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0" name="Text 28"/>
          <p:cNvSpPr/>
          <p:nvPr/>
        </p:nvSpPr>
        <p:spPr>
          <a:xfrm>
            <a:off x="3401568" y="3383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Facade — simplifier une interface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82696" y="3867912"/>
            <a:ext cx="54864" cy="2011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2" name="Text 30"/>
          <p:cNvSpPr/>
          <p:nvPr/>
        </p:nvSpPr>
        <p:spPr>
          <a:xfrm>
            <a:off x="3401568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Composite — arborescence d'objets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82696" y="4325112"/>
            <a:ext cx="54864" cy="2011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4" name="Text 32"/>
          <p:cNvSpPr/>
          <p:nvPr/>
        </p:nvSpPr>
        <p:spPr>
          <a:xfrm>
            <a:off x="3401568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Proxy — accès contrôlé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63056" y="1901952"/>
            <a:ext cx="283464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1901952"/>
            <a:ext cx="2834640" cy="53035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7" name="Text 35"/>
          <p:cNvSpPr/>
          <p:nvPr/>
        </p:nvSpPr>
        <p:spPr>
          <a:xfrm>
            <a:off x="6254496" y="19019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 Comportementaux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54496" y="22311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DDDDD"/>
                </a:solidFill>
              </a:rPr>
              <a:t>Comment les objets communiquent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72784" y="2496312"/>
            <a:ext cx="54864" cy="2011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0" name="Text 38"/>
          <p:cNvSpPr/>
          <p:nvPr/>
        </p:nvSpPr>
        <p:spPr>
          <a:xfrm>
            <a:off x="6391656" y="2468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Observer — notifier des abonnés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72784" y="2953512"/>
            <a:ext cx="54864" cy="2011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2" name="Text 40"/>
          <p:cNvSpPr/>
          <p:nvPr/>
        </p:nvSpPr>
        <p:spPr>
          <a:xfrm>
            <a:off x="6391656" y="2926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Strategy — algorithme interchangeable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72784" y="3410712"/>
            <a:ext cx="54864" cy="2011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4" name="Text 42"/>
          <p:cNvSpPr/>
          <p:nvPr/>
        </p:nvSpPr>
        <p:spPr>
          <a:xfrm>
            <a:off x="6391656" y="3383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Command — encapsuler une action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72784" y="3867912"/>
            <a:ext cx="54864" cy="2011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6" name="Text 44"/>
          <p:cNvSpPr/>
          <p:nvPr/>
        </p:nvSpPr>
        <p:spPr>
          <a:xfrm>
            <a:off x="6391656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Iterator — parcourir une collection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72784" y="4325112"/>
            <a:ext cx="54864" cy="2011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8" name="Text 46"/>
          <p:cNvSpPr/>
          <p:nvPr/>
        </p:nvSpPr>
        <p:spPr>
          <a:xfrm>
            <a:off x="6391656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Template Method — squelette d'algo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07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concrets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Patterns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· Factory · Observer · Strategy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Pattern Singleton &amp; Factory Method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062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206240" cy="38404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🔒 Singleton — 1 seule instance globale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</a:rPr>
              <a:t>Cas d'usage : connexion BD, logger, config partagée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4023360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47088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" y="1847088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847088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11680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DatabaseConnection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volatile pour thread-safety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volatile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DatabaseConnection instance;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Connection conn;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DatabaseConnection()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DriverManager.getConnection(URL);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DatabaseConnection getInstance()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(instance == null)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synchronized (DatabaseConnection.class)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(instance == null)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instance = new DatabaseConnection();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instance;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 — toujours le même objet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DatabaseConnection db =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DatabaseConnection.getInstance();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2062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20624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🏭 Factory Method — déléguer la création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</a:rPr>
              <a:t>Cas d'usage : créer des paiements, des rapports...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755648"/>
            <a:ext cx="4023360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847088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65776" y="1847088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193792" y="1847088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011680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Paiement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payer(double montant);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CarteBancaire implements Paiement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payer(double m)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System.out.println("CB: " + m + "€");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PayPal implements Paiement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payer(double m)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System.out.println("PayPal: " + m + "€");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 Factory décide quel objet créer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PaiementFactory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Paiement creer(String type)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switch(type)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"CB"     -&gt; new CarteBancaire();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"PAYPAL" -&gt; new PayPal();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 -&gt; throw new IllegalArgumentException();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Paiement p = PaiementFactory.creer("CB");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p.payer(99.99); // CB: 99.99€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Pattern Observer &amp;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062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4206240" cy="38404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👁 Observer — notifier des abonnés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</a:rPr>
              <a:t>Cas d'usage : événements UI, système de notifications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4023360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47088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" y="1847088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847088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11680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Observer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update(String event);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EmailNotif implements Observer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update(String e)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System.out.println("Email: " + e);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SMSNotif implements Observer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update(String e)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System.out.println("SMS: " + e);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Sujet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List&lt;Observer&gt; obs = new ArrayList&lt;&gt;();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subscribe(Observer o) { obs.add(o);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notifier(String event)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(Observer o : obs) o.update(event);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Sujet s = new Sujet();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s.subscribe(new EmailNotif());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s.subscribe(new SMSNotif());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s.notifier("Commande validée");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Email: Commande validée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SMS: Commande validée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20624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206240" cy="38404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♟ Strategy — algorithme interchangeable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A4"/>
                </a:solidFill>
              </a:rPr>
              <a:t>Cas d'usage : tri, calcul de prix, compression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755648"/>
            <a:ext cx="4023360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847088"/>
            <a:ext cx="91440" cy="91440"/>
          </a:xfrm>
          <a:prstGeom prst="oval">
            <a:avLst/>
          </a:prstGeom>
          <a:solidFill>
            <a:srgbClr val="FF5F5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65776" y="1847088"/>
            <a:ext cx="91440" cy="91440"/>
          </a:xfrm>
          <a:prstGeom prst="oval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193792" y="1847088"/>
            <a:ext cx="91440" cy="91440"/>
          </a:xfrm>
          <a:prstGeom prst="oval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011680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 stratégie (contrat)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TriStrategy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trier(int[] tableau);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Deux algorithmes différents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TriBulles implements TriStrategy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trier(int[] t)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algorithme tri à bulles O(n²)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TriRapide implements TriStrategy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trier(int[] t)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algorithme quicksort O(n log n)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Contexte — utilise la stratégie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Trieur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TriStrategy strategie;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Trieur(TriStrategy s)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strategie = s;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trier(int[] t)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strategie.trier(t);  // délègue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Changer d'algo à la volée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Trieur t = new Trieur(new TriRapide());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t.trier(new int[]{5,2,8,1,9});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08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 — API REST + Design Patterns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TP — API REST Gestion de Produits avec Design Patterns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83464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Créer le projet Spring Boot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463040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Générer via start.spring.io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Dépendances : Spring Web, Spring Data JPA, H2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→ Lancer : mvn spring-boot:run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05840"/>
            <a:ext cx="2834640" cy="4114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0" name="Text 8"/>
          <p:cNvSpPr/>
          <p:nvPr/>
        </p:nvSpPr>
        <p:spPr>
          <a:xfrm>
            <a:off x="3264408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Créer entité Produit + Repository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82696" y="1463040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@Entity class Produit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@Id @GeneratedValue Long id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String nom; double prix;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ProduitRepository extends JpaRepository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63056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005840"/>
            <a:ext cx="283464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Contrôleur REST complet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72784" y="1463040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@RestController /api/produits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GET → liste, GET/{id} → un produit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POST → créer, PUT/{id} → modifier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0175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017520"/>
            <a:ext cx="283464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Appliquer le Singleton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3474720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ProduitService annoté @Service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Injecté via @Autowired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Centralise toute la logique métier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2968" y="30175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3017520"/>
            <a:ext cx="283464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  Appliquer la Factory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82696" y="3474720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RapportFactory.creer("PDF" | "CSV")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RapportPDF.generer()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RapportCSV.generer()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63056" y="301752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3017520"/>
            <a:ext cx="2834640" cy="41148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  Tester avec Postman / curl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72784" y="3474720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curl -X POST .../api/produits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-d '{"nom":"Laptop","prix":999}'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→ 201 Created {"id":1,...}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oval">
            <a:avLst/>
          </a:prstGeom>
          <a:solidFill>
            <a:srgbClr val="E9456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oval">
            <a:avLst/>
          </a:prstGeom>
          <a:solidFill>
            <a:srgbClr val="53348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5303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Service Web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14300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</a:rPr>
              <a:t>Application accessible via HTTP, permettant à deux systèmes de communiquer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30352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6479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Marshalling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764792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</a:rPr>
              <a:t>Convertir un objet Java en JSON (et l'inverse) pour l'envoyer sur le réseau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86584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86584"/>
            <a:ext cx="54864" cy="53035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38658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🍃  Spring 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386584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</a:rPr>
              <a:t>@RestController + @GetMapping = endpoint prêt en quelques lignes de 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008376"/>
            <a:ext cx="54864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0837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 Consommer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008376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</a:rPr>
              <a:t>RestTemplate (sync) ou WebClient (async) pour appeler une API externe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30168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630168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3016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🏗  Design Pattern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63016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</a:rPr>
              <a:t>Recette de conception éprouvée pour résoudre un problème récurrent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04672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251960"/>
            <a:ext cx="54864" cy="5303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2519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Conseil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251960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DDD"/>
                </a:solidFill>
              </a:rPr>
              <a:t>Choisir un pattern selon le problème, pas pour faire plus complexe 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4560"/>
                </a:solidFill>
              </a:rPr>
              <a:t>Bonne chance pour votre présentation 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Services &amp; Design Patterns – Semaine 8</dc:title>
  <dc:subject>PptxGenJS Presentation</dc:subject>
  <dc:creator>PptxGenJS</dc:creator>
  <cp:lastModifiedBy>PptxGenJS</cp:lastModifiedBy>
  <cp:revision>1</cp:revision>
  <dcterms:created xsi:type="dcterms:W3CDTF">2026-05-27T23:57:07Z</dcterms:created>
  <dcterms:modified xsi:type="dcterms:W3CDTF">2026-05-27T23:57:07Z</dcterms:modified>
</cp:coreProperties>
</file>