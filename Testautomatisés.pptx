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2">
  <p:sldMasterIdLst>
    <p:sldMasterId id="2147483648" r:id="rId1"/>
  </p:sldMasterIdLst>
  <p:notesMasterIdLst>
    <p:notesMasterId r:id="rId20"/>
  </p:notesMasterIdLst>
  <p:handoutMasterIdLst>
    <p:handoutMasterId r:id="rId21"/>
  </p:handoutMasterIdLst>
  <p:sldIdLst>
    <p:sldId id="256" r:id="rId2"/>
    <p:sldId id="352" r:id="rId3"/>
    <p:sldId id="365" r:id="rId4"/>
    <p:sldId id="380" r:id="rId5"/>
    <p:sldId id="379" r:id="rId6"/>
    <p:sldId id="378" r:id="rId7"/>
    <p:sldId id="377" r:id="rId8"/>
    <p:sldId id="376" r:id="rId9"/>
    <p:sldId id="372" r:id="rId10"/>
    <p:sldId id="375" r:id="rId11"/>
    <p:sldId id="374" r:id="rId12"/>
    <p:sldId id="373" r:id="rId13"/>
    <p:sldId id="369" r:id="rId14"/>
    <p:sldId id="368" r:id="rId15"/>
    <p:sldId id="381" r:id="rId16"/>
    <p:sldId id="382" r:id="rId17"/>
    <p:sldId id="362" r:id="rId18"/>
    <p:sldId id="345" r:id="rId19"/>
  </p:sldIdLst>
  <p:sldSz cx="9144000" cy="6858000" type="screen4x3"/>
  <p:notesSz cx="7010400" cy="9296400"/>
  <p:defaultTextStyle>
    <a:defPPr>
      <a:defRPr lang="fr-CA"/>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28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A6A6"/>
    <a:srgbClr val="F94C2F"/>
    <a:srgbClr val="006600"/>
    <a:srgbClr val="E2001A"/>
    <a:srgbClr val="777777"/>
    <a:srgbClr val="E3CDD0"/>
    <a:srgbClr val="FFFF99"/>
    <a:srgbClr val="FF6600"/>
    <a:srgbClr val="FF33CC"/>
    <a:srgbClr val="002C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D1C0D4-FE6C-4BBB-956B-AFAD78C86680}" v="908" dt="2026-05-11T10:02:21.84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3883" autoAdjust="0"/>
  </p:normalViewPr>
  <p:slideViewPr>
    <p:cSldViewPr showGuides="1">
      <p:cViewPr varScale="1">
        <p:scale>
          <a:sx n="63" d="100"/>
          <a:sy n="63" d="100"/>
        </p:scale>
        <p:origin x="1596" y="64"/>
      </p:cViewPr>
      <p:guideLst>
        <p:guide orient="horz" pos="2160"/>
        <p:guide pos="2857"/>
      </p:guideLst>
    </p:cSldViewPr>
  </p:slideViewPr>
  <p:outlineViewPr>
    <p:cViewPr>
      <p:scale>
        <a:sx n="33" d="100"/>
        <a:sy n="33" d="100"/>
      </p:scale>
      <p:origin x="0" y="19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540"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ba Jean Paul DJAMA" userId="f30d6993dbc66617" providerId="LiveId" clId="{70326D59-28A1-4693-BB6E-55222793C82C}"/>
    <pc:docChg chg="undo custSel addSld delSld modSld sldOrd">
      <pc:chgData name="Hoba Jean Paul DJAMA" userId="f30d6993dbc66617" providerId="LiveId" clId="{70326D59-28A1-4693-BB6E-55222793C82C}" dt="2026-05-11T10:05:14.245" v="3210" actId="478"/>
      <pc:docMkLst>
        <pc:docMk/>
      </pc:docMkLst>
      <pc:sldChg chg="addSp modSp mod">
        <pc:chgData name="Hoba Jean Paul DJAMA" userId="f30d6993dbc66617" providerId="LiveId" clId="{70326D59-28A1-4693-BB6E-55222793C82C}" dt="2026-05-11T10:03:54.653" v="3201" actId="207"/>
        <pc:sldMkLst>
          <pc:docMk/>
          <pc:sldMk cId="0" sldId="256"/>
        </pc:sldMkLst>
        <pc:spChg chg="mod">
          <ac:chgData name="Hoba Jean Paul DJAMA" userId="f30d6993dbc66617" providerId="LiveId" clId="{70326D59-28A1-4693-BB6E-55222793C82C}" dt="2026-04-28T17:19:56.279" v="871" actId="790"/>
          <ac:spMkLst>
            <pc:docMk/>
            <pc:sldMk cId="0" sldId="256"/>
            <ac:spMk id="2" creationId="{00000000-0000-0000-0000-000000000000}"/>
          </ac:spMkLst>
        </pc:spChg>
        <pc:spChg chg="mod">
          <ac:chgData name="Hoba Jean Paul DJAMA" userId="f30d6993dbc66617" providerId="LiveId" clId="{70326D59-28A1-4693-BB6E-55222793C82C}" dt="2026-05-11T10:03:54.653" v="3201" actId="207"/>
          <ac:spMkLst>
            <pc:docMk/>
            <pc:sldMk cId="0" sldId="256"/>
            <ac:spMk id="3" creationId="{00000000-0000-0000-0000-000000000000}"/>
          </ac:spMkLst>
        </pc:spChg>
        <pc:spChg chg="mod">
          <ac:chgData name="Hoba Jean Paul DJAMA" userId="f30d6993dbc66617" providerId="LiveId" clId="{70326D59-28A1-4693-BB6E-55222793C82C}" dt="2026-04-28T17:19:56.279" v="871" actId="790"/>
          <ac:spMkLst>
            <pc:docMk/>
            <pc:sldMk cId="0" sldId="256"/>
            <ac:spMk id="4" creationId="{00000000-0000-0000-0000-000000000000}"/>
          </ac:spMkLst>
        </pc:spChg>
        <pc:spChg chg="add mod">
          <ac:chgData name="Hoba Jean Paul DJAMA" userId="f30d6993dbc66617" providerId="LiveId" clId="{70326D59-28A1-4693-BB6E-55222793C82C}" dt="2026-05-11T09:56:40.981" v="3133" actId="207"/>
          <ac:spMkLst>
            <pc:docMk/>
            <pc:sldMk cId="0" sldId="256"/>
            <ac:spMk id="8" creationId="{25C89043-7204-6CF3-54E4-7EC7D2C2AD34}"/>
          </ac:spMkLst>
        </pc:spChg>
        <pc:picChg chg="mod">
          <ac:chgData name="Hoba Jean Paul DJAMA" userId="f30d6993dbc66617" providerId="LiveId" clId="{70326D59-28A1-4693-BB6E-55222793C82C}" dt="2026-05-11T10:00:33.193" v="3181" actId="1035"/>
          <ac:picMkLst>
            <pc:docMk/>
            <pc:sldMk cId="0" sldId="256"/>
            <ac:picMk id="5" creationId="{00000000-0000-0000-0000-000000000000}"/>
          </ac:picMkLst>
        </pc:picChg>
      </pc:sldChg>
      <pc:sldChg chg="addSp modSp add mod ord modAnim">
        <pc:chgData name="Hoba Jean Paul DJAMA" userId="f30d6993dbc66617" providerId="LiveId" clId="{70326D59-28A1-4693-BB6E-55222793C82C}" dt="2026-05-11T10:04:07.061" v="3202" actId="207"/>
        <pc:sldMkLst>
          <pc:docMk/>
          <pc:sldMk cId="0" sldId="257"/>
        </pc:sldMkLst>
        <pc:spChg chg="mod">
          <ac:chgData name="Hoba Jean Paul DJAMA" userId="f30d6993dbc66617" providerId="LiveId" clId="{70326D59-28A1-4693-BB6E-55222793C82C}" dt="2026-05-11T08:35:08.616" v="2511" actId="1035"/>
          <ac:spMkLst>
            <pc:docMk/>
            <pc:sldMk cId="0" sldId="257"/>
            <ac:spMk id="2" creationId="{D6E72FF3-3D62-0942-F239-D061AB939B41}"/>
          </ac:spMkLst>
        </pc:spChg>
        <pc:spChg chg="add mod">
          <ac:chgData name="Hoba Jean Paul DJAMA" userId="f30d6993dbc66617" providerId="LiveId" clId="{70326D59-28A1-4693-BB6E-55222793C82C}" dt="2026-05-11T10:01:07.866" v="3185" actId="208"/>
          <ac:spMkLst>
            <pc:docMk/>
            <pc:sldMk cId="0" sldId="257"/>
            <ac:spMk id="3" creationId="{C290416A-5356-181A-8905-9F05BA70F901}"/>
          </ac:spMkLst>
        </pc:spChg>
        <pc:spChg chg="add mod">
          <ac:chgData name="Hoba Jean Paul DJAMA" userId="f30d6993dbc66617" providerId="LiveId" clId="{70326D59-28A1-4693-BB6E-55222793C82C}" dt="2026-05-11T08:29:24.665" v="2485" actId="207"/>
          <ac:spMkLst>
            <pc:docMk/>
            <pc:sldMk cId="0" sldId="257"/>
            <ac:spMk id="5" creationId="{0F9816A8-48BA-88E6-DECD-A9F07CD17B7B}"/>
          </ac:spMkLst>
        </pc:spChg>
        <pc:spChg chg="mod">
          <ac:chgData name="Hoba Jean Paul DJAMA" userId="f30d6993dbc66617" providerId="LiveId" clId="{70326D59-28A1-4693-BB6E-55222793C82C}" dt="2026-05-11T10:04:07.061" v="3202" actId="207"/>
          <ac:spMkLst>
            <pc:docMk/>
            <pc:sldMk cId="0" sldId="257"/>
            <ac:spMk id="55" creationId="{00000000-0000-0000-0000-000000000000}"/>
          </ac:spMkLst>
        </pc:spChg>
        <pc:picChg chg="add mod">
          <ac:chgData name="Hoba Jean Paul DJAMA" userId="f30d6993dbc66617" providerId="LiveId" clId="{70326D59-28A1-4693-BB6E-55222793C82C}" dt="2026-05-11T10:02:21.847" v="3200"/>
          <ac:picMkLst>
            <pc:docMk/>
            <pc:sldMk cId="0" sldId="257"/>
            <ac:picMk id="6" creationId="{EAB11395-F775-40DE-F920-897A62905F84}"/>
          </ac:picMkLst>
        </pc:picChg>
      </pc:sldChg>
      <pc:sldChg chg="addSp modSp mod">
        <pc:chgData name="Hoba Jean Paul DJAMA" userId="f30d6993dbc66617" providerId="LiveId" clId="{70326D59-28A1-4693-BB6E-55222793C82C}" dt="2026-05-11T09:57:40.374" v="3139" actId="207"/>
        <pc:sldMkLst>
          <pc:docMk/>
          <pc:sldMk cId="0" sldId="345"/>
        </pc:sldMkLst>
        <pc:spChg chg="mod">
          <ac:chgData name="Hoba Jean Paul DJAMA" userId="f30d6993dbc66617" providerId="LiveId" clId="{70326D59-28A1-4693-BB6E-55222793C82C}" dt="2026-04-28T17:19:56.279" v="871" actId="790"/>
          <ac:spMkLst>
            <pc:docMk/>
            <pc:sldMk cId="0" sldId="345"/>
            <ac:spMk id="2" creationId="{00000000-0000-0000-0000-000000000000}"/>
          </ac:spMkLst>
        </pc:spChg>
        <pc:spChg chg="mod">
          <ac:chgData name="Hoba Jean Paul DJAMA" userId="f30d6993dbc66617" providerId="LiveId" clId="{70326D59-28A1-4693-BB6E-55222793C82C}" dt="2026-04-28T17:19:56.279" v="871" actId="790"/>
          <ac:spMkLst>
            <pc:docMk/>
            <pc:sldMk cId="0" sldId="345"/>
            <ac:spMk id="3" creationId="{00000000-0000-0000-0000-000000000000}"/>
          </ac:spMkLst>
        </pc:spChg>
        <pc:spChg chg="mod">
          <ac:chgData name="Hoba Jean Paul DJAMA" userId="f30d6993dbc66617" providerId="LiveId" clId="{70326D59-28A1-4693-BB6E-55222793C82C}" dt="2026-04-28T17:19:56.279" v="871" actId="790"/>
          <ac:spMkLst>
            <pc:docMk/>
            <pc:sldMk cId="0" sldId="345"/>
            <ac:spMk id="4" creationId="{00000000-0000-0000-0000-000000000000}"/>
          </ac:spMkLst>
        </pc:spChg>
        <pc:spChg chg="mod">
          <ac:chgData name="Hoba Jean Paul DJAMA" userId="f30d6993dbc66617" providerId="LiveId" clId="{70326D59-28A1-4693-BB6E-55222793C82C}" dt="2026-04-28T17:19:56.279" v="871" actId="790"/>
          <ac:spMkLst>
            <pc:docMk/>
            <pc:sldMk cId="0" sldId="345"/>
            <ac:spMk id="6" creationId="{00000000-0000-0000-0000-000000000000}"/>
          </ac:spMkLst>
        </pc:spChg>
        <pc:spChg chg="add mod">
          <ac:chgData name="Hoba Jean Paul DJAMA" userId="f30d6993dbc66617" providerId="LiveId" clId="{70326D59-28A1-4693-BB6E-55222793C82C}" dt="2026-05-11T09:57:40.374" v="3139" actId="207"/>
          <ac:spMkLst>
            <pc:docMk/>
            <pc:sldMk cId="0" sldId="345"/>
            <ac:spMk id="9" creationId="{A61C8F2A-5D0C-25B7-98D5-B04813D90A64}"/>
          </ac:spMkLst>
        </pc:spChg>
      </pc:sldChg>
      <pc:sldChg chg="addSp modSp add mod ord">
        <pc:chgData name="Hoba Jean Paul DJAMA" userId="f30d6993dbc66617" providerId="LiveId" clId="{70326D59-28A1-4693-BB6E-55222793C82C}" dt="2026-05-11T09:57:23.960" v="3137" actId="207"/>
        <pc:sldMkLst>
          <pc:docMk/>
          <pc:sldMk cId="2953525735" sldId="346"/>
        </pc:sldMkLst>
        <pc:spChg chg="add mod">
          <ac:chgData name="Hoba Jean Paul DJAMA" userId="f30d6993dbc66617" providerId="LiveId" clId="{70326D59-28A1-4693-BB6E-55222793C82C}" dt="2026-05-11T09:57:23.960" v="3137" actId="207"/>
          <ac:spMkLst>
            <pc:docMk/>
            <pc:sldMk cId="2953525735" sldId="346"/>
            <ac:spMk id="7" creationId="{52783409-E8D6-EFAE-9722-C97C3E184B04}"/>
          </ac:spMkLst>
        </pc:spChg>
      </pc:sldChg>
      <pc:sldChg chg="addSp modSp new mod ord modAnim">
        <pc:chgData name="Hoba Jean Paul DJAMA" userId="f30d6993dbc66617" providerId="LiveId" clId="{70326D59-28A1-4693-BB6E-55222793C82C}" dt="2026-05-11T10:04:12.739" v="3203" actId="207"/>
        <pc:sldMkLst>
          <pc:docMk/>
          <pc:sldMk cId="2104176619" sldId="347"/>
        </pc:sldMkLst>
        <pc:spChg chg="mod">
          <ac:chgData name="Hoba Jean Paul DJAMA" userId="f30d6993dbc66617" providerId="LiveId" clId="{70326D59-28A1-4693-BB6E-55222793C82C}" dt="2026-05-11T10:04:12.739" v="3203" actId="207"/>
          <ac:spMkLst>
            <pc:docMk/>
            <pc:sldMk cId="2104176619" sldId="347"/>
            <ac:spMk id="2" creationId="{BC7E5248-15F2-4293-788D-05E66BE7056B}"/>
          </ac:spMkLst>
        </pc:spChg>
        <pc:spChg chg="add mod">
          <ac:chgData name="Hoba Jean Paul DJAMA" userId="f30d6993dbc66617" providerId="LiveId" clId="{70326D59-28A1-4693-BB6E-55222793C82C}" dt="2026-05-11T10:01:29.119" v="3187"/>
          <ac:spMkLst>
            <pc:docMk/>
            <pc:sldMk cId="2104176619" sldId="347"/>
            <ac:spMk id="4" creationId="{F0E7D8FF-8EC9-8BB0-E151-673C45337CF9}"/>
          </ac:spMkLst>
        </pc:spChg>
        <pc:spChg chg="add mod">
          <ac:chgData name="Hoba Jean Paul DJAMA" userId="f30d6993dbc66617" providerId="LiveId" clId="{70326D59-28A1-4693-BB6E-55222793C82C}" dt="2026-05-11T08:33:31.240" v="2491" actId="207"/>
          <ac:spMkLst>
            <pc:docMk/>
            <pc:sldMk cId="2104176619" sldId="347"/>
            <ac:spMk id="5" creationId="{3E3017EC-3585-F61C-59D1-E25E2525BA5D}"/>
          </ac:spMkLst>
        </pc:spChg>
        <pc:spChg chg="add mod">
          <ac:chgData name="Hoba Jean Paul DJAMA" userId="f30d6993dbc66617" providerId="LiveId" clId="{70326D59-28A1-4693-BB6E-55222793C82C}" dt="2026-05-08T16:24:03.664" v="2478"/>
          <ac:spMkLst>
            <pc:docMk/>
            <pc:sldMk cId="2104176619" sldId="347"/>
            <ac:spMk id="6" creationId="{F005CBBC-72A6-1742-B917-AFF5B1B1577B}"/>
          </ac:spMkLst>
        </pc:spChg>
        <pc:graphicFrameChg chg="add mod modGraphic">
          <ac:chgData name="Hoba Jean Paul DJAMA" userId="f30d6993dbc66617" providerId="LiveId" clId="{70326D59-28A1-4693-BB6E-55222793C82C}" dt="2026-05-11T08:32:16.069" v="2490" actId="12269"/>
          <ac:graphicFrameMkLst>
            <pc:docMk/>
            <pc:sldMk cId="2104176619" sldId="347"/>
            <ac:graphicFrameMk id="3" creationId="{F8D22725-190C-85D2-C69B-F89F08A07F52}"/>
          </ac:graphicFrameMkLst>
        </pc:graphicFrameChg>
        <pc:picChg chg="add mod">
          <ac:chgData name="Hoba Jean Paul DJAMA" userId="f30d6993dbc66617" providerId="LiveId" clId="{70326D59-28A1-4693-BB6E-55222793C82C}" dt="2026-05-11T10:02:15.062" v="3198"/>
          <ac:picMkLst>
            <pc:docMk/>
            <pc:sldMk cId="2104176619" sldId="347"/>
            <ac:picMk id="7" creationId="{78D9FFAD-F3CF-61D7-8348-B3C2B89D4E1B}"/>
          </ac:picMkLst>
        </pc:picChg>
      </pc:sldChg>
      <pc:sldChg chg="addSp delSp modSp new del mod delAnim modAnim">
        <pc:chgData name="Hoba Jean Paul DJAMA" userId="f30d6993dbc66617" providerId="LiveId" clId="{70326D59-28A1-4693-BB6E-55222793C82C}" dt="2026-05-11T09:51:31.760" v="3128" actId="47"/>
        <pc:sldMkLst>
          <pc:docMk/>
          <pc:sldMk cId="2618894969" sldId="349"/>
        </pc:sldMkLst>
        <pc:spChg chg="mod">
          <ac:chgData name="Hoba Jean Paul DJAMA" userId="f30d6993dbc66617" providerId="LiveId" clId="{70326D59-28A1-4693-BB6E-55222793C82C}" dt="2026-05-11T09:48:34.631" v="3065" actId="21"/>
          <ac:spMkLst>
            <pc:docMk/>
            <pc:sldMk cId="2618894969" sldId="349"/>
            <ac:spMk id="2" creationId="{83AC4BC4-81EE-F317-6C09-9B4E97F0E062}"/>
          </ac:spMkLst>
        </pc:spChg>
        <pc:spChg chg="add mod">
          <ac:chgData name="Hoba Jean Paul DJAMA" userId="f30d6993dbc66617" providerId="LiveId" clId="{70326D59-28A1-4693-BB6E-55222793C82C}" dt="2026-05-11T08:33:46.890" v="2492" actId="207"/>
          <ac:spMkLst>
            <pc:docMk/>
            <pc:sldMk cId="2618894969" sldId="349"/>
            <ac:spMk id="5" creationId="{4211DD8C-7DDD-D8D0-2C8C-50DCF8D509C0}"/>
          </ac:spMkLst>
        </pc:spChg>
      </pc:sldChg>
      <pc:sldChg chg="addSp delSp modSp new mod ord">
        <pc:chgData name="Hoba Jean Paul DJAMA" userId="f30d6993dbc66617" providerId="LiveId" clId="{70326D59-28A1-4693-BB6E-55222793C82C}" dt="2026-05-11T10:04:55.606" v="3208" actId="207"/>
        <pc:sldMkLst>
          <pc:docMk/>
          <pc:sldMk cId="3576917714" sldId="351"/>
        </pc:sldMkLst>
        <pc:spChg chg="add mod">
          <ac:chgData name="Hoba Jean Paul DJAMA" userId="f30d6993dbc66617" providerId="LiveId" clId="{70326D59-28A1-4693-BB6E-55222793C82C}" dt="2026-05-11T08:34:14.553" v="2497" actId="207"/>
          <ac:spMkLst>
            <pc:docMk/>
            <pc:sldMk cId="3576917714" sldId="351"/>
            <ac:spMk id="2" creationId="{B20165D7-94A4-88B5-E2D7-87550B810EE9}"/>
          </ac:spMkLst>
        </pc:spChg>
        <pc:spChg chg="add mod">
          <ac:chgData name="Hoba Jean Paul DJAMA" userId="f30d6993dbc66617" providerId="LiveId" clId="{70326D59-28A1-4693-BB6E-55222793C82C}" dt="2026-05-08T16:23:53.082" v="2474"/>
          <ac:spMkLst>
            <pc:docMk/>
            <pc:sldMk cId="3576917714" sldId="351"/>
            <ac:spMk id="4" creationId="{82077C7C-602A-3876-BC73-A8344C61892F}"/>
          </ac:spMkLst>
        </pc:spChg>
        <pc:spChg chg="add mod">
          <ac:chgData name="Hoba Jean Paul DJAMA" userId="f30d6993dbc66617" providerId="LiveId" clId="{70326D59-28A1-4693-BB6E-55222793C82C}" dt="2026-05-11T10:04:55.606" v="3208" actId="207"/>
          <ac:spMkLst>
            <pc:docMk/>
            <pc:sldMk cId="3576917714" sldId="351"/>
            <ac:spMk id="5" creationId="{0AA8FC15-7D3C-B341-43CA-7D0640E83DCF}"/>
          </ac:spMkLst>
        </pc:spChg>
        <pc:spChg chg="add mod">
          <ac:chgData name="Hoba Jean Paul DJAMA" userId="f30d6993dbc66617" providerId="LiveId" clId="{70326D59-28A1-4693-BB6E-55222793C82C}" dt="2026-05-11T10:01:41.335" v="3191"/>
          <ac:spMkLst>
            <pc:docMk/>
            <pc:sldMk cId="3576917714" sldId="351"/>
            <ac:spMk id="6" creationId="{2CA3CD78-18A6-7170-97FC-99919994647D}"/>
          </ac:spMkLst>
        </pc:spChg>
        <pc:picChg chg="add mod">
          <ac:chgData name="Hoba Jean Paul DJAMA" userId="f30d6993dbc66617" providerId="LiveId" clId="{70326D59-28A1-4693-BB6E-55222793C82C}" dt="2026-05-07T20:34:41.875" v="2046" actId="1076"/>
          <ac:picMkLst>
            <pc:docMk/>
            <pc:sldMk cId="3576917714" sldId="351"/>
            <ac:picMk id="3" creationId="{B98E20DB-B969-6CEF-EF90-735FB41926CF}"/>
          </ac:picMkLst>
        </pc:picChg>
        <pc:picChg chg="add mod">
          <ac:chgData name="Hoba Jean Paul DJAMA" userId="f30d6993dbc66617" providerId="LiveId" clId="{70326D59-28A1-4693-BB6E-55222793C82C}" dt="2026-05-11T10:02:02.994" v="3194"/>
          <ac:picMkLst>
            <pc:docMk/>
            <pc:sldMk cId="3576917714" sldId="351"/>
            <ac:picMk id="7" creationId="{99594993-062A-AFB4-B0ED-349A59D63919}"/>
          </ac:picMkLst>
        </pc:picChg>
      </pc:sldChg>
      <pc:sldChg chg="addSp modSp new mod modAnim">
        <pc:chgData name="Hoba Jean Paul DJAMA" userId="f30d6993dbc66617" providerId="LiveId" clId="{70326D59-28A1-4693-BB6E-55222793C82C}" dt="2026-05-11T10:04:36.523" v="3206" actId="207"/>
        <pc:sldMkLst>
          <pc:docMk/>
          <pc:sldMk cId="2889344537" sldId="352"/>
        </pc:sldMkLst>
        <pc:spChg chg="mod">
          <ac:chgData name="Hoba Jean Paul DJAMA" userId="f30d6993dbc66617" providerId="LiveId" clId="{70326D59-28A1-4693-BB6E-55222793C82C}" dt="2026-05-11T10:04:36.523" v="3206" actId="207"/>
          <ac:spMkLst>
            <pc:docMk/>
            <pc:sldMk cId="2889344537" sldId="352"/>
            <ac:spMk id="2" creationId="{13FA66CD-D82F-4A6F-C343-030DD2ED4EAB}"/>
          </ac:spMkLst>
        </pc:spChg>
        <pc:spChg chg="add mod">
          <ac:chgData name="Hoba Jean Paul DJAMA" userId="f30d6993dbc66617" providerId="LiveId" clId="{70326D59-28A1-4693-BB6E-55222793C82C}" dt="2026-05-07T16:02:20.337" v="1752" actId="1076"/>
          <ac:spMkLst>
            <pc:docMk/>
            <pc:sldMk cId="2889344537" sldId="352"/>
            <ac:spMk id="3" creationId="{50473359-A7CA-B079-2C6C-10FE1341456C}"/>
          </ac:spMkLst>
        </pc:spChg>
        <pc:spChg chg="add mod">
          <ac:chgData name="Hoba Jean Paul DJAMA" userId="f30d6993dbc66617" providerId="LiveId" clId="{70326D59-28A1-4693-BB6E-55222793C82C}" dt="2026-05-07T16:03:49.365" v="1776" actId="1076"/>
          <ac:spMkLst>
            <pc:docMk/>
            <pc:sldMk cId="2889344537" sldId="352"/>
            <ac:spMk id="4" creationId="{BED0D320-6E0B-C48E-F35B-F71B474DC39F}"/>
          </ac:spMkLst>
        </pc:spChg>
        <pc:spChg chg="add mod">
          <ac:chgData name="Hoba Jean Paul DJAMA" userId="f30d6993dbc66617" providerId="LiveId" clId="{70326D59-28A1-4693-BB6E-55222793C82C}" dt="2026-05-11T10:01:38.644" v="3190"/>
          <ac:spMkLst>
            <pc:docMk/>
            <pc:sldMk cId="2889344537" sldId="352"/>
            <ac:spMk id="5" creationId="{967C8347-673A-CAFB-D05E-35DDB6238224}"/>
          </ac:spMkLst>
        </pc:spChg>
        <pc:spChg chg="add mod">
          <ac:chgData name="Hoba Jean Paul DJAMA" userId="f30d6993dbc66617" providerId="LiveId" clId="{70326D59-28A1-4693-BB6E-55222793C82C}" dt="2026-05-11T08:33:54.043" v="2493" actId="207"/>
          <ac:spMkLst>
            <pc:docMk/>
            <pc:sldMk cId="2889344537" sldId="352"/>
            <ac:spMk id="6" creationId="{D890A617-9D04-F58B-20AB-9E0D3A8C7FFB}"/>
          </ac:spMkLst>
        </pc:spChg>
        <pc:spChg chg="add mod">
          <ac:chgData name="Hoba Jean Paul DJAMA" userId="f30d6993dbc66617" providerId="LiveId" clId="{70326D59-28A1-4693-BB6E-55222793C82C}" dt="2026-05-08T16:23:57.492" v="2476"/>
          <ac:spMkLst>
            <pc:docMk/>
            <pc:sldMk cId="2889344537" sldId="352"/>
            <ac:spMk id="7" creationId="{5DFDE811-5B33-9D0C-BFD9-1213B0C222D7}"/>
          </ac:spMkLst>
        </pc:spChg>
        <pc:picChg chg="add mod">
          <ac:chgData name="Hoba Jean Paul DJAMA" userId="f30d6993dbc66617" providerId="LiveId" clId="{70326D59-28A1-4693-BB6E-55222793C82C}" dt="2026-05-11T10:02:05.747" v="3195"/>
          <ac:picMkLst>
            <pc:docMk/>
            <pc:sldMk cId="2889344537" sldId="352"/>
            <ac:picMk id="8" creationId="{9868D73D-7239-8EFB-8B7C-F3F1D92F8FAC}"/>
          </ac:picMkLst>
        </pc:picChg>
        <pc:picChg chg="add mod">
          <ac:chgData name="Hoba Jean Paul DJAMA" userId="f30d6993dbc66617" providerId="LiveId" clId="{70326D59-28A1-4693-BB6E-55222793C82C}" dt="2026-05-07T16:03:16.434" v="1770" actId="1038"/>
          <ac:picMkLst>
            <pc:docMk/>
            <pc:sldMk cId="2889344537" sldId="352"/>
            <ac:picMk id="2049" creationId="{2C1F44D6-A3C5-9F5F-63CC-510699E2690E}"/>
          </ac:picMkLst>
        </pc:picChg>
      </pc:sldChg>
      <pc:sldChg chg="addSp delSp modSp add mod">
        <pc:chgData name="Hoba Jean Paul DJAMA" userId="f30d6993dbc66617" providerId="LiveId" clId="{70326D59-28A1-4693-BB6E-55222793C82C}" dt="2026-05-11T10:02:18.652" v="3199"/>
        <pc:sldMkLst>
          <pc:docMk/>
          <pc:sldMk cId="0" sldId="353"/>
        </pc:sldMkLst>
        <pc:spChg chg="del mod">
          <ac:chgData name="Hoba Jean Paul DJAMA" userId="f30d6993dbc66617" providerId="LiveId" clId="{70326D59-28A1-4693-BB6E-55222793C82C}" dt="2026-05-11T09:52:00.424" v="3132" actId="478"/>
          <ac:spMkLst>
            <pc:docMk/>
            <pc:sldMk cId="0" sldId="353"/>
            <ac:spMk id="3" creationId="{00000000-0000-0000-0000-000000000000}"/>
          </ac:spMkLst>
        </pc:spChg>
        <pc:spChg chg="mod">
          <ac:chgData name="Hoba Jean Paul DJAMA" userId="f30d6993dbc66617" providerId="LiveId" clId="{70326D59-28A1-4693-BB6E-55222793C82C}" dt="2026-05-11T08:30:52.859" v="2486" actId="207"/>
          <ac:spMkLst>
            <pc:docMk/>
            <pc:sldMk cId="0" sldId="353"/>
            <ac:spMk id="4" creationId="{00000000-0000-0000-0000-000000000000}"/>
          </ac:spMkLst>
        </pc:spChg>
        <pc:spChg chg="add mod">
          <ac:chgData name="Hoba Jean Paul DJAMA" userId="f30d6993dbc66617" providerId="LiveId" clId="{70326D59-28A1-4693-BB6E-55222793C82C}" dt="2026-05-11T10:01:24.141" v="3186"/>
          <ac:spMkLst>
            <pc:docMk/>
            <pc:sldMk cId="0" sldId="353"/>
            <ac:spMk id="5" creationId="{098BF44A-A671-E52D-EE69-C1441284CB78}"/>
          </ac:spMkLst>
        </pc:spChg>
        <pc:spChg chg="add mod">
          <ac:chgData name="Hoba Jean Paul DJAMA" userId="f30d6993dbc66617" providerId="LiveId" clId="{70326D59-28A1-4693-BB6E-55222793C82C}" dt="2026-05-11T08:31:13.159" v="2487" actId="207"/>
          <ac:spMkLst>
            <pc:docMk/>
            <pc:sldMk cId="0" sldId="353"/>
            <ac:spMk id="7" creationId="{B91D5A3A-BE49-5D6C-7DA5-9F781AA49B47}"/>
          </ac:spMkLst>
        </pc:spChg>
        <pc:picChg chg="add mod">
          <ac:chgData name="Hoba Jean Paul DJAMA" userId="f30d6993dbc66617" providerId="LiveId" clId="{70326D59-28A1-4693-BB6E-55222793C82C}" dt="2026-05-11T10:02:18.652" v="3199"/>
          <ac:picMkLst>
            <pc:docMk/>
            <pc:sldMk cId="0" sldId="353"/>
            <ac:picMk id="8" creationId="{655CD770-BF98-6C7D-D60D-1972EBECB518}"/>
          </ac:picMkLst>
        </pc:picChg>
      </pc:sldChg>
      <pc:sldChg chg="addSp delSp modSp add mod delAnim">
        <pc:chgData name="Hoba Jean Paul DJAMA" userId="f30d6993dbc66617" providerId="LiveId" clId="{70326D59-28A1-4693-BB6E-55222793C82C}" dt="2026-05-11T10:01:59.396" v="3193"/>
        <pc:sldMkLst>
          <pc:docMk/>
          <pc:sldMk cId="0" sldId="357"/>
        </pc:sldMkLst>
        <pc:spChg chg="del">
          <ac:chgData name="Hoba Jean Paul DJAMA" userId="f30d6993dbc66617" providerId="LiveId" clId="{70326D59-28A1-4693-BB6E-55222793C82C}" dt="2026-05-11T09:57:17.143" v="3136" actId="478"/>
          <ac:spMkLst>
            <pc:docMk/>
            <pc:sldMk cId="0" sldId="357"/>
            <ac:spMk id="3" creationId="{00000000-0000-0000-0000-000000000000}"/>
          </ac:spMkLst>
        </pc:spChg>
        <pc:spChg chg="add mod">
          <ac:chgData name="Hoba Jean Paul DJAMA" userId="f30d6993dbc66617" providerId="LiveId" clId="{70326D59-28A1-4693-BB6E-55222793C82C}" dt="2026-05-11T09:57:13.329" v="3135" actId="207"/>
          <ac:spMkLst>
            <pc:docMk/>
            <pc:sldMk cId="0" sldId="357"/>
            <ac:spMk id="4" creationId="{EF354AF8-43A4-FBA4-B72D-E9FC08F8EAC1}"/>
          </ac:spMkLst>
        </pc:spChg>
        <pc:spChg chg="add mod">
          <ac:chgData name="Hoba Jean Paul DJAMA" userId="f30d6993dbc66617" providerId="LiveId" clId="{70326D59-28A1-4693-BB6E-55222793C82C}" dt="2026-05-11T10:01:49.052" v="3192"/>
          <ac:spMkLst>
            <pc:docMk/>
            <pc:sldMk cId="0" sldId="357"/>
            <ac:spMk id="5" creationId="{FD1128E4-A44E-6D52-D87A-14B14FCE22E0}"/>
          </ac:spMkLst>
        </pc:spChg>
        <pc:spChg chg="add mod">
          <ac:chgData name="Hoba Jean Paul DJAMA" userId="f30d6993dbc66617" providerId="LiveId" clId="{70326D59-28A1-4693-BB6E-55222793C82C}" dt="2026-05-08T16:23:43.802" v="2473" actId="207"/>
          <ac:spMkLst>
            <pc:docMk/>
            <pc:sldMk cId="0" sldId="357"/>
            <ac:spMk id="7" creationId="{1A039316-483C-8DB1-7332-2745A19859B0}"/>
          </ac:spMkLst>
        </pc:spChg>
        <pc:spChg chg="mod">
          <ac:chgData name="Hoba Jean Paul DJAMA" userId="f30d6993dbc66617" providerId="LiveId" clId="{70326D59-28A1-4693-BB6E-55222793C82C}" dt="2026-05-11T08:34:24.779" v="2498" actId="207"/>
          <ac:spMkLst>
            <pc:docMk/>
            <pc:sldMk cId="0" sldId="357"/>
            <ac:spMk id="9" creationId="{00000000-0000-0000-0000-000000000000}"/>
          </ac:spMkLst>
        </pc:spChg>
        <pc:picChg chg="add mod">
          <ac:chgData name="Hoba Jean Paul DJAMA" userId="f30d6993dbc66617" providerId="LiveId" clId="{70326D59-28A1-4693-BB6E-55222793C82C}" dt="2026-05-11T10:01:59.396" v="3193"/>
          <ac:picMkLst>
            <pc:docMk/>
            <pc:sldMk cId="0" sldId="357"/>
            <ac:picMk id="8" creationId="{98288FF0-EADD-14DB-5237-B693B23B9D10}"/>
          </ac:picMkLst>
        </pc:picChg>
      </pc:sldChg>
      <pc:sldChg chg="addSp delSp modSp add mod ord">
        <pc:chgData name="Hoba Jean Paul DJAMA" userId="f30d6993dbc66617" providerId="LiveId" clId="{70326D59-28A1-4693-BB6E-55222793C82C}" dt="2026-05-11T10:05:14.245" v="3210" actId="478"/>
        <pc:sldMkLst>
          <pc:docMk/>
          <pc:sldMk cId="3198725601" sldId="358"/>
        </pc:sldMkLst>
        <pc:spChg chg="add del mod">
          <ac:chgData name="Hoba Jean Paul DJAMA" userId="f30d6993dbc66617" providerId="LiveId" clId="{70326D59-28A1-4693-BB6E-55222793C82C}" dt="2026-05-11T10:05:14.245" v="3210" actId="478"/>
          <ac:spMkLst>
            <pc:docMk/>
            <pc:sldMk cId="3198725601" sldId="358"/>
            <ac:spMk id="2" creationId="{0D76C382-F24F-724B-0115-74D541973B61}"/>
          </ac:spMkLst>
        </pc:spChg>
        <pc:spChg chg="add mod">
          <ac:chgData name="Hoba Jean Paul DJAMA" userId="f30d6993dbc66617" providerId="LiveId" clId="{70326D59-28A1-4693-BB6E-55222793C82C}" dt="2026-05-08T10:19:08.471" v="2319" actId="208"/>
          <ac:spMkLst>
            <pc:docMk/>
            <pc:sldMk cId="3198725601" sldId="358"/>
            <ac:spMk id="3" creationId="{00F8FB01-AC02-1DB8-0635-B54C9E247E14}"/>
          </ac:spMkLst>
        </pc:spChg>
        <pc:spChg chg="add mod">
          <ac:chgData name="Hoba Jean Paul DJAMA" userId="f30d6993dbc66617" providerId="LiveId" clId="{70326D59-28A1-4693-BB6E-55222793C82C}" dt="2026-05-08T10:19:41.974" v="2324" actId="208"/>
          <ac:spMkLst>
            <pc:docMk/>
            <pc:sldMk cId="3198725601" sldId="358"/>
            <ac:spMk id="4" creationId="{EFF4DEFE-54F1-0096-814C-B9F3DD1D6DE6}"/>
          </ac:spMkLst>
        </pc:spChg>
        <pc:spChg chg="mod">
          <ac:chgData name="Hoba Jean Paul DJAMA" userId="f30d6993dbc66617" providerId="LiveId" clId="{70326D59-28A1-4693-BB6E-55222793C82C}" dt="2026-05-11T10:04:30.289" v="3205" actId="207"/>
          <ac:spMkLst>
            <pc:docMk/>
            <pc:sldMk cId="3198725601" sldId="358"/>
            <ac:spMk id="5" creationId="{D4F36627-C3CF-FD41-E61E-D392E24DBF26}"/>
          </ac:spMkLst>
        </pc:spChg>
        <pc:spChg chg="add mod">
          <ac:chgData name="Hoba Jean Paul DJAMA" userId="f30d6993dbc66617" providerId="LiveId" clId="{70326D59-28A1-4693-BB6E-55222793C82C}" dt="2026-05-11T08:34:04.368" v="2494" actId="207"/>
          <ac:spMkLst>
            <pc:docMk/>
            <pc:sldMk cId="3198725601" sldId="358"/>
            <ac:spMk id="6" creationId="{E390142A-9D0B-EC79-F216-2E1A19A244FB}"/>
          </ac:spMkLst>
        </pc:spChg>
        <pc:spChg chg="add mod">
          <ac:chgData name="Hoba Jean Paul DJAMA" userId="f30d6993dbc66617" providerId="LiveId" clId="{70326D59-28A1-4693-BB6E-55222793C82C}" dt="2026-05-08T16:23:55.265" v="2475"/>
          <ac:spMkLst>
            <pc:docMk/>
            <pc:sldMk cId="3198725601" sldId="358"/>
            <ac:spMk id="8" creationId="{FB0AE699-CB7A-2134-0B21-EB95337DE3DF}"/>
          </ac:spMkLst>
        </pc:spChg>
        <pc:spChg chg="add mod">
          <ac:chgData name="Hoba Jean Paul DJAMA" userId="f30d6993dbc66617" providerId="LiveId" clId="{70326D59-28A1-4693-BB6E-55222793C82C}" dt="2026-05-11T10:01:35.990" v="3189"/>
          <ac:spMkLst>
            <pc:docMk/>
            <pc:sldMk cId="3198725601" sldId="358"/>
            <ac:spMk id="9" creationId="{F83B069C-892A-1567-BB12-16E1C63F43D1}"/>
          </ac:spMkLst>
        </pc:spChg>
        <pc:spChg chg="add mod">
          <ac:chgData name="Hoba Jean Paul DJAMA" userId="f30d6993dbc66617" providerId="LiveId" clId="{70326D59-28A1-4693-BB6E-55222793C82C}" dt="2026-05-08T10:24:12.437" v="2361" actId="1037"/>
          <ac:spMkLst>
            <pc:docMk/>
            <pc:sldMk cId="3198725601" sldId="358"/>
            <ac:spMk id="12" creationId="{865C09B6-D765-31E2-CC86-568835BED2FD}"/>
          </ac:spMkLst>
        </pc:spChg>
        <pc:picChg chg="add mod">
          <ac:chgData name="Hoba Jean Paul DJAMA" userId="f30d6993dbc66617" providerId="LiveId" clId="{70326D59-28A1-4693-BB6E-55222793C82C}" dt="2026-05-11T10:02:08.695" v="3196"/>
          <ac:picMkLst>
            <pc:docMk/>
            <pc:sldMk cId="3198725601" sldId="358"/>
            <ac:picMk id="10" creationId="{107DD3A8-D8B6-25FF-BEC6-8ABBA205EFD2}"/>
          </ac:picMkLst>
        </pc:picChg>
      </pc:sldChg>
      <pc:sldChg chg="addSp modSp new mod addAnim delAnim modAnim">
        <pc:chgData name="Hoba Jean Paul DJAMA" userId="f30d6993dbc66617" providerId="LiveId" clId="{70326D59-28A1-4693-BB6E-55222793C82C}" dt="2026-05-11T10:04:21.489" v="3204" actId="207"/>
        <pc:sldMkLst>
          <pc:docMk/>
          <pc:sldMk cId="2584382701" sldId="359"/>
        </pc:sldMkLst>
        <pc:spChg chg="mod">
          <ac:chgData name="Hoba Jean Paul DJAMA" userId="f30d6993dbc66617" providerId="LiveId" clId="{70326D59-28A1-4693-BB6E-55222793C82C}" dt="2026-05-11T10:04:21.489" v="3204" actId="207"/>
          <ac:spMkLst>
            <pc:docMk/>
            <pc:sldMk cId="2584382701" sldId="359"/>
            <ac:spMk id="2" creationId="{4B59C4F1-C941-072E-99DA-86BC5AAFC836}"/>
          </ac:spMkLst>
        </pc:spChg>
        <pc:spChg chg="add mod">
          <ac:chgData name="Hoba Jean Paul DJAMA" userId="f30d6993dbc66617" providerId="LiveId" clId="{70326D59-28A1-4693-BB6E-55222793C82C}" dt="2026-05-11T09:46:42.091" v="3051" actId="1037"/>
          <ac:spMkLst>
            <pc:docMk/>
            <pc:sldMk cId="2584382701" sldId="359"/>
            <ac:spMk id="3" creationId="{B7383458-4A42-51D9-5AAA-4DC9E895A646}"/>
          </ac:spMkLst>
        </pc:spChg>
        <pc:spChg chg="add mod">
          <ac:chgData name="Hoba Jean Paul DJAMA" userId="f30d6993dbc66617" providerId="LiveId" clId="{70326D59-28A1-4693-BB6E-55222793C82C}" dt="2026-05-11T09:36:51.663" v="2910" actId="207"/>
          <ac:spMkLst>
            <pc:docMk/>
            <pc:sldMk cId="2584382701" sldId="359"/>
            <ac:spMk id="4" creationId="{5D1D9751-E017-0352-BC46-B5A06A9784D6}"/>
          </ac:spMkLst>
        </pc:spChg>
        <pc:spChg chg="add mod">
          <ac:chgData name="Hoba Jean Paul DJAMA" userId="f30d6993dbc66617" providerId="LiveId" clId="{70326D59-28A1-4693-BB6E-55222793C82C}" dt="2026-05-11T09:13:51.731" v="2901" actId="403"/>
          <ac:spMkLst>
            <pc:docMk/>
            <pc:sldMk cId="2584382701" sldId="359"/>
            <ac:spMk id="5" creationId="{B207F7F0-97B6-EDB8-AFA3-B9714A79DFB6}"/>
          </ac:spMkLst>
        </pc:spChg>
        <pc:spChg chg="add mod">
          <ac:chgData name="Hoba Jean Paul DJAMA" userId="f30d6993dbc66617" providerId="LiveId" clId="{70326D59-28A1-4693-BB6E-55222793C82C}" dt="2026-05-11T09:46:32.788" v="3041" actId="1038"/>
          <ac:spMkLst>
            <pc:docMk/>
            <pc:sldMk cId="2584382701" sldId="359"/>
            <ac:spMk id="6" creationId="{2A69D01C-5EF7-701C-3F1A-338902E99B47}"/>
          </ac:spMkLst>
        </pc:spChg>
        <pc:spChg chg="add mod">
          <ac:chgData name="Hoba Jean Paul DJAMA" userId="f30d6993dbc66617" providerId="LiveId" clId="{70326D59-28A1-4693-BB6E-55222793C82C}" dt="2026-05-11T09:49:43.323" v="3082" actId="1035"/>
          <ac:spMkLst>
            <pc:docMk/>
            <pc:sldMk cId="2584382701" sldId="359"/>
            <ac:spMk id="7" creationId="{7A863AE1-4F73-D674-91AF-154ED1166312}"/>
          </ac:spMkLst>
        </pc:spChg>
        <pc:spChg chg="add mod">
          <ac:chgData name="Hoba Jean Paul DJAMA" userId="f30d6993dbc66617" providerId="LiveId" clId="{70326D59-28A1-4693-BB6E-55222793C82C}" dt="2026-05-11T09:51:43.188" v="3130" actId="1076"/>
          <ac:spMkLst>
            <pc:docMk/>
            <pc:sldMk cId="2584382701" sldId="359"/>
            <ac:spMk id="8" creationId="{0566DC48-F5AF-BEC3-0D63-7D5653D63C59}"/>
          </ac:spMkLst>
        </pc:spChg>
        <pc:spChg chg="add mod">
          <ac:chgData name="Hoba Jean Paul DJAMA" userId="f30d6993dbc66617" providerId="LiveId" clId="{70326D59-28A1-4693-BB6E-55222793C82C}" dt="2026-05-11T10:01:33.231" v="3188"/>
          <ac:spMkLst>
            <pc:docMk/>
            <pc:sldMk cId="2584382701" sldId="359"/>
            <ac:spMk id="9" creationId="{F9528142-CE9C-DFEF-2151-5ECD1A8A125B}"/>
          </ac:spMkLst>
        </pc:spChg>
        <pc:picChg chg="add mod">
          <ac:chgData name="Hoba Jean Paul DJAMA" userId="f30d6993dbc66617" providerId="LiveId" clId="{70326D59-28A1-4693-BB6E-55222793C82C}" dt="2026-05-11T10:02:11.473" v="3197"/>
          <ac:picMkLst>
            <pc:docMk/>
            <pc:sldMk cId="2584382701" sldId="359"/>
            <ac:picMk id="10" creationId="{F67B8F60-C6BF-FC4F-DC22-DB47CFE99B6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a:latin typeface="Arial" panose="020B0604020202020204" pitchFamily="34" charset="0"/>
                <a:ea typeface="+mn-ea"/>
              </a:defRPr>
            </a:lvl1pPr>
          </a:lstStyle>
          <a:p>
            <a:pPr>
              <a:defRPr/>
            </a:pPr>
            <a:endParaRPr lang="fr-CA"/>
          </a:p>
        </p:txBody>
      </p:sp>
      <p:sp>
        <p:nvSpPr>
          <p:cNvPr id="3075" name="Rectangle 3"/>
          <p:cNvSpPr>
            <a:spLocks noGrp="1" noChangeArrowheads="1"/>
          </p:cNvSpPr>
          <p:nvPr>
            <p:ph type="dt" sz="quarter"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a:latin typeface="Arial" panose="020B0604020202020204" pitchFamily="34" charset="0"/>
                <a:ea typeface="+mn-ea"/>
              </a:defRPr>
            </a:lvl1pPr>
          </a:lstStyle>
          <a:p>
            <a:pPr>
              <a:defRPr/>
            </a:pPr>
            <a:endParaRPr lang="fr-CA"/>
          </a:p>
        </p:txBody>
      </p:sp>
      <p:sp>
        <p:nvSpPr>
          <p:cNvPr id="3076" name="Rectangle 4"/>
          <p:cNvSpPr>
            <a:spLocks noGrp="1" noChangeArrowheads="1"/>
          </p:cNvSpPr>
          <p:nvPr>
            <p:ph type="ftr" sz="quarter" idx="2"/>
          </p:nvPr>
        </p:nvSpPr>
        <p:spPr bwMode="auto">
          <a:xfrm>
            <a:off x="0" y="8829675"/>
            <a:ext cx="3038475" cy="465138"/>
          </a:xfrm>
          <a:prstGeom prst="rect">
            <a:avLst/>
          </a:prstGeom>
          <a:noFill/>
          <a:ln>
            <a:noFill/>
          </a:ln>
          <a:effectLst/>
        </p:spPr>
        <p:txBody>
          <a:bodyPr vert="horz" wrap="square" lIns="93177" tIns="46589" rIns="93177" bIns="46589" numCol="1" anchor="b" anchorCtr="0" compatLnSpc="1"/>
          <a:lstStyle>
            <a:lvl1pPr defTabSz="932180">
              <a:defRPr sz="1200">
                <a:latin typeface="Arial" panose="020B0604020202020204" pitchFamily="34" charset="0"/>
                <a:ea typeface="+mn-ea"/>
              </a:defRPr>
            </a:lvl1pPr>
          </a:lstStyle>
          <a:p>
            <a:pPr>
              <a:defRPr/>
            </a:pPr>
            <a:endParaRPr lang="fr-CA"/>
          </a:p>
        </p:txBody>
      </p:sp>
      <p:sp>
        <p:nvSpPr>
          <p:cNvPr id="3077" name="Rectangle 5"/>
          <p:cNvSpPr>
            <a:spLocks noGrp="1" noChangeArrowheads="1"/>
          </p:cNvSpPr>
          <p:nvPr>
            <p:ph type="sldNum" sz="quarter" idx="3"/>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lstStyle>
            <a:lvl1pPr algn="r" defTabSz="932180">
              <a:defRPr sz="1200">
                <a:latin typeface="Arial" panose="020B0604020202020204" pitchFamily="34" charset="0"/>
                <a:ea typeface="+mn-ea"/>
              </a:defRPr>
            </a:lvl1pPr>
          </a:lstStyle>
          <a:p>
            <a:pPr>
              <a:defRPr/>
            </a:pPr>
            <a:fld id="{EFB73F57-00A7-4824-AB68-DA8CEE9E7E80}" type="slidenum">
              <a:rPr lang="fr-CA"/>
              <a:t>‹N°›</a:t>
            </a:fld>
            <a:endParaRPr lang="fr-CA"/>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a:latin typeface="Arial" panose="020B0604020202020204" pitchFamily="34" charset="0"/>
                <a:ea typeface="+mn-ea"/>
              </a:defRPr>
            </a:lvl1pPr>
          </a:lstStyle>
          <a:p>
            <a:pPr>
              <a:defRPr/>
            </a:pPr>
            <a:endParaRPr lang="fr-CA"/>
          </a:p>
        </p:txBody>
      </p:sp>
      <p:sp>
        <p:nvSpPr>
          <p:cNvPr id="11267" name="Rectangle 3"/>
          <p:cNvSpPr>
            <a:spLocks noGrp="1" noChangeArrowheads="1"/>
          </p:cNvSpPr>
          <p:nvPr>
            <p:ph type="dt"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a:latin typeface="Arial" panose="020B0604020202020204" pitchFamily="34" charset="0"/>
                <a:ea typeface="+mn-ea"/>
              </a:defRPr>
            </a:lvl1pPr>
          </a:lstStyle>
          <a:p>
            <a:pPr>
              <a:defRPr/>
            </a:pPr>
            <a:endParaRPr lang="fr-CA"/>
          </a:p>
        </p:txBody>
      </p:sp>
      <p:sp>
        <p:nvSpPr>
          <p:cNvPr id="1843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ln>
        </p:spPr>
        <p:txBody>
          <a:bodyPr/>
          <a:lstStyle/>
          <a:p>
            <a:endParaRPr lang="en-US"/>
          </a:p>
        </p:txBody>
      </p:sp>
      <p:sp>
        <p:nvSpPr>
          <p:cNvPr id="11269" name="Rectangle 5"/>
          <p:cNvSpPr>
            <a:spLocks noGrp="1" noChangeArrowheads="1"/>
          </p:cNvSpPr>
          <p:nvPr>
            <p:ph type="body" sz="quarter" idx="3"/>
          </p:nvPr>
        </p:nvSpPr>
        <p:spPr bwMode="auto">
          <a:xfrm>
            <a:off x="701675" y="4416425"/>
            <a:ext cx="5607050" cy="4183063"/>
          </a:xfrm>
          <a:prstGeom prst="rect">
            <a:avLst/>
          </a:prstGeom>
          <a:noFill/>
          <a:ln>
            <a:noFill/>
          </a:ln>
          <a:effectLst/>
        </p:spPr>
        <p:txBody>
          <a:bodyPr vert="horz" wrap="square" lIns="93177" tIns="46589" rIns="93177" bIns="46589" numCol="1" anchor="t" anchorCtr="0" compatLnSpc="1"/>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11270" name="Rectangle 6"/>
          <p:cNvSpPr>
            <a:spLocks noGrp="1" noChangeArrowheads="1"/>
          </p:cNvSpPr>
          <p:nvPr>
            <p:ph type="ftr" sz="quarter" idx="4"/>
          </p:nvPr>
        </p:nvSpPr>
        <p:spPr bwMode="auto">
          <a:xfrm>
            <a:off x="0" y="8829675"/>
            <a:ext cx="3038475" cy="465138"/>
          </a:xfrm>
          <a:prstGeom prst="rect">
            <a:avLst/>
          </a:prstGeom>
          <a:noFill/>
          <a:ln>
            <a:noFill/>
          </a:ln>
          <a:effectLst/>
        </p:spPr>
        <p:txBody>
          <a:bodyPr vert="horz" wrap="square" lIns="93177" tIns="46589" rIns="93177" bIns="46589" numCol="1" anchor="b" anchorCtr="0" compatLnSpc="1"/>
          <a:lstStyle>
            <a:lvl1pPr defTabSz="932180">
              <a:defRPr sz="1200">
                <a:latin typeface="Arial" panose="020B0604020202020204" pitchFamily="34" charset="0"/>
                <a:ea typeface="+mn-ea"/>
              </a:defRPr>
            </a:lvl1pPr>
          </a:lstStyle>
          <a:p>
            <a:pPr>
              <a:defRPr/>
            </a:pPr>
            <a:endParaRPr lang="fr-CA"/>
          </a:p>
        </p:txBody>
      </p:sp>
      <p:sp>
        <p:nvSpPr>
          <p:cNvPr id="11271" name="Rectangle 7"/>
          <p:cNvSpPr>
            <a:spLocks noGrp="1" noChangeArrowheads="1"/>
          </p:cNvSpPr>
          <p:nvPr>
            <p:ph type="sldNum" sz="quarter" idx="5"/>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lstStyle>
            <a:lvl1pPr algn="r" defTabSz="932180">
              <a:defRPr sz="1200">
                <a:latin typeface="Arial" panose="020B0604020202020204" pitchFamily="34" charset="0"/>
                <a:ea typeface="+mn-ea"/>
              </a:defRPr>
            </a:lvl1pPr>
          </a:lstStyle>
          <a:p>
            <a:pPr>
              <a:defRPr/>
            </a:pPr>
            <a:fld id="{4824BCD5-7DB3-4570-95FB-D6BD68920CD5}" type="slidenum">
              <a:rPr lang="fr-CA"/>
              <a:t>‹N°›</a:t>
            </a:fld>
            <a:endParaRPr lang="fr-CA"/>
          </a:p>
        </p:txBody>
      </p:sp>
    </p:spTree>
    <p:extLst>
      <p:ext uri="{BB962C8B-B14F-4D97-AF65-F5344CB8AC3E}">
        <p14:creationId xmlns:p14="http://schemas.microsoft.com/office/powerpoint/2010/main" val="40027240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a:t>
            </a:fld>
            <a:endParaRPr lang="fr-CA"/>
          </a:p>
        </p:txBody>
      </p:sp>
    </p:spTree>
    <p:extLst>
      <p:ext uri="{BB962C8B-B14F-4D97-AF65-F5344CB8AC3E}">
        <p14:creationId xmlns:p14="http://schemas.microsoft.com/office/powerpoint/2010/main" val="3433891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2</a:t>
            </a:fld>
            <a:endParaRPr lang="fr-CA"/>
          </a:p>
        </p:txBody>
      </p:sp>
    </p:spTree>
    <p:extLst>
      <p:ext uri="{BB962C8B-B14F-4D97-AF65-F5344CB8AC3E}">
        <p14:creationId xmlns:p14="http://schemas.microsoft.com/office/powerpoint/2010/main" val="186780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3</a:t>
            </a:fld>
            <a:endParaRPr lang="fr-CA"/>
          </a:p>
        </p:txBody>
      </p:sp>
    </p:spTree>
    <p:extLst>
      <p:ext uri="{BB962C8B-B14F-4D97-AF65-F5344CB8AC3E}">
        <p14:creationId xmlns:p14="http://schemas.microsoft.com/office/powerpoint/2010/main" val="2289514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4</a:t>
            </a:fld>
            <a:endParaRPr lang="fr-CA"/>
          </a:p>
        </p:txBody>
      </p:sp>
    </p:spTree>
    <p:extLst>
      <p:ext uri="{BB962C8B-B14F-4D97-AF65-F5344CB8AC3E}">
        <p14:creationId xmlns:p14="http://schemas.microsoft.com/office/powerpoint/2010/main" val="2108157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5</a:t>
            </a:fld>
            <a:endParaRPr lang="fr-CA"/>
          </a:p>
        </p:txBody>
      </p:sp>
    </p:spTree>
    <p:extLst>
      <p:ext uri="{BB962C8B-B14F-4D97-AF65-F5344CB8AC3E}">
        <p14:creationId xmlns:p14="http://schemas.microsoft.com/office/powerpoint/2010/main" val="414767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6</a:t>
            </a:fld>
            <a:endParaRPr lang="fr-CA"/>
          </a:p>
        </p:txBody>
      </p:sp>
    </p:spTree>
    <p:extLst>
      <p:ext uri="{BB962C8B-B14F-4D97-AF65-F5344CB8AC3E}">
        <p14:creationId xmlns:p14="http://schemas.microsoft.com/office/powerpoint/2010/main" val="3355900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7</a:t>
            </a:fld>
            <a:endParaRPr lang="fr-CA"/>
          </a:p>
        </p:txBody>
      </p:sp>
    </p:spTree>
    <p:extLst>
      <p:ext uri="{BB962C8B-B14F-4D97-AF65-F5344CB8AC3E}">
        <p14:creationId xmlns:p14="http://schemas.microsoft.com/office/powerpoint/2010/main" val="1178767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8</a:t>
            </a:fld>
            <a:endParaRPr lang="fr-CA"/>
          </a:p>
        </p:txBody>
      </p:sp>
    </p:spTree>
    <p:extLst>
      <p:ext uri="{BB962C8B-B14F-4D97-AF65-F5344CB8AC3E}">
        <p14:creationId xmlns:p14="http://schemas.microsoft.com/office/powerpoint/2010/main" val="2067809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9</a:t>
            </a:fld>
            <a:endParaRPr lang="fr-CA"/>
          </a:p>
        </p:txBody>
      </p:sp>
    </p:spTree>
    <p:extLst>
      <p:ext uri="{BB962C8B-B14F-4D97-AF65-F5344CB8AC3E}">
        <p14:creationId xmlns:p14="http://schemas.microsoft.com/office/powerpoint/2010/main" val="3186257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10</a:t>
            </a:fld>
            <a:endParaRPr lang="fr-CA"/>
          </a:p>
        </p:txBody>
      </p:sp>
    </p:spTree>
    <p:extLst>
      <p:ext uri="{BB962C8B-B14F-4D97-AF65-F5344CB8AC3E}">
        <p14:creationId xmlns:p14="http://schemas.microsoft.com/office/powerpoint/2010/main" val="2465135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11</a:t>
            </a:fld>
            <a:endParaRPr lang="fr-CA"/>
          </a:p>
        </p:txBody>
      </p:sp>
    </p:spTree>
    <p:extLst>
      <p:ext uri="{BB962C8B-B14F-4D97-AF65-F5344CB8AC3E}">
        <p14:creationId xmlns:p14="http://schemas.microsoft.com/office/powerpoint/2010/main" val="3748094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12</a:t>
            </a:fld>
            <a:endParaRPr lang="fr-CA"/>
          </a:p>
        </p:txBody>
      </p:sp>
    </p:spTree>
    <p:extLst>
      <p:ext uri="{BB962C8B-B14F-4D97-AF65-F5344CB8AC3E}">
        <p14:creationId xmlns:p14="http://schemas.microsoft.com/office/powerpoint/2010/main" val="1535201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13</a:t>
            </a:fld>
            <a:endParaRPr lang="fr-CA"/>
          </a:p>
        </p:txBody>
      </p:sp>
    </p:spTree>
    <p:extLst>
      <p:ext uri="{BB962C8B-B14F-4D97-AF65-F5344CB8AC3E}">
        <p14:creationId xmlns:p14="http://schemas.microsoft.com/office/powerpoint/2010/main" val="1201893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14</a:t>
            </a:fld>
            <a:endParaRPr lang="fr-CA"/>
          </a:p>
        </p:txBody>
      </p:sp>
    </p:spTree>
    <p:extLst>
      <p:ext uri="{BB962C8B-B14F-4D97-AF65-F5344CB8AC3E}">
        <p14:creationId xmlns:p14="http://schemas.microsoft.com/office/powerpoint/2010/main" val="347946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15</a:t>
            </a:fld>
            <a:endParaRPr lang="fr-CA"/>
          </a:p>
        </p:txBody>
      </p:sp>
    </p:spTree>
    <p:extLst>
      <p:ext uri="{BB962C8B-B14F-4D97-AF65-F5344CB8AC3E}">
        <p14:creationId xmlns:p14="http://schemas.microsoft.com/office/powerpoint/2010/main" val="2485211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16</a:t>
            </a:fld>
            <a:endParaRPr lang="fr-CA"/>
          </a:p>
        </p:txBody>
      </p:sp>
    </p:spTree>
    <p:extLst>
      <p:ext uri="{BB962C8B-B14F-4D97-AF65-F5344CB8AC3E}">
        <p14:creationId xmlns:p14="http://schemas.microsoft.com/office/powerpoint/2010/main" val="4426206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Rectangle 3"/>
          <p:cNvSpPr/>
          <p:nvPr userDrawn="1"/>
        </p:nvSpPr>
        <p:spPr>
          <a:xfrm>
            <a:off x="0" y="115888"/>
            <a:ext cx="9715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5" name="Rectangle 4"/>
          <p:cNvSpPr/>
          <p:nvPr userDrawn="1"/>
        </p:nvSpPr>
        <p:spPr>
          <a:xfrm>
            <a:off x="0" y="6237288"/>
            <a:ext cx="6876256" cy="620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6" name="Rectangle 5"/>
          <p:cNvSpPr/>
          <p:nvPr userDrawn="1"/>
        </p:nvSpPr>
        <p:spPr>
          <a:xfrm>
            <a:off x="0" y="549275"/>
            <a:ext cx="9144000" cy="620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23554" name="Rectangle 3"/>
          <p:cNvSpPr>
            <a:spLocks noGrp="1" noChangeArrowheads="1"/>
          </p:cNvSpPr>
          <p:nvPr>
            <p:ph type="ctrTitle" hasCustomPrompt="1"/>
          </p:nvPr>
        </p:nvSpPr>
        <p:spPr>
          <a:xfrm>
            <a:off x="1331640" y="1916832"/>
            <a:ext cx="6048672" cy="1519808"/>
          </a:xfrm>
        </p:spPr>
        <p:txBody>
          <a:bodyPr/>
          <a:lstStyle>
            <a:lvl1pPr algn="r">
              <a:defRPr sz="4000">
                <a:solidFill>
                  <a:srgbClr val="E2001A"/>
                </a:solidFill>
                <a:latin typeface="Calibri" panose="020F0502020204030204" pitchFamily="34" charset="0"/>
                <a:cs typeface="Calibri" panose="020F0502020204030204" pitchFamily="34" charset="0"/>
              </a:defRPr>
            </a:lvl1pPr>
          </a:lstStyle>
          <a:p>
            <a:pPr lvl="0"/>
            <a:r>
              <a:rPr lang="fr-CA" noProof="0" dirty="0"/>
              <a:t>Cliquez et modifiez le titre</a:t>
            </a:r>
          </a:p>
        </p:txBody>
      </p:sp>
      <p:sp>
        <p:nvSpPr>
          <p:cNvPr id="23555" name="Rectangle 4"/>
          <p:cNvSpPr>
            <a:spLocks noGrp="1" noChangeArrowheads="1"/>
          </p:cNvSpPr>
          <p:nvPr>
            <p:ph type="subTitle" idx="1" hasCustomPrompt="1"/>
          </p:nvPr>
        </p:nvSpPr>
        <p:spPr>
          <a:xfrm>
            <a:off x="2411760" y="3518712"/>
            <a:ext cx="6480720" cy="1278440"/>
          </a:xfrm>
        </p:spPr>
        <p:txBody>
          <a:bodyPr/>
          <a:lstStyle>
            <a:lvl1pPr marL="0" indent="0" algn="r">
              <a:buFontTx/>
              <a:buNone/>
              <a:defRPr sz="2600" i="1">
                <a:solidFill>
                  <a:schemeClr val="tx1"/>
                </a:solidFill>
                <a:latin typeface="Calibri" panose="020F0502020204030204" pitchFamily="34" charset="0"/>
                <a:cs typeface="Calibri" panose="020F0502020204030204" pitchFamily="34" charset="0"/>
              </a:defRPr>
            </a:lvl1pPr>
          </a:lstStyle>
          <a:p>
            <a:pPr lvl="0"/>
            <a:r>
              <a:rPr lang="fr-CA" noProof="0" dirty="0"/>
              <a:t>Cliquez pour modifier le style des sous-titres du masque</a:t>
            </a:r>
          </a:p>
        </p:txBody>
      </p:sp>
      <p:cxnSp>
        <p:nvCxnSpPr>
          <p:cNvPr id="19" name="Connecteur en angle 18"/>
          <p:cNvCxnSpPr/>
          <p:nvPr userDrawn="1"/>
        </p:nvCxnSpPr>
        <p:spPr>
          <a:xfrm>
            <a:off x="211138" y="1484784"/>
            <a:ext cx="8681342" cy="38698"/>
          </a:xfrm>
          <a:prstGeom prst="bentConnector3">
            <a:avLst/>
          </a:prstGeom>
        </p:spPr>
        <p:style>
          <a:lnRef idx="2">
            <a:schemeClr val="dk1"/>
          </a:lnRef>
          <a:fillRef idx="0">
            <a:schemeClr val="dk1"/>
          </a:fillRef>
          <a:effectRef idx="1">
            <a:schemeClr val="dk1"/>
          </a:effectRef>
          <a:fontRef idx="minor">
            <a:schemeClr val="tx1"/>
          </a:fontRef>
        </p:style>
      </p:cxnSp>
      <p:cxnSp>
        <p:nvCxnSpPr>
          <p:cNvPr id="24" name="Connecteur en angle 23"/>
          <p:cNvCxnSpPr/>
          <p:nvPr userDrawn="1"/>
        </p:nvCxnSpPr>
        <p:spPr>
          <a:xfrm flipV="1">
            <a:off x="210443" y="1440160"/>
            <a:ext cx="8682037" cy="123178"/>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7" name="Arrondir un rectangle avec un coin diagonal 26"/>
          <p:cNvSpPr/>
          <p:nvPr userDrawn="1"/>
        </p:nvSpPr>
        <p:spPr>
          <a:xfrm>
            <a:off x="35496" y="4899724"/>
            <a:ext cx="3960440" cy="292606"/>
          </a:xfrm>
          <a:prstGeom prst="round2Diag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56" y="5515793"/>
            <a:ext cx="452965" cy="145455"/>
          </a:xfrm>
          <a:prstGeom prst="rect">
            <a:avLst/>
          </a:prstGeom>
          <a:noFill/>
          <a:ln w="9525">
            <a:noFill/>
            <a:miter lim="800000"/>
            <a:headEnd/>
            <a:tailEnd/>
          </a:ln>
        </p:spPr>
      </p:pic>
      <p:sp>
        <p:nvSpPr>
          <p:cNvPr id="29" name="ZoneTexte 28"/>
          <p:cNvSpPr txBox="1"/>
          <p:nvPr userDrawn="1"/>
        </p:nvSpPr>
        <p:spPr>
          <a:xfrm>
            <a:off x="35496" y="4859868"/>
            <a:ext cx="3960440" cy="338554"/>
          </a:xfrm>
          <a:prstGeom prst="rect">
            <a:avLst/>
          </a:prstGeom>
          <a:noFill/>
        </p:spPr>
        <p:txBody>
          <a:bodyPr wrap="square" rtlCol="0">
            <a:spAutoFit/>
          </a:bodyPr>
          <a:lstStyle/>
          <a:p>
            <a:r>
              <a:rPr lang="fr-FR" sz="1600" b="1" i="1" dirty="0">
                <a:solidFill>
                  <a:schemeClr val="bg1"/>
                </a:solidFill>
                <a:latin typeface="Arial Narrow" panose="020B0606020202030204" pitchFamily="34" charset="0"/>
                <a:cs typeface="Times New Roman" panose="02020603050405020304" pitchFamily="18" charset="0"/>
              </a:rPr>
              <a:t>La Force de l’Engagement et de l’Expertise</a:t>
            </a:r>
          </a:p>
        </p:txBody>
      </p:sp>
      <p:pic>
        <p:nvPicPr>
          <p:cNvPr id="21"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5877272"/>
            <a:ext cx="452965" cy="145455"/>
          </a:xfrm>
          <a:prstGeom prst="rect">
            <a:avLst/>
          </a:prstGeom>
          <a:noFill/>
          <a:ln w="9525">
            <a:noFill/>
            <a:miter lim="800000"/>
            <a:headEnd/>
            <a:tailEnd/>
          </a:ln>
        </p:spPr>
      </p:pic>
      <p:pic>
        <p:nvPicPr>
          <p:cNvPr id="22"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6235873"/>
            <a:ext cx="452965" cy="145455"/>
          </a:xfrm>
          <a:prstGeom prst="rect">
            <a:avLst/>
          </a:prstGeom>
          <a:noFill/>
          <a:ln w="9525">
            <a:noFill/>
            <a:miter lim="800000"/>
            <a:headEnd/>
            <a:tailEnd/>
          </a:ln>
        </p:spPr>
      </p:pic>
      <p:pic>
        <p:nvPicPr>
          <p:cNvPr id="23"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6595913"/>
            <a:ext cx="452965" cy="145455"/>
          </a:xfrm>
          <a:prstGeom prst="rect">
            <a:avLst/>
          </a:prstGeom>
          <a:noFill/>
          <a:ln w="9525">
            <a:noFill/>
            <a:miter lim="800000"/>
            <a:headEnd/>
            <a:tailEnd/>
          </a:ln>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
        <p:nvSpPr>
          <p:cNvPr id="3" name="Espace réservé du contenu 2"/>
          <p:cNvSpPr>
            <a:spLocks noGrp="1"/>
          </p:cNvSpPr>
          <p:nvPr>
            <p:ph idx="1" hasCustomPrompt="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pic>
        <p:nvPicPr>
          <p:cNvPr id="4" name="Image 3"/>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1115616" y="2204864"/>
            <a:ext cx="7128792" cy="3816424"/>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hasCustomPrompt="1"/>
          </p:nvPr>
        </p:nvSpPr>
        <p:spPr>
          <a:xfrm>
            <a:off x="679450"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4" name="Espace réservé du contenu 3"/>
          <p:cNvSpPr>
            <a:spLocks noGrp="1"/>
          </p:cNvSpPr>
          <p:nvPr>
            <p:ph sz="half" idx="2" hasCustomPrompt="1"/>
          </p:nvPr>
        </p:nvSpPr>
        <p:spPr>
          <a:xfrm>
            <a:off x="4759325"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CA" noProof="0"/>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32588" y="-100013"/>
            <a:ext cx="2016125" cy="5976938"/>
          </a:xfrm>
        </p:spPr>
        <p:txBody>
          <a:bodyPr vert="eaVert"/>
          <a:lstStyle/>
          <a:p>
            <a:r>
              <a:rPr lang="fr-FR"/>
              <a:t>Modifiez le style du titre</a:t>
            </a:r>
            <a:endParaRPr lang="fr-CA"/>
          </a:p>
        </p:txBody>
      </p:sp>
      <p:sp>
        <p:nvSpPr>
          <p:cNvPr id="3" name="Espace réservé du texte vertical 2"/>
          <p:cNvSpPr>
            <a:spLocks noGrp="1"/>
          </p:cNvSpPr>
          <p:nvPr>
            <p:ph type="body" orient="vert" idx="1" hasCustomPrompt="1"/>
          </p:nvPr>
        </p:nvSpPr>
        <p:spPr>
          <a:xfrm>
            <a:off x="679450" y="-100013"/>
            <a:ext cx="5900738" cy="59769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bwMode="auto">
          <a:xfrm>
            <a:off x="684213" y="-188913"/>
            <a:ext cx="8208962" cy="1143001"/>
          </a:xfrm>
          <a:prstGeom prst="rect">
            <a:avLst/>
          </a:prstGeom>
          <a:noFill/>
          <a:ln>
            <a:noFill/>
          </a:ln>
        </p:spPr>
        <p:txBody>
          <a:bodyPr vert="horz" wrap="square" lIns="91440" tIns="45720" rIns="91440" bIns="45720" numCol="1" anchor="ctr" anchorCtr="0" compatLnSpc="1"/>
          <a:lstStyle/>
          <a:p>
            <a:pPr lvl="0"/>
            <a:r>
              <a:rPr lang="fr-CA" dirty="0"/>
              <a:t>Cliquez et modifiez le titre</a:t>
            </a:r>
          </a:p>
        </p:txBody>
      </p:sp>
      <p:sp>
        <p:nvSpPr>
          <p:cNvPr id="1027" name="Rectangle 4"/>
          <p:cNvSpPr>
            <a:spLocks noGrp="1" noChangeArrowheads="1"/>
          </p:cNvSpPr>
          <p:nvPr>
            <p:ph type="body" idx="1"/>
          </p:nvPr>
        </p:nvSpPr>
        <p:spPr bwMode="auto">
          <a:xfrm>
            <a:off x="679449" y="1125538"/>
            <a:ext cx="8213725" cy="4751387"/>
          </a:xfrm>
          <a:prstGeom prst="rect">
            <a:avLst/>
          </a:prstGeom>
          <a:noFill/>
          <a:ln w="9525">
            <a:noFill/>
            <a:miter lim="800000"/>
          </a:ln>
        </p:spPr>
        <p:txBody>
          <a:bodyPr vert="horz" wrap="square" lIns="91440" tIns="45720" rIns="91440" bIns="45720" numCol="1" anchor="t" anchorCtr="0" compatLnSpc="1"/>
          <a:lstStyle/>
          <a:p>
            <a:pPr lvl="0"/>
            <a:r>
              <a:rPr lang="fr-CA" dirty="0"/>
              <a:t>Cliquez pour modifier les styles du texte du masque</a:t>
            </a:r>
          </a:p>
          <a:p>
            <a:pPr lvl="1"/>
            <a:r>
              <a:rPr lang="fr-CA" dirty="0"/>
              <a:t>Deuxième niveau</a:t>
            </a:r>
          </a:p>
          <a:p>
            <a:pPr lvl="2"/>
            <a:r>
              <a:rPr lang="fr-CA" dirty="0"/>
              <a:t> Troisième niveau</a:t>
            </a:r>
          </a:p>
          <a:p>
            <a:pPr lvl="3"/>
            <a:r>
              <a:rPr lang="fr-CA" dirty="0"/>
              <a:t>Quatrième niveau</a:t>
            </a:r>
          </a:p>
          <a:p>
            <a:pPr lvl="4"/>
            <a:r>
              <a:rPr lang="fr-CA" dirty="0"/>
              <a:t>Cinquième niveau</a:t>
            </a:r>
          </a:p>
        </p:txBody>
      </p:sp>
      <p:cxnSp>
        <p:nvCxnSpPr>
          <p:cNvPr id="10" name="Connecteur en angle 9"/>
          <p:cNvCxnSpPr/>
          <p:nvPr userDrawn="1"/>
        </p:nvCxnSpPr>
        <p:spPr>
          <a:xfrm flipV="1">
            <a:off x="679450" y="764704"/>
            <a:ext cx="8213725" cy="72008"/>
          </a:xfrm>
          <a:prstGeom prst="bentConnector3">
            <a:avLst/>
          </a:prstGeom>
        </p:spPr>
        <p:style>
          <a:lnRef idx="2">
            <a:schemeClr val="dk1"/>
          </a:lnRef>
          <a:fillRef idx="0">
            <a:schemeClr val="dk1"/>
          </a:fillRef>
          <a:effectRef idx="1">
            <a:schemeClr val="dk1"/>
          </a:effectRef>
          <a:fontRef idx="minor">
            <a:schemeClr val="tx1"/>
          </a:fontRef>
        </p:style>
      </p:cxnSp>
      <p:cxnSp>
        <p:nvCxnSpPr>
          <p:cNvPr id="11" name="Connecteur en angle 10"/>
          <p:cNvCxnSpPr/>
          <p:nvPr userDrawn="1"/>
        </p:nvCxnSpPr>
        <p:spPr>
          <a:xfrm flipV="1">
            <a:off x="679450" y="686150"/>
            <a:ext cx="8213725" cy="78554"/>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3" name="Rectangle 2"/>
          <p:cNvSpPr/>
          <p:nvPr userDrawn="1"/>
        </p:nvSpPr>
        <p:spPr>
          <a:xfrm>
            <a:off x="0" y="296962"/>
            <a:ext cx="679450" cy="39573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ü"/>
        <a:defRPr sz="2400">
          <a:solidFill>
            <a:srgbClr val="001523"/>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ü"/>
        <a:defRPr sz="2000">
          <a:solidFill>
            <a:srgbClr val="001523"/>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ZoneTexte 1"/>
          <p:cNvSpPr txBox="1"/>
          <p:nvPr/>
        </p:nvSpPr>
        <p:spPr>
          <a:xfrm>
            <a:off x="0" y="5517232"/>
            <a:ext cx="683568" cy="971277"/>
          </a:xfrm>
          <a:prstGeom prst="rect">
            <a:avLst/>
          </a:prstGeom>
          <a:solidFill>
            <a:schemeClr val="bg1"/>
          </a:solidFill>
        </p:spPr>
        <p:txBody>
          <a:bodyPr wrap="square" rtlCol="0">
            <a:spAutoFit/>
          </a:bodyPr>
          <a:lstStyle/>
          <a:p>
            <a:endParaRPr lang="fr-CI" noProof="0" dirty="0"/>
          </a:p>
        </p:txBody>
      </p:sp>
      <p:pic>
        <p:nvPicPr>
          <p:cNvPr id="6" name="Image 5" descr="C:/Users/hjpdj/Downloads/osisg_sa (1).pngosisg_sa (1)"/>
          <p:cNvPicPr>
            <a:picLocks noChangeAspect="1"/>
          </p:cNvPicPr>
          <p:nvPr/>
        </p:nvPicPr>
        <p:blipFill>
          <a:blip r:embed="rId4"/>
          <a:srcRect t="1222" b="1222"/>
          <a:stretch>
            <a:fillRect/>
          </a:stretch>
        </p:blipFill>
        <p:spPr>
          <a:xfrm>
            <a:off x="3203848" y="112812"/>
            <a:ext cx="2743583" cy="1299964"/>
          </a:xfrm>
          <a:prstGeom prst="rect">
            <a:avLst/>
          </a:prstGeom>
        </p:spPr>
      </p:pic>
      <p:pic>
        <p:nvPicPr>
          <p:cNvPr id="7" name="Image 6"/>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9" name="Titre 8"/>
          <p:cNvSpPr>
            <a:spLocks noGrp="1"/>
          </p:cNvSpPr>
          <p:nvPr>
            <p:ph type="ctrTitle"/>
          </p:nvPr>
        </p:nvSpPr>
        <p:spPr>
          <a:xfrm>
            <a:off x="467544" y="2564904"/>
            <a:ext cx="8064896" cy="1519808"/>
          </a:xfrm>
        </p:spPr>
        <p:txBody>
          <a:bodyPr/>
          <a:lstStyle/>
          <a:p>
            <a:pPr algn="ctr"/>
            <a:r>
              <a:rPr lang="fr-FR" dirty="0" smtClean="0">
                <a:latin typeface="+mj-lt"/>
              </a:rPr>
              <a:t>QUALITE DE CODE ET TESTS AUTOMATISES</a:t>
            </a:r>
            <a:endParaRPr lang="fr-FR" dirty="0">
              <a:latin typeface="+mj-lt"/>
            </a:endParaRPr>
          </a:p>
        </p:txBody>
      </p:sp>
      <p:sp>
        <p:nvSpPr>
          <p:cNvPr id="3" name="ZoneTexte 2"/>
          <p:cNvSpPr txBox="1"/>
          <p:nvPr/>
        </p:nvSpPr>
        <p:spPr>
          <a:xfrm>
            <a:off x="5076056" y="5079540"/>
            <a:ext cx="2520280" cy="1200329"/>
          </a:xfrm>
          <a:prstGeom prst="rect">
            <a:avLst/>
          </a:prstGeom>
          <a:noFill/>
        </p:spPr>
        <p:txBody>
          <a:bodyPr wrap="square" rtlCol="0">
            <a:spAutoFit/>
          </a:bodyPr>
          <a:lstStyle/>
          <a:p>
            <a:r>
              <a:rPr lang="fr-FR" dirty="0" smtClean="0">
                <a:latin typeface="Times New Roman" panose="02020603050405020304" pitchFamily="18" charset="0"/>
                <a:cs typeface="Times New Roman" panose="02020603050405020304" pitchFamily="18" charset="0"/>
              </a:rPr>
              <a:t>Présenté par :</a:t>
            </a:r>
          </a:p>
          <a:p>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KORA AMON </a:t>
            </a:r>
          </a:p>
          <a:p>
            <a:r>
              <a:rPr lang="fr-FR" dirty="0" smtClean="0">
                <a:latin typeface="Times New Roman" panose="02020603050405020304" pitchFamily="18" charset="0"/>
                <a:cs typeface="Times New Roman" panose="02020603050405020304" pitchFamily="18" charset="0"/>
              </a:rPr>
              <a:t>SAVADOGO IBRAHIM</a:t>
            </a:r>
            <a:endParaRPr lang="fr-F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noProof="0" dirty="0" smtClean="0">
                <a:solidFill>
                  <a:srgbClr val="FF0000"/>
                </a:solidFill>
              </a:rPr>
              <a:t>SOMMAIRE</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p:cNvSpPr txBox="1"/>
          <p:nvPr/>
        </p:nvSpPr>
        <p:spPr>
          <a:xfrm>
            <a:off x="539552" y="1196752"/>
            <a:ext cx="8136904" cy="3693319"/>
          </a:xfrm>
          <a:prstGeom prst="rect">
            <a:avLst/>
          </a:prstGeom>
          <a:noFill/>
        </p:spPr>
        <p:txBody>
          <a:bodyPr wrap="square" rtlCol="0">
            <a:spAutoFit/>
          </a:bodyPr>
          <a:lstStyle/>
          <a:p>
            <a:r>
              <a:rPr lang="fr-FR" dirty="0" smtClean="0">
                <a:latin typeface="Times New Roman" panose="02020603050405020304" pitchFamily="18" charset="0"/>
                <a:cs typeface="Times New Roman" panose="02020603050405020304" pitchFamily="18" charset="0"/>
              </a:rPr>
              <a:t>INTRODUCTION </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TYPOLOGIE DES TESTS</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FRAMEWORKS DE TESTS</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FRAMEWORK D ASSERTIONS</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FRAMEWORK DE MOCK</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NOTIONS TDD &amp; BDD</a:t>
            </a:r>
          </a:p>
          <a:p>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CONCLUSION </a:t>
            </a:r>
          </a:p>
        </p:txBody>
      </p:sp>
    </p:spTree>
    <p:extLst>
      <p:ext uri="{BB962C8B-B14F-4D97-AF65-F5344CB8AC3E}">
        <p14:creationId xmlns:p14="http://schemas.microsoft.com/office/powerpoint/2010/main" val="29024109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dirty="0" smtClean="0">
                <a:solidFill>
                  <a:srgbClr val="FF0000"/>
                </a:solidFill>
              </a:rPr>
              <a:t>INTRODUCTION</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ZoneTexte 6"/>
          <p:cNvSpPr txBox="1"/>
          <p:nvPr/>
        </p:nvSpPr>
        <p:spPr>
          <a:xfrm>
            <a:off x="467544" y="1155809"/>
            <a:ext cx="8281169" cy="3970318"/>
          </a:xfrm>
          <a:prstGeom prst="rect">
            <a:avLst/>
          </a:prstGeom>
          <a:no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Dans le développement logiciel moderne, la rapidité de livraison doit s’accompagner d’un haut niveau de qualité. Un logiciel performant ne se limite pas à l’absence d’erreurs : il doit également être lisible, maintenable et évolutif.</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Pour atteindre cet objectif, les tests automatisés occupent une place essentielle. Ils permettent de vérifier automatiquement le bon fonctionnement du logiciel et de détecter rapidement les anomalies lors des évolutions du code.</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La qualité du code et les tests automatisés sont étroitement liés. Un code bien structuré est plus facile à tester, tandis que les tests contribuent à améliorer la fiabilité et la robustesse des applications. Ensemble, ils réduisent les risques de régression, facilitent la maintenance et renforcent la confiance dans les livraisons.</a:t>
            </a:r>
          </a:p>
          <a:p>
            <a:pPr algn="just"/>
            <a:endParaRPr lang="fr-FR" dirty="0">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339669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hape 2"/>
          <p:cNvSpPr/>
          <p:nvPr/>
        </p:nvSpPr>
        <p:spPr>
          <a:xfrm>
            <a:off x="3058945" y="3286711"/>
            <a:ext cx="2743200" cy="550416"/>
          </a:xfrm>
          <a:prstGeom prst="rect">
            <a:avLst/>
          </a:prstGeom>
          <a:solidFill>
            <a:srgbClr val="2E9CCA"/>
          </a:solidFill>
          <a:ln/>
        </p:spPr>
      </p:sp>
      <p:sp>
        <p:nvSpPr>
          <p:cNvPr id="7" name="Text 3"/>
          <p:cNvSpPr/>
          <p:nvPr/>
        </p:nvSpPr>
        <p:spPr>
          <a:xfrm>
            <a:off x="2987824" y="3331006"/>
            <a:ext cx="2560320" cy="32004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Tests Unitaires</a:t>
            </a:r>
            <a:endParaRPr lang="en-US" dirty="0">
              <a:latin typeface="Times New Roman" panose="02020603050405020304" pitchFamily="18" charset="0"/>
              <a:cs typeface="Times New Roman" panose="02020603050405020304" pitchFamily="18" charset="0"/>
            </a:endParaRPr>
          </a:p>
        </p:txBody>
      </p:sp>
      <p:sp>
        <p:nvSpPr>
          <p:cNvPr id="9" name="Shape 5"/>
          <p:cNvSpPr/>
          <p:nvPr/>
        </p:nvSpPr>
        <p:spPr>
          <a:xfrm>
            <a:off x="2249097" y="3930227"/>
            <a:ext cx="4206240" cy="564428"/>
          </a:xfrm>
          <a:prstGeom prst="rect">
            <a:avLst/>
          </a:prstGeom>
          <a:solidFill>
            <a:srgbClr val="1B6CA8"/>
          </a:solidFill>
          <a:ln/>
        </p:spPr>
      </p:sp>
      <p:sp>
        <p:nvSpPr>
          <p:cNvPr id="11" name="Text 6"/>
          <p:cNvSpPr/>
          <p:nvPr/>
        </p:nvSpPr>
        <p:spPr>
          <a:xfrm>
            <a:off x="2431977" y="4069162"/>
            <a:ext cx="4023360" cy="32004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Tests d'Intégration</a:t>
            </a:r>
            <a:endParaRPr lang="en-US" dirty="0">
              <a:latin typeface="Times New Roman" panose="02020603050405020304" pitchFamily="18" charset="0"/>
              <a:cs typeface="Times New Roman" panose="02020603050405020304" pitchFamily="18" charset="0"/>
            </a:endParaRPr>
          </a:p>
        </p:txBody>
      </p:sp>
      <p:sp>
        <p:nvSpPr>
          <p:cNvPr id="13" name="Shape 8"/>
          <p:cNvSpPr/>
          <p:nvPr/>
        </p:nvSpPr>
        <p:spPr>
          <a:xfrm>
            <a:off x="1637354" y="4575403"/>
            <a:ext cx="5852160" cy="638216"/>
          </a:xfrm>
          <a:prstGeom prst="rect">
            <a:avLst/>
          </a:prstGeom>
          <a:solidFill>
            <a:srgbClr val="0D1B2A"/>
          </a:solidFill>
          <a:ln/>
        </p:spPr>
      </p:sp>
      <p:sp>
        <p:nvSpPr>
          <p:cNvPr id="14" name="Text 9"/>
          <p:cNvSpPr/>
          <p:nvPr/>
        </p:nvSpPr>
        <p:spPr>
          <a:xfrm>
            <a:off x="1595905" y="4674579"/>
            <a:ext cx="5669280" cy="32004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Tests Fonctionnels</a:t>
            </a:r>
            <a:endParaRPr lang="en-US" dirty="0">
              <a:latin typeface="Times New Roman" panose="02020603050405020304" pitchFamily="18" charset="0"/>
              <a:cs typeface="Times New Roman" panose="02020603050405020304" pitchFamily="18" charset="0"/>
            </a:endParaRPr>
          </a:p>
        </p:txBody>
      </p:sp>
      <p:sp>
        <p:nvSpPr>
          <p:cNvPr id="16" name="Shape 11"/>
          <p:cNvSpPr/>
          <p:nvPr/>
        </p:nvSpPr>
        <p:spPr>
          <a:xfrm>
            <a:off x="722954" y="5265982"/>
            <a:ext cx="7680960" cy="625342"/>
          </a:xfrm>
          <a:prstGeom prst="rect">
            <a:avLst/>
          </a:prstGeom>
          <a:solidFill>
            <a:srgbClr val="0A1628"/>
          </a:solidFill>
          <a:ln/>
        </p:spPr>
      </p:sp>
      <p:sp>
        <p:nvSpPr>
          <p:cNvPr id="17" name="Text 12"/>
          <p:cNvSpPr/>
          <p:nvPr/>
        </p:nvSpPr>
        <p:spPr>
          <a:xfrm>
            <a:off x="684213" y="5370709"/>
            <a:ext cx="7498080" cy="32004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Tests E2E / UI</a:t>
            </a:r>
            <a:endParaRPr lang="en-US" dirty="0">
              <a:latin typeface="Times New Roman" panose="02020603050405020304" pitchFamily="18" charset="0"/>
              <a:cs typeface="Times New Roman" panose="02020603050405020304" pitchFamily="18" charset="0"/>
            </a:endParaRPr>
          </a:p>
        </p:txBody>
      </p:sp>
      <p:sp>
        <p:nvSpPr>
          <p:cNvPr id="18"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a:pPr>
            <a:r>
              <a:rPr lang="fr-CI" sz="2400" noProof="0" dirty="0" smtClean="0">
                <a:solidFill>
                  <a:srgbClr val="FF0000"/>
                </a:solidFill>
              </a:rPr>
              <a:t>TYPOLOGIE DE TESTS </a:t>
            </a:r>
            <a:endParaRPr lang="fr-CI" sz="2400" noProof="0" dirty="0">
              <a:solidFill>
                <a:srgbClr val="FF0000"/>
              </a:solidFill>
            </a:endParaRPr>
          </a:p>
        </p:txBody>
      </p:sp>
      <p:sp>
        <p:nvSpPr>
          <p:cNvPr id="20" name="Rectangle 19"/>
          <p:cNvSpPr/>
          <p:nvPr/>
        </p:nvSpPr>
        <p:spPr>
          <a:xfrm>
            <a:off x="270223" y="830230"/>
            <a:ext cx="8622257" cy="3000821"/>
          </a:xfrm>
          <a:prstGeom prst="rect">
            <a:avLst/>
          </a:prstGeom>
        </p:spPr>
        <p:txBody>
          <a:bodyPr wrap="square">
            <a:spAutoFit/>
          </a:bodyPr>
          <a:lstStyle/>
          <a:p>
            <a:pPr algn="just">
              <a:lnSpc>
                <a:spcPct val="150000"/>
              </a:lnSpc>
            </a:pPr>
            <a:r>
              <a:rPr lang="fr-FR" dirty="0">
                <a:latin typeface="Times New Roman" panose="02020603050405020304" pitchFamily="18" charset="0"/>
                <a:cs typeface="Times New Roman" panose="02020603050405020304" pitchFamily="18" charset="0"/>
              </a:rPr>
              <a:t>La typologie des tests  = désigne la classification des différentes catégories de </a:t>
            </a:r>
            <a:r>
              <a:rPr lang="fr-FR" b="1" dirty="0">
                <a:latin typeface="Times New Roman" panose="02020603050405020304" pitchFamily="18" charset="0"/>
                <a:cs typeface="Times New Roman" panose="02020603050405020304" pitchFamily="18" charset="0"/>
              </a:rPr>
              <a:t>tests logiciels </a:t>
            </a:r>
            <a:r>
              <a:rPr lang="fr-FR" dirty="0">
                <a:latin typeface="Times New Roman" panose="02020603050405020304" pitchFamily="18" charset="0"/>
                <a:cs typeface="Times New Roman" panose="02020603050405020304" pitchFamily="18" charset="0"/>
              </a:rPr>
              <a:t>selon leur objectif, leur portée et le moment où ils interviennent dans le projet. </a:t>
            </a:r>
            <a:endParaRPr lang="fr-FR" dirty="0" smtClean="0">
              <a:latin typeface="Times New Roman" panose="02020603050405020304" pitchFamily="18" charset="0"/>
              <a:cs typeface="Times New Roman" panose="02020603050405020304" pitchFamily="18" charset="0"/>
            </a:endParaRPr>
          </a:p>
          <a:p>
            <a:pPr algn="just">
              <a:lnSpc>
                <a:spcPct val="150000"/>
              </a:lnSpc>
            </a:pPr>
            <a:r>
              <a:rPr lang="fr-CI" dirty="0">
                <a:latin typeface="Times New Roman" panose="02020603050405020304" pitchFamily="18" charset="0"/>
                <a:cs typeface="Times New Roman" panose="02020603050405020304" pitchFamily="18" charset="0"/>
              </a:rPr>
              <a:t>Les </a:t>
            </a:r>
            <a:r>
              <a:rPr lang="fr-CI" b="1" dirty="0">
                <a:latin typeface="Times New Roman" panose="02020603050405020304" pitchFamily="18" charset="0"/>
                <a:cs typeface="Times New Roman" panose="02020603050405020304" pitchFamily="18" charset="0"/>
              </a:rPr>
              <a:t>tests logiciels </a:t>
            </a:r>
            <a:r>
              <a:rPr lang="fr-CI" dirty="0">
                <a:latin typeface="Times New Roman" panose="02020603050405020304" pitchFamily="18" charset="0"/>
                <a:cs typeface="Times New Roman" panose="02020603050405020304" pitchFamily="18" charset="0"/>
              </a:rPr>
              <a:t>se classent en plusieurs niveaux, souvent représentés sous forme de pyramide. Chaque niveau a un rôle précis et des caractéristiques spécifiques en termes de coût, vitesse et couverture.</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4909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95536" y="1052736"/>
            <a:ext cx="1640514" cy="369332"/>
          </a:xfrm>
          <a:prstGeom prst="rect">
            <a:avLst/>
          </a:prstGeom>
        </p:spPr>
        <p:txBody>
          <a:bodyPr wrap="none">
            <a:spAutoFit/>
          </a:bodyPr>
          <a:lstStyle/>
          <a:p>
            <a:r>
              <a:rPr lang="fr-CI" b="1" dirty="0">
                <a:latin typeface="Times New Roman" panose="02020603050405020304" pitchFamily="18" charset="0"/>
                <a:ea typeface="Calibri" panose="020F0502020204030204" pitchFamily="34" charset="0"/>
                <a:cs typeface="Times New Roman" panose="02020603050405020304" pitchFamily="18" charset="0"/>
              </a:rPr>
              <a:t>Tests Unitaires</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95536" y="1484491"/>
            <a:ext cx="8567284" cy="1656864"/>
          </a:xfrm>
          <a:prstGeom prst="rect">
            <a:avLst/>
          </a:prstGeom>
        </p:spPr>
        <p:txBody>
          <a:bodyPr wrap="square">
            <a:spAutoFit/>
          </a:bodyPr>
          <a:lstStyle/>
          <a:p>
            <a:pPr algn="just">
              <a:spcAft>
                <a:spcPts val="600"/>
              </a:spcAft>
            </a:pPr>
            <a:r>
              <a:rPr lang="fr-CI" dirty="0">
                <a:latin typeface="Times New Roman" panose="02020603050405020304" pitchFamily="18" charset="0"/>
                <a:ea typeface="Calibri" panose="020F0502020204030204" pitchFamily="34" charset="0"/>
                <a:cs typeface="Times New Roman" panose="02020603050405020304" pitchFamily="18" charset="0"/>
              </a:rPr>
              <a:t>Un test unitaire valide le comportement d'une unité de code isolée </a:t>
            </a:r>
            <a:r>
              <a:rPr lang="fr-CI" dirty="0" smtClean="0">
                <a:latin typeface="Times New Roman" panose="02020603050405020304" pitchFamily="18" charset="0"/>
                <a:ea typeface="Calibri" panose="020F0502020204030204" pitchFamily="34" charset="0"/>
                <a:cs typeface="Times New Roman" panose="02020603050405020304" pitchFamily="18" charset="0"/>
              </a:rPr>
              <a:t>: généralement </a:t>
            </a:r>
            <a:r>
              <a:rPr lang="fr-CI" dirty="0">
                <a:latin typeface="Times New Roman" panose="02020603050405020304" pitchFamily="18" charset="0"/>
                <a:ea typeface="Calibri" panose="020F0502020204030204" pitchFamily="34" charset="0"/>
                <a:cs typeface="Times New Roman" panose="02020603050405020304" pitchFamily="18" charset="0"/>
              </a:rPr>
              <a:t>une méthode ou une classe.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b="1" dirty="0">
                <a:latin typeface="Times New Roman" panose="02020603050405020304" pitchFamily="18" charset="0"/>
                <a:ea typeface="Calibri" panose="020F0502020204030204" pitchFamily="34" charset="0"/>
                <a:cs typeface="Times New Roman" panose="02020603050405020304" pitchFamily="18" charset="0"/>
              </a:rPr>
              <a:t>Isolation </a:t>
            </a:r>
            <a:r>
              <a:rPr lang="fr-CI" dirty="0">
                <a:latin typeface="Times New Roman" panose="02020603050405020304" pitchFamily="18" charset="0"/>
                <a:ea typeface="Calibri" panose="020F0502020204030204" pitchFamily="34" charset="0"/>
                <a:cs typeface="Times New Roman" panose="02020603050405020304" pitchFamily="18" charset="0"/>
              </a:rPr>
              <a:t>: les dépendances sont remplacées par des </a:t>
            </a:r>
            <a:r>
              <a:rPr lang="fr-CI" dirty="0" err="1">
                <a:latin typeface="Times New Roman" panose="02020603050405020304" pitchFamily="18" charset="0"/>
                <a:ea typeface="Calibri" panose="020F0502020204030204" pitchFamily="34" charset="0"/>
                <a:cs typeface="Times New Roman" panose="02020603050405020304" pitchFamily="18" charset="0"/>
              </a:rPr>
              <a:t>mocks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en-US" b="1" dirty="0" err="1">
                <a:latin typeface="Times New Roman" panose="02020603050405020304" pitchFamily="18" charset="0"/>
                <a:ea typeface="Calibri" panose="020F0502020204030204" pitchFamily="34" charset="0"/>
                <a:cs typeface="Times New Roman" panose="02020603050405020304" pitchFamily="18" charset="0"/>
              </a:rPr>
              <a:t>Rapidité</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s'exécutent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en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millisecondes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en-US" b="1" dirty="0" err="1" smtClean="0">
                <a:latin typeface="Times New Roman" panose="02020603050405020304" pitchFamily="18" charset="0"/>
                <a:ea typeface="Calibri" panose="020F0502020204030204" pitchFamily="34" charset="0"/>
                <a:cs typeface="Times New Roman" panose="02020603050405020304" pitchFamily="18" charset="0"/>
              </a:rPr>
              <a:t>Outils</a:t>
            </a:r>
            <a:r>
              <a:rPr lang="en-US" b="1" dirty="0" smtClean="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principaux</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JUnit 5, </a:t>
            </a:r>
            <a:r>
              <a:rPr lang="en-US" b="1" dirty="0" err="1">
                <a:latin typeface="Times New Roman" panose="02020603050405020304" pitchFamily="18" charset="0"/>
                <a:ea typeface="Calibri" panose="020F0502020204030204" pitchFamily="34" charset="0"/>
                <a:cs typeface="Times New Roman" panose="02020603050405020304" pitchFamily="18" charset="0"/>
              </a:rPr>
              <a:t>TestNG</a:t>
            </a:r>
            <a:endParaRPr lang="en-US" sz="1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p:cNvSpPr/>
          <p:nvPr/>
        </p:nvSpPr>
        <p:spPr>
          <a:xfrm>
            <a:off x="475611" y="3429000"/>
            <a:ext cx="2042226"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cs typeface="Times New Roman" panose="02020603050405020304" pitchFamily="18" charset="0"/>
              </a:rPr>
              <a:t>Tests </a:t>
            </a:r>
            <a:r>
              <a:rPr lang="en-US" b="1" dirty="0" err="1">
                <a:latin typeface="Times New Roman" panose="02020603050405020304" pitchFamily="18" charset="0"/>
                <a:ea typeface="Calibri" panose="020F0502020204030204" pitchFamily="34" charset="0"/>
                <a:cs typeface="Times New Roman" panose="02020603050405020304" pitchFamily="18" charset="0"/>
              </a:rPr>
              <a:t>d'Intégration</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475611" y="3931899"/>
            <a:ext cx="8273102" cy="1985159"/>
          </a:xfrm>
          <a:prstGeom prst="rect">
            <a:avLst/>
          </a:prstGeom>
        </p:spPr>
        <p:txBody>
          <a:bodyPr wrap="square">
            <a:spAutoFit/>
          </a:bodyPr>
          <a:lstStyle/>
          <a:p>
            <a:pPr algn="just">
              <a:spcAft>
                <a:spcPts val="600"/>
              </a:spcAft>
            </a:pPr>
            <a:r>
              <a:rPr lang="fr-CI" dirty="0">
                <a:latin typeface="Times New Roman" panose="02020603050405020304" pitchFamily="18" charset="0"/>
                <a:ea typeface="Calibri" panose="020F0502020204030204" pitchFamily="34" charset="0"/>
                <a:cs typeface="Times New Roman" panose="02020603050405020304" pitchFamily="18" charset="0"/>
              </a:rPr>
              <a:t>Les tests d'intégration vérifient que plusieurs composants fonctionnent correctement ensemble.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dirty="0">
                <a:latin typeface="Times New Roman" panose="02020603050405020304" pitchFamily="18" charset="0"/>
                <a:ea typeface="Calibri" panose="020F0502020204030204" pitchFamily="34" charset="0"/>
                <a:cs typeface="Times New Roman" panose="02020603050405020304" pitchFamily="18" charset="0"/>
              </a:rPr>
              <a:t>Impliquent plusieurs classes, services ou couches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dirty="0">
                <a:latin typeface="Times New Roman" panose="02020603050405020304" pitchFamily="18" charset="0"/>
                <a:ea typeface="Calibri" panose="020F0502020204030204" pitchFamily="34" charset="0"/>
                <a:cs typeface="Times New Roman" panose="02020603050405020304" pitchFamily="18" charset="0"/>
              </a:rPr>
              <a:t>Peuvent faire appel à une base de données H2 en mémoire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dirty="0">
                <a:latin typeface="Times New Roman" panose="02020603050405020304" pitchFamily="18" charset="0"/>
                <a:ea typeface="Calibri" panose="020F0502020204030204" pitchFamily="34" charset="0"/>
                <a:cs typeface="Times New Roman" panose="02020603050405020304" pitchFamily="18" charset="0"/>
              </a:rPr>
              <a:t>Utilisés pour valider les couches </a:t>
            </a:r>
            <a:r>
              <a:rPr lang="fr-CI" dirty="0" err="1">
                <a:latin typeface="Times New Roman" panose="02020603050405020304" pitchFamily="18" charset="0"/>
                <a:ea typeface="Calibri" panose="020F0502020204030204" pitchFamily="34" charset="0"/>
                <a:cs typeface="Times New Roman" panose="02020603050405020304" pitchFamily="18" charset="0"/>
              </a:rPr>
              <a:t>Repository</a:t>
            </a:r>
            <a:r>
              <a:rPr lang="fr-CI" dirty="0">
                <a:latin typeface="Times New Roman" panose="02020603050405020304" pitchFamily="18" charset="0"/>
                <a:ea typeface="Calibri" panose="020F0502020204030204" pitchFamily="34" charset="0"/>
                <a:cs typeface="Times New Roman" panose="02020603050405020304" pitchFamily="18" charset="0"/>
              </a:rPr>
              <a:t>, Service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dirty="0">
                <a:latin typeface="Times New Roman" panose="02020603050405020304" pitchFamily="18" charset="0"/>
                <a:ea typeface="Calibri" panose="020F0502020204030204" pitchFamily="34" charset="0"/>
                <a:cs typeface="Times New Roman" panose="02020603050405020304" pitchFamily="18" charset="0"/>
              </a:rPr>
              <a:t>Plus lents que les tests unitaires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a:pPr>
            <a:r>
              <a:rPr lang="fr-CI" sz="2400" noProof="0" dirty="0" smtClean="0">
                <a:solidFill>
                  <a:srgbClr val="FF0000"/>
                </a:solidFill>
              </a:rPr>
              <a:t>TYPOLOGIE DE TESTS </a:t>
            </a:r>
            <a:endParaRPr lang="fr-CI" sz="2400" noProof="0" dirty="0">
              <a:solidFill>
                <a:srgbClr val="FF0000"/>
              </a:solidFill>
            </a:endParaRPr>
          </a:p>
        </p:txBody>
      </p:sp>
    </p:spTree>
    <p:extLst>
      <p:ext uri="{BB962C8B-B14F-4D97-AF65-F5344CB8AC3E}">
        <p14:creationId xmlns:p14="http://schemas.microsoft.com/office/powerpoint/2010/main" val="2321788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11560" y="1124744"/>
            <a:ext cx="3497752" cy="369332"/>
          </a:xfrm>
          <a:prstGeom prst="rect">
            <a:avLst/>
          </a:prstGeom>
        </p:spPr>
        <p:txBody>
          <a:bodyPr wrap="none">
            <a:spAutoFit/>
          </a:bodyPr>
          <a:lstStyle/>
          <a:p>
            <a:r>
              <a:rPr lang="fr-CI" b="1" dirty="0" smtClean="0">
                <a:solidFill>
                  <a:srgbClr val="0D1B2A"/>
                </a:solidFill>
                <a:latin typeface="Times New Roman" panose="02020603050405020304" pitchFamily="18" charset="0"/>
                <a:ea typeface="Calibri" panose="020F0502020204030204" pitchFamily="34" charset="0"/>
                <a:cs typeface="Times New Roman" panose="02020603050405020304" pitchFamily="18" charset="0"/>
              </a:rPr>
              <a:t>Tests Fonctionnels (Bout en Bout)</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39552" y="1700128"/>
            <a:ext cx="8209161" cy="1328569"/>
          </a:xfrm>
          <a:prstGeom prst="rect">
            <a:avLst/>
          </a:prstGeom>
        </p:spPr>
        <p:txBody>
          <a:bodyPr wrap="square">
            <a:spAutoFit/>
          </a:bodyPr>
          <a:lstStyle/>
          <a:p>
            <a:pPr algn="just">
              <a:spcAft>
                <a:spcPts val="600"/>
              </a:spcAft>
            </a:pPr>
            <a:r>
              <a:rPr lang="fr-CI" dirty="0">
                <a:latin typeface="Times New Roman" panose="02020603050405020304" pitchFamily="18" charset="0"/>
                <a:ea typeface="Calibri" panose="020F0502020204030204" pitchFamily="34" charset="0"/>
                <a:cs typeface="Times New Roman" panose="02020603050405020304" pitchFamily="18" charset="0"/>
              </a:rPr>
              <a:t>Ces tests </a:t>
            </a:r>
            <a:r>
              <a:rPr lang="fr-CI" dirty="0" smtClean="0">
                <a:latin typeface="Times New Roman" panose="02020603050405020304" pitchFamily="18" charset="0"/>
                <a:ea typeface="Calibri" panose="020F0502020204030204" pitchFamily="34" charset="0"/>
                <a:cs typeface="Times New Roman" panose="02020603050405020304" pitchFamily="18" charset="0"/>
              </a:rPr>
              <a:t>couvrent l’ensemble des fonctionnalités </a:t>
            </a:r>
            <a:r>
              <a:rPr lang="fr-CI" dirty="0">
                <a:latin typeface="Times New Roman" panose="02020603050405020304" pitchFamily="18" charset="0"/>
                <a:ea typeface="Calibri" panose="020F0502020204030204" pitchFamily="34" charset="0"/>
                <a:cs typeface="Times New Roman" panose="02020603050405020304" pitchFamily="18" charset="0"/>
              </a:rPr>
              <a:t>de l'application, du point d'entrée jusqu'à la réponse finale.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en-US" dirty="0" err="1">
                <a:latin typeface="Times New Roman" panose="02020603050405020304" pitchFamily="18" charset="0"/>
                <a:ea typeface="Calibri" panose="020F0502020204030204" pitchFamily="34" charset="0"/>
                <a:cs typeface="Times New Roman" panose="02020603050405020304" pitchFamily="18" charset="0"/>
              </a:rPr>
              <a:t>Couvrent</a:t>
            </a:r>
            <a:r>
              <a:rPr lang="en-US" dirty="0">
                <a:latin typeface="Times New Roman" panose="02020603050405020304" pitchFamily="18" charset="0"/>
                <a:ea typeface="Calibri" panose="020F0502020204030204" pitchFamily="34" charset="0"/>
                <a:cs typeface="Times New Roman" panose="02020603050405020304" pitchFamily="18" charset="0"/>
              </a:rPr>
              <a:t> un </a:t>
            </a:r>
            <a:r>
              <a:rPr lang="en-US" dirty="0" err="1">
                <a:latin typeface="Times New Roman" panose="02020603050405020304" pitchFamily="18" charset="0"/>
                <a:ea typeface="Calibri" panose="020F0502020204030204" pitchFamily="34" charset="0"/>
                <a:cs typeface="Times New Roman" panose="02020603050405020304" pitchFamily="18" charset="0"/>
              </a:rPr>
              <a:t>scénario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utilisateur</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complet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dirty="0">
                <a:latin typeface="Times New Roman" panose="02020603050405020304" pitchFamily="18" charset="0"/>
                <a:ea typeface="Calibri" panose="020F0502020204030204" pitchFamily="34" charset="0"/>
                <a:cs typeface="Times New Roman" panose="02020603050405020304" pitchFamily="18" charset="0"/>
              </a:rPr>
              <a:t>Testent l'API REST ou l'interface </a:t>
            </a:r>
            <a:r>
              <a:rPr lang="fr-CI" dirty="0" smtClean="0">
                <a:latin typeface="Times New Roman" panose="02020603050405020304" pitchFamily="18" charset="0"/>
                <a:ea typeface="Calibri" panose="020F0502020204030204" pitchFamily="34" charset="0"/>
                <a:cs typeface="Times New Roman" panose="02020603050405020304" pitchFamily="18" charset="0"/>
              </a:rPr>
              <a:t>utilisateur</a:t>
            </a:r>
            <a:endParaRPr 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angle 6"/>
          <p:cNvSpPr/>
          <p:nvPr/>
        </p:nvSpPr>
        <p:spPr>
          <a:xfrm>
            <a:off x="539552" y="3563044"/>
            <a:ext cx="4040401" cy="369332"/>
          </a:xfrm>
          <a:prstGeom prst="rect">
            <a:avLst/>
          </a:prstGeom>
        </p:spPr>
        <p:txBody>
          <a:bodyPr wrap="none">
            <a:spAutoFit/>
          </a:bodyPr>
          <a:lstStyle/>
          <a:p>
            <a:r>
              <a:rPr lang="fr-CI" b="1" dirty="0">
                <a:latin typeface="+mj-lt"/>
                <a:ea typeface="Calibri" panose="020F0502020204030204" pitchFamily="34" charset="0"/>
              </a:rPr>
              <a:t>Tests de </a:t>
            </a:r>
            <a:r>
              <a:rPr lang="fr-CI" b="1" dirty="0">
                <a:latin typeface="Times New Roman" panose="02020603050405020304" pitchFamily="18" charset="0"/>
                <a:ea typeface="Calibri" panose="020F0502020204030204" pitchFamily="34" charset="0"/>
                <a:cs typeface="Times New Roman" panose="02020603050405020304" pitchFamily="18" charset="0"/>
              </a:rPr>
              <a:t>Performance</a:t>
            </a:r>
            <a:r>
              <a:rPr lang="fr-CI" b="1" dirty="0">
                <a:latin typeface="+mj-lt"/>
                <a:ea typeface="Calibri" panose="020F0502020204030204" pitchFamily="34" charset="0"/>
              </a:rPr>
              <a:t> et de Charge</a:t>
            </a:r>
            <a:endParaRPr lang="en-US" b="1" dirty="0">
              <a:latin typeface="+mj-lt"/>
            </a:endParaRPr>
          </a:p>
        </p:txBody>
      </p:sp>
      <p:sp>
        <p:nvSpPr>
          <p:cNvPr id="8" name="Rectangle 7"/>
          <p:cNvSpPr/>
          <p:nvPr/>
        </p:nvSpPr>
        <p:spPr>
          <a:xfrm>
            <a:off x="467668" y="4179228"/>
            <a:ext cx="8352928" cy="1051570"/>
          </a:xfrm>
          <a:prstGeom prst="rect">
            <a:avLst/>
          </a:prstGeom>
        </p:spPr>
        <p:txBody>
          <a:bodyPr wrap="square">
            <a:spAutoFit/>
          </a:bodyPr>
          <a:lstStyle/>
          <a:p>
            <a:pPr algn="just">
              <a:spcAft>
                <a:spcPts val="600"/>
              </a:spcAft>
            </a:pPr>
            <a:r>
              <a:rPr lang="fr-CI" dirty="0">
                <a:latin typeface="Times New Roman" panose="02020603050405020304" pitchFamily="18" charset="0"/>
                <a:ea typeface="Calibri" panose="020F0502020204030204" pitchFamily="34" charset="0"/>
                <a:cs typeface="Times New Roman" panose="02020603050405020304" pitchFamily="18" charset="0"/>
              </a:rPr>
              <a:t>Moins courants mais essentiels pour les applications critiques.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400"/>
              </a:spcAft>
              <a:buFont typeface="Arial" panose="020B0604020202020204" pitchFamily="34" charset="0"/>
              <a:buChar char="•"/>
            </a:pPr>
            <a:r>
              <a:rPr lang="fr-CI" b="1" dirty="0" smtClean="0">
                <a:latin typeface="Times New Roman" panose="02020603050405020304" pitchFamily="18" charset="0"/>
                <a:ea typeface="Calibri" panose="020F0502020204030204" pitchFamily="34" charset="0"/>
                <a:cs typeface="Times New Roman" panose="02020603050405020304" pitchFamily="18" charset="0"/>
              </a:rPr>
              <a:t>Tests </a:t>
            </a:r>
            <a:r>
              <a:rPr lang="fr-CI" b="1" dirty="0">
                <a:latin typeface="Times New Roman" panose="02020603050405020304" pitchFamily="18" charset="0"/>
                <a:ea typeface="Calibri" panose="020F0502020204030204" pitchFamily="34" charset="0"/>
                <a:cs typeface="Times New Roman" panose="02020603050405020304" pitchFamily="18" charset="0"/>
              </a:rPr>
              <a:t>de stress : identifier le point de rupture</a:t>
            </a: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lvl="0" algn="just">
              <a:spcAft>
                <a:spcPts val="400"/>
              </a:spcAft>
            </a:pPr>
            <a:endParaRPr lang="en-US" sz="1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a:pPr>
            <a:r>
              <a:rPr lang="fr-CI" sz="2400" noProof="0" dirty="0" smtClean="0">
                <a:solidFill>
                  <a:srgbClr val="FF0000"/>
                </a:solidFill>
              </a:rPr>
              <a:t>TYPOLOGIE DE TESTS </a:t>
            </a:r>
            <a:endParaRPr lang="fr-CI" sz="2400" noProof="0" dirty="0">
              <a:solidFill>
                <a:srgbClr val="FF0000"/>
              </a:solidFill>
            </a:endParaRPr>
          </a:p>
        </p:txBody>
      </p:sp>
    </p:spTree>
    <p:extLst>
      <p:ext uri="{BB962C8B-B14F-4D97-AF65-F5344CB8AC3E}">
        <p14:creationId xmlns:p14="http://schemas.microsoft.com/office/powerpoint/2010/main" val="3628034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hape 4"/>
          <p:cNvSpPr/>
          <p:nvPr/>
        </p:nvSpPr>
        <p:spPr>
          <a:xfrm>
            <a:off x="140648" y="2162140"/>
            <a:ext cx="4297680" cy="1005840"/>
          </a:xfrm>
          <a:prstGeom prst="rect">
            <a:avLst/>
          </a:prstGeom>
          <a:solidFill>
            <a:schemeClr val="tx2"/>
          </a:solidFill>
          <a:ln w="12700">
            <a:solidFill>
              <a:srgbClr val="1E90FF"/>
            </a:solidFill>
            <a:prstDash val="solid"/>
          </a:ln>
        </p:spPr>
      </p:sp>
      <p:sp>
        <p:nvSpPr>
          <p:cNvPr id="9" name="Shape 5"/>
          <p:cNvSpPr/>
          <p:nvPr/>
        </p:nvSpPr>
        <p:spPr>
          <a:xfrm>
            <a:off x="140648" y="2162140"/>
            <a:ext cx="54864" cy="1005840"/>
          </a:xfrm>
          <a:prstGeom prst="rect">
            <a:avLst/>
          </a:prstGeom>
          <a:solidFill>
            <a:schemeClr val="tx2"/>
          </a:solidFill>
          <a:ln/>
        </p:spPr>
      </p:sp>
      <p:sp>
        <p:nvSpPr>
          <p:cNvPr id="11" name="Text 6"/>
          <p:cNvSpPr/>
          <p:nvPr/>
        </p:nvSpPr>
        <p:spPr>
          <a:xfrm>
            <a:off x="323528" y="2253580"/>
            <a:ext cx="3931920" cy="365760"/>
          </a:xfrm>
          <a:prstGeom prst="rect">
            <a:avLst/>
          </a:prstGeom>
          <a:solidFill>
            <a:schemeClr val="tx2"/>
          </a:solidFill>
          <a:ln/>
        </p:spPr>
        <p:txBody>
          <a:bodyPr wrap="square" lIns="0" tIns="0" rIns="0" bIns="0" rtlCol="0" anchor="ctr"/>
          <a:lstStyle/>
          <a:p>
            <a:pPr marL="0" indent="0" algn="just">
              <a:buNone/>
            </a:pPr>
            <a:r>
              <a:rPr lang="en-US" sz="1200" b="1" dirty="0">
                <a:solidFill>
                  <a:srgbClr val="1E90FF"/>
                </a:solidFill>
                <a:latin typeface="Times New Roman" panose="02020603050405020304" pitchFamily="18" charset="0"/>
                <a:cs typeface="Times New Roman" panose="02020603050405020304" pitchFamily="18" charset="0"/>
              </a:rPr>
              <a:t>🚀 Tests de Performance</a:t>
            </a:r>
            <a:endParaRPr lang="en-US" sz="1200" b="1" dirty="0">
              <a:latin typeface="Times New Roman" panose="02020603050405020304" pitchFamily="18" charset="0"/>
              <a:cs typeface="Times New Roman" panose="02020603050405020304" pitchFamily="18" charset="0"/>
            </a:endParaRPr>
          </a:p>
        </p:txBody>
      </p:sp>
      <p:sp>
        <p:nvSpPr>
          <p:cNvPr id="12" name="Text 7"/>
          <p:cNvSpPr/>
          <p:nvPr/>
        </p:nvSpPr>
        <p:spPr>
          <a:xfrm>
            <a:off x="323528" y="2637628"/>
            <a:ext cx="3931920" cy="457200"/>
          </a:xfrm>
          <a:prstGeom prst="rect">
            <a:avLst/>
          </a:prstGeom>
          <a:solidFill>
            <a:schemeClr val="tx2"/>
          </a:solidFill>
          <a:ln/>
        </p:spPr>
        <p:txBody>
          <a:bodyPr wrap="square" lIns="0" tIns="0" rIns="0" bIns="0" rtlCol="0" anchor="ctr"/>
          <a:lstStyle/>
          <a:p>
            <a:pPr marL="0" indent="0" algn="just">
              <a:buNone/>
            </a:pPr>
            <a:r>
              <a:rPr lang="en-US" sz="1200" b="1" dirty="0">
                <a:solidFill>
                  <a:srgbClr val="D0D8E8"/>
                </a:solidFill>
                <a:latin typeface="Times New Roman" panose="02020603050405020304" pitchFamily="18" charset="0"/>
                <a:cs typeface="Times New Roman" panose="02020603050405020304" pitchFamily="18" charset="0"/>
              </a:rPr>
              <a:t>Mesurent la vitesse, scalabilité et stabilité sous charge. Outils: JMeter, Gatling, k6.</a:t>
            </a:r>
            <a:endParaRPr lang="en-US" sz="1200" b="1" dirty="0">
              <a:latin typeface="Times New Roman" panose="02020603050405020304" pitchFamily="18" charset="0"/>
              <a:cs typeface="Times New Roman" panose="02020603050405020304" pitchFamily="18" charset="0"/>
            </a:endParaRPr>
          </a:p>
        </p:txBody>
      </p:sp>
      <p:sp>
        <p:nvSpPr>
          <p:cNvPr id="13" name="Shape 8"/>
          <p:cNvSpPr/>
          <p:nvPr/>
        </p:nvSpPr>
        <p:spPr>
          <a:xfrm>
            <a:off x="4621208" y="2162140"/>
            <a:ext cx="4297680" cy="1005840"/>
          </a:xfrm>
          <a:prstGeom prst="rect">
            <a:avLst/>
          </a:prstGeom>
          <a:solidFill>
            <a:schemeClr val="tx2"/>
          </a:solidFill>
          <a:ln w="12700">
            <a:solidFill>
              <a:srgbClr val="EF476F"/>
            </a:solidFill>
            <a:prstDash val="solid"/>
          </a:ln>
        </p:spPr>
      </p:sp>
      <p:sp>
        <p:nvSpPr>
          <p:cNvPr id="14" name="Shape 9"/>
          <p:cNvSpPr/>
          <p:nvPr/>
        </p:nvSpPr>
        <p:spPr>
          <a:xfrm>
            <a:off x="4621208" y="2162140"/>
            <a:ext cx="54864" cy="1005840"/>
          </a:xfrm>
          <a:prstGeom prst="rect">
            <a:avLst/>
          </a:prstGeom>
          <a:solidFill>
            <a:schemeClr val="tx2"/>
          </a:solidFill>
          <a:ln/>
        </p:spPr>
      </p:sp>
      <p:sp>
        <p:nvSpPr>
          <p:cNvPr id="15" name="Text 10"/>
          <p:cNvSpPr/>
          <p:nvPr/>
        </p:nvSpPr>
        <p:spPr>
          <a:xfrm>
            <a:off x="4804088" y="2253580"/>
            <a:ext cx="3931920" cy="365760"/>
          </a:xfrm>
          <a:prstGeom prst="rect">
            <a:avLst/>
          </a:prstGeom>
          <a:solidFill>
            <a:schemeClr val="tx2"/>
          </a:solidFill>
          <a:ln/>
        </p:spPr>
        <p:txBody>
          <a:bodyPr wrap="square" lIns="0" tIns="0" rIns="0" bIns="0" rtlCol="0" anchor="ctr"/>
          <a:lstStyle/>
          <a:p>
            <a:pPr marL="0" indent="0" algn="just">
              <a:buNone/>
            </a:pPr>
            <a:r>
              <a:rPr lang="en-US" sz="1200" b="1" dirty="0">
                <a:solidFill>
                  <a:srgbClr val="EF476F"/>
                </a:solidFill>
                <a:latin typeface="Times New Roman" panose="02020603050405020304" pitchFamily="18" charset="0"/>
                <a:cs typeface="Times New Roman" panose="02020603050405020304" pitchFamily="18" charset="0"/>
              </a:rPr>
              <a:t>🛡️ Tests de Sécurité</a:t>
            </a:r>
            <a:endParaRPr lang="en-US" sz="1200" b="1" dirty="0">
              <a:latin typeface="Times New Roman" panose="02020603050405020304" pitchFamily="18" charset="0"/>
              <a:cs typeface="Times New Roman" panose="02020603050405020304" pitchFamily="18" charset="0"/>
            </a:endParaRPr>
          </a:p>
        </p:txBody>
      </p:sp>
      <p:sp>
        <p:nvSpPr>
          <p:cNvPr id="16" name="Text 11"/>
          <p:cNvSpPr/>
          <p:nvPr/>
        </p:nvSpPr>
        <p:spPr>
          <a:xfrm>
            <a:off x="4804088" y="2637628"/>
            <a:ext cx="3931920" cy="457200"/>
          </a:xfrm>
          <a:prstGeom prst="rect">
            <a:avLst/>
          </a:prstGeom>
          <a:solidFill>
            <a:schemeClr val="tx2"/>
          </a:solidFill>
          <a:ln/>
        </p:spPr>
        <p:txBody>
          <a:bodyPr wrap="square" lIns="0" tIns="0" rIns="0" bIns="0" rtlCol="0" anchor="ctr"/>
          <a:lstStyle/>
          <a:p>
            <a:pPr marL="0" indent="0" algn="just">
              <a:buNone/>
            </a:pPr>
            <a:r>
              <a:rPr lang="en-US" sz="1200" b="1" dirty="0">
                <a:solidFill>
                  <a:srgbClr val="D0D8E8"/>
                </a:solidFill>
                <a:latin typeface="Times New Roman" panose="02020603050405020304" pitchFamily="18" charset="0"/>
                <a:cs typeface="Times New Roman" panose="02020603050405020304" pitchFamily="18" charset="0"/>
              </a:rPr>
              <a:t>Identifient les vulnérabilités: SQL injection, XSS, OWASP Top 10. Outils: OWASP ZAP, Burp Suite.</a:t>
            </a:r>
            <a:endParaRPr lang="en-US" sz="1200" b="1" dirty="0">
              <a:latin typeface="Times New Roman" panose="02020603050405020304" pitchFamily="18" charset="0"/>
              <a:cs typeface="Times New Roman" panose="02020603050405020304" pitchFamily="18" charset="0"/>
            </a:endParaRPr>
          </a:p>
        </p:txBody>
      </p:sp>
      <p:sp>
        <p:nvSpPr>
          <p:cNvPr id="17" name="Shape 12"/>
          <p:cNvSpPr/>
          <p:nvPr/>
        </p:nvSpPr>
        <p:spPr>
          <a:xfrm>
            <a:off x="140648" y="3396580"/>
            <a:ext cx="4297680" cy="1005840"/>
          </a:xfrm>
          <a:prstGeom prst="rect">
            <a:avLst/>
          </a:prstGeom>
          <a:solidFill>
            <a:schemeClr val="tx2"/>
          </a:solidFill>
          <a:ln w="12700">
            <a:solidFill>
              <a:srgbClr val="FFD166"/>
            </a:solidFill>
            <a:prstDash val="solid"/>
          </a:ln>
        </p:spPr>
      </p:sp>
      <p:sp>
        <p:nvSpPr>
          <p:cNvPr id="18" name="Shape 13"/>
          <p:cNvSpPr/>
          <p:nvPr/>
        </p:nvSpPr>
        <p:spPr>
          <a:xfrm>
            <a:off x="140648" y="3396580"/>
            <a:ext cx="54864" cy="1005840"/>
          </a:xfrm>
          <a:prstGeom prst="rect">
            <a:avLst/>
          </a:prstGeom>
          <a:solidFill>
            <a:schemeClr val="tx2"/>
          </a:solidFill>
          <a:ln/>
        </p:spPr>
      </p:sp>
      <p:sp>
        <p:nvSpPr>
          <p:cNvPr id="19" name="Text 14"/>
          <p:cNvSpPr/>
          <p:nvPr/>
        </p:nvSpPr>
        <p:spPr>
          <a:xfrm>
            <a:off x="323528" y="3488020"/>
            <a:ext cx="3931920" cy="365760"/>
          </a:xfrm>
          <a:prstGeom prst="rect">
            <a:avLst/>
          </a:prstGeom>
          <a:solidFill>
            <a:schemeClr val="tx2"/>
          </a:solidFill>
          <a:ln/>
        </p:spPr>
        <p:txBody>
          <a:bodyPr wrap="square" lIns="0" tIns="0" rIns="0" bIns="0" rtlCol="0" anchor="ctr"/>
          <a:lstStyle/>
          <a:p>
            <a:pPr marL="0" indent="0" algn="just">
              <a:buNone/>
            </a:pPr>
            <a:r>
              <a:rPr lang="en-US" sz="1200" b="1" dirty="0">
                <a:solidFill>
                  <a:srgbClr val="FFD166"/>
                </a:solidFill>
                <a:latin typeface="Times New Roman" panose="02020603050405020304" pitchFamily="18" charset="0"/>
                <a:cs typeface="Times New Roman" panose="02020603050405020304" pitchFamily="18" charset="0"/>
              </a:rPr>
              <a:t>🔄 Tests de Régression</a:t>
            </a:r>
            <a:endParaRPr lang="en-US" sz="1200" b="1" dirty="0">
              <a:latin typeface="Times New Roman" panose="02020603050405020304" pitchFamily="18" charset="0"/>
              <a:cs typeface="Times New Roman" panose="02020603050405020304" pitchFamily="18" charset="0"/>
            </a:endParaRPr>
          </a:p>
        </p:txBody>
      </p:sp>
      <p:sp>
        <p:nvSpPr>
          <p:cNvPr id="20" name="Text 15"/>
          <p:cNvSpPr/>
          <p:nvPr/>
        </p:nvSpPr>
        <p:spPr>
          <a:xfrm>
            <a:off x="323528" y="3872068"/>
            <a:ext cx="3931920" cy="457200"/>
          </a:xfrm>
          <a:prstGeom prst="rect">
            <a:avLst/>
          </a:prstGeom>
          <a:solidFill>
            <a:schemeClr val="tx2"/>
          </a:solidFill>
          <a:ln/>
        </p:spPr>
        <p:txBody>
          <a:bodyPr wrap="square" lIns="0" tIns="0" rIns="0" bIns="0" rtlCol="0" anchor="ctr"/>
          <a:lstStyle/>
          <a:p>
            <a:pPr marL="0" indent="0" algn="just">
              <a:buNone/>
            </a:pPr>
            <a:r>
              <a:rPr lang="en-US" sz="1200" b="1" dirty="0">
                <a:solidFill>
                  <a:srgbClr val="D0D8E8"/>
                </a:solidFill>
                <a:latin typeface="Times New Roman" panose="02020603050405020304" pitchFamily="18" charset="0"/>
                <a:cs typeface="Times New Roman" panose="02020603050405020304" pitchFamily="18" charset="0"/>
              </a:rPr>
              <a:t>Vérifient que les nouvelles modifications n'ont pas cassé les fonctionnalités existantes.</a:t>
            </a:r>
            <a:endParaRPr lang="en-US" sz="1200" b="1" dirty="0">
              <a:latin typeface="Times New Roman" panose="02020603050405020304" pitchFamily="18" charset="0"/>
              <a:cs typeface="Times New Roman" panose="02020603050405020304" pitchFamily="18" charset="0"/>
            </a:endParaRPr>
          </a:p>
        </p:txBody>
      </p:sp>
      <p:sp>
        <p:nvSpPr>
          <p:cNvPr id="21" name="Shape 16"/>
          <p:cNvSpPr/>
          <p:nvPr/>
        </p:nvSpPr>
        <p:spPr>
          <a:xfrm>
            <a:off x="4621208" y="3396580"/>
            <a:ext cx="4297680" cy="1005840"/>
          </a:xfrm>
          <a:prstGeom prst="rect">
            <a:avLst/>
          </a:prstGeom>
          <a:solidFill>
            <a:schemeClr val="tx2"/>
          </a:solidFill>
          <a:ln w="12700">
            <a:solidFill>
              <a:srgbClr val="06D6A0"/>
            </a:solidFill>
            <a:prstDash val="solid"/>
          </a:ln>
        </p:spPr>
      </p:sp>
      <p:sp>
        <p:nvSpPr>
          <p:cNvPr id="22" name="Shape 17"/>
          <p:cNvSpPr/>
          <p:nvPr/>
        </p:nvSpPr>
        <p:spPr>
          <a:xfrm>
            <a:off x="4621208" y="3396580"/>
            <a:ext cx="54864" cy="1005840"/>
          </a:xfrm>
          <a:prstGeom prst="rect">
            <a:avLst/>
          </a:prstGeom>
          <a:solidFill>
            <a:schemeClr val="tx2"/>
          </a:solidFill>
          <a:ln/>
        </p:spPr>
      </p:sp>
      <p:sp>
        <p:nvSpPr>
          <p:cNvPr id="23" name="Text 18"/>
          <p:cNvSpPr/>
          <p:nvPr/>
        </p:nvSpPr>
        <p:spPr>
          <a:xfrm>
            <a:off x="4804088" y="3488020"/>
            <a:ext cx="3931920" cy="365760"/>
          </a:xfrm>
          <a:prstGeom prst="rect">
            <a:avLst/>
          </a:prstGeom>
          <a:solidFill>
            <a:schemeClr val="tx2"/>
          </a:solidFill>
          <a:ln/>
        </p:spPr>
        <p:txBody>
          <a:bodyPr wrap="square" lIns="0" tIns="0" rIns="0" bIns="0" rtlCol="0" anchor="ctr"/>
          <a:lstStyle/>
          <a:p>
            <a:pPr marL="0" indent="0" algn="just">
              <a:buNone/>
            </a:pPr>
            <a:r>
              <a:rPr lang="en-US" sz="1200" b="1" dirty="0">
                <a:solidFill>
                  <a:srgbClr val="06D6A0"/>
                </a:solidFill>
                <a:latin typeface="Times New Roman" panose="02020603050405020304" pitchFamily="18" charset="0"/>
                <a:cs typeface="Times New Roman" panose="02020603050405020304" pitchFamily="18" charset="0"/>
              </a:rPr>
              <a:t>✅ Tests d'Acceptation</a:t>
            </a:r>
            <a:endParaRPr lang="en-US" sz="1200" b="1" dirty="0">
              <a:latin typeface="Times New Roman" panose="02020603050405020304" pitchFamily="18" charset="0"/>
              <a:cs typeface="Times New Roman" panose="02020603050405020304" pitchFamily="18" charset="0"/>
            </a:endParaRPr>
          </a:p>
        </p:txBody>
      </p:sp>
      <p:sp>
        <p:nvSpPr>
          <p:cNvPr id="24" name="Text 19"/>
          <p:cNvSpPr/>
          <p:nvPr/>
        </p:nvSpPr>
        <p:spPr>
          <a:xfrm>
            <a:off x="4804088" y="3872068"/>
            <a:ext cx="3931920" cy="457200"/>
          </a:xfrm>
          <a:prstGeom prst="rect">
            <a:avLst/>
          </a:prstGeom>
          <a:solidFill>
            <a:schemeClr val="tx2"/>
          </a:solidFill>
          <a:ln/>
        </p:spPr>
        <p:txBody>
          <a:bodyPr wrap="square" lIns="0" tIns="0" rIns="0" bIns="0" rtlCol="0" anchor="ctr"/>
          <a:lstStyle/>
          <a:p>
            <a:pPr marL="0" indent="0" algn="just">
              <a:buNone/>
            </a:pPr>
            <a:r>
              <a:rPr lang="en-US" sz="1200" b="1" dirty="0">
                <a:solidFill>
                  <a:srgbClr val="D0D8E8"/>
                </a:solidFill>
                <a:latin typeface="Times New Roman" panose="02020603050405020304" pitchFamily="18" charset="0"/>
                <a:cs typeface="Times New Roman" panose="02020603050405020304" pitchFamily="18" charset="0"/>
              </a:rPr>
              <a:t>Validés par le client/PO. Basés sur des critères d'acceptation (User Stories).</a:t>
            </a:r>
            <a:endParaRPr lang="en-US" sz="1200" b="1" dirty="0">
              <a:latin typeface="Times New Roman" panose="02020603050405020304" pitchFamily="18" charset="0"/>
              <a:cs typeface="Times New Roman" panose="02020603050405020304" pitchFamily="18" charset="0"/>
            </a:endParaRPr>
          </a:p>
        </p:txBody>
      </p:sp>
      <p:sp>
        <p:nvSpPr>
          <p:cNvPr id="25" name="Shape 20"/>
          <p:cNvSpPr/>
          <p:nvPr/>
        </p:nvSpPr>
        <p:spPr>
          <a:xfrm>
            <a:off x="140648" y="4631020"/>
            <a:ext cx="4297680" cy="1005840"/>
          </a:xfrm>
          <a:prstGeom prst="rect">
            <a:avLst/>
          </a:prstGeom>
          <a:solidFill>
            <a:schemeClr val="tx2"/>
          </a:solidFill>
          <a:ln w="12700">
            <a:solidFill>
              <a:srgbClr val="00C8FF"/>
            </a:solidFill>
            <a:prstDash val="solid"/>
          </a:ln>
        </p:spPr>
      </p:sp>
      <p:sp>
        <p:nvSpPr>
          <p:cNvPr id="26" name="Shape 21"/>
          <p:cNvSpPr/>
          <p:nvPr/>
        </p:nvSpPr>
        <p:spPr>
          <a:xfrm>
            <a:off x="140648" y="4631020"/>
            <a:ext cx="54864" cy="1005840"/>
          </a:xfrm>
          <a:prstGeom prst="rect">
            <a:avLst/>
          </a:prstGeom>
          <a:solidFill>
            <a:schemeClr val="tx2"/>
          </a:solidFill>
          <a:ln/>
        </p:spPr>
      </p:sp>
      <p:sp>
        <p:nvSpPr>
          <p:cNvPr id="27" name="Text 22"/>
          <p:cNvSpPr/>
          <p:nvPr/>
        </p:nvSpPr>
        <p:spPr>
          <a:xfrm>
            <a:off x="323528" y="4722460"/>
            <a:ext cx="3931920" cy="365760"/>
          </a:xfrm>
          <a:prstGeom prst="rect">
            <a:avLst/>
          </a:prstGeom>
          <a:solidFill>
            <a:schemeClr val="tx2"/>
          </a:solidFill>
          <a:ln/>
        </p:spPr>
        <p:txBody>
          <a:bodyPr wrap="square" lIns="0" tIns="0" rIns="0" bIns="0" rtlCol="0" anchor="ctr"/>
          <a:lstStyle/>
          <a:p>
            <a:pPr marL="0" indent="0" algn="just">
              <a:buNone/>
            </a:pPr>
            <a:r>
              <a:rPr lang="en-US" sz="1200" b="1" dirty="0">
                <a:solidFill>
                  <a:srgbClr val="00C8FF"/>
                </a:solidFill>
                <a:latin typeface="Times New Roman" panose="02020603050405020304" pitchFamily="18" charset="0"/>
                <a:cs typeface="Times New Roman" panose="02020603050405020304" pitchFamily="18" charset="0"/>
              </a:rPr>
              <a:t>💨 Tests de Smoke</a:t>
            </a:r>
            <a:endParaRPr lang="en-US" sz="1200" b="1" dirty="0">
              <a:latin typeface="Times New Roman" panose="02020603050405020304" pitchFamily="18" charset="0"/>
              <a:cs typeface="Times New Roman" panose="02020603050405020304" pitchFamily="18" charset="0"/>
            </a:endParaRPr>
          </a:p>
        </p:txBody>
      </p:sp>
      <p:sp>
        <p:nvSpPr>
          <p:cNvPr id="28" name="Text 23"/>
          <p:cNvSpPr/>
          <p:nvPr/>
        </p:nvSpPr>
        <p:spPr>
          <a:xfrm>
            <a:off x="323528" y="5106508"/>
            <a:ext cx="3931920" cy="457200"/>
          </a:xfrm>
          <a:prstGeom prst="rect">
            <a:avLst/>
          </a:prstGeom>
          <a:solidFill>
            <a:schemeClr val="tx2"/>
          </a:solidFill>
          <a:ln/>
        </p:spPr>
        <p:txBody>
          <a:bodyPr wrap="square" lIns="0" tIns="0" rIns="0" bIns="0" rtlCol="0" anchor="ctr"/>
          <a:lstStyle/>
          <a:p>
            <a:pPr marL="0" indent="0" algn="just">
              <a:buNone/>
            </a:pPr>
            <a:r>
              <a:rPr lang="en-US" sz="1200" b="1" dirty="0">
                <a:solidFill>
                  <a:srgbClr val="D0D8E8"/>
                </a:solidFill>
                <a:latin typeface="Times New Roman" panose="02020603050405020304" pitchFamily="18" charset="0"/>
                <a:cs typeface="Times New Roman" panose="02020603050405020304" pitchFamily="18" charset="0"/>
              </a:rPr>
              <a:t>Tests rapides de santé post-déploiement. Vérifient que les fonctions critiques fonctionnent.</a:t>
            </a:r>
            <a:endParaRPr lang="en-US" sz="1200" b="1" dirty="0">
              <a:latin typeface="Times New Roman" panose="02020603050405020304" pitchFamily="18" charset="0"/>
              <a:cs typeface="Times New Roman" panose="02020603050405020304" pitchFamily="18" charset="0"/>
            </a:endParaRPr>
          </a:p>
        </p:txBody>
      </p:sp>
      <p:sp>
        <p:nvSpPr>
          <p:cNvPr id="29" name="Shape 24"/>
          <p:cNvSpPr/>
          <p:nvPr/>
        </p:nvSpPr>
        <p:spPr>
          <a:xfrm>
            <a:off x="4621208" y="4631020"/>
            <a:ext cx="4297680" cy="1005840"/>
          </a:xfrm>
          <a:prstGeom prst="rect">
            <a:avLst/>
          </a:prstGeom>
          <a:solidFill>
            <a:schemeClr val="tx2"/>
          </a:solidFill>
          <a:ln w="12700">
            <a:solidFill>
              <a:srgbClr val="00E5B0"/>
            </a:solidFill>
            <a:prstDash val="solid"/>
          </a:ln>
        </p:spPr>
      </p:sp>
      <p:sp>
        <p:nvSpPr>
          <p:cNvPr id="30" name="Shape 25"/>
          <p:cNvSpPr/>
          <p:nvPr/>
        </p:nvSpPr>
        <p:spPr>
          <a:xfrm>
            <a:off x="4621208" y="4631020"/>
            <a:ext cx="54864" cy="1005840"/>
          </a:xfrm>
          <a:prstGeom prst="rect">
            <a:avLst/>
          </a:prstGeom>
          <a:solidFill>
            <a:schemeClr val="tx2"/>
          </a:solidFill>
          <a:ln/>
        </p:spPr>
      </p:sp>
      <p:sp>
        <p:nvSpPr>
          <p:cNvPr id="31" name="Text 26"/>
          <p:cNvSpPr/>
          <p:nvPr/>
        </p:nvSpPr>
        <p:spPr>
          <a:xfrm>
            <a:off x="4804088" y="4722460"/>
            <a:ext cx="3931920" cy="365760"/>
          </a:xfrm>
          <a:prstGeom prst="rect">
            <a:avLst/>
          </a:prstGeom>
          <a:solidFill>
            <a:schemeClr val="tx2"/>
          </a:solidFill>
          <a:ln/>
        </p:spPr>
        <p:txBody>
          <a:bodyPr wrap="square" lIns="0" tIns="0" rIns="0" bIns="0" rtlCol="0" anchor="ctr"/>
          <a:lstStyle/>
          <a:p>
            <a:pPr marL="0" indent="0" algn="just">
              <a:buNone/>
            </a:pPr>
            <a:r>
              <a:rPr lang="en-US" sz="1200" b="1" dirty="0">
                <a:solidFill>
                  <a:srgbClr val="00E5B0"/>
                </a:solidFill>
                <a:latin typeface="Times New Roman" panose="02020603050405020304" pitchFamily="18" charset="0"/>
                <a:cs typeface="Times New Roman" panose="02020603050405020304" pitchFamily="18" charset="0"/>
              </a:rPr>
              <a:t>🧬 Tests de Mutation</a:t>
            </a:r>
            <a:endParaRPr lang="en-US" sz="1200" b="1" dirty="0">
              <a:latin typeface="Times New Roman" panose="02020603050405020304" pitchFamily="18" charset="0"/>
              <a:cs typeface="Times New Roman" panose="02020603050405020304" pitchFamily="18" charset="0"/>
            </a:endParaRPr>
          </a:p>
        </p:txBody>
      </p:sp>
      <p:sp>
        <p:nvSpPr>
          <p:cNvPr id="32" name="Text 27"/>
          <p:cNvSpPr/>
          <p:nvPr/>
        </p:nvSpPr>
        <p:spPr>
          <a:xfrm>
            <a:off x="4804088" y="5106508"/>
            <a:ext cx="3931920" cy="457200"/>
          </a:xfrm>
          <a:prstGeom prst="rect">
            <a:avLst/>
          </a:prstGeom>
          <a:solidFill>
            <a:schemeClr val="tx2"/>
          </a:solidFill>
          <a:ln/>
        </p:spPr>
        <p:txBody>
          <a:bodyPr wrap="square" lIns="0" tIns="0" rIns="0" bIns="0" rtlCol="0" anchor="ctr"/>
          <a:lstStyle/>
          <a:p>
            <a:pPr marL="0" indent="0" algn="just">
              <a:buNone/>
            </a:pPr>
            <a:r>
              <a:rPr lang="en-US" sz="1200" b="1" dirty="0">
                <a:solidFill>
                  <a:srgbClr val="D0D8E8"/>
                </a:solidFill>
                <a:latin typeface="Times New Roman" panose="02020603050405020304" pitchFamily="18" charset="0"/>
                <a:cs typeface="Times New Roman" panose="02020603050405020304" pitchFamily="18" charset="0"/>
              </a:rPr>
              <a:t>Introduisent des erreurs dans le code pour mesurer la qualité des tests existants (PIT Framework).</a:t>
            </a:r>
            <a:endParaRPr lang="en-US" sz="1200" b="1" dirty="0">
              <a:latin typeface="Times New Roman" panose="02020603050405020304" pitchFamily="18" charset="0"/>
              <a:cs typeface="Times New Roman" panose="02020603050405020304" pitchFamily="18" charset="0"/>
            </a:endParaRPr>
          </a:p>
        </p:txBody>
      </p:sp>
      <p:sp>
        <p:nvSpPr>
          <p:cNvPr id="5" name="ZoneTexte 4"/>
          <p:cNvSpPr txBox="1"/>
          <p:nvPr/>
        </p:nvSpPr>
        <p:spPr>
          <a:xfrm>
            <a:off x="539552" y="1196752"/>
            <a:ext cx="7704856" cy="369332"/>
          </a:xfrm>
          <a:prstGeom prst="rect">
            <a:avLst/>
          </a:prstGeom>
          <a:noFill/>
        </p:spPr>
        <p:txBody>
          <a:bodyPr wrap="square" rtlCol="0">
            <a:spAutoFit/>
          </a:bodyPr>
          <a:lstStyle/>
          <a:p>
            <a:pPr marL="342900" indent="-342900">
              <a:buFont typeface="+mj-lt"/>
              <a:buAutoNum type="arabicPeriod"/>
            </a:pPr>
            <a:r>
              <a:rPr lang="fr-FR" dirty="0" smtClean="0">
                <a:solidFill>
                  <a:srgbClr val="FF0000"/>
                </a:solidFill>
              </a:rPr>
              <a:t>Les autres types de typologie de tests</a:t>
            </a:r>
            <a:endParaRPr lang="fr-FR" dirty="0">
              <a:solidFill>
                <a:srgbClr val="FF0000"/>
              </a:solidFill>
            </a:endParaRPr>
          </a:p>
        </p:txBody>
      </p:sp>
      <p:sp>
        <p:nvSpPr>
          <p:cNvPr id="3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a:pPr>
            <a:r>
              <a:rPr lang="fr-CI" sz="2400" noProof="0" dirty="0" smtClean="0">
                <a:solidFill>
                  <a:srgbClr val="FF0000"/>
                </a:solidFill>
              </a:rPr>
              <a:t>TYPOLOGIE DE TESTS </a:t>
            </a:r>
            <a:endParaRPr lang="fr-CI" sz="2400" noProof="0" dirty="0">
              <a:solidFill>
                <a:srgbClr val="FF0000"/>
              </a:solidFill>
            </a:endParaRPr>
          </a:p>
        </p:txBody>
      </p:sp>
    </p:spTree>
    <p:extLst>
      <p:ext uri="{BB962C8B-B14F-4D97-AF65-F5344CB8AC3E}">
        <p14:creationId xmlns:p14="http://schemas.microsoft.com/office/powerpoint/2010/main" val="1260333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2"/>
            </a:pPr>
            <a:r>
              <a:rPr lang="fr-CI" sz="2400" dirty="0" smtClean="0">
                <a:solidFill>
                  <a:srgbClr val="FF0000"/>
                </a:solidFill>
              </a:rPr>
              <a:t>FRAMEWORK DE TESTS</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51520" y="980728"/>
            <a:ext cx="8712968" cy="646331"/>
          </a:xfrm>
          <a:prstGeom prst="rect">
            <a:avLst/>
          </a:prstGeom>
        </p:spPr>
        <p:txBody>
          <a:bodyPr wrap="square">
            <a:spAutoFit/>
          </a:bodyPr>
          <a:lstStyle/>
          <a:p>
            <a:pPr algn="just">
              <a:spcAft>
                <a:spcPts val="600"/>
              </a:spcAft>
            </a:pPr>
            <a:r>
              <a:rPr lang="fr-CI" dirty="0">
                <a:latin typeface="Times New Roman" panose="02020603050405020304" pitchFamily="18" charset="0"/>
                <a:ea typeface="Calibri" panose="020F0502020204030204" pitchFamily="34" charset="0"/>
                <a:cs typeface="Times New Roman" panose="02020603050405020304" pitchFamily="18" charset="0"/>
              </a:rPr>
              <a:t>Java dispose de deux </a:t>
            </a:r>
            <a:r>
              <a:rPr lang="fr-CI" dirty="0" err="1">
                <a:latin typeface="Times New Roman" panose="02020603050405020304" pitchFamily="18" charset="0"/>
                <a:ea typeface="Calibri" panose="020F0502020204030204" pitchFamily="34" charset="0"/>
                <a:cs typeface="Times New Roman" panose="02020603050405020304" pitchFamily="18" charset="0"/>
              </a:rPr>
              <a:t>frameworks</a:t>
            </a:r>
            <a:r>
              <a:rPr lang="fr-CI" dirty="0">
                <a:latin typeface="Times New Roman" panose="02020603050405020304" pitchFamily="18" charset="0"/>
                <a:ea typeface="Calibri" panose="020F0502020204030204" pitchFamily="34" charset="0"/>
                <a:cs typeface="Times New Roman" panose="02020603050405020304" pitchFamily="18" charset="0"/>
              </a:rPr>
              <a:t> de tests unitaires majeurs : </a:t>
            </a:r>
            <a:r>
              <a:rPr lang="fr-CI" b="1" dirty="0" err="1">
                <a:latin typeface="Times New Roman" panose="02020603050405020304" pitchFamily="18" charset="0"/>
                <a:ea typeface="Calibri" panose="020F0502020204030204" pitchFamily="34" charset="0"/>
                <a:cs typeface="Times New Roman" panose="02020603050405020304" pitchFamily="18" charset="0"/>
              </a:rPr>
              <a:t>JUnit</a:t>
            </a:r>
            <a:r>
              <a:rPr lang="fr-CI" b="1" dirty="0">
                <a:latin typeface="Times New Roman" panose="02020603050405020304" pitchFamily="18" charset="0"/>
                <a:ea typeface="Calibri" panose="020F0502020204030204" pitchFamily="34" charset="0"/>
                <a:cs typeface="Times New Roman" panose="02020603050405020304" pitchFamily="18" charset="0"/>
              </a:rPr>
              <a:t> 5 (le plus populaire) </a:t>
            </a:r>
            <a:r>
              <a:rPr lang="fr-CI" dirty="0">
                <a:latin typeface="Times New Roman" panose="02020603050405020304" pitchFamily="18" charset="0"/>
                <a:ea typeface="Calibri" panose="020F0502020204030204" pitchFamily="34" charset="0"/>
                <a:cs typeface="Times New Roman" panose="02020603050405020304" pitchFamily="18" charset="0"/>
              </a:rPr>
              <a:t>et </a:t>
            </a:r>
            <a:r>
              <a:rPr lang="fr-CI" b="1" dirty="0" err="1">
                <a:latin typeface="Times New Roman" panose="02020603050405020304" pitchFamily="18" charset="0"/>
                <a:ea typeface="Calibri" panose="020F0502020204030204" pitchFamily="34" charset="0"/>
                <a:cs typeface="Times New Roman" panose="02020603050405020304" pitchFamily="18" charset="0"/>
              </a:rPr>
              <a:t>TestNG</a:t>
            </a:r>
            <a:r>
              <a:rPr lang="fr-CI" b="1" dirty="0">
                <a:latin typeface="Times New Roman" panose="02020603050405020304" pitchFamily="18" charset="0"/>
                <a:ea typeface="Calibri" panose="020F0502020204030204" pitchFamily="34" charset="0"/>
                <a:cs typeface="Times New Roman" panose="02020603050405020304" pitchFamily="18" charset="0"/>
              </a:rPr>
              <a:t>.</a:t>
            </a:r>
            <a:r>
              <a:rPr lang="fr-CI" dirty="0">
                <a:latin typeface="Times New Roman" panose="02020603050405020304" pitchFamily="18" charset="0"/>
                <a:ea typeface="Calibri" panose="020F0502020204030204" pitchFamily="34" charset="0"/>
                <a:cs typeface="Times New Roman" panose="02020603050405020304" pitchFamily="18" charset="0"/>
              </a:rPr>
              <a:t>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323528" y="1772816"/>
            <a:ext cx="747320" cy="307777"/>
          </a:xfrm>
          <a:prstGeom prst="rect">
            <a:avLst/>
          </a:prstGeom>
        </p:spPr>
        <p:txBody>
          <a:bodyPr wrap="none">
            <a:spAutoFit/>
          </a:bodyPr>
          <a:lstStyle/>
          <a:p>
            <a:pPr marL="0" indent="0">
              <a:buNone/>
            </a:pPr>
            <a:r>
              <a:rPr lang="en-US" sz="1400" b="1" dirty="0">
                <a:latin typeface="Times New Roman" panose="02020603050405020304" pitchFamily="18" charset="0"/>
                <a:cs typeface="Times New Roman" panose="02020603050405020304" pitchFamily="18" charset="0"/>
              </a:rPr>
              <a:t>JUnit 5</a:t>
            </a:r>
          </a:p>
        </p:txBody>
      </p:sp>
      <p:sp>
        <p:nvSpPr>
          <p:cNvPr id="8" name="Shape 3"/>
          <p:cNvSpPr/>
          <p:nvPr/>
        </p:nvSpPr>
        <p:spPr>
          <a:xfrm>
            <a:off x="6256743" y="1681962"/>
            <a:ext cx="2560320" cy="365760"/>
          </a:xfrm>
          <a:prstGeom prst="roundRect">
            <a:avLst>
              <a:gd name="adj" fmla="val 20000"/>
            </a:avLst>
          </a:prstGeom>
          <a:solidFill>
            <a:srgbClr val="00C8FF">
              <a:alpha val="20000"/>
            </a:srgbClr>
          </a:solidFill>
          <a:ln w="12700">
            <a:solidFill>
              <a:srgbClr val="00C8FF"/>
            </a:solidFill>
            <a:prstDash val="solid"/>
          </a:ln>
        </p:spPr>
      </p:sp>
      <p:sp>
        <p:nvSpPr>
          <p:cNvPr id="9" name="Text 4"/>
          <p:cNvSpPr/>
          <p:nvPr/>
        </p:nvSpPr>
        <p:spPr>
          <a:xfrm>
            <a:off x="6028143" y="1747253"/>
            <a:ext cx="2560320" cy="365760"/>
          </a:xfrm>
          <a:prstGeom prst="rect">
            <a:avLst/>
          </a:prstGeom>
          <a:noFill/>
          <a:ln/>
        </p:spPr>
        <p:txBody>
          <a:bodyPr wrap="square" lIns="0" tIns="0" rIns="0" bIns="0" rtlCol="0" anchor="ctr"/>
          <a:lstStyle/>
          <a:p>
            <a:pPr marL="0" indent="0" algn="ctr">
              <a:buNone/>
            </a:pPr>
            <a:r>
              <a:rPr lang="en-US" sz="1400" dirty="0">
                <a:solidFill>
                  <a:srgbClr val="00C8FF"/>
                </a:solidFill>
                <a:latin typeface="Times New Roman" panose="02020603050405020304" pitchFamily="18" charset="0"/>
                <a:cs typeface="Times New Roman" panose="02020603050405020304" pitchFamily="18" charset="0"/>
              </a:rPr>
              <a:t>Le standard Java depuis 2017</a:t>
            </a:r>
            <a:endParaRPr lang="en-US" sz="1400" dirty="0">
              <a:latin typeface="Times New Roman" panose="02020603050405020304" pitchFamily="18" charset="0"/>
              <a:cs typeface="Times New Roman" panose="02020603050405020304" pitchFamily="18" charset="0"/>
            </a:endParaRPr>
          </a:p>
        </p:txBody>
      </p:sp>
      <p:sp>
        <p:nvSpPr>
          <p:cNvPr id="11" name="Text 5"/>
          <p:cNvSpPr/>
          <p:nvPr/>
        </p:nvSpPr>
        <p:spPr>
          <a:xfrm>
            <a:off x="358863" y="2107819"/>
            <a:ext cx="8229600" cy="365760"/>
          </a:xfrm>
          <a:prstGeom prst="rect">
            <a:avLst/>
          </a:prstGeom>
          <a:solidFill>
            <a:schemeClr val="accent1"/>
          </a:solidFill>
          <a:ln>
            <a:noFill/>
          </a:ln>
        </p:spPr>
        <p:txBody>
          <a:bodyPr wrap="square" rtlCol="0" anchor="ctr"/>
          <a:lstStyle/>
          <a:p>
            <a:pPr marL="0" indent="0">
              <a:buNone/>
            </a:pPr>
            <a:r>
              <a:rPr lang="en-US" sz="1400" b="1" dirty="0">
                <a:latin typeface="Times New Roman" panose="02020603050405020304" pitchFamily="18" charset="0"/>
                <a:cs typeface="Times New Roman" panose="02020603050405020304" pitchFamily="18" charset="0"/>
              </a:rPr>
              <a:t>Architecture — 3 modules clés</a:t>
            </a:r>
          </a:p>
        </p:txBody>
      </p:sp>
      <p:sp>
        <p:nvSpPr>
          <p:cNvPr id="12" name="Shape 6"/>
          <p:cNvSpPr/>
          <p:nvPr/>
        </p:nvSpPr>
        <p:spPr>
          <a:xfrm>
            <a:off x="313143" y="2565018"/>
            <a:ext cx="2743200" cy="1031261"/>
          </a:xfrm>
          <a:prstGeom prst="rect">
            <a:avLst/>
          </a:prstGeom>
          <a:solidFill>
            <a:schemeClr val="bg2">
              <a:lumMod val="40000"/>
              <a:lumOff val="60000"/>
            </a:schemeClr>
          </a:solidFill>
          <a:ln w="25400">
            <a:solidFill>
              <a:schemeClr val="bg1"/>
            </a:solidFill>
            <a:prstDash val="solid"/>
          </a:ln>
        </p:spPr>
      </p:sp>
      <p:sp>
        <p:nvSpPr>
          <p:cNvPr id="13" name="Shape 7"/>
          <p:cNvSpPr/>
          <p:nvPr/>
        </p:nvSpPr>
        <p:spPr>
          <a:xfrm>
            <a:off x="313143" y="2565019"/>
            <a:ext cx="2743200" cy="64008"/>
          </a:xfrm>
          <a:prstGeom prst="rect">
            <a:avLst/>
          </a:prstGeom>
          <a:solidFill>
            <a:schemeClr val="bg2">
              <a:lumMod val="40000"/>
              <a:lumOff val="60000"/>
            </a:schemeClr>
          </a:solidFill>
          <a:ln>
            <a:solidFill>
              <a:schemeClr val="bg1"/>
            </a:solidFill>
          </a:ln>
        </p:spPr>
      </p:sp>
      <p:sp>
        <p:nvSpPr>
          <p:cNvPr id="14" name="Text 8"/>
          <p:cNvSpPr/>
          <p:nvPr/>
        </p:nvSpPr>
        <p:spPr>
          <a:xfrm>
            <a:off x="404583" y="2656459"/>
            <a:ext cx="2560320" cy="320040"/>
          </a:xfrm>
          <a:prstGeom prst="rect">
            <a:avLst/>
          </a:prstGeom>
          <a:solidFill>
            <a:schemeClr val="bg2">
              <a:lumMod val="40000"/>
              <a:lumOff val="60000"/>
            </a:schemeClr>
          </a:solidFill>
          <a:ln>
            <a:solidFill>
              <a:schemeClr val="bg1"/>
            </a:solid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JUnit Platform</a:t>
            </a:r>
          </a:p>
        </p:txBody>
      </p:sp>
      <p:sp>
        <p:nvSpPr>
          <p:cNvPr id="15" name="Text 9"/>
          <p:cNvSpPr/>
          <p:nvPr/>
        </p:nvSpPr>
        <p:spPr>
          <a:xfrm>
            <a:off x="404583" y="2987913"/>
            <a:ext cx="2606040" cy="634652"/>
          </a:xfrm>
          <a:prstGeom prst="rect">
            <a:avLst/>
          </a:prstGeom>
          <a:solidFill>
            <a:schemeClr val="bg2">
              <a:lumMod val="40000"/>
              <a:lumOff val="60000"/>
            </a:schemeClr>
          </a:solidFill>
          <a:ln>
            <a:solidFill>
              <a:schemeClr val="bg1"/>
            </a:solid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Fondation pour lancer des frameworks de test sur la JVM. SPI pour les IDE, Maven, Gradle.</a:t>
            </a:r>
          </a:p>
        </p:txBody>
      </p:sp>
      <p:sp>
        <p:nvSpPr>
          <p:cNvPr id="16" name="Shape 10"/>
          <p:cNvSpPr/>
          <p:nvPr/>
        </p:nvSpPr>
        <p:spPr>
          <a:xfrm>
            <a:off x="3284943" y="2565019"/>
            <a:ext cx="2651760" cy="1051560"/>
          </a:xfrm>
          <a:prstGeom prst="rect">
            <a:avLst/>
          </a:prstGeom>
          <a:solidFill>
            <a:schemeClr val="bg2">
              <a:lumMod val="40000"/>
              <a:lumOff val="60000"/>
            </a:schemeClr>
          </a:solidFill>
          <a:ln w="25400">
            <a:solidFill>
              <a:schemeClr val="bg1"/>
            </a:solidFill>
            <a:prstDash val="solid"/>
          </a:ln>
        </p:spPr>
      </p:sp>
      <p:sp>
        <p:nvSpPr>
          <p:cNvPr id="17" name="Shape 11"/>
          <p:cNvSpPr/>
          <p:nvPr/>
        </p:nvSpPr>
        <p:spPr>
          <a:xfrm>
            <a:off x="3284943" y="2565019"/>
            <a:ext cx="2743200" cy="64008"/>
          </a:xfrm>
          <a:prstGeom prst="rect">
            <a:avLst/>
          </a:prstGeom>
          <a:solidFill>
            <a:schemeClr val="bg2">
              <a:lumMod val="40000"/>
              <a:lumOff val="60000"/>
            </a:schemeClr>
          </a:solidFill>
          <a:ln>
            <a:solidFill>
              <a:schemeClr val="bg1"/>
            </a:solidFill>
          </a:ln>
        </p:spPr>
      </p:sp>
      <p:sp>
        <p:nvSpPr>
          <p:cNvPr id="18" name="Text 12"/>
          <p:cNvSpPr/>
          <p:nvPr/>
        </p:nvSpPr>
        <p:spPr>
          <a:xfrm>
            <a:off x="3376383" y="2656459"/>
            <a:ext cx="2560320" cy="320040"/>
          </a:xfrm>
          <a:prstGeom prst="rect">
            <a:avLst/>
          </a:prstGeom>
          <a:solidFill>
            <a:schemeClr val="bg2">
              <a:lumMod val="40000"/>
              <a:lumOff val="60000"/>
            </a:schemeClr>
          </a:solidFill>
          <a:ln>
            <a:solidFill>
              <a:schemeClr val="bg1"/>
            </a:solid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JUnit Jupiter</a:t>
            </a:r>
          </a:p>
        </p:txBody>
      </p:sp>
      <p:sp>
        <p:nvSpPr>
          <p:cNvPr id="19" name="Text 13"/>
          <p:cNvSpPr/>
          <p:nvPr/>
        </p:nvSpPr>
        <p:spPr>
          <a:xfrm>
            <a:off x="3376383" y="2976498"/>
            <a:ext cx="2543650" cy="615113"/>
          </a:xfrm>
          <a:prstGeom prst="rect">
            <a:avLst/>
          </a:prstGeom>
          <a:solidFill>
            <a:schemeClr val="bg2">
              <a:lumMod val="40000"/>
              <a:lumOff val="60000"/>
            </a:schemeClr>
          </a:solidFill>
          <a:ln>
            <a:solidFill>
              <a:schemeClr val="bg1"/>
            </a:solid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API pour écrire des tests &amp; extensions. Annotations @Test, @BeforeEach, @DisplayName...</a:t>
            </a:r>
          </a:p>
        </p:txBody>
      </p:sp>
      <p:sp>
        <p:nvSpPr>
          <p:cNvPr id="20" name="Shape 14"/>
          <p:cNvSpPr/>
          <p:nvPr/>
        </p:nvSpPr>
        <p:spPr>
          <a:xfrm>
            <a:off x="6256743" y="2565018"/>
            <a:ext cx="2743200" cy="1085167"/>
          </a:xfrm>
          <a:prstGeom prst="rect">
            <a:avLst/>
          </a:prstGeom>
          <a:solidFill>
            <a:schemeClr val="bg2">
              <a:lumMod val="40000"/>
              <a:lumOff val="60000"/>
            </a:schemeClr>
          </a:solidFill>
          <a:ln w="25400">
            <a:solidFill>
              <a:schemeClr val="bg1"/>
            </a:solidFill>
            <a:prstDash val="solid"/>
          </a:ln>
        </p:spPr>
      </p:sp>
      <p:sp>
        <p:nvSpPr>
          <p:cNvPr id="21" name="Shape 15"/>
          <p:cNvSpPr/>
          <p:nvPr/>
        </p:nvSpPr>
        <p:spPr>
          <a:xfrm>
            <a:off x="6256743" y="2565019"/>
            <a:ext cx="2743200" cy="64008"/>
          </a:xfrm>
          <a:prstGeom prst="rect">
            <a:avLst/>
          </a:prstGeom>
          <a:solidFill>
            <a:schemeClr val="bg2">
              <a:lumMod val="40000"/>
              <a:lumOff val="60000"/>
            </a:schemeClr>
          </a:solidFill>
          <a:ln>
            <a:solidFill>
              <a:schemeClr val="bg1"/>
            </a:solidFill>
          </a:ln>
        </p:spPr>
      </p:sp>
      <p:sp>
        <p:nvSpPr>
          <p:cNvPr id="22" name="Text 16"/>
          <p:cNvSpPr/>
          <p:nvPr/>
        </p:nvSpPr>
        <p:spPr>
          <a:xfrm>
            <a:off x="6348183" y="2656459"/>
            <a:ext cx="2560320" cy="320040"/>
          </a:xfrm>
          <a:prstGeom prst="rect">
            <a:avLst/>
          </a:prstGeom>
          <a:solidFill>
            <a:schemeClr val="bg2">
              <a:lumMod val="40000"/>
              <a:lumOff val="60000"/>
            </a:schemeClr>
          </a:solidFill>
          <a:ln>
            <a:solidFill>
              <a:schemeClr val="bg1"/>
            </a:solid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JUnit Vintage</a:t>
            </a:r>
          </a:p>
        </p:txBody>
      </p:sp>
      <p:sp>
        <p:nvSpPr>
          <p:cNvPr id="23" name="Text 17"/>
          <p:cNvSpPr/>
          <p:nvPr/>
        </p:nvSpPr>
        <p:spPr>
          <a:xfrm>
            <a:off x="6348183" y="2976499"/>
            <a:ext cx="2606040" cy="615112"/>
          </a:xfrm>
          <a:prstGeom prst="rect">
            <a:avLst/>
          </a:prstGeom>
          <a:solidFill>
            <a:schemeClr val="bg2">
              <a:lumMod val="40000"/>
              <a:lumOff val="60000"/>
            </a:schemeClr>
          </a:solidFill>
          <a:ln>
            <a:solidFill>
              <a:schemeClr val="bg1"/>
            </a:solid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Rétrocompatibilité avec JUnit 3 &amp; 4. Migration progressive vers JUnit 5.</a:t>
            </a:r>
          </a:p>
        </p:txBody>
      </p:sp>
      <p:sp>
        <p:nvSpPr>
          <p:cNvPr id="24" name="Text 18"/>
          <p:cNvSpPr/>
          <p:nvPr/>
        </p:nvSpPr>
        <p:spPr>
          <a:xfrm>
            <a:off x="358863" y="3616579"/>
            <a:ext cx="8229600" cy="365760"/>
          </a:xfrm>
          <a:prstGeom prst="rect">
            <a:avLst/>
          </a:prstGeom>
          <a:noFill/>
          <a:ln>
            <a:noFill/>
          </a:ln>
        </p:spPr>
        <p:txBody>
          <a:bodyPr wrap="square" rtlCol="0" anchor="ctr"/>
          <a:lstStyle/>
          <a:p>
            <a:pPr marL="0" indent="0">
              <a:buNone/>
            </a:pPr>
            <a:r>
              <a:rPr lang="en-US" sz="1400" b="1" dirty="0">
                <a:latin typeface="Times New Roman" panose="02020603050405020304" pitchFamily="18" charset="0"/>
                <a:cs typeface="Times New Roman" panose="02020603050405020304" pitchFamily="18" charset="0"/>
              </a:rPr>
              <a:t>Annotations Principales</a:t>
            </a:r>
          </a:p>
        </p:txBody>
      </p:sp>
      <p:sp>
        <p:nvSpPr>
          <p:cNvPr id="25" name="Shape 19"/>
          <p:cNvSpPr/>
          <p:nvPr/>
        </p:nvSpPr>
        <p:spPr>
          <a:xfrm>
            <a:off x="313143" y="4119499"/>
            <a:ext cx="1463040" cy="292608"/>
          </a:xfrm>
          <a:prstGeom prst="roundRect">
            <a:avLst>
              <a:gd name="adj" fmla="val 15625"/>
            </a:avLst>
          </a:prstGeom>
          <a:solidFill>
            <a:srgbClr val="1E90FF">
              <a:alpha val="20000"/>
            </a:srgbClr>
          </a:solidFill>
          <a:ln w="12700">
            <a:noFill/>
            <a:prstDash val="solid"/>
          </a:ln>
        </p:spPr>
      </p:sp>
      <p:sp>
        <p:nvSpPr>
          <p:cNvPr id="26" name="Text 20"/>
          <p:cNvSpPr/>
          <p:nvPr/>
        </p:nvSpPr>
        <p:spPr>
          <a:xfrm>
            <a:off x="313143" y="4119499"/>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@Test</a:t>
            </a:r>
            <a:endParaRPr lang="en-US" sz="1400" b="1" dirty="0">
              <a:latin typeface="Times New Roman" panose="02020603050405020304" pitchFamily="18" charset="0"/>
              <a:cs typeface="Times New Roman" panose="02020603050405020304" pitchFamily="18" charset="0"/>
            </a:endParaRPr>
          </a:p>
        </p:txBody>
      </p:sp>
      <p:sp>
        <p:nvSpPr>
          <p:cNvPr id="27" name="Text 21"/>
          <p:cNvSpPr/>
          <p:nvPr/>
        </p:nvSpPr>
        <p:spPr>
          <a:xfrm>
            <a:off x="1867623" y="4119499"/>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Marque une méthode comme test</a:t>
            </a:r>
          </a:p>
        </p:txBody>
      </p:sp>
      <p:sp>
        <p:nvSpPr>
          <p:cNvPr id="28" name="Shape 22"/>
          <p:cNvSpPr/>
          <p:nvPr/>
        </p:nvSpPr>
        <p:spPr>
          <a:xfrm>
            <a:off x="4793703" y="4119499"/>
            <a:ext cx="1463040" cy="292608"/>
          </a:xfrm>
          <a:prstGeom prst="roundRect">
            <a:avLst>
              <a:gd name="adj" fmla="val 15625"/>
            </a:avLst>
          </a:prstGeom>
          <a:solidFill>
            <a:srgbClr val="1E90FF">
              <a:alpha val="20000"/>
            </a:srgbClr>
          </a:solidFill>
          <a:ln w="12700">
            <a:noFill/>
            <a:prstDash val="solid"/>
          </a:ln>
        </p:spPr>
      </p:sp>
      <p:sp>
        <p:nvSpPr>
          <p:cNvPr id="29" name="Text 23"/>
          <p:cNvSpPr/>
          <p:nvPr/>
        </p:nvSpPr>
        <p:spPr>
          <a:xfrm>
            <a:off x="4793703" y="4119499"/>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@BeforeEach</a:t>
            </a:r>
            <a:endParaRPr lang="en-US" sz="1400" b="1" dirty="0">
              <a:latin typeface="Times New Roman" panose="02020603050405020304" pitchFamily="18" charset="0"/>
              <a:cs typeface="Times New Roman" panose="02020603050405020304" pitchFamily="18" charset="0"/>
            </a:endParaRPr>
          </a:p>
        </p:txBody>
      </p:sp>
      <p:sp>
        <p:nvSpPr>
          <p:cNvPr id="30" name="Text 24"/>
          <p:cNvSpPr/>
          <p:nvPr/>
        </p:nvSpPr>
        <p:spPr>
          <a:xfrm>
            <a:off x="6348183" y="4119499"/>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Exécuté avant chaque test</a:t>
            </a:r>
          </a:p>
        </p:txBody>
      </p:sp>
      <p:sp>
        <p:nvSpPr>
          <p:cNvPr id="31" name="Shape 25"/>
          <p:cNvSpPr/>
          <p:nvPr/>
        </p:nvSpPr>
        <p:spPr>
          <a:xfrm>
            <a:off x="313143" y="4503547"/>
            <a:ext cx="1463040" cy="292608"/>
          </a:xfrm>
          <a:prstGeom prst="roundRect">
            <a:avLst>
              <a:gd name="adj" fmla="val 15625"/>
            </a:avLst>
          </a:prstGeom>
          <a:solidFill>
            <a:srgbClr val="1E90FF">
              <a:alpha val="20000"/>
            </a:srgbClr>
          </a:solidFill>
          <a:ln w="12700">
            <a:noFill/>
            <a:prstDash val="solid"/>
          </a:ln>
        </p:spPr>
      </p:sp>
      <p:sp>
        <p:nvSpPr>
          <p:cNvPr id="32" name="Text 26"/>
          <p:cNvSpPr/>
          <p:nvPr/>
        </p:nvSpPr>
        <p:spPr>
          <a:xfrm>
            <a:off x="313143" y="4503547"/>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@AfterEach</a:t>
            </a:r>
            <a:endParaRPr lang="en-US" sz="1400" b="1" dirty="0">
              <a:latin typeface="Times New Roman" panose="02020603050405020304" pitchFamily="18" charset="0"/>
              <a:cs typeface="Times New Roman" panose="02020603050405020304" pitchFamily="18" charset="0"/>
            </a:endParaRPr>
          </a:p>
        </p:txBody>
      </p:sp>
      <p:sp>
        <p:nvSpPr>
          <p:cNvPr id="33" name="Text 27"/>
          <p:cNvSpPr/>
          <p:nvPr/>
        </p:nvSpPr>
        <p:spPr>
          <a:xfrm>
            <a:off x="1867623" y="4503547"/>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Exécuté après chaque test</a:t>
            </a:r>
          </a:p>
        </p:txBody>
      </p:sp>
      <p:sp>
        <p:nvSpPr>
          <p:cNvPr id="34" name="Shape 28"/>
          <p:cNvSpPr/>
          <p:nvPr/>
        </p:nvSpPr>
        <p:spPr>
          <a:xfrm>
            <a:off x="4793703" y="4503547"/>
            <a:ext cx="1463040" cy="292608"/>
          </a:xfrm>
          <a:prstGeom prst="roundRect">
            <a:avLst>
              <a:gd name="adj" fmla="val 15625"/>
            </a:avLst>
          </a:prstGeom>
          <a:solidFill>
            <a:srgbClr val="1E90FF">
              <a:alpha val="20000"/>
            </a:srgbClr>
          </a:solidFill>
          <a:ln w="12700">
            <a:noFill/>
            <a:prstDash val="solid"/>
          </a:ln>
        </p:spPr>
      </p:sp>
      <p:sp>
        <p:nvSpPr>
          <p:cNvPr id="35" name="Text 29"/>
          <p:cNvSpPr/>
          <p:nvPr/>
        </p:nvSpPr>
        <p:spPr>
          <a:xfrm>
            <a:off x="4793703" y="4503547"/>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@BeforeAll</a:t>
            </a:r>
            <a:endParaRPr lang="en-US" sz="1400" b="1" dirty="0">
              <a:latin typeface="Times New Roman" panose="02020603050405020304" pitchFamily="18" charset="0"/>
              <a:cs typeface="Times New Roman" panose="02020603050405020304" pitchFamily="18" charset="0"/>
            </a:endParaRPr>
          </a:p>
        </p:txBody>
      </p:sp>
      <p:sp>
        <p:nvSpPr>
          <p:cNvPr id="36" name="Text 30"/>
          <p:cNvSpPr/>
          <p:nvPr/>
        </p:nvSpPr>
        <p:spPr>
          <a:xfrm>
            <a:off x="6348183" y="4503547"/>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Exécuté une seule fois avant tous les tests (static)</a:t>
            </a:r>
          </a:p>
        </p:txBody>
      </p:sp>
      <p:sp>
        <p:nvSpPr>
          <p:cNvPr id="37" name="Shape 31"/>
          <p:cNvSpPr/>
          <p:nvPr/>
        </p:nvSpPr>
        <p:spPr>
          <a:xfrm>
            <a:off x="313143" y="4887595"/>
            <a:ext cx="1463040" cy="292608"/>
          </a:xfrm>
          <a:prstGeom prst="roundRect">
            <a:avLst>
              <a:gd name="adj" fmla="val 15625"/>
            </a:avLst>
          </a:prstGeom>
          <a:solidFill>
            <a:srgbClr val="1E90FF">
              <a:alpha val="20000"/>
            </a:srgbClr>
          </a:solidFill>
          <a:ln w="12700">
            <a:noFill/>
            <a:prstDash val="solid"/>
          </a:ln>
        </p:spPr>
      </p:sp>
      <p:sp>
        <p:nvSpPr>
          <p:cNvPr id="38" name="Text 32"/>
          <p:cNvSpPr/>
          <p:nvPr/>
        </p:nvSpPr>
        <p:spPr>
          <a:xfrm>
            <a:off x="313143" y="4887595"/>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@AfterAll</a:t>
            </a:r>
            <a:endParaRPr lang="en-US" sz="1400" b="1" dirty="0">
              <a:latin typeface="Times New Roman" panose="02020603050405020304" pitchFamily="18" charset="0"/>
              <a:cs typeface="Times New Roman" panose="02020603050405020304" pitchFamily="18" charset="0"/>
            </a:endParaRPr>
          </a:p>
        </p:txBody>
      </p:sp>
      <p:sp>
        <p:nvSpPr>
          <p:cNvPr id="39" name="Text 33"/>
          <p:cNvSpPr/>
          <p:nvPr/>
        </p:nvSpPr>
        <p:spPr>
          <a:xfrm>
            <a:off x="1867623" y="4887595"/>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Exécuté une seule fois après tous les tests (static)</a:t>
            </a:r>
          </a:p>
        </p:txBody>
      </p:sp>
      <p:sp>
        <p:nvSpPr>
          <p:cNvPr id="40" name="Shape 34"/>
          <p:cNvSpPr/>
          <p:nvPr/>
        </p:nvSpPr>
        <p:spPr>
          <a:xfrm>
            <a:off x="4793703" y="4887595"/>
            <a:ext cx="1463040" cy="292608"/>
          </a:xfrm>
          <a:prstGeom prst="roundRect">
            <a:avLst>
              <a:gd name="adj" fmla="val 15625"/>
            </a:avLst>
          </a:prstGeom>
          <a:solidFill>
            <a:srgbClr val="1E90FF">
              <a:alpha val="20000"/>
            </a:srgbClr>
          </a:solidFill>
          <a:ln w="12700">
            <a:noFill/>
            <a:prstDash val="solid"/>
          </a:ln>
        </p:spPr>
      </p:sp>
      <p:sp>
        <p:nvSpPr>
          <p:cNvPr id="41" name="Text 35"/>
          <p:cNvSpPr/>
          <p:nvPr/>
        </p:nvSpPr>
        <p:spPr>
          <a:xfrm>
            <a:off x="4793703" y="4887595"/>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@DisplayName</a:t>
            </a:r>
            <a:endParaRPr lang="en-US" sz="1400" b="1" dirty="0">
              <a:latin typeface="Times New Roman" panose="02020603050405020304" pitchFamily="18" charset="0"/>
              <a:cs typeface="Times New Roman" panose="02020603050405020304" pitchFamily="18" charset="0"/>
            </a:endParaRPr>
          </a:p>
        </p:txBody>
      </p:sp>
      <p:sp>
        <p:nvSpPr>
          <p:cNvPr id="42" name="Text 36"/>
          <p:cNvSpPr/>
          <p:nvPr/>
        </p:nvSpPr>
        <p:spPr>
          <a:xfrm>
            <a:off x="6348183" y="4887595"/>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Nom lisible pour le test</a:t>
            </a:r>
          </a:p>
        </p:txBody>
      </p:sp>
      <p:sp>
        <p:nvSpPr>
          <p:cNvPr id="43" name="Shape 37"/>
          <p:cNvSpPr/>
          <p:nvPr/>
        </p:nvSpPr>
        <p:spPr>
          <a:xfrm>
            <a:off x="313143" y="5271643"/>
            <a:ext cx="1463040" cy="292608"/>
          </a:xfrm>
          <a:prstGeom prst="roundRect">
            <a:avLst>
              <a:gd name="adj" fmla="val 15625"/>
            </a:avLst>
          </a:prstGeom>
          <a:solidFill>
            <a:srgbClr val="1E90FF">
              <a:alpha val="20000"/>
            </a:srgbClr>
          </a:solidFill>
          <a:ln w="12700">
            <a:noFill/>
            <a:prstDash val="solid"/>
          </a:ln>
        </p:spPr>
      </p:sp>
      <p:sp>
        <p:nvSpPr>
          <p:cNvPr id="44" name="Text 38"/>
          <p:cNvSpPr/>
          <p:nvPr/>
        </p:nvSpPr>
        <p:spPr>
          <a:xfrm>
            <a:off x="313143" y="5271643"/>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@Nested</a:t>
            </a:r>
            <a:endParaRPr lang="en-US" sz="1400" b="1" dirty="0">
              <a:latin typeface="Times New Roman" panose="02020603050405020304" pitchFamily="18" charset="0"/>
              <a:cs typeface="Times New Roman" panose="02020603050405020304" pitchFamily="18" charset="0"/>
            </a:endParaRPr>
          </a:p>
        </p:txBody>
      </p:sp>
      <p:sp>
        <p:nvSpPr>
          <p:cNvPr id="45" name="Text 39"/>
          <p:cNvSpPr/>
          <p:nvPr/>
        </p:nvSpPr>
        <p:spPr>
          <a:xfrm>
            <a:off x="1867623" y="5271643"/>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Groupes de tests imbriqués</a:t>
            </a:r>
          </a:p>
        </p:txBody>
      </p:sp>
      <p:sp>
        <p:nvSpPr>
          <p:cNvPr id="46" name="Shape 40"/>
          <p:cNvSpPr/>
          <p:nvPr/>
        </p:nvSpPr>
        <p:spPr>
          <a:xfrm>
            <a:off x="4793703" y="5271643"/>
            <a:ext cx="1463040" cy="292608"/>
          </a:xfrm>
          <a:prstGeom prst="roundRect">
            <a:avLst>
              <a:gd name="adj" fmla="val 15625"/>
            </a:avLst>
          </a:prstGeom>
          <a:solidFill>
            <a:srgbClr val="1E90FF">
              <a:alpha val="20000"/>
            </a:srgbClr>
          </a:solidFill>
          <a:ln w="12700">
            <a:noFill/>
            <a:prstDash val="solid"/>
          </a:ln>
        </p:spPr>
      </p:sp>
      <p:sp>
        <p:nvSpPr>
          <p:cNvPr id="47" name="Text 41"/>
          <p:cNvSpPr/>
          <p:nvPr/>
        </p:nvSpPr>
        <p:spPr>
          <a:xfrm>
            <a:off x="4793703" y="5271643"/>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@ParameterizedTest</a:t>
            </a:r>
            <a:endParaRPr lang="en-US" sz="1400" b="1" dirty="0">
              <a:latin typeface="Times New Roman" panose="02020603050405020304" pitchFamily="18" charset="0"/>
              <a:cs typeface="Times New Roman" panose="02020603050405020304" pitchFamily="18" charset="0"/>
            </a:endParaRPr>
          </a:p>
        </p:txBody>
      </p:sp>
      <p:sp>
        <p:nvSpPr>
          <p:cNvPr id="48" name="Text 42"/>
          <p:cNvSpPr/>
          <p:nvPr/>
        </p:nvSpPr>
        <p:spPr>
          <a:xfrm>
            <a:off x="6348183" y="5271643"/>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Tests paramétrés avec plusieurs jeux de données</a:t>
            </a:r>
          </a:p>
        </p:txBody>
      </p:sp>
      <p:sp>
        <p:nvSpPr>
          <p:cNvPr id="49" name="Shape 43"/>
          <p:cNvSpPr/>
          <p:nvPr/>
        </p:nvSpPr>
        <p:spPr>
          <a:xfrm>
            <a:off x="313143" y="5655691"/>
            <a:ext cx="1463040" cy="292608"/>
          </a:xfrm>
          <a:prstGeom prst="roundRect">
            <a:avLst>
              <a:gd name="adj" fmla="val 15625"/>
            </a:avLst>
          </a:prstGeom>
          <a:solidFill>
            <a:srgbClr val="1E90FF">
              <a:alpha val="20000"/>
            </a:srgbClr>
          </a:solidFill>
          <a:ln w="12700">
            <a:noFill/>
            <a:prstDash val="solid"/>
          </a:ln>
        </p:spPr>
      </p:sp>
      <p:sp>
        <p:nvSpPr>
          <p:cNvPr id="50" name="Text 44"/>
          <p:cNvSpPr/>
          <p:nvPr/>
        </p:nvSpPr>
        <p:spPr>
          <a:xfrm>
            <a:off x="313143" y="5655691"/>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@Disabled</a:t>
            </a:r>
            <a:endParaRPr lang="en-US" sz="1400" b="1" dirty="0">
              <a:latin typeface="Times New Roman" panose="02020603050405020304" pitchFamily="18" charset="0"/>
              <a:cs typeface="Times New Roman" panose="02020603050405020304" pitchFamily="18" charset="0"/>
            </a:endParaRPr>
          </a:p>
        </p:txBody>
      </p:sp>
      <p:sp>
        <p:nvSpPr>
          <p:cNvPr id="51" name="Text 45"/>
          <p:cNvSpPr/>
          <p:nvPr/>
        </p:nvSpPr>
        <p:spPr>
          <a:xfrm>
            <a:off x="1867623" y="5655691"/>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Désactive un test</a:t>
            </a:r>
          </a:p>
        </p:txBody>
      </p:sp>
      <p:sp>
        <p:nvSpPr>
          <p:cNvPr id="52" name="Shape 46"/>
          <p:cNvSpPr/>
          <p:nvPr/>
        </p:nvSpPr>
        <p:spPr>
          <a:xfrm>
            <a:off x="4793703" y="5655691"/>
            <a:ext cx="1463040" cy="292608"/>
          </a:xfrm>
          <a:prstGeom prst="roundRect">
            <a:avLst>
              <a:gd name="adj" fmla="val 15625"/>
            </a:avLst>
          </a:prstGeom>
          <a:solidFill>
            <a:srgbClr val="1E90FF">
              <a:alpha val="20000"/>
            </a:srgbClr>
          </a:solidFill>
          <a:ln w="12700">
            <a:noFill/>
            <a:prstDash val="solid"/>
          </a:ln>
        </p:spPr>
      </p:sp>
      <p:sp>
        <p:nvSpPr>
          <p:cNvPr id="53" name="Text 47"/>
          <p:cNvSpPr/>
          <p:nvPr/>
        </p:nvSpPr>
        <p:spPr>
          <a:xfrm>
            <a:off x="4793703" y="5655691"/>
            <a:ext cx="1463040" cy="292608"/>
          </a:xfrm>
          <a:prstGeom prst="rect">
            <a:avLst/>
          </a:prstGeom>
          <a:noFill/>
          <a:ln>
            <a:noFill/>
          </a:ln>
        </p:spPr>
        <p:txBody>
          <a:bodyPr wrap="square" lIns="0" tIns="0" rIns="0" bIns="0" rtlCol="0" anchor="ctr"/>
          <a:lstStyle/>
          <a:p>
            <a:pPr marL="0" indent="0" algn="ctr">
              <a:buNone/>
            </a:pPr>
            <a:r>
              <a:rPr lang="en-US" sz="1400" b="1" dirty="0">
                <a:latin typeface="Times New Roman" panose="02020603050405020304" pitchFamily="18" charset="0"/>
                <a:ea typeface="Consolas" pitchFamily="34" charset="-122"/>
                <a:cs typeface="Times New Roman" panose="02020603050405020304" pitchFamily="18" charset="0"/>
              </a:rPr>
              <a:t>@Tag</a:t>
            </a:r>
            <a:endParaRPr lang="en-US" sz="1400" b="1" dirty="0">
              <a:latin typeface="Times New Roman" panose="02020603050405020304" pitchFamily="18" charset="0"/>
              <a:cs typeface="Times New Roman" panose="02020603050405020304" pitchFamily="18" charset="0"/>
            </a:endParaRPr>
          </a:p>
        </p:txBody>
      </p:sp>
      <p:sp>
        <p:nvSpPr>
          <p:cNvPr id="54" name="Text 48"/>
          <p:cNvSpPr/>
          <p:nvPr/>
        </p:nvSpPr>
        <p:spPr>
          <a:xfrm>
            <a:off x="6348183" y="5655691"/>
            <a:ext cx="2743200" cy="292608"/>
          </a:xfrm>
          <a:prstGeom prst="rect">
            <a:avLst/>
          </a:prstGeom>
          <a:noFill/>
          <a:ln>
            <a:noFill/>
          </a:ln>
        </p:spPr>
        <p:txBody>
          <a:bodyPr wrap="square" lIns="0" tIns="0" rIns="0" bIns="0" rtlCol="0" anchor="ctr"/>
          <a:lstStyle/>
          <a:p>
            <a:pPr marL="0" indent="0">
              <a:buNone/>
            </a:pPr>
            <a:r>
              <a:rPr lang="en-US" sz="1400" b="1" dirty="0">
                <a:latin typeface="Times New Roman" panose="02020603050405020304" pitchFamily="18" charset="0"/>
                <a:cs typeface="Times New Roman" panose="02020603050405020304" pitchFamily="18" charset="0"/>
              </a:rPr>
              <a:t>Catégorisation pour filtrages sélectifs</a:t>
            </a:r>
          </a:p>
        </p:txBody>
      </p:sp>
    </p:spTree>
    <p:extLst>
      <p:ext uri="{BB962C8B-B14F-4D97-AF65-F5344CB8AC3E}">
        <p14:creationId xmlns:p14="http://schemas.microsoft.com/office/powerpoint/2010/main" val="1956416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2"/>
          <p:cNvSpPr/>
          <p:nvPr/>
        </p:nvSpPr>
        <p:spPr>
          <a:xfrm>
            <a:off x="251520" y="1186456"/>
            <a:ext cx="8229600" cy="502920"/>
          </a:xfrm>
          <a:prstGeom prst="rect">
            <a:avLst/>
          </a:prstGeom>
          <a:solidFill>
            <a:schemeClr val="tx1"/>
          </a:solidFill>
          <a:ln>
            <a:solidFill>
              <a:schemeClr val="tx1"/>
            </a:solidFill>
          </a:ln>
        </p:spPr>
        <p:txBody>
          <a:bodyPr wrap="square" rtlCol="0" anchor="ctr"/>
          <a:lstStyle/>
          <a:p>
            <a:pPr marL="0" indent="0">
              <a:buNone/>
            </a:pPr>
            <a:r>
              <a:rPr lang="en-US" sz="1400" b="1" dirty="0">
                <a:solidFill>
                  <a:srgbClr val="FFFFFF"/>
                </a:solidFill>
                <a:latin typeface="Times New Roman" panose="02020603050405020304" pitchFamily="18" charset="0"/>
                <a:cs typeface="Times New Roman" panose="02020603050405020304" pitchFamily="18" charset="0"/>
              </a:rPr>
              <a:t>JUnit 5 — Exemple Concret</a:t>
            </a:r>
            <a:endParaRPr lang="en-US" sz="1400" dirty="0">
              <a:latin typeface="Times New Roman" panose="02020603050405020304" pitchFamily="18" charset="0"/>
              <a:cs typeface="Times New Roman" panose="02020603050405020304" pitchFamily="18" charset="0"/>
            </a:endParaRPr>
          </a:p>
        </p:txBody>
      </p:sp>
      <p:sp>
        <p:nvSpPr>
          <p:cNvPr id="52" name="Shape 3"/>
          <p:cNvSpPr/>
          <p:nvPr/>
        </p:nvSpPr>
        <p:spPr>
          <a:xfrm>
            <a:off x="251520" y="1844824"/>
            <a:ext cx="5394960" cy="3840480"/>
          </a:xfrm>
          <a:prstGeom prst="rect">
            <a:avLst/>
          </a:prstGeom>
          <a:solidFill>
            <a:schemeClr val="tx1"/>
          </a:solidFill>
          <a:ln w="12700">
            <a:solidFill>
              <a:schemeClr val="tx1"/>
            </a:solidFill>
            <a:prstDash val="solid"/>
          </a:ln>
        </p:spPr>
      </p:sp>
      <p:sp>
        <p:nvSpPr>
          <p:cNvPr id="53" name="Shape 4"/>
          <p:cNvSpPr/>
          <p:nvPr/>
        </p:nvSpPr>
        <p:spPr>
          <a:xfrm>
            <a:off x="251520" y="1844824"/>
            <a:ext cx="5394960" cy="320040"/>
          </a:xfrm>
          <a:prstGeom prst="rect">
            <a:avLst/>
          </a:prstGeom>
          <a:solidFill>
            <a:schemeClr val="tx1"/>
          </a:solidFill>
          <a:ln>
            <a:solidFill>
              <a:schemeClr val="tx1"/>
            </a:solidFill>
          </a:ln>
        </p:spPr>
      </p:sp>
      <p:sp>
        <p:nvSpPr>
          <p:cNvPr id="54" name="Text 5"/>
          <p:cNvSpPr/>
          <p:nvPr/>
        </p:nvSpPr>
        <p:spPr>
          <a:xfrm>
            <a:off x="342960" y="1863112"/>
            <a:ext cx="2743200" cy="27432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8A9BBF"/>
                </a:solidFill>
                <a:latin typeface="Times New Roman" panose="02020603050405020304" pitchFamily="18" charset="0"/>
                <a:ea typeface="Consolas" pitchFamily="34" charset="-122"/>
                <a:cs typeface="Times New Roman" panose="02020603050405020304" pitchFamily="18" charset="0"/>
              </a:rPr>
              <a:t>CalculatriceTest.java</a:t>
            </a:r>
            <a:endParaRPr lang="en-US" sz="1400" dirty="0">
              <a:latin typeface="Times New Roman" panose="02020603050405020304" pitchFamily="18" charset="0"/>
              <a:cs typeface="Times New Roman" panose="02020603050405020304" pitchFamily="18" charset="0"/>
            </a:endParaRPr>
          </a:p>
        </p:txBody>
      </p:sp>
      <p:sp>
        <p:nvSpPr>
          <p:cNvPr id="55" name="Text 6"/>
          <p:cNvSpPr/>
          <p:nvPr/>
        </p:nvSpPr>
        <p:spPr>
          <a:xfrm>
            <a:off x="342960" y="2210584"/>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00C8FF"/>
                </a:solidFill>
                <a:latin typeface="Times New Roman" panose="02020603050405020304" pitchFamily="18" charset="0"/>
                <a:ea typeface="Consolas" pitchFamily="34" charset="-122"/>
                <a:cs typeface="Times New Roman" panose="02020603050405020304" pitchFamily="18" charset="0"/>
              </a:rPr>
              <a:t>@ExtendWith(MockitoExtension.class)</a:t>
            </a:r>
            <a:endParaRPr lang="en-US" sz="1400" dirty="0">
              <a:latin typeface="Times New Roman" panose="02020603050405020304" pitchFamily="18" charset="0"/>
              <a:cs typeface="Times New Roman" panose="02020603050405020304" pitchFamily="18" charset="0"/>
            </a:endParaRPr>
          </a:p>
        </p:txBody>
      </p:sp>
      <p:sp>
        <p:nvSpPr>
          <p:cNvPr id="56" name="Text 7"/>
          <p:cNvSpPr/>
          <p:nvPr/>
        </p:nvSpPr>
        <p:spPr>
          <a:xfrm>
            <a:off x="342960" y="2384320"/>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class CalculatriceTest {</a:t>
            </a:r>
            <a:endParaRPr lang="en-US" sz="1400" dirty="0">
              <a:latin typeface="Times New Roman" panose="02020603050405020304" pitchFamily="18" charset="0"/>
              <a:cs typeface="Times New Roman" panose="02020603050405020304" pitchFamily="18" charset="0"/>
            </a:endParaRPr>
          </a:p>
        </p:txBody>
      </p:sp>
      <p:sp>
        <p:nvSpPr>
          <p:cNvPr id="57" name="Text 8"/>
          <p:cNvSpPr/>
          <p:nvPr/>
        </p:nvSpPr>
        <p:spPr>
          <a:xfrm>
            <a:off x="342960" y="2558056"/>
            <a:ext cx="5212080" cy="182880"/>
          </a:xfrm>
          <a:prstGeom prst="rect">
            <a:avLst/>
          </a:prstGeom>
          <a:solidFill>
            <a:schemeClr val="tx1"/>
          </a:solidFill>
          <a:ln>
            <a:solidFill>
              <a:schemeClr val="tx1"/>
            </a:solidFill>
          </a:ln>
        </p:spPr>
        <p:txBody>
          <a:bodyPr wrap="square" lIns="0" tIns="0" rIns="0" bIns="0"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sp>
        <p:nvSpPr>
          <p:cNvPr id="58" name="Text 9"/>
          <p:cNvSpPr/>
          <p:nvPr/>
        </p:nvSpPr>
        <p:spPr>
          <a:xfrm>
            <a:off x="342960" y="2731792"/>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D166"/>
                </a:solidFill>
                <a:latin typeface="Times New Roman" panose="02020603050405020304" pitchFamily="18" charset="0"/>
                <a:ea typeface="Consolas" pitchFamily="34" charset="-122"/>
                <a:cs typeface="Times New Roman" panose="02020603050405020304" pitchFamily="18" charset="0"/>
              </a:rPr>
              <a:t>    @InjectMocks</a:t>
            </a:r>
            <a:endParaRPr lang="en-US" sz="1400" dirty="0">
              <a:latin typeface="Times New Roman" panose="02020603050405020304" pitchFamily="18" charset="0"/>
              <a:cs typeface="Times New Roman" panose="02020603050405020304" pitchFamily="18" charset="0"/>
            </a:endParaRPr>
          </a:p>
        </p:txBody>
      </p:sp>
      <p:sp>
        <p:nvSpPr>
          <p:cNvPr id="59" name="Text 10"/>
          <p:cNvSpPr/>
          <p:nvPr/>
        </p:nvSpPr>
        <p:spPr>
          <a:xfrm>
            <a:off x="342960" y="2905528"/>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private Calculatrice calc;</a:t>
            </a:r>
            <a:endParaRPr lang="en-US" sz="1400" dirty="0">
              <a:latin typeface="Times New Roman" panose="02020603050405020304" pitchFamily="18" charset="0"/>
              <a:cs typeface="Times New Roman" panose="02020603050405020304" pitchFamily="18" charset="0"/>
            </a:endParaRPr>
          </a:p>
        </p:txBody>
      </p:sp>
      <p:sp>
        <p:nvSpPr>
          <p:cNvPr id="60" name="Text 11"/>
          <p:cNvSpPr/>
          <p:nvPr/>
        </p:nvSpPr>
        <p:spPr>
          <a:xfrm>
            <a:off x="342960" y="3079264"/>
            <a:ext cx="5212080" cy="182880"/>
          </a:xfrm>
          <a:prstGeom prst="rect">
            <a:avLst/>
          </a:prstGeom>
          <a:solidFill>
            <a:schemeClr val="tx1"/>
          </a:solidFill>
          <a:ln>
            <a:solidFill>
              <a:schemeClr val="tx1"/>
            </a:solidFill>
          </a:ln>
        </p:spPr>
        <p:txBody>
          <a:bodyPr wrap="square" lIns="0" tIns="0" rIns="0" bIns="0"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sp>
        <p:nvSpPr>
          <p:cNvPr id="61" name="Text 12"/>
          <p:cNvSpPr/>
          <p:nvPr/>
        </p:nvSpPr>
        <p:spPr>
          <a:xfrm>
            <a:off x="342960" y="3253000"/>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D166"/>
                </a:solidFill>
                <a:latin typeface="Times New Roman" panose="02020603050405020304" pitchFamily="18" charset="0"/>
                <a:ea typeface="Consolas" pitchFamily="34" charset="-122"/>
                <a:cs typeface="Times New Roman" panose="02020603050405020304" pitchFamily="18" charset="0"/>
              </a:rPr>
              <a:t>    @Test</a:t>
            </a:r>
            <a:endParaRPr lang="en-US" sz="1400" dirty="0">
              <a:latin typeface="Times New Roman" panose="02020603050405020304" pitchFamily="18" charset="0"/>
              <a:cs typeface="Times New Roman" panose="02020603050405020304" pitchFamily="18" charset="0"/>
            </a:endParaRPr>
          </a:p>
        </p:txBody>
      </p:sp>
      <p:sp>
        <p:nvSpPr>
          <p:cNvPr id="62" name="Text 13"/>
          <p:cNvSpPr/>
          <p:nvPr/>
        </p:nvSpPr>
        <p:spPr>
          <a:xfrm>
            <a:off x="342960" y="3426736"/>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00C8FF"/>
                </a:solidFill>
                <a:latin typeface="Times New Roman" panose="02020603050405020304" pitchFamily="18" charset="0"/>
                <a:ea typeface="Consolas" pitchFamily="34" charset="-122"/>
                <a:cs typeface="Times New Roman" panose="02020603050405020304" pitchFamily="18" charset="0"/>
              </a:rPr>
              <a:t>    @DisplayName("Addition de 2+3 = 5")</a:t>
            </a:r>
            <a:endParaRPr lang="en-US" sz="1400" dirty="0">
              <a:latin typeface="Times New Roman" panose="02020603050405020304" pitchFamily="18" charset="0"/>
              <a:cs typeface="Times New Roman" panose="02020603050405020304" pitchFamily="18" charset="0"/>
            </a:endParaRPr>
          </a:p>
        </p:txBody>
      </p:sp>
      <p:sp>
        <p:nvSpPr>
          <p:cNvPr id="63" name="Text 14"/>
          <p:cNvSpPr/>
          <p:nvPr/>
        </p:nvSpPr>
        <p:spPr>
          <a:xfrm>
            <a:off x="342960" y="3600472"/>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void testAddition() {</a:t>
            </a:r>
            <a:endParaRPr lang="en-US" sz="1400" dirty="0">
              <a:latin typeface="Times New Roman" panose="02020603050405020304" pitchFamily="18" charset="0"/>
              <a:cs typeface="Times New Roman" panose="02020603050405020304" pitchFamily="18" charset="0"/>
            </a:endParaRPr>
          </a:p>
        </p:txBody>
      </p:sp>
      <p:sp>
        <p:nvSpPr>
          <p:cNvPr id="64" name="Text 15"/>
          <p:cNvSpPr/>
          <p:nvPr/>
        </p:nvSpPr>
        <p:spPr>
          <a:xfrm>
            <a:off x="342960" y="3774208"/>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D0D8E8"/>
                </a:solidFill>
                <a:latin typeface="Times New Roman" panose="02020603050405020304" pitchFamily="18" charset="0"/>
                <a:ea typeface="Consolas" pitchFamily="34" charset="-122"/>
                <a:cs typeface="Times New Roman" panose="02020603050405020304" pitchFamily="18" charset="0"/>
              </a:rPr>
              <a:t>        int result = calc.add(2, 3);</a:t>
            </a:r>
            <a:endParaRPr lang="en-US" sz="1400" dirty="0">
              <a:latin typeface="Times New Roman" panose="02020603050405020304" pitchFamily="18" charset="0"/>
              <a:cs typeface="Times New Roman" panose="02020603050405020304" pitchFamily="18" charset="0"/>
            </a:endParaRPr>
          </a:p>
        </p:txBody>
      </p:sp>
      <p:sp>
        <p:nvSpPr>
          <p:cNvPr id="65" name="Text 16"/>
          <p:cNvSpPr/>
          <p:nvPr/>
        </p:nvSpPr>
        <p:spPr>
          <a:xfrm>
            <a:off x="342960" y="3947944"/>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06D6A0"/>
                </a:solidFill>
                <a:latin typeface="Times New Roman" panose="02020603050405020304" pitchFamily="18" charset="0"/>
                <a:ea typeface="Consolas" pitchFamily="34" charset="-122"/>
                <a:cs typeface="Times New Roman" panose="02020603050405020304" pitchFamily="18" charset="0"/>
              </a:rPr>
              <a:t>        assertEquals(5, result);</a:t>
            </a:r>
            <a:endParaRPr lang="en-US" sz="1400" dirty="0">
              <a:latin typeface="Times New Roman" panose="02020603050405020304" pitchFamily="18" charset="0"/>
              <a:cs typeface="Times New Roman" panose="02020603050405020304" pitchFamily="18" charset="0"/>
            </a:endParaRPr>
          </a:p>
        </p:txBody>
      </p:sp>
      <p:sp>
        <p:nvSpPr>
          <p:cNvPr id="66" name="Text 17"/>
          <p:cNvSpPr/>
          <p:nvPr/>
        </p:nvSpPr>
        <p:spPr>
          <a:xfrm>
            <a:off x="342960" y="4121680"/>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67" name="Text 18"/>
          <p:cNvSpPr/>
          <p:nvPr/>
        </p:nvSpPr>
        <p:spPr>
          <a:xfrm>
            <a:off x="342960" y="4295416"/>
            <a:ext cx="5212080" cy="182880"/>
          </a:xfrm>
          <a:prstGeom prst="rect">
            <a:avLst/>
          </a:prstGeom>
          <a:solidFill>
            <a:schemeClr val="tx1"/>
          </a:solidFill>
          <a:ln>
            <a:solidFill>
              <a:schemeClr val="tx1"/>
            </a:solidFill>
          </a:ln>
        </p:spPr>
        <p:txBody>
          <a:bodyPr wrap="square" lIns="0" tIns="0" rIns="0" bIns="0"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sp>
        <p:nvSpPr>
          <p:cNvPr id="68" name="Text 19"/>
          <p:cNvSpPr/>
          <p:nvPr/>
        </p:nvSpPr>
        <p:spPr>
          <a:xfrm>
            <a:off x="342960" y="4469152"/>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D166"/>
                </a:solidFill>
                <a:latin typeface="Times New Roman" panose="02020603050405020304" pitchFamily="18" charset="0"/>
                <a:ea typeface="Consolas" pitchFamily="34" charset="-122"/>
                <a:cs typeface="Times New Roman" panose="02020603050405020304" pitchFamily="18" charset="0"/>
              </a:rPr>
              <a:t>    @ParameterizedTest</a:t>
            </a:r>
            <a:endParaRPr lang="en-US" sz="1400" dirty="0">
              <a:latin typeface="Times New Roman" panose="02020603050405020304" pitchFamily="18" charset="0"/>
              <a:cs typeface="Times New Roman" panose="02020603050405020304" pitchFamily="18" charset="0"/>
            </a:endParaRPr>
          </a:p>
        </p:txBody>
      </p:sp>
      <p:sp>
        <p:nvSpPr>
          <p:cNvPr id="69" name="Text 20"/>
          <p:cNvSpPr/>
          <p:nvPr/>
        </p:nvSpPr>
        <p:spPr>
          <a:xfrm>
            <a:off x="342960" y="4642888"/>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00C8FF"/>
                </a:solidFill>
                <a:latin typeface="Times New Roman" panose="02020603050405020304" pitchFamily="18" charset="0"/>
                <a:ea typeface="Consolas" pitchFamily="34" charset="-122"/>
                <a:cs typeface="Times New Roman" panose="02020603050405020304" pitchFamily="18" charset="0"/>
              </a:rPr>
              <a:t>    @CsvSource({"1,2,3","5,5,10"})</a:t>
            </a:r>
            <a:endParaRPr lang="en-US" sz="1400" dirty="0">
              <a:latin typeface="Times New Roman" panose="02020603050405020304" pitchFamily="18" charset="0"/>
              <a:cs typeface="Times New Roman" panose="02020603050405020304" pitchFamily="18" charset="0"/>
            </a:endParaRPr>
          </a:p>
        </p:txBody>
      </p:sp>
      <p:sp>
        <p:nvSpPr>
          <p:cNvPr id="70" name="Text 21"/>
          <p:cNvSpPr/>
          <p:nvPr/>
        </p:nvSpPr>
        <p:spPr>
          <a:xfrm>
            <a:off x="342960" y="4816624"/>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void testAdditionParam(int a,int b,int c){</a:t>
            </a:r>
            <a:endParaRPr lang="en-US" sz="1400" dirty="0">
              <a:latin typeface="Times New Roman" panose="02020603050405020304" pitchFamily="18" charset="0"/>
              <a:cs typeface="Times New Roman" panose="02020603050405020304" pitchFamily="18" charset="0"/>
            </a:endParaRPr>
          </a:p>
        </p:txBody>
      </p:sp>
      <p:sp>
        <p:nvSpPr>
          <p:cNvPr id="71" name="Text 22"/>
          <p:cNvSpPr/>
          <p:nvPr/>
        </p:nvSpPr>
        <p:spPr>
          <a:xfrm>
            <a:off x="342960" y="4990360"/>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06D6A0"/>
                </a:solidFill>
                <a:latin typeface="Times New Roman" panose="02020603050405020304" pitchFamily="18" charset="0"/>
                <a:ea typeface="Consolas" pitchFamily="34" charset="-122"/>
                <a:cs typeface="Times New Roman" panose="02020603050405020304" pitchFamily="18" charset="0"/>
              </a:rPr>
              <a:t>        assertEquals(c, calc.add(a, b));</a:t>
            </a:r>
            <a:endParaRPr lang="en-US" sz="1400" dirty="0">
              <a:latin typeface="Times New Roman" panose="02020603050405020304" pitchFamily="18" charset="0"/>
              <a:cs typeface="Times New Roman" panose="02020603050405020304" pitchFamily="18" charset="0"/>
            </a:endParaRPr>
          </a:p>
        </p:txBody>
      </p:sp>
      <p:sp>
        <p:nvSpPr>
          <p:cNvPr id="72" name="Text 23"/>
          <p:cNvSpPr/>
          <p:nvPr/>
        </p:nvSpPr>
        <p:spPr>
          <a:xfrm>
            <a:off x="342960" y="5164096"/>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73" name="Text 24"/>
          <p:cNvSpPr/>
          <p:nvPr/>
        </p:nvSpPr>
        <p:spPr>
          <a:xfrm>
            <a:off x="342960" y="5337832"/>
            <a:ext cx="5212080" cy="182880"/>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74" name="Text 25"/>
          <p:cNvSpPr/>
          <p:nvPr/>
        </p:nvSpPr>
        <p:spPr>
          <a:xfrm>
            <a:off x="5829360" y="1863112"/>
            <a:ext cx="3063240" cy="347472"/>
          </a:xfrm>
          <a:prstGeom prst="rect">
            <a:avLst/>
          </a:prstGeom>
          <a:solidFill>
            <a:schemeClr val="tx1"/>
          </a:solidFill>
          <a:ln>
            <a:solidFill>
              <a:schemeClr val="tx1"/>
            </a:solidFill>
          </a:ln>
        </p:spPr>
        <p:txBody>
          <a:bodyPr wrap="square" rtlCol="0" anchor="ctr"/>
          <a:lstStyle/>
          <a:p>
            <a:pPr marL="0" indent="0">
              <a:buNone/>
            </a:pPr>
            <a:r>
              <a:rPr lang="en-US" sz="1400" b="1" dirty="0">
                <a:solidFill>
                  <a:srgbClr val="00C8FF"/>
                </a:solidFill>
                <a:latin typeface="Times New Roman" panose="02020603050405020304" pitchFamily="18" charset="0"/>
                <a:cs typeface="Times New Roman" panose="02020603050405020304" pitchFamily="18" charset="0"/>
              </a:rPr>
              <a:t>Points Clés</a:t>
            </a:r>
            <a:endParaRPr lang="en-US" sz="1400" dirty="0">
              <a:latin typeface="Times New Roman" panose="02020603050405020304" pitchFamily="18" charset="0"/>
              <a:cs typeface="Times New Roman" panose="02020603050405020304" pitchFamily="18" charset="0"/>
            </a:endParaRPr>
          </a:p>
        </p:txBody>
      </p:sp>
      <p:sp>
        <p:nvSpPr>
          <p:cNvPr id="75" name="Shape 26"/>
          <p:cNvSpPr/>
          <p:nvPr/>
        </p:nvSpPr>
        <p:spPr>
          <a:xfrm>
            <a:off x="5829360" y="2302024"/>
            <a:ext cx="3063240" cy="594360"/>
          </a:xfrm>
          <a:prstGeom prst="rect">
            <a:avLst/>
          </a:prstGeom>
          <a:solidFill>
            <a:schemeClr val="tx1"/>
          </a:solidFill>
          <a:ln w="12700">
            <a:solidFill>
              <a:schemeClr val="tx1"/>
            </a:solidFill>
            <a:prstDash val="solid"/>
          </a:ln>
        </p:spPr>
      </p:sp>
      <p:sp>
        <p:nvSpPr>
          <p:cNvPr id="76" name="Text 27"/>
          <p:cNvSpPr/>
          <p:nvPr/>
        </p:nvSpPr>
        <p:spPr>
          <a:xfrm>
            <a:off x="5920800" y="2347744"/>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cs typeface="Times New Roman" panose="02020603050405020304" pitchFamily="18" charset="0"/>
              </a:rPr>
              <a:t>🎯 Assertions fluides</a:t>
            </a:r>
            <a:endParaRPr lang="en-US" sz="1400" dirty="0">
              <a:latin typeface="Times New Roman" panose="02020603050405020304" pitchFamily="18" charset="0"/>
              <a:cs typeface="Times New Roman" panose="02020603050405020304" pitchFamily="18" charset="0"/>
            </a:endParaRPr>
          </a:p>
        </p:txBody>
      </p:sp>
      <p:sp>
        <p:nvSpPr>
          <p:cNvPr id="77" name="Text 28"/>
          <p:cNvSpPr/>
          <p:nvPr/>
        </p:nvSpPr>
        <p:spPr>
          <a:xfrm>
            <a:off x="5920800" y="2594632"/>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8A9BBF"/>
                </a:solidFill>
                <a:latin typeface="Times New Roman" panose="02020603050405020304" pitchFamily="18" charset="0"/>
                <a:cs typeface="Times New Roman" panose="02020603050405020304" pitchFamily="18" charset="0"/>
              </a:rPr>
              <a:t>assertEquals, assertTrue, assertThrows, assertAll pour grouper</a:t>
            </a:r>
            <a:endParaRPr lang="en-US" sz="1400" dirty="0">
              <a:latin typeface="Times New Roman" panose="02020603050405020304" pitchFamily="18" charset="0"/>
              <a:cs typeface="Times New Roman" panose="02020603050405020304" pitchFamily="18" charset="0"/>
            </a:endParaRPr>
          </a:p>
        </p:txBody>
      </p:sp>
      <p:sp>
        <p:nvSpPr>
          <p:cNvPr id="78" name="Shape 29"/>
          <p:cNvSpPr/>
          <p:nvPr/>
        </p:nvSpPr>
        <p:spPr>
          <a:xfrm>
            <a:off x="5829360" y="2960392"/>
            <a:ext cx="3063240" cy="594360"/>
          </a:xfrm>
          <a:prstGeom prst="rect">
            <a:avLst/>
          </a:prstGeom>
          <a:solidFill>
            <a:schemeClr val="tx1"/>
          </a:solidFill>
          <a:ln w="12700">
            <a:solidFill>
              <a:schemeClr val="tx1"/>
            </a:solidFill>
            <a:prstDash val="solid"/>
          </a:ln>
        </p:spPr>
      </p:sp>
      <p:sp>
        <p:nvSpPr>
          <p:cNvPr id="79" name="Text 30"/>
          <p:cNvSpPr/>
          <p:nvPr/>
        </p:nvSpPr>
        <p:spPr>
          <a:xfrm>
            <a:off x="5920800" y="3006112"/>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cs typeface="Times New Roman" panose="02020603050405020304" pitchFamily="18" charset="0"/>
              </a:rPr>
              <a:t>📦 Tests paramétrés</a:t>
            </a:r>
            <a:endParaRPr lang="en-US" sz="1400" dirty="0">
              <a:latin typeface="Times New Roman" panose="02020603050405020304" pitchFamily="18" charset="0"/>
              <a:cs typeface="Times New Roman" panose="02020603050405020304" pitchFamily="18" charset="0"/>
            </a:endParaRPr>
          </a:p>
        </p:txBody>
      </p:sp>
      <p:sp>
        <p:nvSpPr>
          <p:cNvPr id="80" name="Text 31"/>
          <p:cNvSpPr/>
          <p:nvPr/>
        </p:nvSpPr>
        <p:spPr>
          <a:xfrm>
            <a:off x="5920800" y="3253000"/>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8A9BBF"/>
                </a:solidFill>
                <a:latin typeface="Times New Roman" panose="02020603050405020304" pitchFamily="18" charset="0"/>
                <a:cs typeface="Times New Roman" panose="02020603050405020304" pitchFamily="18" charset="0"/>
              </a:rPr>
              <a:t>@CsvSource, @ValueSource, @MethodSource pour tester plusieurs cas</a:t>
            </a:r>
            <a:endParaRPr lang="en-US" sz="1400" dirty="0">
              <a:latin typeface="Times New Roman" panose="02020603050405020304" pitchFamily="18" charset="0"/>
              <a:cs typeface="Times New Roman" panose="02020603050405020304" pitchFamily="18" charset="0"/>
            </a:endParaRPr>
          </a:p>
        </p:txBody>
      </p:sp>
      <p:sp>
        <p:nvSpPr>
          <p:cNvPr id="81" name="Shape 32"/>
          <p:cNvSpPr/>
          <p:nvPr/>
        </p:nvSpPr>
        <p:spPr>
          <a:xfrm>
            <a:off x="5829360" y="3618760"/>
            <a:ext cx="3063240" cy="594360"/>
          </a:xfrm>
          <a:prstGeom prst="rect">
            <a:avLst/>
          </a:prstGeom>
          <a:solidFill>
            <a:schemeClr val="tx1"/>
          </a:solidFill>
          <a:ln w="12700">
            <a:solidFill>
              <a:schemeClr val="tx1"/>
            </a:solidFill>
            <a:prstDash val="solid"/>
          </a:ln>
        </p:spPr>
      </p:sp>
      <p:sp>
        <p:nvSpPr>
          <p:cNvPr id="82" name="Text 33"/>
          <p:cNvSpPr/>
          <p:nvPr/>
        </p:nvSpPr>
        <p:spPr>
          <a:xfrm>
            <a:off x="5920800" y="3664480"/>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cs typeface="Times New Roman" panose="02020603050405020304" pitchFamily="18" charset="0"/>
              </a:rPr>
              <a:t>🧩 Extensions</a:t>
            </a:r>
            <a:endParaRPr lang="en-US" sz="1400" dirty="0">
              <a:latin typeface="Times New Roman" panose="02020603050405020304" pitchFamily="18" charset="0"/>
              <a:cs typeface="Times New Roman" panose="02020603050405020304" pitchFamily="18" charset="0"/>
            </a:endParaRPr>
          </a:p>
        </p:txBody>
      </p:sp>
      <p:sp>
        <p:nvSpPr>
          <p:cNvPr id="83" name="Text 34"/>
          <p:cNvSpPr/>
          <p:nvPr/>
        </p:nvSpPr>
        <p:spPr>
          <a:xfrm>
            <a:off x="5920800" y="3911368"/>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dirty="0">
                <a:solidFill>
                  <a:srgbClr val="8A9BBF"/>
                </a:solidFill>
                <a:latin typeface="Times New Roman" panose="02020603050405020304" pitchFamily="18" charset="0"/>
                <a:cs typeface="Times New Roman" panose="02020603050405020304" pitchFamily="18" charset="0"/>
              </a:rPr>
              <a:t>@ExtendWith pour intégrer Mockito, Spring, et autres</a:t>
            </a:r>
            <a:endParaRPr lang="en-US" sz="1400" dirty="0">
              <a:latin typeface="Times New Roman" panose="02020603050405020304" pitchFamily="18" charset="0"/>
              <a:cs typeface="Times New Roman" panose="02020603050405020304" pitchFamily="18" charset="0"/>
            </a:endParaRPr>
          </a:p>
        </p:txBody>
      </p:sp>
      <p:sp>
        <p:nvSpPr>
          <p:cNvPr id="84" name="Shape 35"/>
          <p:cNvSpPr/>
          <p:nvPr/>
        </p:nvSpPr>
        <p:spPr>
          <a:xfrm>
            <a:off x="5829360" y="4277128"/>
            <a:ext cx="3063240" cy="594360"/>
          </a:xfrm>
          <a:prstGeom prst="rect">
            <a:avLst/>
          </a:prstGeom>
          <a:solidFill>
            <a:schemeClr val="tx1"/>
          </a:solidFill>
          <a:ln w="12700">
            <a:solidFill>
              <a:schemeClr val="tx1"/>
            </a:solidFill>
            <a:prstDash val="solid"/>
          </a:ln>
        </p:spPr>
      </p:sp>
      <p:sp>
        <p:nvSpPr>
          <p:cNvPr id="85" name="Text 36"/>
          <p:cNvSpPr/>
          <p:nvPr/>
        </p:nvSpPr>
        <p:spPr>
          <a:xfrm>
            <a:off x="5920800" y="4322848"/>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cs typeface="Times New Roman" panose="02020603050405020304" pitchFamily="18" charset="0"/>
              </a:rPr>
              <a:t>🏷️ DisplayName</a:t>
            </a:r>
            <a:endParaRPr lang="en-US" sz="1400" dirty="0">
              <a:latin typeface="Times New Roman" panose="02020603050405020304" pitchFamily="18" charset="0"/>
              <a:cs typeface="Times New Roman" panose="02020603050405020304" pitchFamily="18" charset="0"/>
            </a:endParaRPr>
          </a:p>
        </p:txBody>
      </p:sp>
      <p:sp>
        <p:nvSpPr>
          <p:cNvPr id="86" name="Text 37"/>
          <p:cNvSpPr/>
          <p:nvPr/>
        </p:nvSpPr>
        <p:spPr>
          <a:xfrm>
            <a:off x="5920800" y="4569736"/>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8A9BBF"/>
                </a:solidFill>
                <a:latin typeface="Times New Roman" panose="02020603050405020304" pitchFamily="18" charset="0"/>
                <a:cs typeface="Times New Roman" panose="02020603050405020304" pitchFamily="18" charset="0"/>
              </a:rPr>
              <a:t>Noms descriptifs pour la lisibilité des rapports de tests</a:t>
            </a:r>
            <a:endParaRPr lang="en-US" sz="1400" b="1" dirty="0">
              <a:latin typeface="Times New Roman" panose="02020603050405020304" pitchFamily="18" charset="0"/>
              <a:cs typeface="Times New Roman" panose="02020603050405020304" pitchFamily="18" charset="0"/>
            </a:endParaRPr>
          </a:p>
        </p:txBody>
      </p:sp>
      <p:sp>
        <p:nvSpPr>
          <p:cNvPr id="87" name="Shape 38"/>
          <p:cNvSpPr/>
          <p:nvPr/>
        </p:nvSpPr>
        <p:spPr>
          <a:xfrm>
            <a:off x="5829360" y="4935496"/>
            <a:ext cx="3063240" cy="594360"/>
          </a:xfrm>
          <a:prstGeom prst="rect">
            <a:avLst/>
          </a:prstGeom>
          <a:solidFill>
            <a:schemeClr val="tx1"/>
          </a:solidFill>
          <a:ln w="12700">
            <a:solidFill>
              <a:schemeClr val="tx1"/>
            </a:solidFill>
            <a:prstDash val="solid"/>
          </a:ln>
        </p:spPr>
      </p:sp>
      <p:sp>
        <p:nvSpPr>
          <p:cNvPr id="88" name="Text 39"/>
          <p:cNvSpPr/>
          <p:nvPr/>
        </p:nvSpPr>
        <p:spPr>
          <a:xfrm>
            <a:off x="5920800" y="4981216"/>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cs typeface="Times New Roman" panose="02020603050405020304" pitchFamily="18" charset="0"/>
              </a:rPr>
              <a:t>🔄 Lifecycle hooks</a:t>
            </a:r>
            <a:endParaRPr lang="en-US" sz="1400" dirty="0">
              <a:latin typeface="Times New Roman" panose="02020603050405020304" pitchFamily="18" charset="0"/>
              <a:cs typeface="Times New Roman" panose="02020603050405020304" pitchFamily="18" charset="0"/>
            </a:endParaRPr>
          </a:p>
        </p:txBody>
      </p:sp>
      <p:sp>
        <p:nvSpPr>
          <p:cNvPr id="89" name="Text 40"/>
          <p:cNvSpPr/>
          <p:nvPr/>
        </p:nvSpPr>
        <p:spPr>
          <a:xfrm>
            <a:off x="5920800" y="5228104"/>
            <a:ext cx="2834640" cy="256032"/>
          </a:xfrm>
          <a:prstGeom prst="rect">
            <a:avLst/>
          </a:prstGeom>
          <a:solidFill>
            <a:schemeClr val="tx1"/>
          </a:solidFill>
          <a:ln>
            <a:solidFill>
              <a:schemeClr val="tx1"/>
            </a:solidFill>
          </a:ln>
        </p:spPr>
        <p:txBody>
          <a:bodyPr wrap="square" lIns="0" tIns="0" rIns="0" bIns="0" rtlCol="0" anchor="ctr"/>
          <a:lstStyle/>
          <a:p>
            <a:pPr marL="0" indent="0">
              <a:buNone/>
            </a:pPr>
            <a:r>
              <a:rPr lang="en-US" sz="1400" b="1" dirty="0">
                <a:solidFill>
                  <a:srgbClr val="8A9BBF"/>
                </a:solidFill>
                <a:latin typeface="Times New Roman" panose="02020603050405020304" pitchFamily="18" charset="0"/>
                <a:cs typeface="Times New Roman" panose="02020603050405020304" pitchFamily="18" charset="0"/>
              </a:rPr>
              <a:t>@BeforeEach/@AfterEach pour setup/teardown propre</a:t>
            </a:r>
            <a:endParaRPr lang="en-US" sz="1400" b="1" dirty="0">
              <a:latin typeface="Times New Roman" panose="02020603050405020304" pitchFamily="18" charset="0"/>
              <a:cs typeface="Times New Roman" panose="02020603050405020304" pitchFamily="18" charset="0"/>
            </a:endParaRPr>
          </a:p>
        </p:txBody>
      </p:sp>
      <p:sp>
        <p:nvSpPr>
          <p:cNvPr id="46"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2"/>
            </a:pPr>
            <a:r>
              <a:rPr lang="fr-CI" sz="2400" dirty="0" smtClean="0">
                <a:solidFill>
                  <a:srgbClr val="FF0000"/>
                </a:solidFill>
              </a:rPr>
              <a:t>FRAMEWORK DE TESTS</a:t>
            </a:r>
            <a:endParaRPr lang="fr-CI" sz="2400" noProof="0" dirty="0">
              <a:solidFill>
                <a:srgbClr val="FF0000"/>
              </a:solidFill>
            </a:endParaRPr>
          </a:p>
        </p:txBody>
      </p:sp>
    </p:spTree>
    <p:extLst>
      <p:ext uri="{BB962C8B-B14F-4D97-AF65-F5344CB8AC3E}">
        <p14:creationId xmlns:p14="http://schemas.microsoft.com/office/powerpoint/2010/main" val="33775238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5"/>
          <p:cNvSpPr/>
          <p:nvPr/>
        </p:nvSpPr>
        <p:spPr>
          <a:xfrm>
            <a:off x="251520" y="2082070"/>
            <a:ext cx="4297680" cy="1005840"/>
          </a:xfrm>
          <a:prstGeom prst="rect">
            <a:avLst/>
          </a:prstGeom>
          <a:solidFill>
            <a:srgbClr val="1A3160"/>
          </a:solidFill>
          <a:ln w="12700">
            <a:solidFill>
              <a:srgbClr val="00E5B0"/>
            </a:solidFill>
            <a:prstDash val="solid"/>
          </a:ln>
        </p:spPr>
      </p:sp>
      <p:sp>
        <p:nvSpPr>
          <p:cNvPr id="11" name="Text 6"/>
          <p:cNvSpPr/>
          <p:nvPr/>
        </p:nvSpPr>
        <p:spPr>
          <a:xfrm>
            <a:off x="388680" y="2173510"/>
            <a:ext cx="4023360" cy="347472"/>
          </a:xfrm>
          <a:prstGeom prst="rect">
            <a:avLst/>
          </a:prstGeom>
          <a:noFill/>
          <a:ln/>
        </p:spPr>
        <p:txBody>
          <a:bodyPr wrap="square" lIns="0" tIns="0" rIns="0" bIns="0" rtlCol="0" anchor="ctr"/>
          <a:lstStyle/>
          <a:p>
            <a:pPr marL="0" indent="0">
              <a:buNone/>
            </a:pPr>
            <a:r>
              <a:rPr lang="en-US" sz="1200" b="1" dirty="0">
                <a:solidFill>
                  <a:srgbClr val="00E5B0"/>
                </a:solidFill>
              </a:rPr>
              <a:t>🗂️ Groupes &amp; Dépendances</a:t>
            </a:r>
            <a:endParaRPr lang="en-US" sz="1200" b="1" dirty="0"/>
          </a:p>
        </p:txBody>
      </p:sp>
      <p:sp>
        <p:nvSpPr>
          <p:cNvPr id="12" name="Text 7"/>
          <p:cNvSpPr/>
          <p:nvPr/>
        </p:nvSpPr>
        <p:spPr>
          <a:xfrm>
            <a:off x="388680" y="2557558"/>
            <a:ext cx="4023360" cy="457200"/>
          </a:xfrm>
          <a:prstGeom prst="rect">
            <a:avLst/>
          </a:prstGeom>
          <a:noFill/>
          <a:ln/>
        </p:spPr>
        <p:txBody>
          <a:bodyPr wrap="square" lIns="0" tIns="0" rIns="0" bIns="0" rtlCol="0" anchor="ctr"/>
          <a:lstStyle/>
          <a:p>
            <a:pPr marL="0" indent="0">
              <a:buNone/>
            </a:pPr>
            <a:r>
              <a:rPr lang="en-US" sz="1200" b="1" dirty="0">
                <a:solidFill>
                  <a:srgbClr val="D0D8E8"/>
                </a:solidFill>
              </a:rPr>
              <a:t>Organisez les tests en groupes et définissez des dépendances entre méthodes de test avec @Test(groups, dependsOnMethods).</a:t>
            </a:r>
            <a:endParaRPr lang="en-US" sz="1200" b="1" dirty="0"/>
          </a:p>
        </p:txBody>
      </p:sp>
      <p:sp>
        <p:nvSpPr>
          <p:cNvPr id="13" name="Shape 8"/>
          <p:cNvSpPr/>
          <p:nvPr/>
        </p:nvSpPr>
        <p:spPr>
          <a:xfrm>
            <a:off x="4732080" y="2082070"/>
            <a:ext cx="4297680" cy="1005840"/>
          </a:xfrm>
          <a:prstGeom prst="rect">
            <a:avLst/>
          </a:prstGeom>
          <a:solidFill>
            <a:srgbClr val="1A3160"/>
          </a:solidFill>
          <a:ln w="12700">
            <a:solidFill>
              <a:srgbClr val="00E5B0"/>
            </a:solidFill>
            <a:prstDash val="solid"/>
          </a:ln>
        </p:spPr>
      </p:sp>
      <p:sp>
        <p:nvSpPr>
          <p:cNvPr id="14" name="Text 9"/>
          <p:cNvSpPr/>
          <p:nvPr/>
        </p:nvSpPr>
        <p:spPr>
          <a:xfrm>
            <a:off x="4869240" y="2173510"/>
            <a:ext cx="4023360" cy="347472"/>
          </a:xfrm>
          <a:prstGeom prst="rect">
            <a:avLst/>
          </a:prstGeom>
          <a:noFill/>
          <a:ln/>
        </p:spPr>
        <p:txBody>
          <a:bodyPr wrap="square" lIns="0" tIns="0" rIns="0" bIns="0" rtlCol="0" anchor="ctr"/>
          <a:lstStyle/>
          <a:p>
            <a:pPr marL="0" indent="0">
              <a:buNone/>
            </a:pPr>
            <a:r>
              <a:rPr lang="en-US" sz="1200" b="1" dirty="0">
                <a:solidFill>
                  <a:srgbClr val="00E5B0"/>
                </a:solidFill>
              </a:rPr>
              <a:t>⚡ Tests Parallèles</a:t>
            </a:r>
            <a:endParaRPr lang="en-US" sz="1200" b="1" dirty="0"/>
          </a:p>
        </p:txBody>
      </p:sp>
      <p:sp>
        <p:nvSpPr>
          <p:cNvPr id="15" name="Text 10"/>
          <p:cNvSpPr/>
          <p:nvPr/>
        </p:nvSpPr>
        <p:spPr>
          <a:xfrm>
            <a:off x="4869240" y="2557558"/>
            <a:ext cx="4023360" cy="457200"/>
          </a:xfrm>
          <a:prstGeom prst="rect">
            <a:avLst/>
          </a:prstGeom>
          <a:noFill/>
          <a:ln/>
        </p:spPr>
        <p:txBody>
          <a:bodyPr wrap="square" lIns="0" tIns="0" rIns="0" bIns="0" rtlCol="0" anchor="ctr"/>
          <a:lstStyle/>
          <a:p>
            <a:pPr marL="0" indent="0">
              <a:buNone/>
            </a:pPr>
            <a:r>
              <a:rPr lang="en-US" sz="1200" b="1" dirty="0">
                <a:solidFill>
                  <a:srgbClr val="D0D8E8"/>
                </a:solidFill>
              </a:rPr>
              <a:t>Exécution parallèle native pour réduire le temps total. Configurable dans testng.xml avec parallel='methods'.</a:t>
            </a:r>
            <a:endParaRPr lang="en-US" sz="1200" b="1" dirty="0"/>
          </a:p>
        </p:txBody>
      </p:sp>
      <p:sp>
        <p:nvSpPr>
          <p:cNvPr id="16" name="Shape 11"/>
          <p:cNvSpPr/>
          <p:nvPr/>
        </p:nvSpPr>
        <p:spPr>
          <a:xfrm>
            <a:off x="251520" y="3270790"/>
            <a:ext cx="4297680" cy="1005840"/>
          </a:xfrm>
          <a:prstGeom prst="rect">
            <a:avLst/>
          </a:prstGeom>
          <a:solidFill>
            <a:srgbClr val="1A3160"/>
          </a:solidFill>
          <a:ln w="12700">
            <a:solidFill>
              <a:srgbClr val="00E5B0"/>
            </a:solidFill>
            <a:prstDash val="solid"/>
          </a:ln>
        </p:spPr>
      </p:sp>
      <p:sp>
        <p:nvSpPr>
          <p:cNvPr id="17" name="Text 12"/>
          <p:cNvSpPr/>
          <p:nvPr/>
        </p:nvSpPr>
        <p:spPr>
          <a:xfrm>
            <a:off x="388680" y="3362230"/>
            <a:ext cx="4023360" cy="347472"/>
          </a:xfrm>
          <a:prstGeom prst="rect">
            <a:avLst/>
          </a:prstGeom>
          <a:noFill/>
          <a:ln/>
        </p:spPr>
        <p:txBody>
          <a:bodyPr wrap="square" lIns="0" tIns="0" rIns="0" bIns="0" rtlCol="0" anchor="ctr"/>
          <a:lstStyle/>
          <a:p>
            <a:pPr marL="0" indent="0">
              <a:buNone/>
            </a:pPr>
            <a:r>
              <a:rPr lang="en-US" sz="1200" b="1" dirty="0">
                <a:solidFill>
                  <a:srgbClr val="00E5B0"/>
                </a:solidFill>
              </a:rPr>
              <a:t>📊 Data Provider</a:t>
            </a:r>
            <a:endParaRPr lang="en-US" sz="1200" b="1" dirty="0"/>
          </a:p>
        </p:txBody>
      </p:sp>
      <p:sp>
        <p:nvSpPr>
          <p:cNvPr id="18" name="Text 13"/>
          <p:cNvSpPr/>
          <p:nvPr/>
        </p:nvSpPr>
        <p:spPr>
          <a:xfrm>
            <a:off x="388680" y="3746278"/>
            <a:ext cx="4023360" cy="457200"/>
          </a:xfrm>
          <a:prstGeom prst="rect">
            <a:avLst/>
          </a:prstGeom>
          <a:noFill/>
          <a:ln/>
        </p:spPr>
        <p:txBody>
          <a:bodyPr wrap="square" lIns="0" tIns="0" rIns="0" bIns="0" rtlCol="0" anchor="ctr"/>
          <a:lstStyle/>
          <a:p>
            <a:pPr marL="0" indent="0">
              <a:buNone/>
            </a:pPr>
            <a:r>
              <a:rPr lang="en-US" sz="1200" b="1" dirty="0">
                <a:solidFill>
                  <a:srgbClr val="D0D8E8"/>
                </a:solidFill>
              </a:rPr>
              <a:t>@DataProvider pour alimenter des tests paramétrés avec des données complexes (tableaux d'objets).</a:t>
            </a:r>
            <a:endParaRPr lang="en-US" sz="1200" b="1" dirty="0"/>
          </a:p>
        </p:txBody>
      </p:sp>
      <p:sp>
        <p:nvSpPr>
          <p:cNvPr id="19" name="Shape 14"/>
          <p:cNvSpPr/>
          <p:nvPr/>
        </p:nvSpPr>
        <p:spPr>
          <a:xfrm>
            <a:off x="4732080" y="3270790"/>
            <a:ext cx="4297680" cy="1005840"/>
          </a:xfrm>
          <a:prstGeom prst="rect">
            <a:avLst/>
          </a:prstGeom>
          <a:solidFill>
            <a:srgbClr val="1A3160"/>
          </a:solidFill>
          <a:ln w="12700">
            <a:solidFill>
              <a:srgbClr val="00E5B0"/>
            </a:solidFill>
            <a:prstDash val="solid"/>
          </a:ln>
        </p:spPr>
      </p:sp>
      <p:sp>
        <p:nvSpPr>
          <p:cNvPr id="20" name="Text 15"/>
          <p:cNvSpPr/>
          <p:nvPr/>
        </p:nvSpPr>
        <p:spPr>
          <a:xfrm>
            <a:off x="4869240" y="3362230"/>
            <a:ext cx="4023360" cy="347472"/>
          </a:xfrm>
          <a:prstGeom prst="rect">
            <a:avLst/>
          </a:prstGeom>
          <a:noFill/>
          <a:ln/>
        </p:spPr>
        <p:txBody>
          <a:bodyPr wrap="square" lIns="0" tIns="0" rIns="0" bIns="0" rtlCol="0" anchor="ctr"/>
          <a:lstStyle/>
          <a:p>
            <a:pPr marL="0" indent="0">
              <a:buNone/>
            </a:pPr>
            <a:r>
              <a:rPr lang="en-US" sz="1200" b="1" dirty="0">
                <a:solidFill>
                  <a:srgbClr val="00E5B0"/>
                </a:solidFill>
              </a:rPr>
              <a:t>⚙️ Configuration flexible</a:t>
            </a:r>
            <a:endParaRPr lang="en-US" sz="1200" b="1" dirty="0"/>
          </a:p>
        </p:txBody>
      </p:sp>
      <p:sp>
        <p:nvSpPr>
          <p:cNvPr id="21" name="Text 16"/>
          <p:cNvSpPr/>
          <p:nvPr/>
        </p:nvSpPr>
        <p:spPr>
          <a:xfrm>
            <a:off x="4869240" y="3746278"/>
            <a:ext cx="4023360" cy="457200"/>
          </a:xfrm>
          <a:prstGeom prst="rect">
            <a:avLst/>
          </a:prstGeom>
          <a:noFill/>
          <a:ln/>
        </p:spPr>
        <p:txBody>
          <a:bodyPr wrap="square" lIns="0" tIns="0" rIns="0" bIns="0" rtlCol="0" anchor="ctr"/>
          <a:lstStyle/>
          <a:p>
            <a:pPr marL="0" indent="0">
              <a:buNone/>
            </a:pPr>
            <a:r>
              <a:rPr lang="en-US" sz="1200" b="1" dirty="0">
                <a:solidFill>
                  <a:srgbClr val="D0D8E8"/>
                </a:solidFill>
              </a:rPr>
              <a:t>testng.xml pour organiser suites, groupes, inclusions/exclusions sans recompilation.</a:t>
            </a:r>
            <a:endParaRPr lang="en-US" sz="1200" b="1" dirty="0"/>
          </a:p>
        </p:txBody>
      </p:sp>
      <p:sp>
        <p:nvSpPr>
          <p:cNvPr id="22" name="Text 17"/>
          <p:cNvSpPr/>
          <p:nvPr/>
        </p:nvSpPr>
        <p:spPr>
          <a:xfrm>
            <a:off x="297240" y="4505230"/>
            <a:ext cx="8229600" cy="347472"/>
          </a:xfrm>
          <a:prstGeom prst="rect">
            <a:avLst/>
          </a:prstGeom>
          <a:noFill/>
          <a:ln/>
        </p:spPr>
        <p:txBody>
          <a:bodyPr wrap="square" rtlCol="0" anchor="ctr"/>
          <a:lstStyle/>
          <a:p>
            <a:pPr marL="0" indent="0">
              <a:buNone/>
            </a:pPr>
            <a:r>
              <a:rPr lang="en-US" sz="1200" b="1" dirty="0"/>
              <a:t>Annotations TestNG Essentielles</a:t>
            </a:r>
          </a:p>
        </p:txBody>
      </p:sp>
      <p:sp>
        <p:nvSpPr>
          <p:cNvPr id="23" name="Shape 18"/>
          <p:cNvSpPr/>
          <p:nvPr/>
        </p:nvSpPr>
        <p:spPr>
          <a:xfrm>
            <a:off x="251520" y="4916710"/>
            <a:ext cx="1600200" cy="320040"/>
          </a:xfrm>
          <a:prstGeom prst="roundRect">
            <a:avLst>
              <a:gd name="adj" fmla="val 17143"/>
            </a:avLst>
          </a:prstGeom>
          <a:solidFill>
            <a:srgbClr val="00E5B0">
              <a:alpha val="15000"/>
            </a:srgbClr>
          </a:solidFill>
          <a:ln w="12700">
            <a:solidFill>
              <a:srgbClr val="00E5B0"/>
            </a:solidFill>
            <a:prstDash val="solid"/>
          </a:ln>
        </p:spPr>
      </p:sp>
      <p:sp>
        <p:nvSpPr>
          <p:cNvPr id="24" name="Text 19"/>
          <p:cNvSpPr/>
          <p:nvPr/>
        </p:nvSpPr>
        <p:spPr>
          <a:xfrm>
            <a:off x="251520" y="491671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@Test</a:t>
            </a:r>
            <a:endParaRPr lang="en-US" sz="1200" b="1" dirty="0"/>
          </a:p>
        </p:txBody>
      </p:sp>
      <p:sp>
        <p:nvSpPr>
          <p:cNvPr id="25" name="Shape 20"/>
          <p:cNvSpPr/>
          <p:nvPr/>
        </p:nvSpPr>
        <p:spPr>
          <a:xfrm>
            <a:off x="1988880" y="4916710"/>
            <a:ext cx="1600200" cy="320040"/>
          </a:xfrm>
          <a:prstGeom prst="roundRect">
            <a:avLst>
              <a:gd name="adj" fmla="val 17143"/>
            </a:avLst>
          </a:prstGeom>
          <a:solidFill>
            <a:srgbClr val="00E5B0">
              <a:alpha val="15000"/>
            </a:srgbClr>
          </a:solidFill>
          <a:ln w="12700">
            <a:solidFill>
              <a:srgbClr val="00E5B0"/>
            </a:solidFill>
            <a:prstDash val="solid"/>
          </a:ln>
        </p:spPr>
      </p:sp>
      <p:sp>
        <p:nvSpPr>
          <p:cNvPr id="26" name="Text 21"/>
          <p:cNvSpPr/>
          <p:nvPr/>
        </p:nvSpPr>
        <p:spPr>
          <a:xfrm>
            <a:off x="1988880" y="491671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@BeforeMethod</a:t>
            </a:r>
            <a:endParaRPr lang="en-US" sz="1200" b="1" dirty="0"/>
          </a:p>
        </p:txBody>
      </p:sp>
      <p:sp>
        <p:nvSpPr>
          <p:cNvPr id="27" name="Shape 22"/>
          <p:cNvSpPr/>
          <p:nvPr/>
        </p:nvSpPr>
        <p:spPr>
          <a:xfrm>
            <a:off x="3726240" y="4916710"/>
            <a:ext cx="1600200" cy="320040"/>
          </a:xfrm>
          <a:prstGeom prst="roundRect">
            <a:avLst>
              <a:gd name="adj" fmla="val 17143"/>
            </a:avLst>
          </a:prstGeom>
          <a:solidFill>
            <a:srgbClr val="00E5B0">
              <a:alpha val="15000"/>
            </a:srgbClr>
          </a:solidFill>
          <a:ln w="12700">
            <a:solidFill>
              <a:srgbClr val="00E5B0"/>
            </a:solidFill>
            <a:prstDash val="solid"/>
          </a:ln>
        </p:spPr>
      </p:sp>
      <p:sp>
        <p:nvSpPr>
          <p:cNvPr id="28" name="Text 23"/>
          <p:cNvSpPr/>
          <p:nvPr/>
        </p:nvSpPr>
        <p:spPr>
          <a:xfrm>
            <a:off x="3726240" y="491671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@AfterMethod</a:t>
            </a:r>
            <a:endParaRPr lang="en-US" sz="1200" b="1" dirty="0"/>
          </a:p>
        </p:txBody>
      </p:sp>
      <p:sp>
        <p:nvSpPr>
          <p:cNvPr id="29" name="Shape 24"/>
          <p:cNvSpPr/>
          <p:nvPr/>
        </p:nvSpPr>
        <p:spPr>
          <a:xfrm>
            <a:off x="5463600" y="4916710"/>
            <a:ext cx="1600200" cy="320040"/>
          </a:xfrm>
          <a:prstGeom prst="roundRect">
            <a:avLst>
              <a:gd name="adj" fmla="val 17143"/>
            </a:avLst>
          </a:prstGeom>
          <a:solidFill>
            <a:srgbClr val="00E5B0">
              <a:alpha val="15000"/>
            </a:srgbClr>
          </a:solidFill>
          <a:ln w="12700">
            <a:solidFill>
              <a:srgbClr val="00E5B0"/>
            </a:solidFill>
            <a:prstDash val="solid"/>
          </a:ln>
        </p:spPr>
      </p:sp>
      <p:sp>
        <p:nvSpPr>
          <p:cNvPr id="30" name="Text 25"/>
          <p:cNvSpPr/>
          <p:nvPr/>
        </p:nvSpPr>
        <p:spPr>
          <a:xfrm>
            <a:off x="5463600" y="491671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@BeforeClass</a:t>
            </a:r>
            <a:endParaRPr lang="en-US" sz="1200" b="1" dirty="0"/>
          </a:p>
        </p:txBody>
      </p:sp>
      <p:sp>
        <p:nvSpPr>
          <p:cNvPr id="31" name="Shape 26"/>
          <p:cNvSpPr/>
          <p:nvPr/>
        </p:nvSpPr>
        <p:spPr>
          <a:xfrm>
            <a:off x="7200960" y="4916710"/>
            <a:ext cx="1600200" cy="320040"/>
          </a:xfrm>
          <a:prstGeom prst="roundRect">
            <a:avLst>
              <a:gd name="adj" fmla="val 17143"/>
            </a:avLst>
          </a:prstGeom>
          <a:solidFill>
            <a:srgbClr val="00E5B0">
              <a:alpha val="15000"/>
            </a:srgbClr>
          </a:solidFill>
          <a:ln w="12700">
            <a:solidFill>
              <a:srgbClr val="00E5B0"/>
            </a:solidFill>
            <a:prstDash val="solid"/>
          </a:ln>
        </p:spPr>
      </p:sp>
      <p:sp>
        <p:nvSpPr>
          <p:cNvPr id="32" name="Text 27"/>
          <p:cNvSpPr/>
          <p:nvPr/>
        </p:nvSpPr>
        <p:spPr>
          <a:xfrm>
            <a:off x="7200960" y="491671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@AfterClass</a:t>
            </a:r>
            <a:endParaRPr lang="en-US" sz="1200" b="1" dirty="0"/>
          </a:p>
        </p:txBody>
      </p:sp>
      <p:sp>
        <p:nvSpPr>
          <p:cNvPr id="33" name="Shape 28"/>
          <p:cNvSpPr/>
          <p:nvPr/>
        </p:nvSpPr>
        <p:spPr>
          <a:xfrm>
            <a:off x="251520" y="5328190"/>
            <a:ext cx="1600200" cy="320040"/>
          </a:xfrm>
          <a:prstGeom prst="roundRect">
            <a:avLst>
              <a:gd name="adj" fmla="val 17143"/>
            </a:avLst>
          </a:prstGeom>
          <a:solidFill>
            <a:srgbClr val="00E5B0">
              <a:alpha val="15000"/>
            </a:srgbClr>
          </a:solidFill>
          <a:ln w="12700">
            <a:solidFill>
              <a:srgbClr val="00E5B0"/>
            </a:solidFill>
            <a:prstDash val="solid"/>
          </a:ln>
        </p:spPr>
      </p:sp>
      <p:sp>
        <p:nvSpPr>
          <p:cNvPr id="34" name="Text 29"/>
          <p:cNvSpPr/>
          <p:nvPr/>
        </p:nvSpPr>
        <p:spPr>
          <a:xfrm>
            <a:off x="251520" y="532819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@BeforeSuite</a:t>
            </a:r>
            <a:endParaRPr lang="en-US" sz="1200" b="1" dirty="0"/>
          </a:p>
        </p:txBody>
      </p:sp>
      <p:sp>
        <p:nvSpPr>
          <p:cNvPr id="35" name="Shape 30"/>
          <p:cNvSpPr/>
          <p:nvPr/>
        </p:nvSpPr>
        <p:spPr>
          <a:xfrm>
            <a:off x="1988880" y="5328190"/>
            <a:ext cx="1600200" cy="320040"/>
          </a:xfrm>
          <a:prstGeom prst="roundRect">
            <a:avLst>
              <a:gd name="adj" fmla="val 17143"/>
            </a:avLst>
          </a:prstGeom>
          <a:solidFill>
            <a:srgbClr val="00E5B0">
              <a:alpha val="15000"/>
            </a:srgbClr>
          </a:solidFill>
          <a:ln w="12700">
            <a:solidFill>
              <a:srgbClr val="00E5B0"/>
            </a:solidFill>
            <a:prstDash val="solid"/>
          </a:ln>
        </p:spPr>
      </p:sp>
      <p:sp>
        <p:nvSpPr>
          <p:cNvPr id="36" name="Text 31"/>
          <p:cNvSpPr/>
          <p:nvPr/>
        </p:nvSpPr>
        <p:spPr>
          <a:xfrm>
            <a:off x="1988880" y="532819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@AfterSuite</a:t>
            </a:r>
            <a:endParaRPr lang="en-US" sz="1200" b="1" dirty="0"/>
          </a:p>
        </p:txBody>
      </p:sp>
      <p:sp>
        <p:nvSpPr>
          <p:cNvPr id="37" name="Shape 32"/>
          <p:cNvSpPr/>
          <p:nvPr/>
        </p:nvSpPr>
        <p:spPr>
          <a:xfrm>
            <a:off x="3726240" y="5328190"/>
            <a:ext cx="1600200" cy="320040"/>
          </a:xfrm>
          <a:prstGeom prst="roundRect">
            <a:avLst>
              <a:gd name="adj" fmla="val 17143"/>
            </a:avLst>
          </a:prstGeom>
          <a:solidFill>
            <a:srgbClr val="00E5B0">
              <a:alpha val="15000"/>
            </a:srgbClr>
          </a:solidFill>
          <a:ln w="12700">
            <a:solidFill>
              <a:srgbClr val="00E5B0"/>
            </a:solidFill>
            <a:prstDash val="solid"/>
          </a:ln>
        </p:spPr>
      </p:sp>
      <p:sp>
        <p:nvSpPr>
          <p:cNvPr id="38" name="Text 33"/>
          <p:cNvSpPr/>
          <p:nvPr/>
        </p:nvSpPr>
        <p:spPr>
          <a:xfrm>
            <a:off x="3726240" y="532819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@DataProvider</a:t>
            </a:r>
            <a:endParaRPr lang="en-US" sz="1200" b="1" dirty="0"/>
          </a:p>
        </p:txBody>
      </p:sp>
      <p:sp>
        <p:nvSpPr>
          <p:cNvPr id="39" name="Shape 34"/>
          <p:cNvSpPr/>
          <p:nvPr/>
        </p:nvSpPr>
        <p:spPr>
          <a:xfrm>
            <a:off x="5463600" y="5328190"/>
            <a:ext cx="1600200" cy="320040"/>
          </a:xfrm>
          <a:prstGeom prst="roundRect">
            <a:avLst>
              <a:gd name="adj" fmla="val 17143"/>
            </a:avLst>
          </a:prstGeom>
          <a:solidFill>
            <a:srgbClr val="00E5B0">
              <a:alpha val="15000"/>
            </a:srgbClr>
          </a:solidFill>
          <a:ln w="12700">
            <a:solidFill>
              <a:srgbClr val="00E5B0"/>
            </a:solidFill>
            <a:prstDash val="solid"/>
          </a:ln>
        </p:spPr>
      </p:sp>
      <p:sp>
        <p:nvSpPr>
          <p:cNvPr id="40" name="Text 35"/>
          <p:cNvSpPr/>
          <p:nvPr/>
        </p:nvSpPr>
        <p:spPr>
          <a:xfrm>
            <a:off x="5463600" y="532819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@Factory</a:t>
            </a:r>
            <a:endParaRPr lang="en-US" sz="1200" b="1" dirty="0"/>
          </a:p>
        </p:txBody>
      </p:sp>
      <p:sp>
        <p:nvSpPr>
          <p:cNvPr id="41" name="Shape 36"/>
          <p:cNvSpPr/>
          <p:nvPr/>
        </p:nvSpPr>
        <p:spPr>
          <a:xfrm>
            <a:off x="7200960" y="5328190"/>
            <a:ext cx="1600200" cy="320040"/>
          </a:xfrm>
          <a:prstGeom prst="roundRect">
            <a:avLst>
              <a:gd name="adj" fmla="val 17143"/>
            </a:avLst>
          </a:prstGeom>
          <a:solidFill>
            <a:srgbClr val="00E5B0">
              <a:alpha val="15000"/>
            </a:srgbClr>
          </a:solidFill>
          <a:ln w="12700">
            <a:solidFill>
              <a:srgbClr val="00E5B0"/>
            </a:solidFill>
            <a:prstDash val="solid"/>
          </a:ln>
        </p:spPr>
      </p:sp>
      <p:sp>
        <p:nvSpPr>
          <p:cNvPr id="42" name="Text 37"/>
          <p:cNvSpPr/>
          <p:nvPr/>
        </p:nvSpPr>
        <p:spPr>
          <a:xfrm>
            <a:off x="7200960" y="5328190"/>
            <a:ext cx="1600200" cy="320040"/>
          </a:xfrm>
          <a:prstGeom prst="rect">
            <a:avLst/>
          </a:prstGeom>
          <a:noFill/>
          <a:ln/>
        </p:spPr>
        <p:txBody>
          <a:bodyPr wrap="square" lIns="0" tIns="0" rIns="0" bIns="0" rtlCol="0" anchor="ctr"/>
          <a:lstStyle/>
          <a:p>
            <a:pPr marL="0" indent="0" algn="ctr">
              <a:buNone/>
            </a:pPr>
            <a:r>
              <a:rPr lang="en-US" sz="1200" b="1" dirty="0">
                <a:latin typeface="Consolas" pitchFamily="34" charset="0"/>
                <a:ea typeface="Consolas" pitchFamily="34" charset="-122"/>
                <a:cs typeface="Consolas" pitchFamily="34" charset="-120"/>
              </a:rPr>
              <a:t>@Parameters</a:t>
            </a:r>
            <a:endParaRPr lang="en-US" sz="1200" b="1" dirty="0"/>
          </a:p>
        </p:txBody>
      </p:sp>
      <p:sp>
        <p:nvSpPr>
          <p:cNvPr id="5" name="TextBox 4"/>
          <p:cNvSpPr txBox="1"/>
          <p:nvPr/>
        </p:nvSpPr>
        <p:spPr>
          <a:xfrm>
            <a:off x="180604" y="1316918"/>
            <a:ext cx="4535859" cy="369332"/>
          </a:xfrm>
          <a:prstGeom prst="rect">
            <a:avLst/>
          </a:prstGeom>
          <a:noFill/>
        </p:spPr>
        <p:txBody>
          <a:bodyPr wrap="square" rtlCol="0">
            <a:spAutoFit/>
          </a:bodyPr>
          <a:lstStyle/>
          <a:p>
            <a:r>
              <a:rPr lang="en-US" b="1" dirty="0" err="1" smtClean="0"/>
              <a:t>TestGN</a:t>
            </a:r>
            <a:endParaRPr lang="en-US" b="1" dirty="0"/>
          </a:p>
        </p:txBody>
      </p:sp>
      <p:sp>
        <p:nvSpPr>
          <p:cNvPr id="43"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2"/>
            </a:pPr>
            <a:r>
              <a:rPr lang="fr-CI" sz="2400" dirty="0" smtClean="0">
                <a:solidFill>
                  <a:srgbClr val="FF0000"/>
                </a:solidFill>
              </a:rPr>
              <a:t>FRAMEWORK DE TESTS</a:t>
            </a:r>
            <a:endParaRPr lang="fr-CI" sz="2400" noProof="0" dirty="0">
              <a:solidFill>
                <a:srgbClr val="FF0000"/>
              </a:solidFill>
            </a:endParaRPr>
          </a:p>
        </p:txBody>
      </p:sp>
    </p:spTree>
    <p:extLst>
      <p:ext uri="{BB962C8B-B14F-4D97-AF65-F5344CB8AC3E}">
        <p14:creationId xmlns:p14="http://schemas.microsoft.com/office/powerpoint/2010/main" val="12247927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2"/>
          <p:cNvSpPr/>
          <p:nvPr/>
        </p:nvSpPr>
        <p:spPr>
          <a:xfrm>
            <a:off x="275496" y="1130359"/>
            <a:ext cx="8229600" cy="502920"/>
          </a:xfrm>
          <a:prstGeom prst="rect">
            <a:avLst/>
          </a:prstGeom>
          <a:noFill/>
          <a:ln/>
        </p:spPr>
        <p:txBody>
          <a:bodyPr wrap="square" rtlCol="0" anchor="ctr"/>
          <a:lstStyle/>
          <a:p>
            <a:pPr marL="0" indent="0">
              <a:buNone/>
            </a:pPr>
            <a:r>
              <a:rPr lang="en-US" sz="1400" b="1" dirty="0"/>
              <a:t>JUnit 5 vs TestNG — Comparatif</a:t>
            </a:r>
            <a:endParaRPr lang="en-US" sz="1400" dirty="0"/>
          </a:p>
        </p:txBody>
      </p:sp>
      <p:sp>
        <p:nvSpPr>
          <p:cNvPr id="7" name="Shape 3"/>
          <p:cNvSpPr/>
          <p:nvPr/>
        </p:nvSpPr>
        <p:spPr>
          <a:xfrm>
            <a:off x="229776" y="1788727"/>
            <a:ext cx="1828800" cy="365760"/>
          </a:xfrm>
          <a:prstGeom prst="rect">
            <a:avLst/>
          </a:prstGeom>
          <a:solidFill>
            <a:srgbClr val="1E90FF"/>
          </a:solidFill>
          <a:ln/>
        </p:spPr>
      </p:sp>
      <p:sp>
        <p:nvSpPr>
          <p:cNvPr id="8" name="Text 4"/>
          <p:cNvSpPr/>
          <p:nvPr/>
        </p:nvSpPr>
        <p:spPr>
          <a:xfrm>
            <a:off x="229776" y="1788727"/>
            <a:ext cx="1828800" cy="365760"/>
          </a:xfrm>
          <a:prstGeom prst="rect">
            <a:avLst/>
          </a:prstGeom>
          <a:noFill/>
          <a:ln/>
        </p:spPr>
        <p:txBody>
          <a:bodyPr wrap="square" lIns="0" tIns="0" rIns="0" bIns="0" rtlCol="0" anchor="ctr"/>
          <a:lstStyle/>
          <a:p>
            <a:pPr marL="0" indent="0" algn="ctr">
              <a:buNone/>
            </a:pPr>
            <a:r>
              <a:rPr lang="en-US" sz="1200" b="1" dirty="0">
                <a:solidFill>
                  <a:srgbClr val="0F2044"/>
                </a:solidFill>
              </a:rPr>
              <a:t>Critère</a:t>
            </a:r>
            <a:endParaRPr lang="en-US" sz="1200" dirty="0"/>
          </a:p>
        </p:txBody>
      </p:sp>
      <p:sp>
        <p:nvSpPr>
          <p:cNvPr id="9" name="Shape 5"/>
          <p:cNvSpPr/>
          <p:nvPr/>
        </p:nvSpPr>
        <p:spPr>
          <a:xfrm>
            <a:off x="2104296" y="1788727"/>
            <a:ext cx="3383280" cy="365760"/>
          </a:xfrm>
          <a:prstGeom prst="rect">
            <a:avLst/>
          </a:prstGeom>
          <a:solidFill>
            <a:srgbClr val="00C8FF"/>
          </a:solidFill>
          <a:ln/>
        </p:spPr>
      </p:sp>
      <p:sp>
        <p:nvSpPr>
          <p:cNvPr id="11" name="Text 6"/>
          <p:cNvSpPr/>
          <p:nvPr/>
        </p:nvSpPr>
        <p:spPr>
          <a:xfrm>
            <a:off x="2104296" y="1788727"/>
            <a:ext cx="3383280" cy="365760"/>
          </a:xfrm>
          <a:prstGeom prst="rect">
            <a:avLst/>
          </a:prstGeom>
          <a:noFill/>
          <a:ln/>
        </p:spPr>
        <p:txBody>
          <a:bodyPr wrap="square" lIns="0" tIns="0" rIns="0" bIns="0" rtlCol="0" anchor="ctr"/>
          <a:lstStyle/>
          <a:p>
            <a:pPr marL="0" indent="0" algn="ctr">
              <a:buNone/>
            </a:pPr>
            <a:r>
              <a:rPr lang="en-US" sz="1200" b="1" dirty="0">
                <a:solidFill>
                  <a:srgbClr val="0F2044"/>
                </a:solidFill>
              </a:rPr>
              <a:t>JUnit 5</a:t>
            </a:r>
            <a:endParaRPr lang="en-US" sz="1200" dirty="0"/>
          </a:p>
        </p:txBody>
      </p:sp>
      <p:sp>
        <p:nvSpPr>
          <p:cNvPr id="12" name="Shape 7"/>
          <p:cNvSpPr/>
          <p:nvPr/>
        </p:nvSpPr>
        <p:spPr>
          <a:xfrm>
            <a:off x="5533296" y="1788727"/>
            <a:ext cx="3383280" cy="365760"/>
          </a:xfrm>
          <a:prstGeom prst="rect">
            <a:avLst/>
          </a:prstGeom>
          <a:solidFill>
            <a:srgbClr val="00E5B0"/>
          </a:solidFill>
          <a:ln/>
        </p:spPr>
      </p:sp>
      <p:sp>
        <p:nvSpPr>
          <p:cNvPr id="13" name="Text 8"/>
          <p:cNvSpPr/>
          <p:nvPr/>
        </p:nvSpPr>
        <p:spPr>
          <a:xfrm>
            <a:off x="5533296" y="1788727"/>
            <a:ext cx="3383280" cy="365760"/>
          </a:xfrm>
          <a:prstGeom prst="rect">
            <a:avLst/>
          </a:prstGeom>
          <a:noFill/>
          <a:ln/>
        </p:spPr>
        <p:txBody>
          <a:bodyPr wrap="square" lIns="0" tIns="0" rIns="0" bIns="0" rtlCol="0" anchor="ctr"/>
          <a:lstStyle/>
          <a:p>
            <a:pPr marL="0" indent="0" algn="ctr">
              <a:buNone/>
            </a:pPr>
            <a:r>
              <a:rPr lang="en-US" sz="1200" b="1" dirty="0">
                <a:solidFill>
                  <a:srgbClr val="0F2044"/>
                </a:solidFill>
              </a:rPr>
              <a:t>TestNG</a:t>
            </a:r>
            <a:endParaRPr lang="en-US" sz="1200" dirty="0"/>
          </a:p>
        </p:txBody>
      </p:sp>
      <p:sp>
        <p:nvSpPr>
          <p:cNvPr id="14" name="Shape 9"/>
          <p:cNvSpPr/>
          <p:nvPr/>
        </p:nvSpPr>
        <p:spPr>
          <a:xfrm>
            <a:off x="229776" y="2172775"/>
            <a:ext cx="1828800" cy="365760"/>
          </a:xfrm>
          <a:prstGeom prst="rect">
            <a:avLst/>
          </a:prstGeom>
          <a:solidFill>
            <a:srgbClr val="1A3160"/>
          </a:solidFill>
          <a:ln w="6350">
            <a:solidFill>
              <a:srgbClr val="1E3A5F"/>
            </a:solidFill>
            <a:prstDash val="solid"/>
          </a:ln>
        </p:spPr>
      </p:sp>
      <p:sp>
        <p:nvSpPr>
          <p:cNvPr id="15" name="Text 10"/>
          <p:cNvSpPr/>
          <p:nvPr/>
        </p:nvSpPr>
        <p:spPr>
          <a:xfrm>
            <a:off x="302928" y="2172775"/>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Popularité</a:t>
            </a:r>
            <a:endParaRPr lang="en-US" sz="1200" dirty="0"/>
          </a:p>
        </p:txBody>
      </p:sp>
      <p:sp>
        <p:nvSpPr>
          <p:cNvPr id="16" name="Shape 11"/>
          <p:cNvSpPr/>
          <p:nvPr/>
        </p:nvSpPr>
        <p:spPr>
          <a:xfrm>
            <a:off x="2104296" y="2172775"/>
            <a:ext cx="3383280" cy="365760"/>
          </a:xfrm>
          <a:prstGeom prst="rect">
            <a:avLst/>
          </a:prstGeom>
          <a:solidFill>
            <a:srgbClr val="1A3160"/>
          </a:solidFill>
          <a:ln w="6350">
            <a:solidFill>
              <a:srgbClr val="1E3A5F"/>
            </a:solidFill>
            <a:prstDash val="solid"/>
          </a:ln>
        </p:spPr>
      </p:sp>
      <p:sp>
        <p:nvSpPr>
          <p:cNvPr id="17" name="Text 12"/>
          <p:cNvSpPr/>
          <p:nvPr/>
        </p:nvSpPr>
        <p:spPr>
          <a:xfrm>
            <a:off x="2177448" y="2172775"/>
            <a:ext cx="3291840" cy="365760"/>
          </a:xfrm>
          <a:prstGeom prst="rect">
            <a:avLst/>
          </a:prstGeom>
          <a:noFill/>
          <a:ln/>
        </p:spPr>
        <p:txBody>
          <a:bodyPr wrap="square" lIns="0" tIns="0" rIns="0" bIns="0" rtlCol="0" anchor="ctr"/>
          <a:lstStyle/>
          <a:p>
            <a:pPr marL="0" indent="0">
              <a:buNone/>
            </a:pPr>
            <a:r>
              <a:rPr lang="en-US" sz="1200" dirty="0">
                <a:solidFill>
                  <a:srgbClr val="FFFFFF"/>
                </a:solidFill>
              </a:rPr>
              <a:t>⭐⭐⭐⭐⭐ Standard industrie</a:t>
            </a:r>
            <a:endParaRPr lang="en-US" sz="1200" dirty="0"/>
          </a:p>
        </p:txBody>
      </p:sp>
      <p:sp>
        <p:nvSpPr>
          <p:cNvPr id="18" name="Shape 13"/>
          <p:cNvSpPr/>
          <p:nvPr/>
        </p:nvSpPr>
        <p:spPr>
          <a:xfrm>
            <a:off x="5533296" y="2172775"/>
            <a:ext cx="3383280" cy="365760"/>
          </a:xfrm>
          <a:prstGeom prst="rect">
            <a:avLst/>
          </a:prstGeom>
          <a:solidFill>
            <a:srgbClr val="1A3160"/>
          </a:solidFill>
          <a:ln w="6350">
            <a:solidFill>
              <a:srgbClr val="1E3A5F"/>
            </a:solidFill>
            <a:prstDash val="solid"/>
          </a:ln>
        </p:spPr>
      </p:sp>
      <p:sp>
        <p:nvSpPr>
          <p:cNvPr id="19" name="Text 14"/>
          <p:cNvSpPr/>
          <p:nvPr/>
        </p:nvSpPr>
        <p:spPr>
          <a:xfrm>
            <a:off x="5606448" y="2172775"/>
            <a:ext cx="3291840" cy="365760"/>
          </a:xfrm>
          <a:prstGeom prst="rect">
            <a:avLst/>
          </a:prstGeom>
          <a:noFill/>
          <a:ln/>
        </p:spPr>
        <p:txBody>
          <a:bodyPr wrap="square" lIns="0" tIns="0" rIns="0" bIns="0" rtlCol="0" anchor="ctr"/>
          <a:lstStyle/>
          <a:p>
            <a:pPr marL="0" indent="0">
              <a:buNone/>
            </a:pPr>
            <a:r>
              <a:rPr lang="en-US" sz="1200" dirty="0">
                <a:solidFill>
                  <a:srgbClr val="FFFFFF"/>
                </a:solidFill>
              </a:rPr>
              <a:t>⭐⭐⭐⭐ Populaire en Enterprise</a:t>
            </a:r>
            <a:endParaRPr lang="en-US" sz="1200" dirty="0"/>
          </a:p>
        </p:txBody>
      </p:sp>
      <p:sp>
        <p:nvSpPr>
          <p:cNvPr id="20" name="Shape 15"/>
          <p:cNvSpPr/>
          <p:nvPr/>
        </p:nvSpPr>
        <p:spPr>
          <a:xfrm>
            <a:off x="229776" y="2556823"/>
            <a:ext cx="1828800" cy="365760"/>
          </a:xfrm>
          <a:prstGeom prst="rect">
            <a:avLst/>
          </a:prstGeom>
          <a:solidFill>
            <a:srgbClr val="162B55"/>
          </a:solidFill>
          <a:ln w="6350">
            <a:solidFill>
              <a:srgbClr val="1E3A5F"/>
            </a:solidFill>
            <a:prstDash val="solid"/>
          </a:ln>
        </p:spPr>
      </p:sp>
      <p:sp>
        <p:nvSpPr>
          <p:cNvPr id="21" name="Text 16"/>
          <p:cNvSpPr/>
          <p:nvPr/>
        </p:nvSpPr>
        <p:spPr>
          <a:xfrm>
            <a:off x="302928" y="2556823"/>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Paramétrage</a:t>
            </a:r>
            <a:endParaRPr lang="en-US" sz="1200" dirty="0"/>
          </a:p>
        </p:txBody>
      </p:sp>
      <p:sp>
        <p:nvSpPr>
          <p:cNvPr id="22" name="Shape 17"/>
          <p:cNvSpPr/>
          <p:nvPr/>
        </p:nvSpPr>
        <p:spPr>
          <a:xfrm>
            <a:off x="2104296" y="2556823"/>
            <a:ext cx="3383280" cy="365760"/>
          </a:xfrm>
          <a:prstGeom prst="rect">
            <a:avLst/>
          </a:prstGeom>
          <a:solidFill>
            <a:srgbClr val="162B55"/>
          </a:solidFill>
          <a:ln w="6350">
            <a:solidFill>
              <a:srgbClr val="1E3A5F"/>
            </a:solidFill>
            <a:prstDash val="solid"/>
          </a:ln>
        </p:spPr>
      </p:sp>
      <p:sp>
        <p:nvSpPr>
          <p:cNvPr id="23" name="Text 18"/>
          <p:cNvSpPr/>
          <p:nvPr/>
        </p:nvSpPr>
        <p:spPr>
          <a:xfrm>
            <a:off x="2177448" y="2556823"/>
            <a:ext cx="3291840" cy="365760"/>
          </a:xfrm>
          <a:prstGeom prst="rect">
            <a:avLst/>
          </a:prstGeom>
          <a:noFill/>
          <a:ln/>
        </p:spPr>
        <p:txBody>
          <a:bodyPr wrap="square" lIns="0" tIns="0" rIns="0" bIns="0" rtlCol="0" anchor="ctr"/>
          <a:lstStyle/>
          <a:p>
            <a:pPr marL="0" indent="0">
              <a:buNone/>
            </a:pPr>
            <a:r>
              <a:rPr lang="en-US" sz="1200" dirty="0">
                <a:solidFill>
                  <a:srgbClr val="FFFFFF"/>
                </a:solidFill>
              </a:rPr>
              <a:t>@ParameterizedTest + Sources</a:t>
            </a:r>
            <a:endParaRPr lang="en-US" sz="1200" dirty="0"/>
          </a:p>
        </p:txBody>
      </p:sp>
      <p:sp>
        <p:nvSpPr>
          <p:cNvPr id="24" name="Shape 19"/>
          <p:cNvSpPr/>
          <p:nvPr/>
        </p:nvSpPr>
        <p:spPr>
          <a:xfrm>
            <a:off x="5533296" y="2556823"/>
            <a:ext cx="3383280" cy="365760"/>
          </a:xfrm>
          <a:prstGeom prst="rect">
            <a:avLst/>
          </a:prstGeom>
          <a:solidFill>
            <a:srgbClr val="162B55"/>
          </a:solidFill>
          <a:ln w="6350">
            <a:solidFill>
              <a:srgbClr val="1E3A5F"/>
            </a:solidFill>
            <a:prstDash val="solid"/>
          </a:ln>
        </p:spPr>
      </p:sp>
      <p:sp>
        <p:nvSpPr>
          <p:cNvPr id="25" name="Text 20"/>
          <p:cNvSpPr/>
          <p:nvPr/>
        </p:nvSpPr>
        <p:spPr>
          <a:xfrm>
            <a:off x="5606448" y="2556823"/>
            <a:ext cx="3291840" cy="365760"/>
          </a:xfrm>
          <a:prstGeom prst="rect">
            <a:avLst/>
          </a:prstGeom>
          <a:noFill/>
          <a:ln/>
        </p:spPr>
        <p:txBody>
          <a:bodyPr wrap="square" lIns="0" tIns="0" rIns="0" bIns="0" rtlCol="0" anchor="ctr"/>
          <a:lstStyle/>
          <a:p>
            <a:pPr marL="0" indent="0">
              <a:buNone/>
            </a:pPr>
            <a:r>
              <a:rPr lang="en-US" sz="1200" dirty="0">
                <a:solidFill>
                  <a:srgbClr val="FFFFFF"/>
                </a:solidFill>
              </a:rPr>
              <a:t>@DataProvider (objets complexes)</a:t>
            </a:r>
            <a:endParaRPr lang="en-US" sz="1200" dirty="0"/>
          </a:p>
        </p:txBody>
      </p:sp>
      <p:sp>
        <p:nvSpPr>
          <p:cNvPr id="26" name="Shape 21"/>
          <p:cNvSpPr/>
          <p:nvPr/>
        </p:nvSpPr>
        <p:spPr>
          <a:xfrm>
            <a:off x="229776" y="2940871"/>
            <a:ext cx="1828800" cy="365760"/>
          </a:xfrm>
          <a:prstGeom prst="rect">
            <a:avLst/>
          </a:prstGeom>
          <a:solidFill>
            <a:srgbClr val="1A3160"/>
          </a:solidFill>
          <a:ln w="6350">
            <a:solidFill>
              <a:srgbClr val="1E3A5F"/>
            </a:solidFill>
            <a:prstDash val="solid"/>
          </a:ln>
        </p:spPr>
      </p:sp>
      <p:sp>
        <p:nvSpPr>
          <p:cNvPr id="27" name="Text 22"/>
          <p:cNvSpPr/>
          <p:nvPr/>
        </p:nvSpPr>
        <p:spPr>
          <a:xfrm>
            <a:off x="302928" y="2940871"/>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Tests parallèles</a:t>
            </a:r>
            <a:endParaRPr lang="en-US" sz="1200" dirty="0"/>
          </a:p>
        </p:txBody>
      </p:sp>
      <p:sp>
        <p:nvSpPr>
          <p:cNvPr id="28" name="Shape 23"/>
          <p:cNvSpPr/>
          <p:nvPr/>
        </p:nvSpPr>
        <p:spPr>
          <a:xfrm>
            <a:off x="2104296" y="2940871"/>
            <a:ext cx="3383280" cy="365760"/>
          </a:xfrm>
          <a:prstGeom prst="rect">
            <a:avLst/>
          </a:prstGeom>
          <a:solidFill>
            <a:srgbClr val="1A3160"/>
          </a:solidFill>
          <a:ln w="6350">
            <a:solidFill>
              <a:srgbClr val="1E3A5F"/>
            </a:solidFill>
            <a:prstDash val="solid"/>
          </a:ln>
        </p:spPr>
      </p:sp>
      <p:sp>
        <p:nvSpPr>
          <p:cNvPr id="29" name="Text 24"/>
          <p:cNvSpPr/>
          <p:nvPr/>
        </p:nvSpPr>
        <p:spPr>
          <a:xfrm>
            <a:off x="2177448" y="2940871"/>
            <a:ext cx="3291840" cy="365760"/>
          </a:xfrm>
          <a:prstGeom prst="rect">
            <a:avLst/>
          </a:prstGeom>
          <a:noFill/>
          <a:ln/>
        </p:spPr>
        <p:txBody>
          <a:bodyPr wrap="square" lIns="0" tIns="0" rIns="0" bIns="0" rtlCol="0" anchor="ctr"/>
          <a:lstStyle/>
          <a:p>
            <a:pPr marL="0" indent="0">
              <a:buNone/>
            </a:pPr>
            <a:r>
              <a:rPr lang="en-US" sz="1200" dirty="0">
                <a:solidFill>
                  <a:srgbClr val="FFFFFF"/>
                </a:solidFill>
              </a:rPr>
              <a:t>Via extensions JUnit Platform</a:t>
            </a:r>
            <a:endParaRPr lang="en-US" sz="1200" dirty="0"/>
          </a:p>
        </p:txBody>
      </p:sp>
      <p:sp>
        <p:nvSpPr>
          <p:cNvPr id="30" name="Shape 25"/>
          <p:cNvSpPr/>
          <p:nvPr/>
        </p:nvSpPr>
        <p:spPr>
          <a:xfrm>
            <a:off x="5533296" y="2940871"/>
            <a:ext cx="3383280" cy="365760"/>
          </a:xfrm>
          <a:prstGeom prst="rect">
            <a:avLst/>
          </a:prstGeom>
          <a:solidFill>
            <a:srgbClr val="1A3160"/>
          </a:solidFill>
          <a:ln w="6350">
            <a:solidFill>
              <a:srgbClr val="1E3A5F"/>
            </a:solidFill>
            <a:prstDash val="solid"/>
          </a:ln>
        </p:spPr>
      </p:sp>
      <p:sp>
        <p:nvSpPr>
          <p:cNvPr id="31" name="Text 26"/>
          <p:cNvSpPr/>
          <p:nvPr/>
        </p:nvSpPr>
        <p:spPr>
          <a:xfrm>
            <a:off x="5606448" y="2940871"/>
            <a:ext cx="3291840" cy="365760"/>
          </a:xfrm>
          <a:prstGeom prst="rect">
            <a:avLst/>
          </a:prstGeom>
          <a:noFill/>
          <a:ln/>
        </p:spPr>
        <p:txBody>
          <a:bodyPr wrap="square" lIns="0" tIns="0" rIns="0" bIns="0" rtlCol="0" anchor="ctr"/>
          <a:lstStyle/>
          <a:p>
            <a:pPr marL="0" indent="0">
              <a:buNone/>
            </a:pPr>
            <a:r>
              <a:rPr lang="en-US" sz="1200" dirty="0">
                <a:solidFill>
                  <a:srgbClr val="FFFFFF"/>
                </a:solidFill>
              </a:rPr>
              <a:t>Natif via testng.xml</a:t>
            </a:r>
            <a:endParaRPr lang="en-US" sz="1200" dirty="0"/>
          </a:p>
        </p:txBody>
      </p:sp>
      <p:sp>
        <p:nvSpPr>
          <p:cNvPr id="32" name="Shape 27"/>
          <p:cNvSpPr/>
          <p:nvPr/>
        </p:nvSpPr>
        <p:spPr>
          <a:xfrm>
            <a:off x="229776" y="3324919"/>
            <a:ext cx="1828800" cy="365760"/>
          </a:xfrm>
          <a:prstGeom prst="rect">
            <a:avLst/>
          </a:prstGeom>
          <a:solidFill>
            <a:srgbClr val="162B55"/>
          </a:solidFill>
          <a:ln w="6350">
            <a:solidFill>
              <a:srgbClr val="1E3A5F"/>
            </a:solidFill>
            <a:prstDash val="solid"/>
          </a:ln>
        </p:spPr>
      </p:sp>
      <p:sp>
        <p:nvSpPr>
          <p:cNvPr id="33" name="Text 28"/>
          <p:cNvSpPr/>
          <p:nvPr/>
        </p:nvSpPr>
        <p:spPr>
          <a:xfrm>
            <a:off x="302928" y="3324919"/>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Groupes de tests</a:t>
            </a:r>
            <a:endParaRPr lang="en-US" sz="1200" dirty="0"/>
          </a:p>
        </p:txBody>
      </p:sp>
      <p:sp>
        <p:nvSpPr>
          <p:cNvPr id="34" name="Shape 29"/>
          <p:cNvSpPr/>
          <p:nvPr/>
        </p:nvSpPr>
        <p:spPr>
          <a:xfrm>
            <a:off x="2104296" y="3324919"/>
            <a:ext cx="3383280" cy="365760"/>
          </a:xfrm>
          <a:prstGeom prst="rect">
            <a:avLst/>
          </a:prstGeom>
          <a:solidFill>
            <a:srgbClr val="162B55"/>
          </a:solidFill>
          <a:ln w="6350">
            <a:solidFill>
              <a:srgbClr val="1E3A5F"/>
            </a:solidFill>
            <a:prstDash val="solid"/>
          </a:ln>
        </p:spPr>
      </p:sp>
      <p:sp>
        <p:nvSpPr>
          <p:cNvPr id="35" name="Text 30"/>
          <p:cNvSpPr/>
          <p:nvPr/>
        </p:nvSpPr>
        <p:spPr>
          <a:xfrm>
            <a:off x="2177448" y="3324919"/>
            <a:ext cx="3291840" cy="365760"/>
          </a:xfrm>
          <a:prstGeom prst="rect">
            <a:avLst/>
          </a:prstGeom>
          <a:noFill/>
          <a:ln/>
        </p:spPr>
        <p:txBody>
          <a:bodyPr wrap="square" lIns="0" tIns="0" rIns="0" bIns="0" rtlCol="0" anchor="ctr"/>
          <a:lstStyle/>
          <a:p>
            <a:pPr marL="0" indent="0">
              <a:buNone/>
            </a:pPr>
            <a:r>
              <a:rPr lang="en-US" sz="1200" dirty="0">
                <a:solidFill>
                  <a:srgbClr val="FFFFFF"/>
                </a:solidFill>
              </a:rPr>
              <a:t>@Tag pour catégoriser</a:t>
            </a:r>
            <a:endParaRPr lang="en-US" sz="1200" dirty="0"/>
          </a:p>
        </p:txBody>
      </p:sp>
      <p:sp>
        <p:nvSpPr>
          <p:cNvPr id="36" name="Shape 31"/>
          <p:cNvSpPr/>
          <p:nvPr/>
        </p:nvSpPr>
        <p:spPr>
          <a:xfrm>
            <a:off x="5533296" y="3324919"/>
            <a:ext cx="3383280" cy="365760"/>
          </a:xfrm>
          <a:prstGeom prst="rect">
            <a:avLst/>
          </a:prstGeom>
          <a:solidFill>
            <a:srgbClr val="162B55"/>
          </a:solidFill>
          <a:ln w="6350">
            <a:solidFill>
              <a:srgbClr val="1E3A5F"/>
            </a:solidFill>
            <a:prstDash val="solid"/>
          </a:ln>
        </p:spPr>
      </p:sp>
      <p:sp>
        <p:nvSpPr>
          <p:cNvPr id="37" name="Text 32"/>
          <p:cNvSpPr/>
          <p:nvPr/>
        </p:nvSpPr>
        <p:spPr>
          <a:xfrm>
            <a:off x="5606448" y="3324919"/>
            <a:ext cx="3291840" cy="365760"/>
          </a:xfrm>
          <a:prstGeom prst="rect">
            <a:avLst/>
          </a:prstGeom>
          <a:noFill/>
          <a:ln/>
        </p:spPr>
        <p:txBody>
          <a:bodyPr wrap="square" lIns="0" tIns="0" rIns="0" bIns="0" rtlCol="0" anchor="ctr"/>
          <a:lstStyle/>
          <a:p>
            <a:pPr marL="0" indent="0">
              <a:buNone/>
            </a:pPr>
            <a:r>
              <a:rPr lang="en-US" sz="1200" dirty="0">
                <a:solidFill>
                  <a:srgbClr val="FFFFFF"/>
                </a:solidFill>
              </a:rPr>
              <a:t>@Test(groups=...) plus puissant</a:t>
            </a:r>
            <a:endParaRPr lang="en-US" sz="1200" dirty="0"/>
          </a:p>
        </p:txBody>
      </p:sp>
      <p:sp>
        <p:nvSpPr>
          <p:cNvPr id="38" name="Shape 33"/>
          <p:cNvSpPr/>
          <p:nvPr/>
        </p:nvSpPr>
        <p:spPr>
          <a:xfrm>
            <a:off x="229776" y="3708967"/>
            <a:ext cx="1828800" cy="365760"/>
          </a:xfrm>
          <a:prstGeom prst="rect">
            <a:avLst/>
          </a:prstGeom>
          <a:solidFill>
            <a:srgbClr val="1A3160"/>
          </a:solidFill>
          <a:ln w="6350">
            <a:solidFill>
              <a:srgbClr val="1E3A5F"/>
            </a:solidFill>
            <a:prstDash val="solid"/>
          </a:ln>
        </p:spPr>
      </p:sp>
      <p:sp>
        <p:nvSpPr>
          <p:cNvPr id="39" name="Text 34"/>
          <p:cNvSpPr/>
          <p:nvPr/>
        </p:nvSpPr>
        <p:spPr>
          <a:xfrm>
            <a:off x="302928" y="3708967"/>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Dépendances tests</a:t>
            </a:r>
            <a:endParaRPr lang="en-US" sz="1200" dirty="0"/>
          </a:p>
        </p:txBody>
      </p:sp>
      <p:sp>
        <p:nvSpPr>
          <p:cNvPr id="40" name="Shape 35"/>
          <p:cNvSpPr/>
          <p:nvPr/>
        </p:nvSpPr>
        <p:spPr>
          <a:xfrm>
            <a:off x="2104296" y="3708967"/>
            <a:ext cx="3383280" cy="365760"/>
          </a:xfrm>
          <a:prstGeom prst="rect">
            <a:avLst/>
          </a:prstGeom>
          <a:solidFill>
            <a:srgbClr val="1A3160"/>
          </a:solidFill>
          <a:ln w="6350">
            <a:solidFill>
              <a:srgbClr val="1E3A5F"/>
            </a:solidFill>
            <a:prstDash val="solid"/>
          </a:ln>
        </p:spPr>
      </p:sp>
      <p:sp>
        <p:nvSpPr>
          <p:cNvPr id="41" name="Text 36"/>
          <p:cNvSpPr/>
          <p:nvPr/>
        </p:nvSpPr>
        <p:spPr>
          <a:xfrm>
            <a:off x="2177448" y="3708967"/>
            <a:ext cx="3291840" cy="365760"/>
          </a:xfrm>
          <a:prstGeom prst="rect">
            <a:avLst/>
          </a:prstGeom>
          <a:noFill/>
          <a:ln/>
        </p:spPr>
        <p:txBody>
          <a:bodyPr wrap="square" lIns="0" tIns="0" rIns="0" bIns="0" rtlCol="0" anchor="ctr"/>
          <a:lstStyle/>
          <a:p>
            <a:pPr marL="0" indent="0">
              <a:buNone/>
            </a:pPr>
            <a:r>
              <a:rPr lang="en-US" sz="1200" dirty="0">
                <a:solidFill>
                  <a:srgbClr val="FFFFFF"/>
                </a:solidFill>
              </a:rPr>
              <a:t>Non supporté nativement</a:t>
            </a:r>
            <a:endParaRPr lang="en-US" sz="1200" dirty="0"/>
          </a:p>
        </p:txBody>
      </p:sp>
      <p:sp>
        <p:nvSpPr>
          <p:cNvPr id="42" name="Shape 37"/>
          <p:cNvSpPr/>
          <p:nvPr/>
        </p:nvSpPr>
        <p:spPr>
          <a:xfrm>
            <a:off x="5533296" y="3708967"/>
            <a:ext cx="3383280" cy="365760"/>
          </a:xfrm>
          <a:prstGeom prst="rect">
            <a:avLst/>
          </a:prstGeom>
          <a:solidFill>
            <a:srgbClr val="1A3160"/>
          </a:solidFill>
          <a:ln w="6350">
            <a:solidFill>
              <a:srgbClr val="1E3A5F"/>
            </a:solidFill>
            <a:prstDash val="solid"/>
          </a:ln>
        </p:spPr>
      </p:sp>
      <p:sp>
        <p:nvSpPr>
          <p:cNvPr id="43" name="Text 38"/>
          <p:cNvSpPr/>
          <p:nvPr/>
        </p:nvSpPr>
        <p:spPr>
          <a:xfrm>
            <a:off x="5606448" y="3708967"/>
            <a:ext cx="3291840" cy="365760"/>
          </a:xfrm>
          <a:prstGeom prst="rect">
            <a:avLst/>
          </a:prstGeom>
          <a:noFill/>
          <a:ln/>
        </p:spPr>
        <p:txBody>
          <a:bodyPr wrap="square" lIns="0" tIns="0" rIns="0" bIns="0" rtlCol="0" anchor="ctr"/>
          <a:lstStyle/>
          <a:p>
            <a:pPr marL="0" indent="0">
              <a:buNone/>
            </a:pPr>
            <a:r>
              <a:rPr lang="en-US" sz="1200" dirty="0">
                <a:solidFill>
                  <a:srgbClr val="FFFFFF"/>
                </a:solidFill>
              </a:rPr>
              <a:t>@Test(dependsOnMethods=...)</a:t>
            </a:r>
            <a:endParaRPr lang="en-US" sz="1200" dirty="0"/>
          </a:p>
        </p:txBody>
      </p:sp>
      <p:sp>
        <p:nvSpPr>
          <p:cNvPr id="44" name="Shape 39"/>
          <p:cNvSpPr/>
          <p:nvPr/>
        </p:nvSpPr>
        <p:spPr>
          <a:xfrm>
            <a:off x="229776" y="4093015"/>
            <a:ext cx="1828800" cy="365760"/>
          </a:xfrm>
          <a:prstGeom prst="rect">
            <a:avLst/>
          </a:prstGeom>
          <a:solidFill>
            <a:srgbClr val="162B55"/>
          </a:solidFill>
          <a:ln w="6350">
            <a:solidFill>
              <a:srgbClr val="1E3A5F"/>
            </a:solidFill>
            <a:prstDash val="solid"/>
          </a:ln>
        </p:spPr>
      </p:sp>
      <p:sp>
        <p:nvSpPr>
          <p:cNvPr id="45" name="Text 40"/>
          <p:cNvSpPr/>
          <p:nvPr/>
        </p:nvSpPr>
        <p:spPr>
          <a:xfrm>
            <a:off x="302928" y="4093015"/>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Intégration Spring</a:t>
            </a:r>
            <a:endParaRPr lang="en-US" sz="1200" dirty="0"/>
          </a:p>
        </p:txBody>
      </p:sp>
      <p:sp>
        <p:nvSpPr>
          <p:cNvPr id="46" name="Shape 41"/>
          <p:cNvSpPr/>
          <p:nvPr/>
        </p:nvSpPr>
        <p:spPr>
          <a:xfrm>
            <a:off x="2104296" y="4093015"/>
            <a:ext cx="3383280" cy="365760"/>
          </a:xfrm>
          <a:prstGeom prst="rect">
            <a:avLst/>
          </a:prstGeom>
          <a:solidFill>
            <a:srgbClr val="162B55"/>
          </a:solidFill>
          <a:ln w="6350">
            <a:solidFill>
              <a:srgbClr val="1E3A5F"/>
            </a:solidFill>
            <a:prstDash val="solid"/>
          </a:ln>
        </p:spPr>
      </p:sp>
      <p:sp>
        <p:nvSpPr>
          <p:cNvPr id="47" name="Text 42"/>
          <p:cNvSpPr/>
          <p:nvPr/>
        </p:nvSpPr>
        <p:spPr>
          <a:xfrm>
            <a:off x="2177448" y="4093015"/>
            <a:ext cx="3291840" cy="365760"/>
          </a:xfrm>
          <a:prstGeom prst="rect">
            <a:avLst/>
          </a:prstGeom>
          <a:noFill/>
          <a:ln/>
        </p:spPr>
        <p:txBody>
          <a:bodyPr wrap="square" lIns="0" tIns="0" rIns="0" bIns="0" rtlCol="0" anchor="ctr"/>
          <a:lstStyle/>
          <a:p>
            <a:pPr marL="0" indent="0">
              <a:buNone/>
            </a:pPr>
            <a:r>
              <a:rPr lang="en-US" sz="1200" dirty="0">
                <a:solidFill>
                  <a:srgbClr val="FFFFFF"/>
                </a:solidFill>
              </a:rPr>
              <a:t>Excellente (Spring Boot Test)</a:t>
            </a:r>
            <a:endParaRPr lang="en-US" sz="1200" dirty="0"/>
          </a:p>
        </p:txBody>
      </p:sp>
      <p:sp>
        <p:nvSpPr>
          <p:cNvPr id="48" name="Shape 43"/>
          <p:cNvSpPr/>
          <p:nvPr/>
        </p:nvSpPr>
        <p:spPr>
          <a:xfrm>
            <a:off x="5533296" y="4093015"/>
            <a:ext cx="3383280" cy="365760"/>
          </a:xfrm>
          <a:prstGeom prst="rect">
            <a:avLst/>
          </a:prstGeom>
          <a:solidFill>
            <a:srgbClr val="162B55"/>
          </a:solidFill>
          <a:ln w="6350">
            <a:solidFill>
              <a:srgbClr val="1E3A5F"/>
            </a:solidFill>
            <a:prstDash val="solid"/>
          </a:ln>
        </p:spPr>
      </p:sp>
      <p:sp>
        <p:nvSpPr>
          <p:cNvPr id="49" name="Text 44"/>
          <p:cNvSpPr/>
          <p:nvPr/>
        </p:nvSpPr>
        <p:spPr>
          <a:xfrm>
            <a:off x="5606448" y="4093015"/>
            <a:ext cx="3291840" cy="365760"/>
          </a:xfrm>
          <a:prstGeom prst="rect">
            <a:avLst/>
          </a:prstGeom>
          <a:noFill/>
          <a:ln/>
        </p:spPr>
        <p:txBody>
          <a:bodyPr wrap="square" lIns="0" tIns="0" rIns="0" bIns="0" rtlCol="0" anchor="ctr"/>
          <a:lstStyle/>
          <a:p>
            <a:pPr marL="0" indent="0">
              <a:buNone/>
            </a:pPr>
            <a:r>
              <a:rPr lang="en-US" sz="1200" dirty="0">
                <a:solidFill>
                  <a:srgbClr val="FFFFFF"/>
                </a:solidFill>
              </a:rPr>
              <a:t>Bonne mais moins naturelle</a:t>
            </a:r>
            <a:endParaRPr lang="en-US" sz="1200" dirty="0"/>
          </a:p>
        </p:txBody>
      </p:sp>
      <p:sp>
        <p:nvSpPr>
          <p:cNvPr id="50" name="Shape 45"/>
          <p:cNvSpPr/>
          <p:nvPr/>
        </p:nvSpPr>
        <p:spPr>
          <a:xfrm>
            <a:off x="229776" y="4477063"/>
            <a:ext cx="1828800" cy="365760"/>
          </a:xfrm>
          <a:prstGeom prst="rect">
            <a:avLst/>
          </a:prstGeom>
          <a:solidFill>
            <a:srgbClr val="1A3160"/>
          </a:solidFill>
          <a:ln w="6350">
            <a:solidFill>
              <a:srgbClr val="1E3A5F"/>
            </a:solidFill>
            <a:prstDash val="solid"/>
          </a:ln>
        </p:spPr>
      </p:sp>
      <p:sp>
        <p:nvSpPr>
          <p:cNvPr id="51" name="Text 46"/>
          <p:cNvSpPr/>
          <p:nvPr/>
        </p:nvSpPr>
        <p:spPr>
          <a:xfrm>
            <a:off x="302928" y="4477063"/>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Config XML</a:t>
            </a:r>
            <a:endParaRPr lang="en-US" sz="1200" dirty="0"/>
          </a:p>
        </p:txBody>
      </p:sp>
      <p:sp>
        <p:nvSpPr>
          <p:cNvPr id="52" name="Shape 47"/>
          <p:cNvSpPr/>
          <p:nvPr/>
        </p:nvSpPr>
        <p:spPr>
          <a:xfrm>
            <a:off x="2104296" y="4477063"/>
            <a:ext cx="3383280" cy="365760"/>
          </a:xfrm>
          <a:prstGeom prst="rect">
            <a:avLst/>
          </a:prstGeom>
          <a:solidFill>
            <a:srgbClr val="1A3160"/>
          </a:solidFill>
          <a:ln w="6350">
            <a:solidFill>
              <a:srgbClr val="1E3A5F"/>
            </a:solidFill>
            <a:prstDash val="solid"/>
          </a:ln>
        </p:spPr>
      </p:sp>
      <p:sp>
        <p:nvSpPr>
          <p:cNvPr id="53" name="Text 48"/>
          <p:cNvSpPr/>
          <p:nvPr/>
        </p:nvSpPr>
        <p:spPr>
          <a:xfrm>
            <a:off x="2177448" y="4477063"/>
            <a:ext cx="3291840" cy="365760"/>
          </a:xfrm>
          <a:prstGeom prst="rect">
            <a:avLst/>
          </a:prstGeom>
          <a:noFill/>
          <a:ln/>
        </p:spPr>
        <p:txBody>
          <a:bodyPr wrap="square" lIns="0" tIns="0" rIns="0" bIns="0" rtlCol="0" anchor="ctr"/>
          <a:lstStyle/>
          <a:p>
            <a:pPr marL="0" indent="0">
              <a:buNone/>
            </a:pPr>
            <a:r>
              <a:rPr lang="en-US" sz="1200" dirty="0">
                <a:solidFill>
                  <a:srgbClr val="FFFFFF"/>
                </a:solidFill>
              </a:rPr>
              <a:t>Non (Maven/Gradle)</a:t>
            </a:r>
            <a:endParaRPr lang="en-US" sz="1200" dirty="0"/>
          </a:p>
        </p:txBody>
      </p:sp>
      <p:sp>
        <p:nvSpPr>
          <p:cNvPr id="54" name="Shape 49"/>
          <p:cNvSpPr/>
          <p:nvPr/>
        </p:nvSpPr>
        <p:spPr>
          <a:xfrm>
            <a:off x="5533296" y="4477063"/>
            <a:ext cx="3383280" cy="365760"/>
          </a:xfrm>
          <a:prstGeom prst="rect">
            <a:avLst/>
          </a:prstGeom>
          <a:solidFill>
            <a:srgbClr val="1A3160"/>
          </a:solidFill>
          <a:ln w="6350">
            <a:solidFill>
              <a:srgbClr val="1E3A5F"/>
            </a:solidFill>
            <a:prstDash val="solid"/>
          </a:ln>
        </p:spPr>
      </p:sp>
      <p:sp>
        <p:nvSpPr>
          <p:cNvPr id="55" name="Text 50"/>
          <p:cNvSpPr/>
          <p:nvPr/>
        </p:nvSpPr>
        <p:spPr>
          <a:xfrm>
            <a:off x="5606448" y="4477063"/>
            <a:ext cx="3291840" cy="365760"/>
          </a:xfrm>
          <a:prstGeom prst="rect">
            <a:avLst/>
          </a:prstGeom>
          <a:noFill/>
          <a:ln/>
        </p:spPr>
        <p:txBody>
          <a:bodyPr wrap="square" lIns="0" tIns="0" rIns="0" bIns="0" rtlCol="0" anchor="ctr"/>
          <a:lstStyle/>
          <a:p>
            <a:pPr marL="0" indent="0">
              <a:buNone/>
            </a:pPr>
            <a:r>
              <a:rPr lang="en-US" sz="1200" dirty="0">
                <a:solidFill>
                  <a:srgbClr val="FFFFFF"/>
                </a:solidFill>
              </a:rPr>
              <a:t>testng.xml très flexible</a:t>
            </a:r>
            <a:endParaRPr lang="en-US" sz="1200" dirty="0"/>
          </a:p>
        </p:txBody>
      </p:sp>
      <p:sp>
        <p:nvSpPr>
          <p:cNvPr id="56" name="Shape 51"/>
          <p:cNvSpPr/>
          <p:nvPr/>
        </p:nvSpPr>
        <p:spPr>
          <a:xfrm>
            <a:off x="229776" y="4861111"/>
            <a:ext cx="1828800" cy="365760"/>
          </a:xfrm>
          <a:prstGeom prst="rect">
            <a:avLst/>
          </a:prstGeom>
          <a:solidFill>
            <a:srgbClr val="162B55"/>
          </a:solidFill>
          <a:ln w="6350">
            <a:solidFill>
              <a:srgbClr val="1E3A5F"/>
            </a:solidFill>
            <a:prstDash val="solid"/>
          </a:ln>
        </p:spPr>
      </p:sp>
      <p:sp>
        <p:nvSpPr>
          <p:cNvPr id="57" name="Text 52"/>
          <p:cNvSpPr/>
          <p:nvPr/>
        </p:nvSpPr>
        <p:spPr>
          <a:xfrm>
            <a:off x="302928" y="4861111"/>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Extensions</a:t>
            </a:r>
            <a:endParaRPr lang="en-US" sz="1200" dirty="0"/>
          </a:p>
        </p:txBody>
      </p:sp>
      <p:sp>
        <p:nvSpPr>
          <p:cNvPr id="58" name="Shape 53"/>
          <p:cNvSpPr/>
          <p:nvPr/>
        </p:nvSpPr>
        <p:spPr>
          <a:xfrm>
            <a:off x="2104296" y="4861111"/>
            <a:ext cx="3383280" cy="365760"/>
          </a:xfrm>
          <a:prstGeom prst="rect">
            <a:avLst/>
          </a:prstGeom>
          <a:solidFill>
            <a:srgbClr val="162B55"/>
          </a:solidFill>
          <a:ln w="6350">
            <a:solidFill>
              <a:srgbClr val="1E3A5F"/>
            </a:solidFill>
            <a:prstDash val="solid"/>
          </a:ln>
        </p:spPr>
      </p:sp>
      <p:sp>
        <p:nvSpPr>
          <p:cNvPr id="59" name="Text 54"/>
          <p:cNvSpPr/>
          <p:nvPr/>
        </p:nvSpPr>
        <p:spPr>
          <a:xfrm>
            <a:off x="2177448" y="4861111"/>
            <a:ext cx="3291840" cy="365760"/>
          </a:xfrm>
          <a:prstGeom prst="rect">
            <a:avLst/>
          </a:prstGeom>
          <a:noFill/>
          <a:ln/>
        </p:spPr>
        <p:txBody>
          <a:bodyPr wrap="square" lIns="0" tIns="0" rIns="0" bIns="0" rtlCol="0" anchor="ctr"/>
          <a:lstStyle/>
          <a:p>
            <a:pPr marL="0" indent="0">
              <a:buNone/>
            </a:pPr>
            <a:r>
              <a:rPr lang="en-US" sz="1200" dirty="0">
                <a:solidFill>
                  <a:srgbClr val="FFFFFF"/>
                </a:solidFill>
              </a:rPr>
              <a:t>Système JUnit Extension</a:t>
            </a:r>
            <a:endParaRPr lang="en-US" sz="1200" dirty="0"/>
          </a:p>
        </p:txBody>
      </p:sp>
      <p:sp>
        <p:nvSpPr>
          <p:cNvPr id="60" name="Shape 55"/>
          <p:cNvSpPr/>
          <p:nvPr/>
        </p:nvSpPr>
        <p:spPr>
          <a:xfrm>
            <a:off x="5533296" y="4861111"/>
            <a:ext cx="3383280" cy="365760"/>
          </a:xfrm>
          <a:prstGeom prst="rect">
            <a:avLst/>
          </a:prstGeom>
          <a:solidFill>
            <a:srgbClr val="162B55"/>
          </a:solidFill>
          <a:ln w="6350">
            <a:solidFill>
              <a:srgbClr val="1E3A5F"/>
            </a:solidFill>
            <a:prstDash val="solid"/>
          </a:ln>
        </p:spPr>
      </p:sp>
      <p:sp>
        <p:nvSpPr>
          <p:cNvPr id="61" name="Text 56"/>
          <p:cNvSpPr/>
          <p:nvPr/>
        </p:nvSpPr>
        <p:spPr>
          <a:xfrm>
            <a:off x="5606448" y="4861111"/>
            <a:ext cx="3291840" cy="365760"/>
          </a:xfrm>
          <a:prstGeom prst="rect">
            <a:avLst/>
          </a:prstGeom>
          <a:noFill/>
          <a:ln/>
        </p:spPr>
        <p:txBody>
          <a:bodyPr wrap="square" lIns="0" tIns="0" rIns="0" bIns="0" rtlCol="0" anchor="ctr"/>
          <a:lstStyle/>
          <a:p>
            <a:pPr marL="0" indent="0">
              <a:buNone/>
            </a:pPr>
            <a:r>
              <a:rPr lang="en-US" sz="1200" dirty="0">
                <a:solidFill>
                  <a:srgbClr val="FFFFFF"/>
                </a:solidFill>
              </a:rPr>
              <a:t>Listeners &amp; ITestListener</a:t>
            </a:r>
            <a:endParaRPr lang="en-US" sz="1200" dirty="0"/>
          </a:p>
        </p:txBody>
      </p:sp>
      <p:sp>
        <p:nvSpPr>
          <p:cNvPr id="62" name="Shape 57"/>
          <p:cNvSpPr/>
          <p:nvPr/>
        </p:nvSpPr>
        <p:spPr>
          <a:xfrm>
            <a:off x="229776" y="5245159"/>
            <a:ext cx="1828800" cy="365760"/>
          </a:xfrm>
          <a:prstGeom prst="rect">
            <a:avLst/>
          </a:prstGeom>
          <a:solidFill>
            <a:srgbClr val="1A3160"/>
          </a:solidFill>
          <a:ln w="6350">
            <a:solidFill>
              <a:srgbClr val="1E3A5F"/>
            </a:solidFill>
            <a:prstDash val="solid"/>
          </a:ln>
        </p:spPr>
      </p:sp>
      <p:sp>
        <p:nvSpPr>
          <p:cNvPr id="63" name="Text 58"/>
          <p:cNvSpPr/>
          <p:nvPr/>
        </p:nvSpPr>
        <p:spPr>
          <a:xfrm>
            <a:off x="302928" y="5245159"/>
            <a:ext cx="1737360" cy="365760"/>
          </a:xfrm>
          <a:prstGeom prst="rect">
            <a:avLst/>
          </a:prstGeom>
          <a:noFill/>
          <a:ln/>
        </p:spPr>
        <p:txBody>
          <a:bodyPr wrap="square" lIns="0" tIns="0" rIns="0" bIns="0" rtlCol="0" anchor="ctr"/>
          <a:lstStyle/>
          <a:p>
            <a:pPr marL="0" indent="0">
              <a:buNone/>
            </a:pPr>
            <a:r>
              <a:rPr lang="en-US" sz="1200" b="1" dirty="0">
                <a:solidFill>
                  <a:srgbClr val="D0D8E8"/>
                </a:solidFill>
              </a:rPr>
              <a:t>Recommandé pour</a:t>
            </a:r>
            <a:endParaRPr lang="en-US" sz="1200" dirty="0"/>
          </a:p>
        </p:txBody>
      </p:sp>
      <p:sp>
        <p:nvSpPr>
          <p:cNvPr id="64" name="Shape 59"/>
          <p:cNvSpPr/>
          <p:nvPr/>
        </p:nvSpPr>
        <p:spPr>
          <a:xfrm>
            <a:off x="2104296" y="5245159"/>
            <a:ext cx="3383280" cy="365760"/>
          </a:xfrm>
          <a:prstGeom prst="rect">
            <a:avLst/>
          </a:prstGeom>
          <a:solidFill>
            <a:srgbClr val="1A3160"/>
          </a:solidFill>
          <a:ln w="6350">
            <a:solidFill>
              <a:srgbClr val="1E3A5F"/>
            </a:solidFill>
            <a:prstDash val="solid"/>
          </a:ln>
        </p:spPr>
      </p:sp>
      <p:sp>
        <p:nvSpPr>
          <p:cNvPr id="65" name="Text 60"/>
          <p:cNvSpPr/>
          <p:nvPr/>
        </p:nvSpPr>
        <p:spPr>
          <a:xfrm>
            <a:off x="2177448" y="5245159"/>
            <a:ext cx="3291840" cy="365760"/>
          </a:xfrm>
          <a:prstGeom prst="rect">
            <a:avLst/>
          </a:prstGeom>
          <a:noFill/>
          <a:ln/>
        </p:spPr>
        <p:txBody>
          <a:bodyPr wrap="square" lIns="0" tIns="0" rIns="0" bIns="0" rtlCol="0" anchor="ctr"/>
          <a:lstStyle/>
          <a:p>
            <a:pPr marL="0" indent="0">
              <a:buNone/>
            </a:pPr>
            <a:r>
              <a:rPr lang="en-US" sz="1200" dirty="0">
                <a:solidFill>
                  <a:srgbClr val="FFFFFF"/>
                </a:solidFill>
              </a:rPr>
              <a:t>Projets Spring, APIs, microservices</a:t>
            </a:r>
            <a:endParaRPr lang="en-US" sz="1200" dirty="0"/>
          </a:p>
        </p:txBody>
      </p:sp>
      <p:sp>
        <p:nvSpPr>
          <p:cNvPr id="66" name="Shape 61"/>
          <p:cNvSpPr/>
          <p:nvPr/>
        </p:nvSpPr>
        <p:spPr>
          <a:xfrm>
            <a:off x="5533296" y="5245159"/>
            <a:ext cx="3383280" cy="365760"/>
          </a:xfrm>
          <a:prstGeom prst="rect">
            <a:avLst/>
          </a:prstGeom>
          <a:solidFill>
            <a:srgbClr val="1A3160"/>
          </a:solidFill>
          <a:ln w="6350">
            <a:solidFill>
              <a:srgbClr val="1E3A5F"/>
            </a:solidFill>
            <a:prstDash val="solid"/>
          </a:ln>
        </p:spPr>
      </p:sp>
      <p:sp>
        <p:nvSpPr>
          <p:cNvPr id="67" name="Text 62"/>
          <p:cNvSpPr/>
          <p:nvPr/>
        </p:nvSpPr>
        <p:spPr>
          <a:xfrm>
            <a:off x="5606448" y="5245159"/>
            <a:ext cx="3291840" cy="365760"/>
          </a:xfrm>
          <a:prstGeom prst="rect">
            <a:avLst/>
          </a:prstGeom>
          <a:noFill/>
          <a:ln/>
        </p:spPr>
        <p:txBody>
          <a:bodyPr wrap="square" lIns="0" tIns="0" rIns="0" bIns="0" rtlCol="0" anchor="ctr"/>
          <a:lstStyle/>
          <a:p>
            <a:pPr marL="0" indent="0">
              <a:buNone/>
            </a:pPr>
            <a:r>
              <a:rPr lang="en-US" sz="1200" dirty="0">
                <a:solidFill>
                  <a:srgbClr val="FFFFFF"/>
                </a:solidFill>
              </a:rPr>
              <a:t>Tests complexes, parallelisme fort</a:t>
            </a:r>
            <a:endParaRPr lang="en-US" sz="1200" dirty="0"/>
          </a:p>
        </p:txBody>
      </p:sp>
      <p:sp>
        <p:nvSpPr>
          <p:cNvPr id="68"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2"/>
            </a:pPr>
            <a:r>
              <a:rPr lang="fr-CI" sz="2400" dirty="0" smtClean="0">
                <a:solidFill>
                  <a:srgbClr val="FF0000"/>
                </a:solidFill>
              </a:rPr>
              <a:t>FRAMEWORK DE TESTS</a:t>
            </a:r>
            <a:endParaRPr lang="fr-CI" sz="2400" noProof="0" dirty="0">
              <a:solidFill>
                <a:srgbClr val="FF0000"/>
              </a:solidFill>
            </a:endParaRPr>
          </a:p>
        </p:txBody>
      </p:sp>
    </p:spTree>
    <p:extLst>
      <p:ext uri="{BB962C8B-B14F-4D97-AF65-F5344CB8AC3E}">
        <p14:creationId xmlns:p14="http://schemas.microsoft.com/office/powerpoint/2010/main" val="2978377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3"/>
            </a:pPr>
            <a:r>
              <a:rPr lang="fr-CI" sz="2400" dirty="0">
                <a:solidFill>
                  <a:srgbClr val="FF0000"/>
                </a:solidFill>
              </a:rPr>
              <a:t>FRAMEWORKS D’ASSERTIONS</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3"/>
          <p:cNvSpPr/>
          <p:nvPr/>
        </p:nvSpPr>
        <p:spPr>
          <a:xfrm>
            <a:off x="251521" y="1350060"/>
            <a:ext cx="8497192" cy="891640"/>
          </a:xfrm>
          <a:prstGeom prst="rect">
            <a:avLst/>
          </a:prstGeom>
          <a:noFill/>
          <a:ln/>
        </p:spPr>
        <p:txBody>
          <a:bodyPr wrap="square" lIns="0" tIns="0" rIns="0" bIns="0" rtlCol="0" anchor="ctr"/>
          <a:lstStyle/>
          <a:p>
            <a:pPr marL="0" indent="0" algn="just">
              <a:buNone/>
            </a:pPr>
            <a:r>
              <a:rPr lang="en-US" dirty="0">
                <a:latin typeface="Times New Roman" panose="02020603050405020304" pitchFamily="18" charset="0"/>
                <a:ea typeface="Calibri" pitchFamily="34" charset="-122"/>
                <a:cs typeface="Times New Roman" panose="02020603050405020304" pitchFamily="18" charset="0"/>
              </a:rPr>
              <a:t>Une assertion vérifie qu'une condition est vraie pendant l'exécution du test. Si elle échoue, le test est marqué FAIL</a:t>
            </a:r>
            <a:r>
              <a:rPr lang="en-US" dirty="0">
                <a:solidFill>
                  <a:srgbClr val="64748B"/>
                </a:solidFill>
                <a:latin typeface="Times New Roman" panose="02020603050405020304" pitchFamily="18" charset="0"/>
                <a:ea typeface="Calibri"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Shape 4"/>
          <p:cNvSpPr/>
          <p:nvPr/>
        </p:nvSpPr>
        <p:spPr>
          <a:xfrm>
            <a:off x="251520" y="2498849"/>
            <a:ext cx="3840480" cy="384048"/>
          </a:xfrm>
          <a:prstGeom prst="rect">
            <a:avLst/>
          </a:prstGeom>
          <a:solidFill>
            <a:srgbClr val="0D1B2A"/>
          </a:solidFill>
          <a:ln/>
        </p:spPr>
      </p:sp>
      <p:sp>
        <p:nvSpPr>
          <p:cNvPr id="9" name="Text 5"/>
          <p:cNvSpPr/>
          <p:nvPr/>
        </p:nvSpPr>
        <p:spPr>
          <a:xfrm>
            <a:off x="342960" y="25171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assertEquals(a, b)</a:t>
            </a:r>
            <a:endParaRPr lang="en-US" dirty="0">
              <a:latin typeface="Times New Roman" panose="02020603050405020304" pitchFamily="18" charset="0"/>
              <a:cs typeface="Times New Roman" panose="02020603050405020304" pitchFamily="18" charset="0"/>
            </a:endParaRPr>
          </a:p>
        </p:txBody>
      </p:sp>
      <p:sp>
        <p:nvSpPr>
          <p:cNvPr id="11" name="Text 6"/>
          <p:cNvSpPr/>
          <p:nvPr/>
        </p:nvSpPr>
        <p:spPr>
          <a:xfrm>
            <a:off x="4183440" y="25537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l'égalité entre deux valeurs</a:t>
            </a:r>
            <a:endParaRPr lang="en-US" dirty="0">
              <a:latin typeface="Times New Roman" panose="02020603050405020304" pitchFamily="18" charset="0"/>
              <a:cs typeface="Times New Roman" panose="02020603050405020304" pitchFamily="18" charset="0"/>
            </a:endParaRPr>
          </a:p>
        </p:txBody>
      </p:sp>
      <p:sp>
        <p:nvSpPr>
          <p:cNvPr id="12" name="Shape 7"/>
          <p:cNvSpPr/>
          <p:nvPr/>
        </p:nvSpPr>
        <p:spPr>
          <a:xfrm>
            <a:off x="251520" y="2956049"/>
            <a:ext cx="3840480" cy="384048"/>
          </a:xfrm>
          <a:prstGeom prst="rect">
            <a:avLst/>
          </a:prstGeom>
          <a:solidFill>
            <a:srgbClr val="0D1B2A"/>
          </a:solidFill>
          <a:ln/>
        </p:spPr>
      </p:sp>
      <p:sp>
        <p:nvSpPr>
          <p:cNvPr id="13" name="Text 8"/>
          <p:cNvSpPr/>
          <p:nvPr/>
        </p:nvSpPr>
        <p:spPr>
          <a:xfrm>
            <a:off x="342960" y="29743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assertNotEquals(a, b)</a:t>
            </a:r>
            <a:endParaRPr lang="en-US" dirty="0">
              <a:latin typeface="Times New Roman" panose="02020603050405020304" pitchFamily="18" charset="0"/>
              <a:cs typeface="Times New Roman" panose="02020603050405020304" pitchFamily="18" charset="0"/>
            </a:endParaRPr>
          </a:p>
        </p:txBody>
      </p:sp>
      <p:sp>
        <p:nvSpPr>
          <p:cNvPr id="14" name="Text 9"/>
          <p:cNvSpPr/>
          <p:nvPr/>
        </p:nvSpPr>
        <p:spPr>
          <a:xfrm>
            <a:off x="4183440" y="30109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la non-égalité</a:t>
            </a:r>
            <a:endParaRPr lang="en-US" dirty="0">
              <a:latin typeface="Times New Roman" panose="02020603050405020304" pitchFamily="18" charset="0"/>
              <a:cs typeface="Times New Roman" panose="02020603050405020304" pitchFamily="18" charset="0"/>
            </a:endParaRPr>
          </a:p>
        </p:txBody>
      </p:sp>
      <p:sp>
        <p:nvSpPr>
          <p:cNvPr id="15" name="Shape 10"/>
          <p:cNvSpPr/>
          <p:nvPr/>
        </p:nvSpPr>
        <p:spPr>
          <a:xfrm>
            <a:off x="251520" y="3413249"/>
            <a:ext cx="3840480" cy="384048"/>
          </a:xfrm>
          <a:prstGeom prst="rect">
            <a:avLst/>
          </a:prstGeom>
          <a:solidFill>
            <a:srgbClr val="0D1B2A"/>
          </a:solidFill>
          <a:ln/>
        </p:spPr>
      </p:sp>
      <p:sp>
        <p:nvSpPr>
          <p:cNvPr id="16" name="Text 11"/>
          <p:cNvSpPr/>
          <p:nvPr/>
        </p:nvSpPr>
        <p:spPr>
          <a:xfrm>
            <a:off x="342960" y="34315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assertTrue(cond)</a:t>
            </a:r>
            <a:endParaRPr lang="en-US" dirty="0">
              <a:latin typeface="Times New Roman" panose="02020603050405020304" pitchFamily="18" charset="0"/>
              <a:cs typeface="Times New Roman" panose="02020603050405020304" pitchFamily="18" charset="0"/>
            </a:endParaRPr>
          </a:p>
        </p:txBody>
      </p:sp>
      <p:sp>
        <p:nvSpPr>
          <p:cNvPr id="17" name="Text 12"/>
          <p:cNvSpPr/>
          <p:nvPr/>
        </p:nvSpPr>
        <p:spPr>
          <a:xfrm>
            <a:off x="4183440" y="34681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qu'une condition est vraie</a:t>
            </a:r>
            <a:endParaRPr lang="en-US" dirty="0">
              <a:latin typeface="Times New Roman" panose="02020603050405020304" pitchFamily="18" charset="0"/>
              <a:cs typeface="Times New Roman" panose="02020603050405020304" pitchFamily="18" charset="0"/>
            </a:endParaRPr>
          </a:p>
        </p:txBody>
      </p:sp>
      <p:sp>
        <p:nvSpPr>
          <p:cNvPr id="18" name="Shape 13"/>
          <p:cNvSpPr/>
          <p:nvPr/>
        </p:nvSpPr>
        <p:spPr>
          <a:xfrm>
            <a:off x="251520" y="3870449"/>
            <a:ext cx="3840480" cy="384048"/>
          </a:xfrm>
          <a:prstGeom prst="rect">
            <a:avLst/>
          </a:prstGeom>
          <a:solidFill>
            <a:srgbClr val="0D1B2A"/>
          </a:solidFill>
          <a:ln/>
        </p:spPr>
      </p:sp>
      <p:sp>
        <p:nvSpPr>
          <p:cNvPr id="19" name="Text 14"/>
          <p:cNvSpPr/>
          <p:nvPr/>
        </p:nvSpPr>
        <p:spPr>
          <a:xfrm>
            <a:off x="342960" y="38887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assertFalse(cond)</a:t>
            </a:r>
            <a:endParaRPr lang="en-US" dirty="0">
              <a:latin typeface="Times New Roman" panose="02020603050405020304" pitchFamily="18" charset="0"/>
              <a:cs typeface="Times New Roman" panose="02020603050405020304" pitchFamily="18" charset="0"/>
            </a:endParaRPr>
          </a:p>
        </p:txBody>
      </p:sp>
      <p:sp>
        <p:nvSpPr>
          <p:cNvPr id="20" name="Text 15"/>
          <p:cNvSpPr/>
          <p:nvPr/>
        </p:nvSpPr>
        <p:spPr>
          <a:xfrm>
            <a:off x="4183440" y="39253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qu'une condition est fausse</a:t>
            </a:r>
            <a:endParaRPr lang="en-US" dirty="0">
              <a:latin typeface="Times New Roman" panose="02020603050405020304" pitchFamily="18" charset="0"/>
              <a:cs typeface="Times New Roman" panose="02020603050405020304" pitchFamily="18" charset="0"/>
            </a:endParaRPr>
          </a:p>
        </p:txBody>
      </p:sp>
      <p:sp>
        <p:nvSpPr>
          <p:cNvPr id="21" name="Shape 16"/>
          <p:cNvSpPr/>
          <p:nvPr/>
        </p:nvSpPr>
        <p:spPr>
          <a:xfrm>
            <a:off x="251520" y="4327649"/>
            <a:ext cx="3840480" cy="384048"/>
          </a:xfrm>
          <a:prstGeom prst="rect">
            <a:avLst/>
          </a:prstGeom>
          <a:solidFill>
            <a:srgbClr val="0D1B2A"/>
          </a:solidFill>
          <a:ln/>
        </p:spPr>
      </p:sp>
      <p:sp>
        <p:nvSpPr>
          <p:cNvPr id="22" name="Text 17"/>
          <p:cNvSpPr/>
          <p:nvPr/>
        </p:nvSpPr>
        <p:spPr>
          <a:xfrm>
            <a:off x="342960" y="43459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assertNull(obj)</a:t>
            </a:r>
            <a:endParaRPr lang="en-US" dirty="0">
              <a:latin typeface="Times New Roman" panose="02020603050405020304" pitchFamily="18" charset="0"/>
              <a:cs typeface="Times New Roman" panose="02020603050405020304" pitchFamily="18" charset="0"/>
            </a:endParaRPr>
          </a:p>
        </p:txBody>
      </p:sp>
      <p:sp>
        <p:nvSpPr>
          <p:cNvPr id="23" name="Text 18"/>
          <p:cNvSpPr/>
          <p:nvPr/>
        </p:nvSpPr>
        <p:spPr>
          <a:xfrm>
            <a:off x="4183440" y="43825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qu'un objet est null</a:t>
            </a:r>
            <a:endParaRPr lang="en-US" dirty="0">
              <a:latin typeface="Times New Roman" panose="02020603050405020304" pitchFamily="18" charset="0"/>
              <a:cs typeface="Times New Roman" panose="02020603050405020304" pitchFamily="18" charset="0"/>
            </a:endParaRPr>
          </a:p>
        </p:txBody>
      </p:sp>
      <p:sp>
        <p:nvSpPr>
          <p:cNvPr id="24" name="Shape 19"/>
          <p:cNvSpPr/>
          <p:nvPr/>
        </p:nvSpPr>
        <p:spPr>
          <a:xfrm>
            <a:off x="251520" y="4784849"/>
            <a:ext cx="3840480" cy="384048"/>
          </a:xfrm>
          <a:prstGeom prst="rect">
            <a:avLst/>
          </a:prstGeom>
          <a:solidFill>
            <a:srgbClr val="0D1B2A"/>
          </a:solidFill>
          <a:ln/>
        </p:spPr>
      </p:sp>
      <p:sp>
        <p:nvSpPr>
          <p:cNvPr id="25" name="Text 20"/>
          <p:cNvSpPr/>
          <p:nvPr/>
        </p:nvSpPr>
        <p:spPr>
          <a:xfrm>
            <a:off x="342960" y="48031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assertNotNull(obj)</a:t>
            </a:r>
            <a:endParaRPr lang="en-US" dirty="0">
              <a:latin typeface="Times New Roman" panose="02020603050405020304" pitchFamily="18" charset="0"/>
              <a:cs typeface="Times New Roman" panose="02020603050405020304" pitchFamily="18" charset="0"/>
            </a:endParaRPr>
          </a:p>
        </p:txBody>
      </p:sp>
      <p:sp>
        <p:nvSpPr>
          <p:cNvPr id="26" name="Text 21"/>
          <p:cNvSpPr/>
          <p:nvPr/>
        </p:nvSpPr>
        <p:spPr>
          <a:xfrm>
            <a:off x="4183440" y="48397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qu'un objet n'est pas null</a:t>
            </a:r>
            <a:endParaRPr lang="en-US" dirty="0">
              <a:latin typeface="Times New Roman" panose="02020603050405020304" pitchFamily="18" charset="0"/>
              <a:cs typeface="Times New Roman" panose="02020603050405020304" pitchFamily="18" charset="0"/>
            </a:endParaRPr>
          </a:p>
        </p:txBody>
      </p:sp>
      <p:sp>
        <p:nvSpPr>
          <p:cNvPr id="27" name="Shape 22"/>
          <p:cNvSpPr/>
          <p:nvPr/>
        </p:nvSpPr>
        <p:spPr>
          <a:xfrm>
            <a:off x="251520" y="5242049"/>
            <a:ext cx="3840480" cy="384048"/>
          </a:xfrm>
          <a:prstGeom prst="rect">
            <a:avLst/>
          </a:prstGeom>
          <a:solidFill>
            <a:srgbClr val="0D1B2A"/>
          </a:solidFill>
          <a:ln/>
        </p:spPr>
      </p:sp>
      <p:sp>
        <p:nvSpPr>
          <p:cNvPr id="28" name="Text 23"/>
          <p:cNvSpPr/>
          <p:nvPr/>
        </p:nvSpPr>
        <p:spPr>
          <a:xfrm>
            <a:off x="342960" y="5260337"/>
            <a:ext cx="3657600" cy="347472"/>
          </a:xfrm>
          <a:prstGeom prst="rect">
            <a:avLst/>
          </a:prstGeom>
          <a:noFill/>
          <a:ln/>
        </p:spPr>
        <p:txBody>
          <a:bodyPr wrap="square" lIns="0" tIns="0" rIns="0" bIns="0" rtlCol="0" anchor="ctr"/>
          <a:lstStyle/>
          <a:p>
            <a:pPr marL="0" indent="0">
              <a:buNone/>
            </a:pPr>
            <a:r>
              <a:rPr lang="en-US" dirty="0">
                <a:solidFill>
                  <a:srgbClr val="F5A623"/>
                </a:solidFill>
                <a:latin typeface="Times New Roman" panose="02020603050405020304" pitchFamily="18" charset="0"/>
                <a:ea typeface="Consolas" pitchFamily="34" charset="-122"/>
                <a:cs typeface="Times New Roman" panose="02020603050405020304" pitchFamily="18" charset="0"/>
              </a:rPr>
              <a:t>assertThrows(Ex, fn)</a:t>
            </a:r>
            <a:endParaRPr lang="en-US" dirty="0">
              <a:latin typeface="Times New Roman" panose="02020603050405020304" pitchFamily="18" charset="0"/>
              <a:cs typeface="Times New Roman" panose="02020603050405020304" pitchFamily="18" charset="0"/>
            </a:endParaRPr>
          </a:p>
        </p:txBody>
      </p:sp>
      <p:sp>
        <p:nvSpPr>
          <p:cNvPr id="29" name="Text 24"/>
          <p:cNvSpPr/>
          <p:nvPr/>
        </p:nvSpPr>
        <p:spPr>
          <a:xfrm>
            <a:off x="4183440" y="5296913"/>
            <a:ext cx="4754880" cy="274320"/>
          </a:xfrm>
          <a:prstGeom prst="rect">
            <a:avLst/>
          </a:prstGeom>
          <a:noFill/>
          <a:ln/>
        </p:spPr>
        <p:txBody>
          <a:bodyPr wrap="square" lIns="0" tIns="0" rIns="0" bIns="0" rtlCol="0" anchor="ctr"/>
          <a:lstStyle/>
          <a:p>
            <a:pPr marL="0" indent="0">
              <a:buNone/>
            </a:pPr>
            <a:r>
              <a:rPr lang="en-US" dirty="0">
                <a:solidFill>
                  <a:srgbClr val="0D1B2A"/>
                </a:solidFill>
                <a:latin typeface="Times New Roman" panose="02020603050405020304" pitchFamily="18" charset="0"/>
                <a:ea typeface="Calibri" pitchFamily="34" charset="-122"/>
                <a:cs typeface="Times New Roman" panose="02020603050405020304" pitchFamily="18" charset="0"/>
              </a:rPr>
              <a:t>Vérifie qu'une exception est lancée</a:t>
            </a:r>
            <a:endParaRPr lang="en-US" dirty="0">
              <a:latin typeface="Times New Roman" panose="02020603050405020304" pitchFamily="18" charset="0"/>
              <a:cs typeface="Times New Roman" panose="02020603050405020304" pitchFamily="18" charset="0"/>
            </a:endParaRPr>
          </a:p>
        </p:txBody>
      </p:sp>
      <p:sp>
        <p:nvSpPr>
          <p:cNvPr id="30" name="ZoneTexte 29"/>
          <p:cNvSpPr txBox="1"/>
          <p:nvPr/>
        </p:nvSpPr>
        <p:spPr>
          <a:xfrm>
            <a:off x="684213" y="1073954"/>
            <a:ext cx="4320480" cy="369332"/>
          </a:xfrm>
          <a:prstGeom prst="rect">
            <a:avLst/>
          </a:prstGeom>
          <a:noFill/>
        </p:spPr>
        <p:txBody>
          <a:bodyPr wrap="square" rtlCol="0">
            <a:spAutoFit/>
          </a:bodyPr>
          <a:lstStyle/>
          <a:p>
            <a:pPr marL="342900" indent="-342900">
              <a:buFont typeface="+mj-lt"/>
              <a:buAutoNum type="arabicPeriod"/>
            </a:pPr>
            <a:r>
              <a:rPr lang="fr-FR" dirty="0" smtClean="0">
                <a:solidFill>
                  <a:srgbClr val="FF0000"/>
                </a:solidFill>
              </a:rPr>
              <a:t>Définition assertion</a:t>
            </a:r>
            <a:endParaRPr lang="fr-FR" dirty="0">
              <a:solidFill>
                <a:srgbClr val="FF0000"/>
              </a:solidFill>
            </a:endParaRPr>
          </a:p>
        </p:txBody>
      </p:sp>
    </p:spTree>
    <p:extLst>
      <p:ext uri="{BB962C8B-B14F-4D97-AF65-F5344CB8AC3E}">
        <p14:creationId xmlns:p14="http://schemas.microsoft.com/office/powerpoint/2010/main" val="2223432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0"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hape 3"/>
          <p:cNvSpPr/>
          <p:nvPr/>
        </p:nvSpPr>
        <p:spPr>
          <a:xfrm>
            <a:off x="205800" y="1530236"/>
            <a:ext cx="2743200" cy="969264"/>
          </a:xfrm>
          <a:prstGeom prst="rect">
            <a:avLst/>
          </a:prstGeom>
          <a:solidFill>
            <a:srgbClr val="1A3160"/>
          </a:solidFill>
          <a:ln w="25400">
            <a:solidFill>
              <a:srgbClr val="1E90FF"/>
            </a:solidFill>
            <a:prstDash val="solid"/>
          </a:ln>
        </p:spPr>
      </p:sp>
      <p:sp>
        <p:nvSpPr>
          <p:cNvPr id="7" name="Shape 4"/>
          <p:cNvSpPr/>
          <p:nvPr/>
        </p:nvSpPr>
        <p:spPr>
          <a:xfrm>
            <a:off x="205800" y="1530236"/>
            <a:ext cx="2743200" cy="64008"/>
          </a:xfrm>
          <a:prstGeom prst="rect">
            <a:avLst/>
          </a:prstGeom>
          <a:solidFill>
            <a:srgbClr val="1E90FF"/>
          </a:solidFill>
          <a:ln/>
        </p:spPr>
      </p:sp>
      <p:sp>
        <p:nvSpPr>
          <p:cNvPr id="8" name="Text 5"/>
          <p:cNvSpPr/>
          <p:nvPr/>
        </p:nvSpPr>
        <p:spPr>
          <a:xfrm>
            <a:off x="297240" y="1621676"/>
            <a:ext cx="2560320" cy="320040"/>
          </a:xfrm>
          <a:prstGeom prst="rect">
            <a:avLst/>
          </a:prstGeom>
          <a:noFill/>
          <a:ln/>
        </p:spPr>
        <p:txBody>
          <a:bodyPr wrap="square" lIns="0" tIns="0" rIns="0" bIns="0" rtlCol="0" anchor="ctr"/>
          <a:lstStyle/>
          <a:p>
            <a:pPr marL="0" indent="0">
              <a:buNone/>
            </a:pPr>
            <a:r>
              <a:rPr lang="en-US" sz="1200" b="1" dirty="0">
                <a:solidFill>
                  <a:srgbClr val="1E90FF"/>
                </a:solidFill>
                <a:latin typeface="Times New Roman" panose="02020603050405020304" pitchFamily="18" charset="0"/>
                <a:cs typeface="Times New Roman" panose="02020603050405020304" pitchFamily="18" charset="0"/>
              </a:rPr>
              <a:t>🎭 Mock</a:t>
            </a:r>
            <a:endParaRPr lang="en-US" sz="1200" b="1" dirty="0">
              <a:latin typeface="Times New Roman" panose="02020603050405020304" pitchFamily="18" charset="0"/>
              <a:cs typeface="Times New Roman" panose="02020603050405020304" pitchFamily="18" charset="0"/>
            </a:endParaRPr>
          </a:p>
        </p:txBody>
      </p:sp>
      <p:sp>
        <p:nvSpPr>
          <p:cNvPr id="9" name="Text 6"/>
          <p:cNvSpPr/>
          <p:nvPr/>
        </p:nvSpPr>
        <p:spPr>
          <a:xfrm>
            <a:off x="297240" y="1969148"/>
            <a:ext cx="2560320" cy="384048"/>
          </a:xfrm>
          <a:prstGeom prst="rect">
            <a:avLst/>
          </a:prstGeom>
          <a:noFill/>
          <a:ln/>
        </p:spPr>
        <p:txBody>
          <a:bodyPr wrap="square" lIns="0" tIns="0" rIns="0" bIns="0" rtlCol="0" anchor="ctr"/>
          <a:lstStyle/>
          <a:p>
            <a:pPr marL="0" indent="0">
              <a:buNone/>
            </a:pPr>
            <a:r>
              <a:rPr lang="en-US" sz="1200" b="1" dirty="0">
                <a:solidFill>
                  <a:srgbClr val="D0D8E8"/>
                </a:solidFill>
                <a:latin typeface="Times New Roman" panose="02020603050405020304" pitchFamily="18" charset="0"/>
                <a:cs typeface="Times New Roman" panose="02020603050405020304" pitchFamily="18" charset="0"/>
              </a:rPr>
              <a:t>Objet simulé dont on vérifie les interactions (verify). Ne fait rien par défaut.</a:t>
            </a:r>
            <a:endParaRPr lang="en-US" sz="1200" b="1" dirty="0">
              <a:latin typeface="Times New Roman" panose="02020603050405020304" pitchFamily="18" charset="0"/>
              <a:cs typeface="Times New Roman" panose="02020603050405020304" pitchFamily="18" charset="0"/>
            </a:endParaRPr>
          </a:p>
        </p:txBody>
      </p:sp>
      <p:sp>
        <p:nvSpPr>
          <p:cNvPr id="11" name="Shape 7"/>
          <p:cNvSpPr/>
          <p:nvPr/>
        </p:nvSpPr>
        <p:spPr>
          <a:xfrm>
            <a:off x="3177600" y="1530236"/>
            <a:ext cx="2743200" cy="975916"/>
          </a:xfrm>
          <a:prstGeom prst="rect">
            <a:avLst/>
          </a:prstGeom>
          <a:solidFill>
            <a:srgbClr val="1A3160"/>
          </a:solidFill>
          <a:ln w="25400">
            <a:solidFill>
              <a:srgbClr val="00E5B0"/>
            </a:solidFill>
            <a:prstDash val="solid"/>
          </a:ln>
        </p:spPr>
      </p:sp>
      <p:sp>
        <p:nvSpPr>
          <p:cNvPr id="12" name="Shape 8"/>
          <p:cNvSpPr/>
          <p:nvPr/>
        </p:nvSpPr>
        <p:spPr>
          <a:xfrm>
            <a:off x="3177600" y="1530236"/>
            <a:ext cx="2743200" cy="64008"/>
          </a:xfrm>
          <a:prstGeom prst="rect">
            <a:avLst/>
          </a:prstGeom>
          <a:solidFill>
            <a:srgbClr val="00E5B0"/>
          </a:solidFill>
          <a:ln/>
        </p:spPr>
      </p:sp>
      <p:sp>
        <p:nvSpPr>
          <p:cNvPr id="13" name="Text 9"/>
          <p:cNvSpPr/>
          <p:nvPr/>
        </p:nvSpPr>
        <p:spPr>
          <a:xfrm>
            <a:off x="3269040" y="1621676"/>
            <a:ext cx="2560320" cy="320040"/>
          </a:xfrm>
          <a:prstGeom prst="rect">
            <a:avLst/>
          </a:prstGeom>
          <a:noFill/>
          <a:ln/>
        </p:spPr>
        <p:txBody>
          <a:bodyPr wrap="square" lIns="0" tIns="0" rIns="0" bIns="0" rtlCol="0" anchor="ctr"/>
          <a:lstStyle/>
          <a:p>
            <a:pPr marL="0" indent="0">
              <a:buNone/>
            </a:pPr>
            <a:r>
              <a:rPr lang="en-US" sz="1200" b="1" dirty="0">
                <a:solidFill>
                  <a:srgbClr val="00E5B0"/>
                </a:solidFill>
                <a:latin typeface="Times New Roman" panose="02020603050405020304" pitchFamily="18" charset="0"/>
                <a:cs typeface="Times New Roman" panose="02020603050405020304" pitchFamily="18" charset="0"/>
              </a:rPr>
              <a:t>📌 Stub</a:t>
            </a:r>
            <a:endParaRPr lang="en-US" sz="1200" b="1" dirty="0">
              <a:latin typeface="Times New Roman" panose="02020603050405020304" pitchFamily="18" charset="0"/>
              <a:cs typeface="Times New Roman" panose="02020603050405020304" pitchFamily="18" charset="0"/>
            </a:endParaRPr>
          </a:p>
        </p:txBody>
      </p:sp>
      <p:sp>
        <p:nvSpPr>
          <p:cNvPr id="14" name="Text 10"/>
          <p:cNvSpPr/>
          <p:nvPr/>
        </p:nvSpPr>
        <p:spPr>
          <a:xfrm>
            <a:off x="3269040" y="1969148"/>
            <a:ext cx="2560320" cy="384048"/>
          </a:xfrm>
          <a:prstGeom prst="rect">
            <a:avLst/>
          </a:prstGeom>
          <a:noFill/>
          <a:ln/>
        </p:spPr>
        <p:txBody>
          <a:bodyPr wrap="square" lIns="0" tIns="0" rIns="0" bIns="0" rtlCol="0" anchor="ctr"/>
          <a:lstStyle/>
          <a:p>
            <a:pPr marL="0" indent="0">
              <a:buNone/>
            </a:pPr>
            <a:r>
              <a:rPr lang="en-US" sz="1200" b="1" dirty="0">
                <a:solidFill>
                  <a:srgbClr val="D0D8E8"/>
                </a:solidFill>
                <a:latin typeface="Times New Roman" panose="02020603050405020304" pitchFamily="18" charset="0"/>
                <a:cs typeface="Times New Roman" panose="02020603050405020304" pitchFamily="18" charset="0"/>
              </a:rPr>
              <a:t>Configure des réponses prédéfinies via when().thenReturn(). Utilisé pour isoler.</a:t>
            </a:r>
            <a:endParaRPr lang="en-US" sz="1200" b="1" dirty="0">
              <a:latin typeface="Times New Roman" panose="02020603050405020304" pitchFamily="18" charset="0"/>
              <a:cs typeface="Times New Roman" panose="02020603050405020304" pitchFamily="18" charset="0"/>
            </a:endParaRPr>
          </a:p>
        </p:txBody>
      </p:sp>
      <p:sp>
        <p:nvSpPr>
          <p:cNvPr id="15" name="Shape 11"/>
          <p:cNvSpPr/>
          <p:nvPr/>
        </p:nvSpPr>
        <p:spPr>
          <a:xfrm>
            <a:off x="6149400" y="1530236"/>
            <a:ext cx="2743200" cy="969264"/>
          </a:xfrm>
          <a:prstGeom prst="rect">
            <a:avLst/>
          </a:prstGeom>
          <a:solidFill>
            <a:srgbClr val="1A3160"/>
          </a:solidFill>
          <a:ln w="25400">
            <a:solidFill>
              <a:srgbClr val="FFD166"/>
            </a:solidFill>
            <a:prstDash val="solid"/>
          </a:ln>
        </p:spPr>
      </p:sp>
      <p:sp>
        <p:nvSpPr>
          <p:cNvPr id="16" name="Shape 12"/>
          <p:cNvSpPr/>
          <p:nvPr/>
        </p:nvSpPr>
        <p:spPr>
          <a:xfrm>
            <a:off x="6149400" y="1530236"/>
            <a:ext cx="2743200" cy="64008"/>
          </a:xfrm>
          <a:prstGeom prst="rect">
            <a:avLst/>
          </a:prstGeom>
          <a:solidFill>
            <a:srgbClr val="FFD166"/>
          </a:solidFill>
          <a:ln/>
        </p:spPr>
      </p:sp>
      <p:sp>
        <p:nvSpPr>
          <p:cNvPr id="17" name="Text 13"/>
          <p:cNvSpPr/>
          <p:nvPr/>
        </p:nvSpPr>
        <p:spPr>
          <a:xfrm>
            <a:off x="6240840" y="1621676"/>
            <a:ext cx="2560320" cy="320040"/>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cs typeface="Times New Roman" panose="02020603050405020304" pitchFamily="18" charset="0"/>
              </a:rPr>
              <a:t>🕵️ Spy</a:t>
            </a:r>
            <a:endParaRPr lang="en-US" sz="1200" b="1" dirty="0">
              <a:latin typeface="Times New Roman" panose="02020603050405020304" pitchFamily="18" charset="0"/>
              <a:cs typeface="Times New Roman" panose="02020603050405020304" pitchFamily="18" charset="0"/>
            </a:endParaRPr>
          </a:p>
        </p:txBody>
      </p:sp>
      <p:sp>
        <p:nvSpPr>
          <p:cNvPr id="18" name="Text 14"/>
          <p:cNvSpPr/>
          <p:nvPr/>
        </p:nvSpPr>
        <p:spPr>
          <a:xfrm>
            <a:off x="6240840" y="1969148"/>
            <a:ext cx="2560320" cy="384048"/>
          </a:xfrm>
          <a:prstGeom prst="rect">
            <a:avLst/>
          </a:prstGeom>
          <a:noFill/>
          <a:ln/>
        </p:spPr>
        <p:txBody>
          <a:bodyPr wrap="square" lIns="0" tIns="0" rIns="0" bIns="0" rtlCol="0" anchor="ctr"/>
          <a:lstStyle/>
          <a:p>
            <a:pPr marL="0" indent="0">
              <a:buNone/>
            </a:pPr>
            <a:r>
              <a:rPr lang="en-US" sz="1200" b="1" dirty="0">
                <a:solidFill>
                  <a:srgbClr val="D0D8E8"/>
                </a:solidFill>
                <a:latin typeface="Times New Roman" panose="02020603050405020304" pitchFamily="18" charset="0"/>
                <a:cs typeface="Times New Roman" panose="02020603050405020304" pitchFamily="18" charset="0"/>
              </a:rPr>
              <a:t>Enveloppe un objet réel — appels réels sauf si stubbed. Utile pour legacy code.</a:t>
            </a:r>
            <a:endParaRPr lang="en-US" sz="1200" b="1" dirty="0">
              <a:latin typeface="Times New Roman" panose="02020603050405020304" pitchFamily="18" charset="0"/>
              <a:cs typeface="Times New Roman" panose="02020603050405020304" pitchFamily="18" charset="0"/>
            </a:endParaRPr>
          </a:p>
        </p:txBody>
      </p:sp>
      <p:sp>
        <p:nvSpPr>
          <p:cNvPr id="19" name="Shape 15"/>
          <p:cNvSpPr/>
          <p:nvPr/>
        </p:nvSpPr>
        <p:spPr>
          <a:xfrm>
            <a:off x="251520" y="3022199"/>
            <a:ext cx="5394960" cy="2834640"/>
          </a:xfrm>
          <a:prstGeom prst="rect">
            <a:avLst/>
          </a:prstGeom>
          <a:solidFill>
            <a:srgbClr val="0D1117"/>
          </a:solidFill>
          <a:ln w="12700">
            <a:solidFill>
              <a:srgbClr val="FFD166"/>
            </a:solidFill>
            <a:prstDash val="solid"/>
          </a:ln>
        </p:spPr>
      </p:sp>
      <p:sp>
        <p:nvSpPr>
          <p:cNvPr id="20" name="Shape 16"/>
          <p:cNvSpPr/>
          <p:nvPr/>
        </p:nvSpPr>
        <p:spPr>
          <a:xfrm>
            <a:off x="251520" y="3022199"/>
            <a:ext cx="5394960" cy="292608"/>
          </a:xfrm>
          <a:prstGeom prst="rect">
            <a:avLst/>
          </a:prstGeom>
          <a:solidFill>
            <a:srgbClr val="161B22"/>
          </a:solidFill>
          <a:ln/>
        </p:spPr>
      </p:sp>
      <p:sp>
        <p:nvSpPr>
          <p:cNvPr id="21" name="Text 17"/>
          <p:cNvSpPr/>
          <p:nvPr/>
        </p:nvSpPr>
        <p:spPr>
          <a:xfrm>
            <a:off x="342960" y="3040487"/>
            <a:ext cx="4572000" cy="25603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ea typeface="Consolas" pitchFamily="34" charset="-122"/>
                <a:cs typeface="Times New Roman" panose="02020603050405020304" pitchFamily="18" charset="0"/>
              </a:rPr>
              <a:t>UserServiceTest.java — Mockito en pratique</a:t>
            </a:r>
            <a:endParaRPr lang="en-US" sz="1200" b="1" dirty="0">
              <a:latin typeface="Times New Roman" panose="02020603050405020304" pitchFamily="18" charset="0"/>
              <a:cs typeface="Times New Roman" panose="02020603050405020304" pitchFamily="18" charset="0"/>
            </a:endParaRPr>
          </a:p>
        </p:txBody>
      </p:sp>
      <p:sp>
        <p:nvSpPr>
          <p:cNvPr id="22" name="Text 18"/>
          <p:cNvSpPr/>
          <p:nvPr/>
        </p:nvSpPr>
        <p:spPr>
          <a:xfrm>
            <a:off x="342960" y="3351383"/>
            <a:ext cx="5212080" cy="173736"/>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@ExtendWith(MockitoExtension.class)</a:t>
            </a:r>
            <a:endParaRPr lang="en-US" sz="1200" b="1" dirty="0">
              <a:latin typeface="Times New Roman" panose="02020603050405020304" pitchFamily="18" charset="0"/>
              <a:cs typeface="Times New Roman" panose="02020603050405020304" pitchFamily="18" charset="0"/>
            </a:endParaRPr>
          </a:p>
        </p:txBody>
      </p:sp>
      <p:sp>
        <p:nvSpPr>
          <p:cNvPr id="23" name="Text 19"/>
          <p:cNvSpPr/>
          <p:nvPr/>
        </p:nvSpPr>
        <p:spPr>
          <a:xfrm>
            <a:off x="342960" y="3515975"/>
            <a:ext cx="5212080" cy="173736"/>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onsolas" pitchFamily="34" charset="-122"/>
                <a:cs typeface="Times New Roman" panose="02020603050405020304" pitchFamily="18" charset="0"/>
              </a:rPr>
              <a:t>class UserServiceTest {</a:t>
            </a:r>
            <a:endParaRPr lang="en-US" sz="1200" b="1" dirty="0">
              <a:latin typeface="Times New Roman" panose="02020603050405020304" pitchFamily="18" charset="0"/>
              <a:cs typeface="Times New Roman" panose="02020603050405020304" pitchFamily="18" charset="0"/>
            </a:endParaRPr>
          </a:p>
        </p:txBody>
      </p:sp>
      <p:sp>
        <p:nvSpPr>
          <p:cNvPr id="24" name="Text 20"/>
          <p:cNvSpPr/>
          <p:nvPr/>
        </p:nvSpPr>
        <p:spPr>
          <a:xfrm>
            <a:off x="342960" y="3680567"/>
            <a:ext cx="5212080" cy="173736"/>
          </a:xfrm>
          <a:prstGeom prst="rect">
            <a:avLst/>
          </a:prstGeom>
          <a:noFill/>
          <a:ln/>
        </p:spPr>
        <p:txBody>
          <a:bodyPr wrap="square" lIns="0" tIns="0" rIns="0" bIns="0" rtlCol="0" anchor="ctr"/>
          <a:lstStyle/>
          <a:p>
            <a:pPr marL="0" indent="0">
              <a:buNone/>
            </a:pPr>
            <a:r>
              <a:rPr lang="en-US" sz="1200" b="1" dirty="0">
                <a:solidFill>
                  <a:srgbClr val="00C8FF"/>
                </a:solidFill>
                <a:latin typeface="Times New Roman" panose="02020603050405020304" pitchFamily="18" charset="0"/>
                <a:ea typeface="Consolas" pitchFamily="34" charset="-122"/>
                <a:cs typeface="Times New Roman" panose="02020603050405020304" pitchFamily="18" charset="0"/>
              </a:rPr>
              <a:t>  @Mock UserRepository userRepo;</a:t>
            </a:r>
            <a:endParaRPr lang="en-US" sz="1200" b="1" dirty="0">
              <a:latin typeface="Times New Roman" panose="02020603050405020304" pitchFamily="18" charset="0"/>
              <a:cs typeface="Times New Roman" panose="02020603050405020304" pitchFamily="18" charset="0"/>
            </a:endParaRPr>
          </a:p>
        </p:txBody>
      </p:sp>
      <p:sp>
        <p:nvSpPr>
          <p:cNvPr id="25" name="Text 21"/>
          <p:cNvSpPr/>
          <p:nvPr/>
        </p:nvSpPr>
        <p:spPr>
          <a:xfrm>
            <a:off x="342960" y="3845159"/>
            <a:ext cx="5212080" cy="173736"/>
          </a:xfrm>
          <a:prstGeom prst="rect">
            <a:avLst/>
          </a:prstGeom>
          <a:noFill/>
          <a:ln/>
        </p:spPr>
        <p:txBody>
          <a:bodyPr wrap="square" lIns="0" tIns="0" rIns="0" bIns="0" rtlCol="0" anchor="ctr"/>
          <a:lstStyle/>
          <a:p>
            <a:pPr marL="0" indent="0">
              <a:buNone/>
            </a:pPr>
            <a:r>
              <a:rPr lang="en-US" sz="1200" b="1" dirty="0">
                <a:solidFill>
                  <a:srgbClr val="00C8FF"/>
                </a:solidFill>
                <a:latin typeface="Times New Roman" panose="02020603050405020304" pitchFamily="18" charset="0"/>
                <a:ea typeface="Consolas" pitchFamily="34" charset="-122"/>
                <a:cs typeface="Times New Roman" panose="02020603050405020304" pitchFamily="18" charset="0"/>
              </a:rPr>
              <a:t>  @InjectMocks UserService userService;</a:t>
            </a:r>
            <a:endParaRPr lang="en-US" sz="1200" b="1" dirty="0">
              <a:latin typeface="Times New Roman" panose="02020603050405020304" pitchFamily="18" charset="0"/>
              <a:cs typeface="Times New Roman" panose="02020603050405020304" pitchFamily="18" charset="0"/>
            </a:endParaRPr>
          </a:p>
        </p:txBody>
      </p:sp>
      <p:sp>
        <p:nvSpPr>
          <p:cNvPr id="26" name="Text 22"/>
          <p:cNvSpPr/>
          <p:nvPr/>
        </p:nvSpPr>
        <p:spPr>
          <a:xfrm>
            <a:off x="342960" y="4009751"/>
            <a:ext cx="5212080" cy="173736"/>
          </a:xfrm>
          <a:prstGeom prst="rect">
            <a:avLst/>
          </a:prstGeom>
          <a:noFill/>
          <a:ln/>
        </p:spPr>
        <p:txBody>
          <a:bodyPr wrap="square" lIns="0" tIns="0" rIns="0" bIns="0" rtlCol="0" anchor="ctr"/>
          <a:lstStyle/>
          <a:p>
            <a:pPr marL="0" indent="0">
              <a:buNone/>
            </a:pPr>
            <a:endParaRPr lang="en-US" sz="1200" b="1" dirty="0">
              <a:latin typeface="Times New Roman" panose="02020603050405020304" pitchFamily="18" charset="0"/>
              <a:cs typeface="Times New Roman" panose="02020603050405020304" pitchFamily="18" charset="0"/>
            </a:endParaRPr>
          </a:p>
        </p:txBody>
      </p:sp>
      <p:sp>
        <p:nvSpPr>
          <p:cNvPr id="27" name="Text 23"/>
          <p:cNvSpPr/>
          <p:nvPr/>
        </p:nvSpPr>
        <p:spPr>
          <a:xfrm>
            <a:off x="342960" y="4174343"/>
            <a:ext cx="5212080" cy="173736"/>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onsolas" pitchFamily="34" charset="-122"/>
                <a:cs typeface="Times New Roman" panose="02020603050405020304" pitchFamily="18" charset="0"/>
              </a:rPr>
              <a:t>  @Test void shouldReturnUserById() {</a:t>
            </a:r>
            <a:endParaRPr lang="en-US" sz="1200" b="1" dirty="0">
              <a:latin typeface="Times New Roman" panose="02020603050405020304" pitchFamily="18" charset="0"/>
              <a:cs typeface="Times New Roman" panose="02020603050405020304" pitchFamily="18" charset="0"/>
            </a:endParaRPr>
          </a:p>
        </p:txBody>
      </p:sp>
      <p:sp>
        <p:nvSpPr>
          <p:cNvPr id="28" name="Text 24"/>
          <p:cNvSpPr/>
          <p:nvPr/>
        </p:nvSpPr>
        <p:spPr>
          <a:xfrm>
            <a:off x="342960" y="4338935"/>
            <a:ext cx="5212080" cy="173736"/>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ea typeface="Consolas" pitchFamily="34" charset="-122"/>
                <a:cs typeface="Times New Roman" panose="02020603050405020304" pitchFamily="18" charset="0"/>
              </a:rPr>
              <a:t>    // Stubbing</a:t>
            </a:r>
            <a:endParaRPr lang="en-US" sz="1200" b="1" dirty="0">
              <a:latin typeface="Times New Roman" panose="02020603050405020304" pitchFamily="18" charset="0"/>
              <a:cs typeface="Times New Roman" panose="02020603050405020304" pitchFamily="18" charset="0"/>
            </a:endParaRPr>
          </a:p>
        </p:txBody>
      </p:sp>
      <p:sp>
        <p:nvSpPr>
          <p:cNvPr id="29" name="Text 25"/>
          <p:cNvSpPr/>
          <p:nvPr/>
        </p:nvSpPr>
        <p:spPr>
          <a:xfrm>
            <a:off x="342960" y="4503527"/>
            <a:ext cx="5212080" cy="173736"/>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onsolas" pitchFamily="34" charset="-122"/>
                <a:cs typeface="Times New Roman" panose="02020603050405020304" pitchFamily="18" charset="0"/>
              </a:rPr>
              <a:t>    when(userRepo.findById(1L))</a:t>
            </a:r>
            <a:endParaRPr lang="en-US" sz="1200" b="1" dirty="0">
              <a:latin typeface="Times New Roman" panose="02020603050405020304" pitchFamily="18" charset="0"/>
              <a:cs typeface="Times New Roman" panose="02020603050405020304" pitchFamily="18" charset="0"/>
            </a:endParaRPr>
          </a:p>
        </p:txBody>
      </p:sp>
      <p:sp>
        <p:nvSpPr>
          <p:cNvPr id="30" name="Text 26"/>
          <p:cNvSpPr/>
          <p:nvPr/>
        </p:nvSpPr>
        <p:spPr>
          <a:xfrm>
            <a:off x="342960" y="4668119"/>
            <a:ext cx="5212080" cy="173736"/>
          </a:xfrm>
          <a:prstGeom prst="rect">
            <a:avLst/>
          </a:prstGeom>
          <a:noFill/>
          <a:ln/>
        </p:spPr>
        <p:txBody>
          <a:bodyPr wrap="square" lIns="0" tIns="0" rIns="0" bIns="0" rtlCol="0" anchor="ctr"/>
          <a:lstStyle/>
          <a:p>
            <a:pPr marL="0" indent="0">
              <a:buNone/>
            </a:pPr>
            <a:r>
              <a:rPr lang="en-US" sz="1200" b="1" dirty="0">
                <a:solidFill>
                  <a:srgbClr val="06D6A0"/>
                </a:solidFill>
                <a:latin typeface="Times New Roman" panose="02020603050405020304" pitchFamily="18" charset="0"/>
                <a:ea typeface="Consolas" pitchFamily="34" charset="-122"/>
                <a:cs typeface="Times New Roman" panose="02020603050405020304" pitchFamily="18" charset="0"/>
              </a:rPr>
              <a:t>      .thenReturn(Optional.of(new User("Alice")));</a:t>
            </a:r>
            <a:endParaRPr lang="en-US" sz="1200" b="1" dirty="0">
              <a:latin typeface="Times New Roman" panose="02020603050405020304" pitchFamily="18" charset="0"/>
              <a:cs typeface="Times New Roman" panose="02020603050405020304" pitchFamily="18" charset="0"/>
            </a:endParaRPr>
          </a:p>
        </p:txBody>
      </p:sp>
      <p:sp>
        <p:nvSpPr>
          <p:cNvPr id="31" name="Text 27"/>
          <p:cNvSpPr/>
          <p:nvPr/>
        </p:nvSpPr>
        <p:spPr>
          <a:xfrm>
            <a:off x="342960" y="4832711"/>
            <a:ext cx="5212080" cy="173736"/>
          </a:xfrm>
          <a:prstGeom prst="rect">
            <a:avLst/>
          </a:prstGeom>
          <a:noFill/>
          <a:ln/>
        </p:spPr>
        <p:txBody>
          <a:bodyPr wrap="square" lIns="0" tIns="0" rIns="0" bIns="0" rtlCol="0" anchor="ctr"/>
          <a:lstStyle/>
          <a:p>
            <a:pPr marL="0" indent="0">
              <a:buNone/>
            </a:pPr>
            <a:endParaRPr lang="en-US" sz="1200" b="1" dirty="0">
              <a:latin typeface="Times New Roman" panose="02020603050405020304" pitchFamily="18" charset="0"/>
              <a:cs typeface="Times New Roman" panose="02020603050405020304" pitchFamily="18" charset="0"/>
            </a:endParaRPr>
          </a:p>
        </p:txBody>
      </p:sp>
      <p:sp>
        <p:nvSpPr>
          <p:cNvPr id="32" name="Text 28"/>
          <p:cNvSpPr/>
          <p:nvPr/>
        </p:nvSpPr>
        <p:spPr>
          <a:xfrm>
            <a:off x="342960" y="4997303"/>
            <a:ext cx="5212080" cy="173736"/>
          </a:xfrm>
          <a:prstGeom prst="rect">
            <a:avLst/>
          </a:prstGeom>
          <a:noFill/>
          <a:ln/>
        </p:spPr>
        <p:txBody>
          <a:bodyPr wrap="square" lIns="0" tIns="0" rIns="0" bIns="0" rtlCol="0" anchor="ctr"/>
          <a:lstStyle/>
          <a:p>
            <a:pPr marL="0" indent="0">
              <a:buNone/>
            </a:pPr>
            <a:r>
              <a:rPr lang="en-US" sz="1200" b="1" dirty="0">
                <a:solidFill>
                  <a:srgbClr val="D0D8E8"/>
                </a:solidFill>
                <a:latin typeface="Times New Roman" panose="02020603050405020304" pitchFamily="18" charset="0"/>
                <a:ea typeface="Consolas" pitchFamily="34" charset="-122"/>
                <a:cs typeface="Times New Roman" panose="02020603050405020304" pitchFamily="18" charset="0"/>
              </a:rPr>
              <a:t>    User result = userService.getUser(1L);</a:t>
            </a:r>
            <a:endParaRPr lang="en-US" sz="1200" b="1" dirty="0">
              <a:latin typeface="Times New Roman" panose="02020603050405020304" pitchFamily="18" charset="0"/>
              <a:cs typeface="Times New Roman" panose="02020603050405020304" pitchFamily="18" charset="0"/>
            </a:endParaRPr>
          </a:p>
        </p:txBody>
      </p:sp>
      <p:sp>
        <p:nvSpPr>
          <p:cNvPr id="33" name="Text 29"/>
          <p:cNvSpPr/>
          <p:nvPr/>
        </p:nvSpPr>
        <p:spPr>
          <a:xfrm>
            <a:off x="342960" y="5161895"/>
            <a:ext cx="5212080" cy="173736"/>
          </a:xfrm>
          <a:prstGeom prst="rect">
            <a:avLst/>
          </a:prstGeom>
          <a:noFill/>
          <a:ln/>
        </p:spPr>
        <p:txBody>
          <a:bodyPr wrap="square" lIns="0" tIns="0" rIns="0" bIns="0" rtlCol="0" anchor="ctr"/>
          <a:lstStyle/>
          <a:p>
            <a:pPr marL="0" indent="0">
              <a:buNone/>
            </a:pPr>
            <a:endParaRPr lang="en-US" sz="1200" b="1" dirty="0">
              <a:latin typeface="Times New Roman" panose="02020603050405020304" pitchFamily="18" charset="0"/>
              <a:cs typeface="Times New Roman" panose="02020603050405020304" pitchFamily="18" charset="0"/>
            </a:endParaRPr>
          </a:p>
        </p:txBody>
      </p:sp>
      <p:sp>
        <p:nvSpPr>
          <p:cNvPr id="34" name="Text 30"/>
          <p:cNvSpPr/>
          <p:nvPr/>
        </p:nvSpPr>
        <p:spPr>
          <a:xfrm>
            <a:off x="342960" y="5326487"/>
            <a:ext cx="5212080" cy="173736"/>
          </a:xfrm>
          <a:prstGeom prst="rect">
            <a:avLst/>
          </a:prstGeom>
          <a:noFill/>
          <a:ln/>
        </p:spPr>
        <p:txBody>
          <a:bodyPr wrap="square" lIns="0" tIns="0" rIns="0" bIns="0" rtlCol="0" anchor="ctr"/>
          <a:lstStyle/>
          <a:p>
            <a:pPr marL="0" indent="0">
              <a:buNone/>
            </a:pPr>
            <a:r>
              <a:rPr lang="en-US" sz="1200" b="1" dirty="0">
                <a:solidFill>
                  <a:srgbClr val="06D6A0"/>
                </a:solidFill>
                <a:latin typeface="Times New Roman" panose="02020603050405020304" pitchFamily="18" charset="0"/>
                <a:ea typeface="Consolas" pitchFamily="34" charset="-122"/>
                <a:cs typeface="Times New Roman" panose="02020603050405020304" pitchFamily="18" charset="0"/>
              </a:rPr>
              <a:t>    assertThat(result.getName()).isEqualTo("Alice");</a:t>
            </a:r>
            <a:endParaRPr lang="en-US" sz="1200" b="1" dirty="0">
              <a:latin typeface="Times New Roman" panose="02020603050405020304" pitchFamily="18" charset="0"/>
              <a:cs typeface="Times New Roman" panose="02020603050405020304" pitchFamily="18" charset="0"/>
            </a:endParaRPr>
          </a:p>
        </p:txBody>
      </p:sp>
      <p:sp>
        <p:nvSpPr>
          <p:cNvPr id="35" name="Text 31"/>
          <p:cNvSpPr/>
          <p:nvPr/>
        </p:nvSpPr>
        <p:spPr>
          <a:xfrm>
            <a:off x="342960" y="5491079"/>
            <a:ext cx="5212080" cy="173736"/>
          </a:xfrm>
          <a:prstGeom prst="rect">
            <a:avLst/>
          </a:prstGeom>
          <a:noFill/>
          <a:ln/>
        </p:spPr>
        <p:txBody>
          <a:bodyPr wrap="square" lIns="0" tIns="0" rIns="0" bIns="0" rtlCol="0" anchor="ctr"/>
          <a:lstStyle/>
          <a:p>
            <a:pPr marL="0" indent="0">
              <a:buNone/>
            </a:pPr>
            <a:r>
              <a:rPr lang="en-US" sz="1200" b="1" dirty="0">
                <a:solidFill>
                  <a:srgbClr val="00E5B0"/>
                </a:solidFill>
                <a:latin typeface="Times New Roman" panose="02020603050405020304" pitchFamily="18" charset="0"/>
                <a:ea typeface="Consolas" pitchFamily="34" charset="-122"/>
                <a:cs typeface="Times New Roman" panose="02020603050405020304" pitchFamily="18" charset="0"/>
              </a:rPr>
              <a:t>    verify(userRepo).findById(1L); // vérification</a:t>
            </a:r>
            <a:endParaRPr lang="en-US" sz="1200" b="1" dirty="0">
              <a:latin typeface="Times New Roman" panose="02020603050405020304" pitchFamily="18" charset="0"/>
              <a:cs typeface="Times New Roman" panose="02020603050405020304" pitchFamily="18" charset="0"/>
            </a:endParaRPr>
          </a:p>
        </p:txBody>
      </p:sp>
      <p:sp>
        <p:nvSpPr>
          <p:cNvPr id="36" name="Text 32"/>
          <p:cNvSpPr/>
          <p:nvPr/>
        </p:nvSpPr>
        <p:spPr>
          <a:xfrm>
            <a:off x="342960" y="5655671"/>
            <a:ext cx="5212080" cy="173736"/>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onsolas" pitchFamily="34" charset="-122"/>
                <a:cs typeface="Times New Roman" panose="02020603050405020304" pitchFamily="18" charset="0"/>
              </a:rPr>
              <a:t>  }</a:t>
            </a:r>
            <a:endParaRPr lang="en-US" sz="1200" b="1" dirty="0">
              <a:latin typeface="Times New Roman" panose="02020603050405020304" pitchFamily="18" charset="0"/>
              <a:cs typeface="Times New Roman" panose="02020603050405020304" pitchFamily="18" charset="0"/>
            </a:endParaRPr>
          </a:p>
        </p:txBody>
      </p:sp>
      <p:sp>
        <p:nvSpPr>
          <p:cNvPr id="37" name="Text 33"/>
          <p:cNvSpPr/>
          <p:nvPr/>
        </p:nvSpPr>
        <p:spPr>
          <a:xfrm>
            <a:off x="342960" y="5820263"/>
            <a:ext cx="5212080" cy="173736"/>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onsolas" pitchFamily="34" charset="-122"/>
                <a:cs typeface="Times New Roman" panose="02020603050405020304" pitchFamily="18" charset="0"/>
              </a:rPr>
              <a:t>}</a:t>
            </a:r>
            <a:endParaRPr lang="en-US" sz="1200" b="1" dirty="0">
              <a:latin typeface="Times New Roman" panose="02020603050405020304" pitchFamily="18" charset="0"/>
              <a:cs typeface="Times New Roman" panose="02020603050405020304" pitchFamily="18" charset="0"/>
            </a:endParaRPr>
          </a:p>
        </p:txBody>
      </p:sp>
      <p:sp>
        <p:nvSpPr>
          <p:cNvPr id="38" name="Text 34"/>
          <p:cNvSpPr/>
          <p:nvPr/>
        </p:nvSpPr>
        <p:spPr>
          <a:xfrm>
            <a:off x="5829360" y="2536076"/>
            <a:ext cx="3108960" cy="365760"/>
          </a:xfrm>
          <a:prstGeom prst="rect">
            <a:avLst/>
          </a:prstGeom>
          <a:noFill/>
          <a:ln>
            <a:noFill/>
          </a:ln>
        </p:spPr>
        <p:txBody>
          <a:bodyPr wrap="square" rtlCol="0" anchor="ctr"/>
          <a:lstStyle/>
          <a:p>
            <a:pPr marL="0" indent="0">
              <a:buNone/>
            </a:pPr>
            <a:r>
              <a:rPr lang="en-US" sz="1200" b="1" dirty="0">
                <a:latin typeface="Times New Roman" panose="02020603050405020304" pitchFamily="18" charset="0"/>
                <a:cs typeface="Times New Roman" panose="02020603050405020304" pitchFamily="18" charset="0"/>
              </a:rPr>
              <a:t>API Mockito Essentiels</a:t>
            </a:r>
          </a:p>
        </p:txBody>
      </p:sp>
      <p:sp>
        <p:nvSpPr>
          <p:cNvPr id="39" name="Shape 35"/>
          <p:cNvSpPr/>
          <p:nvPr/>
        </p:nvSpPr>
        <p:spPr>
          <a:xfrm>
            <a:off x="5829360" y="2993276"/>
            <a:ext cx="3063240" cy="402336"/>
          </a:xfrm>
          <a:prstGeom prst="rect">
            <a:avLst/>
          </a:prstGeom>
          <a:solidFill>
            <a:srgbClr val="1A3160"/>
          </a:solidFill>
          <a:ln w="12700">
            <a:solidFill>
              <a:srgbClr val="FFD166"/>
            </a:solidFill>
            <a:prstDash val="solid"/>
          </a:ln>
        </p:spPr>
      </p:sp>
      <p:sp>
        <p:nvSpPr>
          <p:cNvPr id="40" name="Text 36"/>
          <p:cNvSpPr/>
          <p:nvPr/>
        </p:nvSpPr>
        <p:spPr>
          <a:xfrm>
            <a:off x="5920800" y="3011564"/>
            <a:ext cx="2834640" cy="201168"/>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when().thenReturn()</a:t>
            </a:r>
            <a:endParaRPr lang="en-US" sz="1200" b="1" dirty="0">
              <a:latin typeface="Times New Roman" panose="02020603050405020304" pitchFamily="18" charset="0"/>
              <a:cs typeface="Times New Roman" panose="02020603050405020304" pitchFamily="18" charset="0"/>
            </a:endParaRPr>
          </a:p>
        </p:txBody>
      </p:sp>
      <p:sp>
        <p:nvSpPr>
          <p:cNvPr id="41" name="Text 37"/>
          <p:cNvSpPr/>
          <p:nvPr/>
        </p:nvSpPr>
        <p:spPr>
          <a:xfrm>
            <a:off x="5920800" y="3203588"/>
            <a:ext cx="2834640" cy="16459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Stubber pour configurer des réponses</a:t>
            </a:r>
            <a:endParaRPr lang="en-US" sz="1200" b="1" dirty="0">
              <a:latin typeface="Times New Roman" panose="02020603050405020304" pitchFamily="18" charset="0"/>
              <a:cs typeface="Times New Roman" panose="02020603050405020304" pitchFamily="18" charset="0"/>
            </a:endParaRPr>
          </a:p>
        </p:txBody>
      </p:sp>
      <p:sp>
        <p:nvSpPr>
          <p:cNvPr id="42" name="Shape 38"/>
          <p:cNvSpPr/>
          <p:nvPr/>
        </p:nvSpPr>
        <p:spPr>
          <a:xfrm>
            <a:off x="5829360" y="3432188"/>
            <a:ext cx="3063240" cy="402336"/>
          </a:xfrm>
          <a:prstGeom prst="rect">
            <a:avLst/>
          </a:prstGeom>
          <a:solidFill>
            <a:srgbClr val="1A3160"/>
          </a:solidFill>
          <a:ln w="12700">
            <a:solidFill>
              <a:srgbClr val="FFD166"/>
            </a:solidFill>
            <a:prstDash val="solid"/>
          </a:ln>
        </p:spPr>
      </p:sp>
      <p:sp>
        <p:nvSpPr>
          <p:cNvPr id="43" name="Text 39"/>
          <p:cNvSpPr/>
          <p:nvPr/>
        </p:nvSpPr>
        <p:spPr>
          <a:xfrm>
            <a:off x="5920800" y="3450476"/>
            <a:ext cx="2834640" cy="201168"/>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when().thenThrow()</a:t>
            </a:r>
            <a:endParaRPr lang="en-US" sz="1200" b="1" dirty="0">
              <a:latin typeface="Times New Roman" panose="02020603050405020304" pitchFamily="18" charset="0"/>
              <a:cs typeface="Times New Roman" panose="02020603050405020304" pitchFamily="18" charset="0"/>
            </a:endParaRPr>
          </a:p>
        </p:txBody>
      </p:sp>
      <p:sp>
        <p:nvSpPr>
          <p:cNvPr id="44" name="Text 40"/>
          <p:cNvSpPr/>
          <p:nvPr/>
        </p:nvSpPr>
        <p:spPr>
          <a:xfrm>
            <a:off x="5920800" y="3642500"/>
            <a:ext cx="2834640" cy="16459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Simuler des exceptions</a:t>
            </a:r>
            <a:endParaRPr lang="en-US" sz="1200" b="1" dirty="0">
              <a:latin typeface="Times New Roman" panose="02020603050405020304" pitchFamily="18" charset="0"/>
              <a:cs typeface="Times New Roman" panose="02020603050405020304" pitchFamily="18" charset="0"/>
            </a:endParaRPr>
          </a:p>
        </p:txBody>
      </p:sp>
      <p:sp>
        <p:nvSpPr>
          <p:cNvPr id="45" name="Shape 41"/>
          <p:cNvSpPr/>
          <p:nvPr/>
        </p:nvSpPr>
        <p:spPr>
          <a:xfrm>
            <a:off x="5829360" y="3871100"/>
            <a:ext cx="3063240" cy="402336"/>
          </a:xfrm>
          <a:prstGeom prst="rect">
            <a:avLst/>
          </a:prstGeom>
          <a:solidFill>
            <a:srgbClr val="1A3160"/>
          </a:solidFill>
          <a:ln w="12700">
            <a:solidFill>
              <a:srgbClr val="FFD166"/>
            </a:solidFill>
            <a:prstDash val="solid"/>
          </a:ln>
        </p:spPr>
      </p:sp>
      <p:sp>
        <p:nvSpPr>
          <p:cNvPr id="46" name="Text 42"/>
          <p:cNvSpPr/>
          <p:nvPr/>
        </p:nvSpPr>
        <p:spPr>
          <a:xfrm>
            <a:off x="5920800" y="3889388"/>
            <a:ext cx="2834640" cy="201168"/>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verify(mock).method()</a:t>
            </a:r>
            <a:endParaRPr lang="en-US" sz="1200" b="1" dirty="0">
              <a:latin typeface="Times New Roman" panose="02020603050405020304" pitchFamily="18" charset="0"/>
              <a:cs typeface="Times New Roman" panose="02020603050405020304" pitchFamily="18" charset="0"/>
            </a:endParaRPr>
          </a:p>
        </p:txBody>
      </p:sp>
      <p:sp>
        <p:nvSpPr>
          <p:cNvPr id="47" name="Text 43"/>
          <p:cNvSpPr/>
          <p:nvPr/>
        </p:nvSpPr>
        <p:spPr>
          <a:xfrm>
            <a:off x="5920800" y="4081412"/>
            <a:ext cx="2834640" cy="16459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Vérifier qu'une méthode a été appelée</a:t>
            </a:r>
            <a:endParaRPr lang="en-US" sz="1200" b="1" dirty="0">
              <a:latin typeface="Times New Roman" panose="02020603050405020304" pitchFamily="18" charset="0"/>
              <a:cs typeface="Times New Roman" panose="02020603050405020304" pitchFamily="18" charset="0"/>
            </a:endParaRPr>
          </a:p>
        </p:txBody>
      </p:sp>
      <p:sp>
        <p:nvSpPr>
          <p:cNvPr id="48" name="Shape 44"/>
          <p:cNvSpPr/>
          <p:nvPr/>
        </p:nvSpPr>
        <p:spPr>
          <a:xfrm>
            <a:off x="5829360" y="4310012"/>
            <a:ext cx="3063240" cy="402336"/>
          </a:xfrm>
          <a:prstGeom prst="rect">
            <a:avLst/>
          </a:prstGeom>
          <a:solidFill>
            <a:srgbClr val="1A3160"/>
          </a:solidFill>
          <a:ln w="12700">
            <a:solidFill>
              <a:srgbClr val="FFD166"/>
            </a:solidFill>
            <a:prstDash val="solid"/>
          </a:ln>
        </p:spPr>
      </p:sp>
      <p:sp>
        <p:nvSpPr>
          <p:cNvPr id="49" name="Text 45"/>
          <p:cNvSpPr/>
          <p:nvPr/>
        </p:nvSpPr>
        <p:spPr>
          <a:xfrm>
            <a:off x="5920800" y="4328300"/>
            <a:ext cx="2834640" cy="201168"/>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verify(mock, times(n))</a:t>
            </a:r>
            <a:endParaRPr lang="en-US" sz="1200" b="1" dirty="0">
              <a:latin typeface="Times New Roman" panose="02020603050405020304" pitchFamily="18" charset="0"/>
              <a:cs typeface="Times New Roman" panose="02020603050405020304" pitchFamily="18" charset="0"/>
            </a:endParaRPr>
          </a:p>
        </p:txBody>
      </p:sp>
      <p:sp>
        <p:nvSpPr>
          <p:cNvPr id="50" name="Text 46"/>
          <p:cNvSpPr/>
          <p:nvPr/>
        </p:nvSpPr>
        <p:spPr>
          <a:xfrm>
            <a:off x="5920800" y="4520324"/>
            <a:ext cx="2834640" cy="16459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Vérifier le nombre d'appels</a:t>
            </a:r>
            <a:endParaRPr lang="en-US" sz="1200" b="1" dirty="0">
              <a:latin typeface="Times New Roman" panose="02020603050405020304" pitchFamily="18" charset="0"/>
              <a:cs typeface="Times New Roman" panose="02020603050405020304" pitchFamily="18" charset="0"/>
            </a:endParaRPr>
          </a:p>
        </p:txBody>
      </p:sp>
      <p:sp>
        <p:nvSpPr>
          <p:cNvPr id="51" name="Shape 47"/>
          <p:cNvSpPr/>
          <p:nvPr/>
        </p:nvSpPr>
        <p:spPr>
          <a:xfrm>
            <a:off x="5829360" y="4748924"/>
            <a:ext cx="3063240" cy="402336"/>
          </a:xfrm>
          <a:prstGeom prst="rect">
            <a:avLst/>
          </a:prstGeom>
          <a:solidFill>
            <a:srgbClr val="1A3160"/>
          </a:solidFill>
          <a:ln w="12700">
            <a:solidFill>
              <a:srgbClr val="FFD166"/>
            </a:solidFill>
            <a:prstDash val="solid"/>
          </a:ln>
        </p:spPr>
      </p:sp>
      <p:sp>
        <p:nvSpPr>
          <p:cNvPr id="52" name="Text 48"/>
          <p:cNvSpPr/>
          <p:nvPr/>
        </p:nvSpPr>
        <p:spPr>
          <a:xfrm>
            <a:off x="5920800" y="4767212"/>
            <a:ext cx="2834640" cy="201168"/>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@Captor ArgumentCaptor</a:t>
            </a:r>
            <a:endParaRPr lang="en-US" sz="1200" b="1" dirty="0">
              <a:latin typeface="Times New Roman" panose="02020603050405020304" pitchFamily="18" charset="0"/>
              <a:cs typeface="Times New Roman" panose="02020603050405020304" pitchFamily="18" charset="0"/>
            </a:endParaRPr>
          </a:p>
        </p:txBody>
      </p:sp>
      <p:sp>
        <p:nvSpPr>
          <p:cNvPr id="53" name="Text 49"/>
          <p:cNvSpPr/>
          <p:nvPr/>
        </p:nvSpPr>
        <p:spPr>
          <a:xfrm>
            <a:off x="5920800" y="4959236"/>
            <a:ext cx="2834640" cy="16459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Capturer les arguments passés</a:t>
            </a:r>
            <a:endParaRPr lang="en-US" sz="1200" b="1" dirty="0">
              <a:latin typeface="Times New Roman" panose="02020603050405020304" pitchFamily="18" charset="0"/>
              <a:cs typeface="Times New Roman" panose="02020603050405020304" pitchFamily="18" charset="0"/>
            </a:endParaRPr>
          </a:p>
        </p:txBody>
      </p:sp>
      <p:sp>
        <p:nvSpPr>
          <p:cNvPr id="54" name="Shape 50"/>
          <p:cNvSpPr/>
          <p:nvPr/>
        </p:nvSpPr>
        <p:spPr>
          <a:xfrm>
            <a:off x="5829360" y="5187836"/>
            <a:ext cx="3063240" cy="402336"/>
          </a:xfrm>
          <a:prstGeom prst="rect">
            <a:avLst/>
          </a:prstGeom>
          <a:solidFill>
            <a:srgbClr val="1A3160"/>
          </a:solidFill>
          <a:ln w="12700">
            <a:solidFill>
              <a:srgbClr val="FFD166"/>
            </a:solidFill>
            <a:prstDash val="solid"/>
          </a:ln>
        </p:spPr>
      </p:sp>
      <p:sp>
        <p:nvSpPr>
          <p:cNvPr id="55" name="Text 51"/>
          <p:cNvSpPr/>
          <p:nvPr/>
        </p:nvSpPr>
        <p:spPr>
          <a:xfrm>
            <a:off x="5920800" y="5206124"/>
            <a:ext cx="2834640" cy="201168"/>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doReturn() / doThrow()</a:t>
            </a:r>
            <a:endParaRPr lang="en-US" sz="1200" b="1" dirty="0">
              <a:latin typeface="Times New Roman" panose="02020603050405020304" pitchFamily="18" charset="0"/>
              <a:cs typeface="Times New Roman" panose="02020603050405020304" pitchFamily="18" charset="0"/>
            </a:endParaRPr>
          </a:p>
        </p:txBody>
      </p:sp>
      <p:sp>
        <p:nvSpPr>
          <p:cNvPr id="56" name="Text 52"/>
          <p:cNvSpPr/>
          <p:nvPr/>
        </p:nvSpPr>
        <p:spPr>
          <a:xfrm>
            <a:off x="5920800" y="5398148"/>
            <a:ext cx="2834640" cy="16459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Pour les méthodes void ou Spy</a:t>
            </a:r>
            <a:endParaRPr lang="en-US" sz="1200" b="1" dirty="0">
              <a:latin typeface="Times New Roman" panose="02020603050405020304" pitchFamily="18" charset="0"/>
              <a:cs typeface="Times New Roman" panose="02020603050405020304" pitchFamily="18" charset="0"/>
            </a:endParaRPr>
          </a:p>
        </p:txBody>
      </p:sp>
      <p:sp>
        <p:nvSpPr>
          <p:cNvPr id="57"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4"/>
            </a:pPr>
            <a:r>
              <a:rPr lang="en-US" sz="2400" dirty="0" smtClean="0">
                <a:solidFill>
                  <a:srgbClr val="FF0000"/>
                </a:solidFill>
              </a:rPr>
              <a:t>FRAMEWORK DE MOCK</a:t>
            </a:r>
            <a:endParaRPr lang="en-US" sz="2400" dirty="0">
              <a:solidFill>
                <a:srgbClr val="FF0000"/>
              </a:solidFill>
            </a:endParaRPr>
          </a:p>
        </p:txBody>
      </p:sp>
    </p:spTree>
    <p:extLst>
      <p:ext uri="{BB962C8B-B14F-4D97-AF65-F5344CB8AC3E}">
        <p14:creationId xmlns:p14="http://schemas.microsoft.com/office/powerpoint/2010/main" val="12687005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5"/>
            </a:pPr>
            <a:r>
              <a:rPr lang="fr-CI" sz="2400" noProof="0" dirty="0" smtClean="0">
                <a:solidFill>
                  <a:srgbClr val="FF0000"/>
                </a:solidFill>
              </a:rPr>
              <a:t>NOTIONS TDD &amp; BDD</a:t>
            </a:r>
            <a:endParaRPr lang="fr-CI" sz="2400" noProof="0" dirty="0">
              <a:solidFill>
                <a:srgbClr val="FF0000"/>
              </a:solidFill>
            </a:endParaRPr>
          </a:p>
        </p:txBody>
      </p:sp>
      <p:pic>
        <p:nvPicPr>
          <p:cNvPr id="10"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Rectangle 73"/>
          <p:cNvSpPr/>
          <p:nvPr/>
        </p:nvSpPr>
        <p:spPr>
          <a:xfrm>
            <a:off x="320268" y="1000509"/>
            <a:ext cx="8536570" cy="923330"/>
          </a:xfrm>
          <a:prstGeom prst="rect">
            <a:avLst/>
          </a:prstGeom>
        </p:spPr>
        <p:txBody>
          <a:bodyPr wrap="square">
            <a:spAutoFit/>
          </a:bodyPr>
          <a:lstStyle/>
          <a:p>
            <a:pPr algn="just">
              <a:lnSpc>
                <a:spcPct val="150000"/>
              </a:lnSpc>
            </a:pPr>
            <a:r>
              <a:rPr lang="fr-FR" b="1" dirty="0">
                <a:latin typeface="Times New Roman" panose="02020603050405020304" pitchFamily="18" charset="0"/>
                <a:cs typeface="Times New Roman" panose="02020603050405020304" pitchFamily="18" charset="0"/>
              </a:rPr>
              <a:t>TDD (Test-</a:t>
            </a:r>
            <a:r>
              <a:rPr lang="fr-FR" b="1" dirty="0" err="1">
                <a:latin typeface="Times New Roman" panose="02020603050405020304" pitchFamily="18" charset="0"/>
                <a:cs typeface="Times New Roman" panose="02020603050405020304" pitchFamily="18" charset="0"/>
              </a:rPr>
              <a:t>Driven</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Development</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Méthode de programmation où le développeur écrit le test unitaire </a:t>
            </a:r>
            <a:r>
              <a:rPr lang="fr-FR" i="1" dirty="0">
                <a:latin typeface="Times New Roman" panose="02020603050405020304" pitchFamily="18" charset="0"/>
                <a:cs typeface="Times New Roman" panose="02020603050405020304" pitchFamily="18" charset="0"/>
              </a:rPr>
              <a:t>avant</a:t>
            </a:r>
            <a:r>
              <a:rPr lang="fr-FR" dirty="0">
                <a:latin typeface="Times New Roman" panose="02020603050405020304" pitchFamily="18" charset="0"/>
                <a:cs typeface="Times New Roman" panose="02020603050405020304" pitchFamily="18" charset="0"/>
              </a:rPr>
              <a:t> d'écrire le code de la </a:t>
            </a:r>
            <a:r>
              <a:rPr lang="fr-FR" dirty="0" smtClean="0">
                <a:latin typeface="Times New Roman" panose="02020603050405020304" pitchFamily="18" charset="0"/>
                <a:cs typeface="Times New Roman" panose="02020603050405020304" pitchFamily="18" charset="0"/>
              </a:rPr>
              <a:t>fonctionnalité</a:t>
            </a:r>
            <a:endParaRPr lang="en-US" dirty="0">
              <a:latin typeface="Times New Roman" panose="02020603050405020304" pitchFamily="18" charset="0"/>
              <a:cs typeface="Times New Roman" panose="02020603050405020304" pitchFamily="18" charset="0"/>
            </a:endParaRPr>
          </a:p>
        </p:txBody>
      </p:sp>
      <p:sp>
        <p:nvSpPr>
          <p:cNvPr id="75" name="Text 3"/>
          <p:cNvSpPr/>
          <p:nvPr/>
        </p:nvSpPr>
        <p:spPr>
          <a:xfrm>
            <a:off x="428033" y="1957284"/>
            <a:ext cx="8229600" cy="365760"/>
          </a:xfrm>
          <a:prstGeom prst="rect">
            <a:avLst/>
          </a:prstGeom>
          <a:noFill/>
          <a:ln/>
        </p:spPr>
        <p:txBody>
          <a:bodyPr wrap="square" rtlCol="0" anchor="ctr"/>
          <a:lstStyle/>
          <a:p>
            <a:pPr marL="0" indent="0">
              <a:buNone/>
            </a:pPr>
            <a:r>
              <a:rPr lang="en-US" sz="1200" b="1" dirty="0" smtClean="0">
                <a:solidFill>
                  <a:srgbClr val="FF0000"/>
                </a:solidFill>
                <a:latin typeface="Times New Roman" panose="02020603050405020304" pitchFamily="18" charset="0"/>
                <a:cs typeface="Times New Roman" panose="02020603050405020304" pitchFamily="18" charset="0"/>
              </a:rPr>
              <a:t>Le Cycle Red → Green → Refactor</a:t>
            </a:r>
            <a:endParaRPr lang="en-US" sz="1200" b="1" dirty="0">
              <a:solidFill>
                <a:srgbClr val="FF0000"/>
              </a:solidFill>
              <a:latin typeface="Times New Roman" panose="02020603050405020304" pitchFamily="18" charset="0"/>
              <a:cs typeface="Times New Roman" panose="02020603050405020304" pitchFamily="18" charset="0"/>
            </a:endParaRPr>
          </a:p>
        </p:txBody>
      </p:sp>
      <p:sp>
        <p:nvSpPr>
          <p:cNvPr id="76" name="Shape 4"/>
          <p:cNvSpPr/>
          <p:nvPr/>
        </p:nvSpPr>
        <p:spPr>
          <a:xfrm>
            <a:off x="976673" y="2414484"/>
            <a:ext cx="1645920" cy="1371600"/>
          </a:xfrm>
          <a:prstGeom prst="ellipse">
            <a:avLst/>
          </a:prstGeom>
          <a:solidFill>
            <a:srgbClr val="EF476F">
              <a:alpha val="80000"/>
            </a:srgbClr>
          </a:solidFill>
          <a:ln w="38100">
            <a:solidFill>
              <a:srgbClr val="EF476F"/>
            </a:solidFill>
            <a:prstDash val="solid"/>
          </a:ln>
        </p:spPr>
      </p:sp>
      <p:sp>
        <p:nvSpPr>
          <p:cNvPr id="77" name="Text 5"/>
          <p:cNvSpPr/>
          <p:nvPr/>
        </p:nvSpPr>
        <p:spPr>
          <a:xfrm>
            <a:off x="976673" y="2414484"/>
            <a:ext cx="1645920" cy="64008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1. RED</a:t>
            </a:r>
          </a:p>
        </p:txBody>
      </p:sp>
      <p:sp>
        <p:nvSpPr>
          <p:cNvPr id="78" name="Text 6"/>
          <p:cNvSpPr/>
          <p:nvPr/>
        </p:nvSpPr>
        <p:spPr>
          <a:xfrm>
            <a:off x="976673" y="2899116"/>
            <a:ext cx="1645920" cy="64008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Écrire un test</a:t>
            </a:r>
          </a:p>
          <a:p>
            <a:pPr marL="0" indent="0" algn="ctr">
              <a:buNone/>
            </a:pPr>
            <a:r>
              <a:rPr lang="en-US" sz="1200" b="1" dirty="0">
                <a:latin typeface="Times New Roman" panose="02020603050405020304" pitchFamily="18" charset="0"/>
                <a:cs typeface="Times New Roman" panose="02020603050405020304" pitchFamily="18" charset="0"/>
              </a:rPr>
              <a:t>qui échoue</a:t>
            </a:r>
          </a:p>
        </p:txBody>
      </p:sp>
      <p:sp>
        <p:nvSpPr>
          <p:cNvPr id="79" name="Shape 7"/>
          <p:cNvSpPr/>
          <p:nvPr/>
        </p:nvSpPr>
        <p:spPr>
          <a:xfrm>
            <a:off x="2714033" y="3054564"/>
            <a:ext cx="594360" cy="54864"/>
          </a:xfrm>
          <a:prstGeom prst="rect">
            <a:avLst/>
          </a:prstGeom>
          <a:solidFill>
            <a:srgbClr val="8A9BBF"/>
          </a:solidFill>
          <a:ln/>
        </p:spPr>
      </p:sp>
      <p:sp>
        <p:nvSpPr>
          <p:cNvPr id="80" name="Text 8"/>
          <p:cNvSpPr/>
          <p:nvPr/>
        </p:nvSpPr>
        <p:spPr>
          <a:xfrm>
            <a:off x="3125513" y="2944836"/>
            <a:ext cx="274320" cy="27432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a:t>
            </a:r>
          </a:p>
        </p:txBody>
      </p:sp>
      <p:sp>
        <p:nvSpPr>
          <p:cNvPr id="81" name="Shape 9"/>
          <p:cNvSpPr/>
          <p:nvPr/>
        </p:nvSpPr>
        <p:spPr>
          <a:xfrm>
            <a:off x="428033" y="3877524"/>
            <a:ext cx="2743200" cy="914400"/>
          </a:xfrm>
          <a:prstGeom prst="rect">
            <a:avLst/>
          </a:prstGeom>
          <a:solidFill>
            <a:srgbClr val="1A3160"/>
          </a:solidFill>
          <a:ln w="12700">
            <a:solidFill>
              <a:srgbClr val="EF476F"/>
            </a:solidFill>
            <a:prstDash val="solid"/>
          </a:ln>
        </p:spPr>
      </p:sp>
      <p:sp>
        <p:nvSpPr>
          <p:cNvPr id="82" name="Shape 10"/>
          <p:cNvSpPr/>
          <p:nvPr/>
        </p:nvSpPr>
        <p:spPr>
          <a:xfrm>
            <a:off x="428033" y="3877524"/>
            <a:ext cx="2743200" cy="54864"/>
          </a:xfrm>
          <a:prstGeom prst="rect">
            <a:avLst/>
          </a:prstGeom>
          <a:solidFill>
            <a:srgbClr val="EF476F"/>
          </a:solidFill>
          <a:ln/>
        </p:spPr>
      </p:sp>
      <p:sp>
        <p:nvSpPr>
          <p:cNvPr id="83" name="Text 11"/>
          <p:cNvSpPr/>
          <p:nvPr/>
        </p:nvSpPr>
        <p:spPr>
          <a:xfrm>
            <a:off x="519473" y="3968964"/>
            <a:ext cx="2560320" cy="749808"/>
          </a:xfrm>
          <a:prstGeom prst="rect">
            <a:avLst/>
          </a:prstGeom>
          <a:noFill/>
          <a:ln/>
        </p:spPr>
        <p:txBody>
          <a:bodyPr wrap="square" lIns="0" tIns="0" rIns="0" bIns="0" rtlCol="0" anchor="ctr"/>
          <a:lstStyle/>
          <a:p>
            <a:pPr marL="0" indent="0">
              <a:buNone/>
            </a:pPr>
            <a:r>
              <a:rPr lang="en-US" sz="1200" b="1" dirty="0">
                <a:solidFill>
                  <a:schemeClr val="accent3"/>
                </a:solidFill>
                <a:latin typeface="Times New Roman" panose="02020603050405020304" pitchFamily="18" charset="0"/>
                <a:cs typeface="Times New Roman" panose="02020603050405020304" pitchFamily="18" charset="0"/>
              </a:rPr>
              <a:t>Écrire UNIQUEMENT le test, pas encore le code. Le test doit échouer (rouge) car la fonctionnalité n'existe pas encore.</a:t>
            </a:r>
          </a:p>
        </p:txBody>
      </p:sp>
      <p:sp>
        <p:nvSpPr>
          <p:cNvPr id="84" name="Shape 12"/>
          <p:cNvSpPr/>
          <p:nvPr/>
        </p:nvSpPr>
        <p:spPr>
          <a:xfrm>
            <a:off x="3902753" y="2414484"/>
            <a:ext cx="1645920" cy="1371600"/>
          </a:xfrm>
          <a:prstGeom prst="ellipse">
            <a:avLst/>
          </a:prstGeom>
          <a:solidFill>
            <a:srgbClr val="06D6A0">
              <a:alpha val="80000"/>
            </a:srgbClr>
          </a:solidFill>
          <a:ln w="38100">
            <a:solidFill>
              <a:srgbClr val="06D6A0"/>
            </a:solidFill>
            <a:prstDash val="solid"/>
          </a:ln>
        </p:spPr>
      </p:sp>
      <p:sp>
        <p:nvSpPr>
          <p:cNvPr id="85" name="Text 13"/>
          <p:cNvSpPr/>
          <p:nvPr/>
        </p:nvSpPr>
        <p:spPr>
          <a:xfrm>
            <a:off x="3902753" y="2414484"/>
            <a:ext cx="1645920" cy="64008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2. GREEN</a:t>
            </a:r>
          </a:p>
        </p:txBody>
      </p:sp>
      <p:sp>
        <p:nvSpPr>
          <p:cNvPr id="86" name="Text 14"/>
          <p:cNvSpPr/>
          <p:nvPr/>
        </p:nvSpPr>
        <p:spPr>
          <a:xfrm>
            <a:off x="3902753" y="2899116"/>
            <a:ext cx="1645920" cy="64008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Faire passer</a:t>
            </a:r>
          </a:p>
          <a:p>
            <a:pPr marL="0" indent="0" algn="ctr">
              <a:buNone/>
            </a:pPr>
            <a:r>
              <a:rPr lang="en-US" sz="1200" b="1" dirty="0">
                <a:latin typeface="Times New Roman" panose="02020603050405020304" pitchFamily="18" charset="0"/>
                <a:cs typeface="Times New Roman" panose="02020603050405020304" pitchFamily="18" charset="0"/>
              </a:rPr>
              <a:t>le test</a:t>
            </a:r>
          </a:p>
        </p:txBody>
      </p:sp>
      <p:sp>
        <p:nvSpPr>
          <p:cNvPr id="87" name="Shape 15"/>
          <p:cNvSpPr/>
          <p:nvPr/>
        </p:nvSpPr>
        <p:spPr>
          <a:xfrm>
            <a:off x="5640113" y="3054564"/>
            <a:ext cx="594360" cy="54864"/>
          </a:xfrm>
          <a:prstGeom prst="rect">
            <a:avLst/>
          </a:prstGeom>
          <a:solidFill>
            <a:srgbClr val="8A9BBF"/>
          </a:solidFill>
          <a:ln/>
        </p:spPr>
      </p:sp>
      <p:sp>
        <p:nvSpPr>
          <p:cNvPr id="88" name="Text 16"/>
          <p:cNvSpPr/>
          <p:nvPr/>
        </p:nvSpPr>
        <p:spPr>
          <a:xfrm>
            <a:off x="6051593" y="2944836"/>
            <a:ext cx="274320" cy="27432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a:t>
            </a:r>
          </a:p>
        </p:txBody>
      </p:sp>
      <p:sp>
        <p:nvSpPr>
          <p:cNvPr id="89" name="Shape 17"/>
          <p:cNvSpPr/>
          <p:nvPr/>
        </p:nvSpPr>
        <p:spPr>
          <a:xfrm>
            <a:off x="3354113" y="3877524"/>
            <a:ext cx="2743200" cy="914400"/>
          </a:xfrm>
          <a:prstGeom prst="rect">
            <a:avLst/>
          </a:prstGeom>
          <a:solidFill>
            <a:srgbClr val="1A3160"/>
          </a:solidFill>
          <a:ln w="12700">
            <a:solidFill>
              <a:srgbClr val="06D6A0"/>
            </a:solidFill>
            <a:prstDash val="solid"/>
          </a:ln>
        </p:spPr>
      </p:sp>
      <p:sp>
        <p:nvSpPr>
          <p:cNvPr id="90" name="Shape 18"/>
          <p:cNvSpPr/>
          <p:nvPr/>
        </p:nvSpPr>
        <p:spPr>
          <a:xfrm>
            <a:off x="3354113" y="3877524"/>
            <a:ext cx="2743200" cy="54864"/>
          </a:xfrm>
          <a:prstGeom prst="rect">
            <a:avLst/>
          </a:prstGeom>
          <a:solidFill>
            <a:srgbClr val="06D6A0"/>
          </a:solidFill>
          <a:ln/>
        </p:spPr>
      </p:sp>
      <p:sp>
        <p:nvSpPr>
          <p:cNvPr id="91" name="Text 19"/>
          <p:cNvSpPr/>
          <p:nvPr/>
        </p:nvSpPr>
        <p:spPr>
          <a:xfrm>
            <a:off x="3445553" y="3968964"/>
            <a:ext cx="2560320" cy="749808"/>
          </a:xfrm>
          <a:prstGeom prst="rect">
            <a:avLst/>
          </a:prstGeom>
          <a:noFill/>
          <a:ln/>
        </p:spPr>
        <p:txBody>
          <a:bodyPr wrap="square" lIns="0" tIns="0" rIns="0" bIns="0" rtlCol="0" anchor="ctr"/>
          <a:lstStyle/>
          <a:p>
            <a:pPr marL="0" indent="0">
              <a:buNone/>
            </a:pPr>
            <a:r>
              <a:rPr lang="en-US" sz="1200" b="1" dirty="0">
                <a:solidFill>
                  <a:schemeClr val="accent3"/>
                </a:solidFill>
                <a:latin typeface="Times New Roman" panose="02020603050405020304" pitchFamily="18" charset="0"/>
                <a:cs typeface="Times New Roman" panose="02020603050405020304" pitchFamily="18" charset="0"/>
              </a:rPr>
              <a:t>Écrire le minimum de code nécessaire pour faire passer le test. Ne pas chercher la perfection à ce stade.</a:t>
            </a:r>
          </a:p>
        </p:txBody>
      </p:sp>
      <p:sp>
        <p:nvSpPr>
          <p:cNvPr id="92" name="Shape 20"/>
          <p:cNvSpPr/>
          <p:nvPr/>
        </p:nvSpPr>
        <p:spPr>
          <a:xfrm>
            <a:off x="6828833" y="2414484"/>
            <a:ext cx="1645920" cy="1371600"/>
          </a:xfrm>
          <a:prstGeom prst="ellipse">
            <a:avLst/>
          </a:prstGeom>
          <a:solidFill>
            <a:srgbClr val="00C8FF">
              <a:alpha val="80000"/>
            </a:srgbClr>
          </a:solidFill>
          <a:ln w="38100">
            <a:solidFill>
              <a:srgbClr val="00C8FF"/>
            </a:solidFill>
            <a:prstDash val="solid"/>
          </a:ln>
        </p:spPr>
      </p:sp>
      <p:sp>
        <p:nvSpPr>
          <p:cNvPr id="93" name="Text 21"/>
          <p:cNvSpPr/>
          <p:nvPr/>
        </p:nvSpPr>
        <p:spPr>
          <a:xfrm>
            <a:off x="6828833" y="2414484"/>
            <a:ext cx="1645920" cy="64008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3. REFACTOR</a:t>
            </a:r>
          </a:p>
        </p:txBody>
      </p:sp>
      <p:sp>
        <p:nvSpPr>
          <p:cNvPr id="94" name="Text 22"/>
          <p:cNvSpPr/>
          <p:nvPr/>
        </p:nvSpPr>
        <p:spPr>
          <a:xfrm>
            <a:off x="6828833" y="2899116"/>
            <a:ext cx="1645920" cy="640080"/>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cs typeface="Times New Roman" panose="02020603050405020304" pitchFamily="18" charset="0"/>
              </a:rPr>
              <a:t>Améliorer</a:t>
            </a:r>
          </a:p>
          <a:p>
            <a:pPr marL="0" indent="0" algn="ctr">
              <a:buNone/>
            </a:pPr>
            <a:r>
              <a:rPr lang="en-US" sz="1200" b="1" dirty="0">
                <a:latin typeface="Times New Roman" panose="02020603050405020304" pitchFamily="18" charset="0"/>
                <a:cs typeface="Times New Roman" panose="02020603050405020304" pitchFamily="18" charset="0"/>
              </a:rPr>
              <a:t>le code</a:t>
            </a:r>
          </a:p>
        </p:txBody>
      </p:sp>
      <p:sp>
        <p:nvSpPr>
          <p:cNvPr id="95" name="Shape 23"/>
          <p:cNvSpPr/>
          <p:nvPr/>
        </p:nvSpPr>
        <p:spPr>
          <a:xfrm>
            <a:off x="6280193" y="3877524"/>
            <a:ext cx="2743200" cy="914400"/>
          </a:xfrm>
          <a:prstGeom prst="rect">
            <a:avLst/>
          </a:prstGeom>
          <a:solidFill>
            <a:srgbClr val="1A3160"/>
          </a:solidFill>
          <a:ln w="12700">
            <a:solidFill>
              <a:srgbClr val="00C8FF"/>
            </a:solidFill>
            <a:prstDash val="solid"/>
          </a:ln>
        </p:spPr>
      </p:sp>
      <p:sp>
        <p:nvSpPr>
          <p:cNvPr id="96" name="Shape 24"/>
          <p:cNvSpPr/>
          <p:nvPr/>
        </p:nvSpPr>
        <p:spPr>
          <a:xfrm>
            <a:off x="6280193" y="3877524"/>
            <a:ext cx="2743200" cy="54864"/>
          </a:xfrm>
          <a:prstGeom prst="rect">
            <a:avLst/>
          </a:prstGeom>
          <a:solidFill>
            <a:srgbClr val="00C8FF"/>
          </a:solidFill>
          <a:ln/>
        </p:spPr>
      </p:sp>
      <p:sp>
        <p:nvSpPr>
          <p:cNvPr id="97" name="Text 25"/>
          <p:cNvSpPr/>
          <p:nvPr/>
        </p:nvSpPr>
        <p:spPr>
          <a:xfrm>
            <a:off x="6371633" y="3968964"/>
            <a:ext cx="2560320" cy="749808"/>
          </a:xfrm>
          <a:prstGeom prst="rect">
            <a:avLst/>
          </a:prstGeom>
          <a:noFill/>
          <a:ln/>
        </p:spPr>
        <p:txBody>
          <a:bodyPr wrap="square" lIns="0" tIns="0" rIns="0" bIns="0" rtlCol="0" anchor="ctr"/>
          <a:lstStyle/>
          <a:p>
            <a:pPr marL="0" indent="0">
              <a:buNone/>
            </a:pPr>
            <a:r>
              <a:rPr lang="en-US" sz="1200" b="1" dirty="0">
                <a:solidFill>
                  <a:schemeClr val="accent3"/>
                </a:solidFill>
                <a:latin typeface="Times New Roman" panose="02020603050405020304" pitchFamily="18" charset="0"/>
                <a:cs typeface="Times New Roman" panose="02020603050405020304" pitchFamily="18" charset="0"/>
              </a:rPr>
              <a:t>Nettoyer et améliorer le code sans changer le comportement. Les tests servent de filet de sécurité.</a:t>
            </a:r>
          </a:p>
        </p:txBody>
      </p:sp>
      <p:sp>
        <p:nvSpPr>
          <p:cNvPr id="98" name="Text 26"/>
          <p:cNvSpPr/>
          <p:nvPr/>
        </p:nvSpPr>
        <p:spPr>
          <a:xfrm>
            <a:off x="428033" y="4929084"/>
            <a:ext cx="8229600" cy="347472"/>
          </a:xfrm>
          <a:prstGeom prst="rect">
            <a:avLst/>
          </a:prstGeom>
          <a:noFill/>
          <a:ln/>
        </p:spPr>
        <p:txBody>
          <a:bodyPr wrap="square" rtlCol="0" anchor="ctr"/>
          <a:lstStyle/>
          <a:p>
            <a:pPr marL="0" indent="0">
              <a:buNone/>
            </a:pPr>
            <a:r>
              <a:rPr lang="en-US" sz="1200" b="1" dirty="0">
                <a:latin typeface="Times New Roman" panose="02020603050405020304" pitchFamily="18" charset="0"/>
                <a:cs typeface="Times New Roman" panose="02020603050405020304" pitchFamily="18" charset="0"/>
              </a:rPr>
              <a:t>Bénéfices du TDD</a:t>
            </a:r>
          </a:p>
        </p:txBody>
      </p:sp>
      <p:sp>
        <p:nvSpPr>
          <p:cNvPr id="99" name="Text 27"/>
          <p:cNvSpPr/>
          <p:nvPr/>
        </p:nvSpPr>
        <p:spPr>
          <a:xfrm>
            <a:off x="382313" y="5340564"/>
            <a:ext cx="4206240" cy="274320"/>
          </a:xfrm>
          <a:prstGeom prst="rect">
            <a:avLst/>
          </a:prstGeom>
          <a:noFill/>
          <a:ln/>
        </p:spPr>
        <p:txBody>
          <a:bodyPr wrap="square" lIns="0" tIns="0" rIns="0" bIns="0" rtlCol="0" anchor="ctr"/>
          <a:lstStyle/>
          <a:p>
            <a:pPr marL="0" indent="0">
              <a:buNone/>
            </a:pPr>
            <a:r>
              <a:rPr lang="en-US" sz="1200" b="1" dirty="0">
                <a:latin typeface="Times New Roman" panose="02020603050405020304" pitchFamily="18" charset="0"/>
                <a:cs typeface="Times New Roman" panose="02020603050405020304" pitchFamily="18" charset="0"/>
              </a:rPr>
              <a:t>✅ Meilleure conception (découplage forcé)</a:t>
            </a:r>
          </a:p>
        </p:txBody>
      </p:sp>
      <p:sp>
        <p:nvSpPr>
          <p:cNvPr id="100" name="Text 28"/>
          <p:cNvSpPr/>
          <p:nvPr/>
        </p:nvSpPr>
        <p:spPr>
          <a:xfrm>
            <a:off x="4862873" y="5340564"/>
            <a:ext cx="4206240" cy="274320"/>
          </a:xfrm>
          <a:prstGeom prst="rect">
            <a:avLst/>
          </a:prstGeom>
          <a:noFill/>
          <a:ln/>
        </p:spPr>
        <p:txBody>
          <a:bodyPr wrap="square" lIns="0" tIns="0" rIns="0" bIns="0" rtlCol="0" anchor="ctr"/>
          <a:lstStyle/>
          <a:p>
            <a:pPr marL="0" indent="0">
              <a:buNone/>
            </a:pPr>
            <a:r>
              <a:rPr lang="en-US" sz="1200" b="1" dirty="0">
                <a:latin typeface="Times New Roman" panose="02020603050405020304" pitchFamily="18" charset="0"/>
                <a:cs typeface="Times New Roman" panose="02020603050405020304" pitchFamily="18" charset="0"/>
              </a:rPr>
              <a:t>✅ Documentation vivante via les tests</a:t>
            </a:r>
          </a:p>
        </p:txBody>
      </p:sp>
      <p:sp>
        <p:nvSpPr>
          <p:cNvPr id="101" name="Text 29"/>
          <p:cNvSpPr/>
          <p:nvPr/>
        </p:nvSpPr>
        <p:spPr>
          <a:xfrm>
            <a:off x="382313" y="5633172"/>
            <a:ext cx="4206240" cy="274320"/>
          </a:xfrm>
          <a:prstGeom prst="rect">
            <a:avLst/>
          </a:prstGeom>
          <a:noFill/>
          <a:ln/>
        </p:spPr>
        <p:txBody>
          <a:bodyPr wrap="square" lIns="0" tIns="0" rIns="0" bIns="0" rtlCol="0" anchor="ctr"/>
          <a:lstStyle/>
          <a:p>
            <a:pPr marL="0" indent="0">
              <a:buNone/>
            </a:pPr>
            <a:r>
              <a:rPr lang="en-US" sz="1200" b="1" dirty="0">
                <a:latin typeface="Times New Roman" panose="02020603050405020304" pitchFamily="18" charset="0"/>
                <a:cs typeface="Times New Roman" panose="02020603050405020304" pitchFamily="18" charset="0"/>
              </a:rPr>
              <a:t>✅ Réduction des bugs en production</a:t>
            </a:r>
          </a:p>
        </p:txBody>
      </p:sp>
      <p:sp>
        <p:nvSpPr>
          <p:cNvPr id="102" name="Text 30"/>
          <p:cNvSpPr/>
          <p:nvPr/>
        </p:nvSpPr>
        <p:spPr>
          <a:xfrm>
            <a:off x="4862873" y="5633172"/>
            <a:ext cx="4206240" cy="274320"/>
          </a:xfrm>
          <a:prstGeom prst="rect">
            <a:avLst/>
          </a:prstGeom>
          <a:noFill/>
          <a:ln/>
        </p:spPr>
        <p:txBody>
          <a:bodyPr wrap="square" lIns="0" tIns="0" rIns="0" bIns="0" rtlCol="0" anchor="ctr"/>
          <a:lstStyle/>
          <a:p>
            <a:pPr marL="0" indent="0">
              <a:buNone/>
            </a:pPr>
            <a:r>
              <a:rPr lang="en-US" sz="1200" b="1" dirty="0">
                <a:latin typeface="Times New Roman" panose="02020603050405020304" pitchFamily="18" charset="0"/>
                <a:cs typeface="Times New Roman" panose="02020603050405020304" pitchFamily="18" charset="0"/>
              </a:rPr>
              <a:t>✅ Refactoring sans crainte (filet de sécurité)</a:t>
            </a:r>
          </a:p>
        </p:txBody>
      </p:sp>
      <p:sp>
        <p:nvSpPr>
          <p:cNvPr id="103" name="Text 31"/>
          <p:cNvSpPr/>
          <p:nvPr/>
        </p:nvSpPr>
        <p:spPr>
          <a:xfrm>
            <a:off x="382313" y="5889204"/>
            <a:ext cx="8686800" cy="201168"/>
          </a:xfrm>
          <a:prstGeom prst="rect">
            <a:avLst/>
          </a:prstGeom>
          <a:noFill/>
          <a:ln/>
        </p:spPr>
        <p:txBody>
          <a:bodyPr wrap="square" lIns="0" tIns="0" rIns="0" bIns="0" rtlCol="0" anchor="ctr"/>
          <a:lstStyle/>
          <a:p>
            <a:pPr marL="0" indent="0">
              <a:buNone/>
            </a:pPr>
            <a:r>
              <a:rPr lang="en-US" sz="1200" b="1" dirty="0">
                <a:latin typeface="Times New Roman" panose="02020603050405020304" pitchFamily="18" charset="0"/>
                <a:cs typeface="Times New Roman" panose="02020603050405020304" pitchFamily="18" charset="0"/>
              </a:rPr>
              <a:t>✅ Feedback immédiat sur la qualité du code</a:t>
            </a:r>
          </a:p>
        </p:txBody>
      </p:sp>
      <p:pic>
        <p:nvPicPr>
          <p:cNvPr id="36" name="Image 35">
            <a:extLst>
              <a:ext uri="{FF2B5EF4-FFF2-40B4-BE49-F238E27FC236}">
                <a16:creationId xmlns:a16="http://schemas.microsoft.com/office/drawing/2014/main" id="{00E8C2E9-2E74-4B73-1EE7-440BC8106AE7}"/>
              </a:ext>
            </a:extLst>
          </p:cNvPr>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extLst>
      <p:ext uri="{BB962C8B-B14F-4D97-AF65-F5344CB8AC3E}">
        <p14:creationId xmlns:p14="http://schemas.microsoft.com/office/powerpoint/2010/main" val="225717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369332"/>
          </a:xfrm>
          <a:prstGeom prst="rect">
            <a:avLst/>
          </a:prstGeom>
          <a:solidFill>
            <a:schemeClr val="bg1"/>
          </a:solidFill>
        </p:spPr>
        <p:txBody>
          <a:bodyPr wrap="square" rtlCol="0">
            <a:spAutoFit/>
          </a:bodyPr>
          <a:lstStyle/>
          <a:p>
            <a:endParaRPr lang="fr-CI" noProof="0" dirty="0">
              <a:latin typeface="Times New Roman" panose="02020603050405020304" pitchFamily="18" charset="0"/>
              <a:cs typeface="Times New Roman" panose="02020603050405020304" pitchFamily="18" charset="0"/>
            </a:endParaRPr>
          </a:p>
        </p:txBody>
      </p:sp>
      <p:pic>
        <p:nvPicPr>
          <p:cNvPr id="10"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00421" y="1176787"/>
            <a:ext cx="8662101" cy="923330"/>
          </a:xfrm>
          <a:prstGeom prst="rect">
            <a:avLst/>
          </a:prstGeom>
        </p:spPr>
        <p:txBody>
          <a:bodyPr wrap="square">
            <a:spAutoFit/>
          </a:bodyPr>
          <a:lstStyle/>
          <a:p>
            <a:pPr algn="just"/>
            <a:r>
              <a:rPr lang="fr-FR" b="1" dirty="0">
                <a:latin typeface="Times New Roman" panose="02020603050405020304" pitchFamily="18" charset="0"/>
                <a:cs typeface="Times New Roman" panose="02020603050405020304" pitchFamily="18" charset="0"/>
              </a:rPr>
              <a:t>BDD (</a:t>
            </a:r>
            <a:r>
              <a:rPr lang="fr-FR" b="1" dirty="0" err="1">
                <a:latin typeface="Times New Roman" panose="02020603050405020304" pitchFamily="18" charset="0"/>
                <a:cs typeface="Times New Roman" panose="02020603050405020304" pitchFamily="18" charset="0"/>
              </a:rPr>
              <a:t>Behavior-Driven</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Development</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Approche collaborative où les fonctionnalités sont définies sous forme de comportements utilisateurs dictés en langage clair (Étant donné que / Quand / Alors).</a:t>
            </a:r>
            <a:endParaRPr lang="en-US" dirty="0">
              <a:latin typeface="Times New Roman" panose="02020603050405020304" pitchFamily="18" charset="0"/>
              <a:cs typeface="Times New Roman" panose="02020603050405020304" pitchFamily="18" charset="0"/>
            </a:endParaRPr>
          </a:p>
        </p:txBody>
      </p:sp>
      <p:sp>
        <p:nvSpPr>
          <p:cNvPr id="37" name="Text 5"/>
          <p:cNvSpPr/>
          <p:nvPr/>
        </p:nvSpPr>
        <p:spPr>
          <a:xfrm>
            <a:off x="300421" y="2255565"/>
            <a:ext cx="4572000" cy="347472"/>
          </a:xfrm>
          <a:prstGeom prst="rect">
            <a:avLst/>
          </a:prstGeom>
          <a:noFill/>
          <a:ln/>
        </p:spPr>
        <p:txBody>
          <a:bodyPr wrap="square" rtlCol="0" anchor="ctr"/>
          <a:lstStyle/>
          <a:p>
            <a:pPr marL="0" indent="0">
              <a:buNone/>
            </a:pPr>
            <a:r>
              <a:rPr lang="en-US" sz="1200" b="1" dirty="0">
                <a:solidFill>
                  <a:srgbClr val="1E90FF"/>
                </a:solidFill>
                <a:latin typeface="Times New Roman" panose="02020603050405020304" pitchFamily="18" charset="0"/>
                <a:cs typeface="Times New Roman" panose="02020603050405020304" pitchFamily="18" charset="0"/>
              </a:rPr>
              <a:t>Syntaxe Gherkin — Feature File</a:t>
            </a:r>
            <a:endParaRPr lang="en-US" sz="1200" b="1" dirty="0">
              <a:latin typeface="Times New Roman" panose="02020603050405020304" pitchFamily="18" charset="0"/>
              <a:cs typeface="Times New Roman" panose="02020603050405020304" pitchFamily="18" charset="0"/>
            </a:endParaRPr>
          </a:p>
        </p:txBody>
      </p:sp>
      <p:sp>
        <p:nvSpPr>
          <p:cNvPr id="38" name="Shape 6"/>
          <p:cNvSpPr/>
          <p:nvPr/>
        </p:nvSpPr>
        <p:spPr>
          <a:xfrm>
            <a:off x="300421" y="2667045"/>
            <a:ext cx="4846320" cy="2743200"/>
          </a:xfrm>
          <a:prstGeom prst="rect">
            <a:avLst/>
          </a:prstGeom>
          <a:solidFill>
            <a:srgbClr val="0D1117"/>
          </a:solidFill>
          <a:ln w="12700">
            <a:solidFill>
              <a:srgbClr val="1E90FF"/>
            </a:solidFill>
            <a:prstDash val="solid"/>
          </a:ln>
        </p:spPr>
      </p:sp>
      <p:sp>
        <p:nvSpPr>
          <p:cNvPr id="39" name="Shape 7"/>
          <p:cNvSpPr/>
          <p:nvPr/>
        </p:nvSpPr>
        <p:spPr>
          <a:xfrm>
            <a:off x="300421" y="2667045"/>
            <a:ext cx="4846320" cy="292608"/>
          </a:xfrm>
          <a:prstGeom prst="rect">
            <a:avLst/>
          </a:prstGeom>
          <a:solidFill>
            <a:srgbClr val="161B22"/>
          </a:solidFill>
          <a:ln/>
        </p:spPr>
      </p:sp>
      <p:sp>
        <p:nvSpPr>
          <p:cNvPr id="40" name="Text 8"/>
          <p:cNvSpPr/>
          <p:nvPr/>
        </p:nvSpPr>
        <p:spPr>
          <a:xfrm>
            <a:off x="391861" y="2685333"/>
            <a:ext cx="2743200" cy="256032"/>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ea typeface="Consolas" pitchFamily="34" charset="-122"/>
                <a:cs typeface="Times New Roman" panose="02020603050405020304" pitchFamily="18" charset="0"/>
              </a:rPr>
              <a:t>login.feature</a:t>
            </a:r>
            <a:endParaRPr lang="en-US" sz="1200" b="1" dirty="0">
              <a:latin typeface="Times New Roman" panose="02020603050405020304" pitchFamily="18" charset="0"/>
              <a:cs typeface="Times New Roman" panose="02020603050405020304" pitchFamily="18" charset="0"/>
            </a:endParaRPr>
          </a:p>
        </p:txBody>
      </p:sp>
      <p:sp>
        <p:nvSpPr>
          <p:cNvPr id="41" name="Text 9"/>
          <p:cNvSpPr/>
          <p:nvPr/>
        </p:nvSpPr>
        <p:spPr>
          <a:xfrm>
            <a:off x="391861" y="3005373"/>
            <a:ext cx="4663440" cy="173736"/>
          </a:xfrm>
          <a:prstGeom prst="rect">
            <a:avLst/>
          </a:prstGeom>
          <a:noFill/>
          <a:ln/>
        </p:spPr>
        <p:txBody>
          <a:bodyPr wrap="square" lIns="0" tIns="0" rIns="0" bIns="0" rtlCol="0" anchor="ctr"/>
          <a:lstStyle/>
          <a:p>
            <a:pPr marL="0" indent="0">
              <a:buNone/>
            </a:pPr>
            <a:r>
              <a:rPr lang="en-US" sz="1200" b="1" dirty="0">
                <a:solidFill>
                  <a:srgbClr val="1E90FF"/>
                </a:solidFill>
                <a:latin typeface="Times New Roman" panose="02020603050405020304" pitchFamily="18" charset="0"/>
                <a:ea typeface="Consolas" pitchFamily="34" charset="-122"/>
                <a:cs typeface="Times New Roman" panose="02020603050405020304" pitchFamily="18" charset="0"/>
              </a:rPr>
              <a:t>Feature: Authentification utilisateur</a:t>
            </a:r>
            <a:endParaRPr lang="en-US" sz="1200" b="1" dirty="0">
              <a:latin typeface="Times New Roman" panose="02020603050405020304" pitchFamily="18" charset="0"/>
              <a:cs typeface="Times New Roman" panose="02020603050405020304" pitchFamily="18" charset="0"/>
            </a:endParaRPr>
          </a:p>
        </p:txBody>
      </p:sp>
      <p:sp>
        <p:nvSpPr>
          <p:cNvPr id="42" name="Text 10"/>
          <p:cNvSpPr/>
          <p:nvPr/>
        </p:nvSpPr>
        <p:spPr>
          <a:xfrm>
            <a:off x="391861" y="3169965"/>
            <a:ext cx="4663440" cy="173736"/>
          </a:xfrm>
          <a:prstGeom prst="rect">
            <a:avLst/>
          </a:prstGeom>
          <a:noFill/>
          <a:ln/>
        </p:spPr>
        <p:txBody>
          <a:bodyPr wrap="square" lIns="0" tIns="0" rIns="0" bIns="0" rtlCol="0" anchor="ctr"/>
          <a:lstStyle/>
          <a:p>
            <a:pPr marL="0" indent="0">
              <a:buNone/>
            </a:pPr>
            <a:endParaRPr lang="en-US" sz="1200" b="1" dirty="0">
              <a:latin typeface="Times New Roman" panose="02020603050405020304" pitchFamily="18" charset="0"/>
              <a:cs typeface="Times New Roman" panose="02020603050405020304" pitchFamily="18" charset="0"/>
            </a:endParaRPr>
          </a:p>
        </p:txBody>
      </p:sp>
      <p:sp>
        <p:nvSpPr>
          <p:cNvPr id="43" name="Text 11"/>
          <p:cNvSpPr/>
          <p:nvPr/>
        </p:nvSpPr>
        <p:spPr>
          <a:xfrm>
            <a:off x="391861" y="3334557"/>
            <a:ext cx="4663440" cy="173736"/>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  Scenario: Connexion avec succès</a:t>
            </a:r>
            <a:endParaRPr lang="en-US" sz="1200" b="1" dirty="0">
              <a:latin typeface="Times New Roman" panose="02020603050405020304" pitchFamily="18" charset="0"/>
              <a:cs typeface="Times New Roman" panose="02020603050405020304" pitchFamily="18" charset="0"/>
            </a:endParaRPr>
          </a:p>
        </p:txBody>
      </p:sp>
      <p:sp>
        <p:nvSpPr>
          <p:cNvPr id="44" name="Text 12"/>
          <p:cNvSpPr/>
          <p:nvPr/>
        </p:nvSpPr>
        <p:spPr>
          <a:xfrm>
            <a:off x="391861" y="3499149"/>
            <a:ext cx="4663440" cy="173736"/>
          </a:xfrm>
          <a:prstGeom prst="rect">
            <a:avLst/>
          </a:prstGeom>
          <a:noFill/>
          <a:ln/>
        </p:spPr>
        <p:txBody>
          <a:bodyPr wrap="square" lIns="0" tIns="0" rIns="0" bIns="0" rtlCol="0" anchor="ctr"/>
          <a:lstStyle/>
          <a:p>
            <a:pPr marL="0" indent="0">
              <a:buNone/>
            </a:pPr>
            <a:r>
              <a:rPr lang="en-US" sz="1200" b="1" dirty="0">
                <a:solidFill>
                  <a:srgbClr val="06D6A0"/>
                </a:solidFill>
                <a:latin typeface="Times New Roman" panose="02020603050405020304" pitchFamily="18" charset="0"/>
                <a:ea typeface="Consolas" pitchFamily="34" charset="-122"/>
                <a:cs typeface="Times New Roman" panose="02020603050405020304" pitchFamily="18" charset="0"/>
              </a:rPr>
              <a:t>    Given un utilisateur enregistré</a:t>
            </a:r>
            <a:endParaRPr lang="en-US" sz="1200" b="1" dirty="0">
              <a:latin typeface="Times New Roman" panose="02020603050405020304" pitchFamily="18" charset="0"/>
              <a:cs typeface="Times New Roman" panose="02020603050405020304" pitchFamily="18" charset="0"/>
            </a:endParaRPr>
          </a:p>
        </p:txBody>
      </p:sp>
      <p:sp>
        <p:nvSpPr>
          <p:cNvPr id="45" name="Text 13"/>
          <p:cNvSpPr/>
          <p:nvPr/>
        </p:nvSpPr>
        <p:spPr>
          <a:xfrm>
            <a:off x="391861" y="3663741"/>
            <a:ext cx="4663440" cy="173736"/>
          </a:xfrm>
          <a:prstGeom prst="rect">
            <a:avLst/>
          </a:prstGeom>
          <a:noFill/>
          <a:ln/>
        </p:spPr>
        <p:txBody>
          <a:bodyPr wrap="square" lIns="0" tIns="0" rIns="0" bIns="0" rtlCol="0" anchor="ctr"/>
          <a:lstStyle/>
          <a:p>
            <a:pPr marL="0" indent="0">
              <a:buNone/>
            </a:pPr>
            <a:r>
              <a:rPr lang="en-US" sz="1200" b="1" dirty="0">
                <a:solidFill>
                  <a:srgbClr val="06D6A0"/>
                </a:solidFill>
                <a:latin typeface="Times New Roman" panose="02020603050405020304" pitchFamily="18" charset="0"/>
                <a:ea typeface="Consolas" pitchFamily="34" charset="-122"/>
                <a:cs typeface="Times New Roman" panose="02020603050405020304" pitchFamily="18" charset="0"/>
              </a:rPr>
              <a:t>      avec l'email "alice@example.com"</a:t>
            </a:r>
            <a:endParaRPr lang="en-US" sz="1200" b="1" dirty="0">
              <a:latin typeface="Times New Roman" panose="02020603050405020304" pitchFamily="18" charset="0"/>
              <a:cs typeface="Times New Roman" panose="02020603050405020304" pitchFamily="18" charset="0"/>
            </a:endParaRPr>
          </a:p>
        </p:txBody>
      </p:sp>
      <p:sp>
        <p:nvSpPr>
          <p:cNvPr id="46" name="Text 14"/>
          <p:cNvSpPr/>
          <p:nvPr/>
        </p:nvSpPr>
        <p:spPr>
          <a:xfrm>
            <a:off x="391861" y="3828333"/>
            <a:ext cx="4663440" cy="173736"/>
          </a:xfrm>
          <a:prstGeom prst="rect">
            <a:avLst/>
          </a:prstGeom>
          <a:noFill/>
          <a:ln/>
        </p:spPr>
        <p:txBody>
          <a:bodyPr wrap="square" lIns="0" tIns="0" rIns="0" bIns="0" rtlCol="0" anchor="ctr"/>
          <a:lstStyle/>
          <a:p>
            <a:pPr marL="0" indent="0">
              <a:buNone/>
            </a:pPr>
            <a:r>
              <a:rPr lang="en-US" sz="1200" b="1" dirty="0">
                <a:solidFill>
                  <a:srgbClr val="00C8FF"/>
                </a:solidFill>
                <a:latin typeface="Times New Roman" panose="02020603050405020304" pitchFamily="18" charset="0"/>
                <a:ea typeface="Consolas" pitchFamily="34" charset="-122"/>
                <a:cs typeface="Times New Roman" panose="02020603050405020304" pitchFamily="18" charset="0"/>
              </a:rPr>
              <a:t>    When il saisit son mot de passe correct</a:t>
            </a:r>
            <a:endParaRPr lang="en-US" sz="1200" b="1" dirty="0">
              <a:latin typeface="Times New Roman" panose="02020603050405020304" pitchFamily="18" charset="0"/>
              <a:cs typeface="Times New Roman" panose="02020603050405020304" pitchFamily="18" charset="0"/>
            </a:endParaRPr>
          </a:p>
        </p:txBody>
      </p:sp>
      <p:sp>
        <p:nvSpPr>
          <p:cNvPr id="47" name="Text 15"/>
          <p:cNvSpPr/>
          <p:nvPr/>
        </p:nvSpPr>
        <p:spPr>
          <a:xfrm>
            <a:off x="391861" y="3992925"/>
            <a:ext cx="4663440" cy="173736"/>
          </a:xfrm>
          <a:prstGeom prst="rect">
            <a:avLst/>
          </a:prstGeom>
          <a:noFill/>
          <a:ln/>
        </p:spPr>
        <p:txBody>
          <a:bodyPr wrap="square" lIns="0" tIns="0" rIns="0" bIns="0" rtlCol="0" anchor="ctr"/>
          <a:lstStyle/>
          <a:p>
            <a:pPr marL="0" indent="0">
              <a:buNone/>
            </a:pPr>
            <a:r>
              <a:rPr lang="en-US" sz="1200" b="1" dirty="0">
                <a:solidFill>
                  <a:srgbClr val="EF476F"/>
                </a:solidFill>
                <a:latin typeface="Times New Roman" panose="02020603050405020304" pitchFamily="18" charset="0"/>
                <a:ea typeface="Consolas" pitchFamily="34" charset="-122"/>
                <a:cs typeface="Times New Roman" panose="02020603050405020304" pitchFamily="18" charset="0"/>
              </a:rPr>
              <a:t>    Then il est redirigé vers le dashboard</a:t>
            </a:r>
            <a:endParaRPr lang="en-US" sz="1200" b="1" dirty="0">
              <a:latin typeface="Times New Roman" panose="02020603050405020304" pitchFamily="18" charset="0"/>
              <a:cs typeface="Times New Roman" panose="02020603050405020304" pitchFamily="18" charset="0"/>
            </a:endParaRPr>
          </a:p>
        </p:txBody>
      </p:sp>
      <p:sp>
        <p:nvSpPr>
          <p:cNvPr id="48" name="Text 16"/>
          <p:cNvSpPr/>
          <p:nvPr/>
        </p:nvSpPr>
        <p:spPr>
          <a:xfrm>
            <a:off x="391861" y="4157517"/>
            <a:ext cx="4663440" cy="173736"/>
          </a:xfrm>
          <a:prstGeom prst="rect">
            <a:avLst/>
          </a:prstGeom>
          <a:noFill/>
          <a:ln/>
        </p:spPr>
        <p:txBody>
          <a:bodyPr wrap="square" lIns="0" tIns="0" rIns="0" bIns="0" rtlCol="0" anchor="ctr"/>
          <a:lstStyle/>
          <a:p>
            <a:pPr marL="0" indent="0">
              <a:buNone/>
            </a:pPr>
            <a:r>
              <a:rPr lang="en-US" sz="1200" b="1" dirty="0">
                <a:solidFill>
                  <a:srgbClr val="EF476F"/>
                </a:solidFill>
                <a:latin typeface="Times New Roman" panose="02020603050405020304" pitchFamily="18" charset="0"/>
                <a:ea typeface="Consolas" pitchFamily="34" charset="-122"/>
                <a:cs typeface="Times New Roman" panose="02020603050405020304" pitchFamily="18" charset="0"/>
              </a:rPr>
              <a:t>    And un message de bienvenue s'affiche</a:t>
            </a:r>
            <a:endParaRPr lang="en-US" sz="1200" b="1" dirty="0">
              <a:latin typeface="Times New Roman" panose="02020603050405020304" pitchFamily="18" charset="0"/>
              <a:cs typeface="Times New Roman" panose="02020603050405020304" pitchFamily="18" charset="0"/>
            </a:endParaRPr>
          </a:p>
        </p:txBody>
      </p:sp>
      <p:sp>
        <p:nvSpPr>
          <p:cNvPr id="49" name="Text 17"/>
          <p:cNvSpPr/>
          <p:nvPr/>
        </p:nvSpPr>
        <p:spPr>
          <a:xfrm>
            <a:off x="391861" y="4322109"/>
            <a:ext cx="4663440" cy="173736"/>
          </a:xfrm>
          <a:prstGeom prst="rect">
            <a:avLst/>
          </a:prstGeom>
          <a:noFill/>
          <a:ln/>
        </p:spPr>
        <p:txBody>
          <a:bodyPr wrap="square" lIns="0" tIns="0" rIns="0" bIns="0" rtlCol="0" anchor="ctr"/>
          <a:lstStyle/>
          <a:p>
            <a:pPr marL="0" indent="0">
              <a:buNone/>
            </a:pPr>
            <a:endParaRPr lang="en-US" sz="1200" b="1" dirty="0">
              <a:latin typeface="Times New Roman" panose="02020603050405020304" pitchFamily="18" charset="0"/>
              <a:cs typeface="Times New Roman" panose="02020603050405020304" pitchFamily="18" charset="0"/>
            </a:endParaRPr>
          </a:p>
        </p:txBody>
      </p:sp>
      <p:sp>
        <p:nvSpPr>
          <p:cNvPr id="50" name="Text 18"/>
          <p:cNvSpPr/>
          <p:nvPr/>
        </p:nvSpPr>
        <p:spPr>
          <a:xfrm>
            <a:off x="391861" y="4486701"/>
            <a:ext cx="4663440" cy="173736"/>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ea typeface="Consolas" pitchFamily="34" charset="-122"/>
                <a:cs typeface="Times New Roman" panose="02020603050405020304" pitchFamily="18" charset="0"/>
              </a:rPr>
              <a:t>  Scenario: Connexion avec mauvais MDP</a:t>
            </a:r>
            <a:endParaRPr lang="en-US" sz="1200" b="1" dirty="0">
              <a:latin typeface="Times New Roman" panose="02020603050405020304" pitchFamily="18" charset="0"/>
              <a:cs typeface="Times New Roman" panose="02020603050405020304" pitchFamily="18" charset="0"/>
            </a:endParaRPr>
          </a:p>
        </p:txBody>
      </p:sp>
      <p:sp>
        <p:nvSpPr>
          <p:cNvPr id="51" name="Text 19"/>
          <p:cNvSpPr/>
          <p:nvPr/>
        </p:nvSpPr>
        <p:spPr>
          <a:xfrm>
            <a:off x="391861" y="4651293"/>
            <a:ext cx="4663440" cy="173736"/>
          </a:xfrm>
          <a:prstGeom prst="rect">
            <a:avLst/>
          </a:prstGeom>
          <a:noFill/>
          <a:ln/>
        </p:spPr>
        <p:txBody>
          <a:bodyPr wrap="square" lIns="0" tIns="0" rIns="0" bIns="0" rtlCol="0" anchor="ctr"/>
          <a:lstStyle/>
          <a:p>
            <a:pPr marL="0" indent="0">
              <a:buNone/>
            </a:pPr>
            <a:r>
              <a:rPr lang="en-US" sz="1200" b="1" dirty="0">
                <a:solidFill>
                  <a:srgbClr val="06D6A0"/>
                </a:solidFill>
                <a:latin typeface="Times New Roman" panose="02020603050405020304" pitchFamily="18" charset="0"/>
                <a:ea typeface="Consolas" pitchFamily="34" charset="-122"/>
                <a:cs typeface="Times New Roman" panose="02020603050405020304" pitchFamily="18" charset="0"/>
              </a:rPr>
              <a:t>    Given un utilisateur enregistré</a:t>
            </a:r>
            <a:endParaRPr lang="en-US" sz="1200" b="1" dirty="0">
              <a:latin typeface="Times New Roman" panose="02020603050405020304" pitchFamily="18" charset="0"/>
              <a:cs typeface="Times New Roman" panose="02020603050405020304" pitchFamily="18" charset="0"/>
            </a:endParaRPr>
          </a:p>
        </p:txBody>
      </p:sp>
      <p:sp>
        <p:nvSpPr>
          <p:cNvPr id="52" name="Text 20"/>
          <p:cNvSpPr/>
          <p:nvPr/>
        </p:nvSpPr>
        <p:spPr>
          <a:xfrm>
            <a:off x="391861" y="4815885"/>
            <a:ext cx="4663440" cy="173736"/>
          </a:xfrm>
          <a:prstGeom prst="rect">
            <a:avLst/>
          </a:prstGeom>
          <a:noFill/>
          <a:ln/>
        </p:spPr>
        <p:txBody>
          <a:bodyPr wrap="square" lIns="0" tIns="0" rIns="0" bIns="0" rtlCol="0" anchor="ctr"/>
          <a:lstStyle/>
          <a:p>
            <a:pPr marL="0" indent="0">
              <a:buNone/>
            </a:pPr>
            <a:r>
              <a:rPr lang="en-US" sz="1200" b="1" dirty="0">
                <a:solidFill>
                  <a:srgbClr val="00C8FF"/>
                </a:solidFill>
                <a:latin typeface="Times New Roman" panose="02020603050405020304" pitchFamily="18" charset="0"/>
                <a:ea typeface="Consolas" pitchFamily="34" charset="-122"/>
                <a:cs typeface="Times New Roman" panose="02020603050405020304" pitchFamily="18" charset="0"/>
              </a:rPr>
              <a:t>    When il saisit un mauvais mot de passe</a:t>
            </a:r>
            <a:endParaRPr lang="en-US" sz="1200" b="1" dirty="0">
              <a:latin typeface="Times New Roman" panose="02020603050405020304" pitchFamily="18" charset="0"/>
              <a:cs typeface="Times New Roman" panose="02020603050405020304" pitchFamily="18" charset="0"/>
            </a:endParaRPr>
          </a:p>
        </p:txBody>
      </p:sp>
      <p:sp>
        <p:nvSpPr>
          <p:cNvPr id="53" name="Text 21"/>
          <p:cNvSpPr/>
          <p:nvPr/>
        </p:nvSpPr>
        <p:spPr>
          <a:xfrm>
            <a:off x="391861" y="4980477"/>
            <a:ext cx="4663440" cy="173736"/>
          </a:xfrm>
          <a:prstGeom prst="rect">
            <a:avLst/>
          </a:prstGeom>
          <a:noFill/>
          <a:ln/>
        </p:spPr>
        <p:txBody>
          <a:bodyPr wrap="square" lIns="0" tIns="0" rIns="0" bIns="0" rtlCol="0" anchor="ctr"/>
          <a:lstStyle/>
          <a:p>
            <a:pPr marL="0" indent="0">
              <a:buNone/>
            </a:pPr>
            <a:r>
              <a:rPr lang="en-US" sz="1200" b="1" dirty="0">
                <a:solidFill>
                  <a:srgbClr val="EF476F"/>
                </a:solidFill>
                <a:latin typeface="Times New Roman" panose="02020603050405020304" pitchFamily="18" charset="0"/>
                <a:ea typeface="Consolas" pitchFamily="34" charset="-122"/>
                <a:cs typeface="Times New Roman" panose="02020603050405020304" pitchFamily="18" charset="0"/>
              </a:rPr>
              <a:t>    Then un message d'erreur s'affiche</a:t>
            </a:r>
            <a:endParaRPr lang="en-US" sz="1200" b="1" dirty="0">
              <a:latin typeface="Times New Roman" panose="02020603050405020304" pitchFamily="18" charset="0"/>
              <a:cs typeface="Times New Roman" panose="02020603050405020304" pitchFamily="18" charset="0"/>
            </a:endParaRPr>
          </a:p>
        </p:txBody>
      </p:sp>
      <p:sp>
        <p:nvSpPr>
          <p:cNvPr id="54" name="Text 22"/>
          <p:cNvSpPr/>
          <p:nvPr/>
        </p:nvSpPr>
        <p:spPr>
          <a:xfrm>
            <a:off x="391861" y="5145069"/>
            <a:ext cx="4663440" cy="173736"/>
          </a:xfrm>
          <a:prstGeom prst="rect">
            <a:avLst/>
          </a:prstGeom>
          <a:noFill/>
          <a:ln/>
        </p:spPr>
        <p:txBody>
          <a:bodyPr wrap="square" lIns="0" tIns="0" rIns="0" bIns="0" rtlCol="0" anchor="ctr"/>
          <a:lstStyle/>
          <a:p>
            <a:pPr marL="0" indent="0">
              <a:buNone/>
            </a:pPr>
            <a:r>
              <a:rPr lang="en-US" sz="1200" b="1" dirty="0">
                <a:solidFill>
                  <a:srgbClr val="EF476F"/>
                </a:solidFill>
                <a:latin typeface="Times New Roman" panose="02020603050405020304" pitchFamily="18" charset="0"/>
                <a:ea typeface="Consolas" pitchFamily="34" charset="-122"/>
                <a:cs typeface="Times New Roman" panose="02020603050405020304" pitchFamily="18" charset="0"/>
              </a:rPr>
              <a:t>    And il reste sur la page de login</a:t>
            </a:r>
            <a:endParaRPr lang="en-US" sz="1200" b="1" dirty="0">
              <a:latin typeface="Times New Roman" panose="02020603050405020304" pitchFamily="18" charset="0"/>
              <a:cs typeface="Times New Roman" panose="02020603050405020304" pitchFamily="18" charset="0"/>
            </a:endParaRPr>
          </a:p>
        </p:txBody>
      </p:sp>
      <p:sp>
        <p:nvSpPr>
          <p:cNvPr id="55" name="Text 23"/>
          <p:cNvSpPr/>
          <p:nvPr/>
        </p:nvSpPr>
        <p:spPr>
          <a:xfrm>
            <a:off x="5329621" y="2255565"/>
            <a:ext cx="3566160" cy="347472"/>
          </a:xfrm>
          <a:prstGeom prst="rect">
            <a:avLst/>
          </a:prstGeom>
          <a:noFill/>
          <a:ln/>
        </p:spPr>
        <p:txBody>
          <a:bodyPr wrap="square" rtlCol="0" anchor="ctr"/>
          <a:lstStyle/>
          <a:p>
            <a:pPr marL="0" indent="0">
              <a:buNone/>
            </a:pPr>
            <a:r>
              <a:rPr lang="en-US" sz="1200" b="1" dirty="0">
                <a:solidFill>
                  <a:srgbClr val="1E90FF"/>
                </a:solidFill>
                <a:latin typeface="Times New Roman" panose="02020603050405020304" pitchFamily="18" charset="0"/>
                <a:cs typeface="Times New Roman" panose="02020603050405020304" pitchFamily="18" charset="0"/>
              </a:rPr>
              <a:t>Outils BDD</a:t>
            </a:r>
            <a:endParaRPr lang="en-US" sz="1200" b="1" dirty="0">
              <a:latin typeface="Times New Roman" panose="02020603050405020304" pitchFamily="18" charset="0"/>
              <a:cs typeface="Times New Roman" panose="02020603050405020304" pitchFamily="18" charset="0"/>
            </a:endParaRPr>
          </a:p>
        </p:txBody>
      </p:sp>
      <p:sp>
        <p:nvSpPr>
          <p:cNvPr id="56" name="Shape 24"/>
          <p:cNvSpPr/>
          <p:nvPr/>
        </p:nvSpPr>
        <p:spPr>
          <a:xfrm>
            <a:off x="5329621" y="2712765"/>
            <a:ext cx="3566160" cy="594360"/>
          </a:xfrm>
          <a:prstGeom prst="rect">
            <a:avLst/>
          </a:prstGeom>
          <a:solidFill>
            <a:srgbClr val="1A3160"/>
          </a:solidFill>
          <a:ln w="12700">
            <a:solidFill>
              <a:srgbClr val="06D6A0"/>
            </a:solidFill>
            <a:prstDash val="solid"/>
          </a:ln>
        </p:spPr>
      </p:sp>
      <p:sp>
        <p:nvSpPr>
          <p:cNvPr id="57" name="Text 25"/>
          <p:cNvSpPr/>
          <p:nvPr/>
        </p:nvSpPr>
        <p:spPr>
          <a:xfrm>
            <a:off x="5421061" y="2740197"/>
            <a:ext cx="3291840" cy="256032"/>
          </a:xfrm>
          <a:prstGeom prst="rect">
            <a:avLst/>
          </a:prstGeom>
          <a:noFill/>
          <a:ln/>
        </p:spPr>
        <p:txBody>
          <a:bodyPr wrap="square" lIns="0" tIns="0" rIns="0" bIns="0" rtlCol="0" anchor="ctr"/>
          <a:lstStyle/>
          <a:p>
            <a:pPr marL="0" indent="0">
              <a:buNone/>
            </a:pPr>
            <a:r>
              <a:rPr lang="en-US" sz="1200" b="1" dirty="0">
                <a:solidFill>
                  <a:srgbClr val="06D6A0"/>
                </a:solidFill>
                <a:latin typeface="Times New Roman" panose="02020603050405020304" pitchFamily="18" charset="0"/>
                <a:cs typeface="Times New Roman" panose="02020603050405020304" pitchFamily="18" charset="0"/>
              </a:rPr>
              <a:t>Cucumber (Java)</a:t>
            </a:r>
            <a:endParaRPr lang="en-US" sz="1200" b="1" dirty="0">
              <a:latin typeface="Times New Roman" panose="02020603050405020304" pitchFamily="18" charset="0"/>
              <a:cs typeface="Times New Roman" panose="02020603050405020304" pitchFamily="18" charset="0"/>
            </a:endParaRPr>
          </a:p>
        </p:txBody>
      </p:sp>
      <p:sp>
        <p:nvSpPr>
          <p:cNvPr id="58" name="Text 26"/>
          <p:cNvSpPr/>
          <p:nvPr/>
        </p:nvSpPr>
        <p:spPr>
          <a:xfrm>
            <a:off x="5421061" y="2987085"/>
            <a:ext cx="3291840" cy="274320"/>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Le plus populaire. Parse les fichiers .feature et exécute les step definitions Java.</a:t>
            </a:r>
            <a:endParaRPr lang="en-US" sz="1200" b="1" dirty="0">
              <a:latin typeface="Times New Roman" panose="02020603050405020304" pitchFamily="18" charset="0"/>
              <a:cs typeface="Times New Roman" panose="02020603050405020304" pitchFamily="18" charset="0"/>
            </a:endParaRPr>
          </a:p>
        </p:txBody>
      </p:sp>
      <p:sp>
        <p:nvSpPr>
          <p:cNvPr id="59" name="Shape 27"/>
          <p:cNvSpPr/>
          <p:nvPr/>
        </p:nvSpPr>
        <p:spPr>
          <a:xfrm>
            <a:off x="5329621" y="3371133"/>
            <a:ext cx="3566160" cy="594360"/>
          </a:xfrm>
          <a:prstGeom prst="rect">
            <a:avLst/>
          </a:prstGeom>
          <a:solidFill>
            <a:srgbClr val="1A3160"/>
          </a:solidFill>
          <a:ln w="12700">
            <a:solidFill>
              <a:srgbClr val="00C8FF"/>
            </a:solidFill>
            <a:prstDash val="solid"/>
          </a:ln>
        </p:spPr>
      </p:sp>
      <p:sp>
        <p:nvSpPr>
          <p:cNvPr id="60" name="Text 28"/>
          <p:cNvSpPr/>
          <p:nvPr/>
        </p:nvSpPr>
        <p:spPr>
          <a:xfrm>
            <a:off x="5421061" y="3398565"/>
            <a:ext cx="3291840" cy="256032"/>
          </a:xfrm>
          <a:prstGeom prst="rect">
            <a:avLst/>
          </a:prstGeom>
          <a:noFill/>
          <a:ln/>
        </p:spPr>
        <p:txBody>
          <a:bodyPr wrap="square" lIns="0" tIns="0" rIns="0" bIns="0" rtlCol="0" anchor="ctr"/>
          <a:lstStyle/>
          <a:p>
            <a:pPr marL="0" indent="0">
              <a:buNone/>
            </a:pPr>
            <a:r>
              <a:rPr lang="en-US" sz="1200" b="1" dirty="0">
                <a:solidFill>
                  <a:srgbClr val="00C8FF"/>
                </a:solidFill>
                <a:latin typeface="Times New Roman" panose="02020603050405020304" pitchFamily="18" charset="0"/>
                <a:cs typeface="Times New Roman" panose="02020603050405020304" pitchFamily="18" charset="0"/>
              </a:rPr>
              <a:t>JBehave</a:t>
            </a:r>
            <a:endParaRPr lang="en-US" sz="1200" b="1" dirty="0">
              <a:latin typeface="Times New Roman" panose="02020603050405020304" pitchFamily="18" charset="0"/>
              <a:cs typeface="Times New Roman" panose="02020603050405020304" pitchFamily="18" charset="0"/>
            </a:endParaRPr>
          </a:p>
        </p:txBody>
      </p:sp>
      <p:sp>
        <p:nvSpPr>
          <p:cNvPr id="61" name="Text 29"/>
          <p:cNvSpPr/>
          <p:nvPr/>
        </p:nvSpPr>
        <p:spPr>
          <a:xfrm>
            <a:off x="5421061" y="3645453"/>
            <a:ext cx="3291840" cy="274320"/>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Pionnier du BDD en Java. Utilise des story files texte pour les scénarios.</a:t>
            </a:r>
            <a:endParaRPr lang="en-US" sz="1200" b="1" dirty="0">
              <a:latin typeface="Times New Roman" panose="02020603050405020304" pitchFamily="18" charset="0"/>
              <a:cs typeface="Times New Roman" panose="02020603050405020304" pitchFamily="18" charset="0"/>
            </a:endParaRPr>
          </a:p>
        </p:txBody>
      </p:sp>
      <p:sp>
        <p:nvSpPr>
          <p:cNvPr id="62" name="Shape 30"/>
          <p:cNvSpPr/>
          <p:nvPr/>
        </p:nvSpPr>
        <p:spPr>
          <a:xfrm>
            <a:off x="5329621" y="4029501"/>
            <a:ext cx="3566160" cy="594360"/>
          </a:xfrm>
          <a:prstGeom prst="rect">
            <a:avLst/>
          </a:prstGeom>
          <a:solidFill>
            <a:srgbClr val="1A3160"/>
          </a:solidFill>
          <a:ln w="12700">
            <a:solidFill>
              <a:srgbClr val="FFD166"/>
            </a:solidFill>
            <a:prstDash val="solid"/>
          </a:ln>
        </p:spPr>
      </p:sp>
      <p:sp>
        <p:nvSpPr>
          <p:cNvPr id="63" name="Text 31"/>
          <p:cNvSpPr/>
          <p:nvPr/>
        </p:nvSpPr>
        <p:spPr>
          <a:xfrm>
            <a:off x="5421061" y="4056933"/>
            <a:ext cx="3291840" cy="256032"/>
          </a:xfrm>
          <a:prstGeom prst="rect">
            <a:avLst/>
          </a:prstGeom>
          <a:noFill/>
          <a:ln/>
        </p:spPr>
        <p:txBody>
          <a:bodyPr wrap="square" lIns="0" tIns="0" rIns="0" bIns="0" rtlCol="0" anchor="ctr"/>
          <a:lstStyle/>
          <a:p>
            <a:pPr marL="0" indent="0">
              <a:buNone/>
            </a:pPr>
            <a:r>
              <a:rPr lang="en-US" sz="1200" b="1" dirty="0">
                <a:solidFill>
                  <a:srgbClr val="FFD166"/>
                </a:solidFill>
                <a:latin typeface="Times New Roman" panose="02020603050405020304" pitchFamily="18" charset="0"/>
                <a:cs typeface="Times New Roman" panose="02020603050405020304" pitchFamily="18" charset="0"/>
              </a:rPr>
              <a:t>Serenity BDD</a:t>
            </a:r>
            <a:endParaRPr lang="en-US" sz="1200" b="1" dirty="0">
              <a:latin typeface="Times New Roman" panose="02020603050405020304" pitchFamily="18" charset="0"/>
              <a:cs typeface="Times New Roman" panose="02020603050405020304" pitchFamily="18" charset="0"/>
            </a:endParaRPr>
          </a:p>
        </p:txBody>
      </p:sp>
      <p:sp>
        <p:nvSpPr>
          <p:cNvPr id="64" name="Text 32"/>
          <p:cNvSpPr/>
          <p:nvPr/>
        </p:nvSpPr>
        <p:spPr>
          <a:xfrm>
            <a:off x="5421061" y="4303821"/>
            <a:ext cx="3291840" cy="274320"/>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Combine Cucumber + Selenium pour des rapports très riches et une narration métier.</a:t>
            </a:r>
            <a:endParaRPr lang="en-US" sz="1200" b="1" dirty="0">
              <a:latin typeface="Times New Roman" panose="02020603050405020304" pitchFamily="18" charset="0"/>
              <a:cs typeface="Times New Roman" panose="02020603050405020304" pitchFamily="18" charset="0"/>
            </a:endParaRPr>
          </a:p>
        </p:txBody>
      </p:sp>
      <p:sp>
        <p:nvSpPr>
          <p:cNvPr id="65" name="Shape 33"/>
          <p:cNvSpPr/>
          <p:nvPr/>
        </p:nvSpPr>
        <p:spPr>
          <a:xfrm>
            <a:off x="5329621" y="4687869"/>
            <a:ext cx="3566160" cy="594360"/>
          </a:xfrm>
          <a:prstGeom prst="rect">
            <a:avLst/>
          </a:prstGeom>
          <a:solidFill>
            <a:srgbClr val="1A3160"/>
          </a:solidFill>
          <a:ln w="12700">
            <a:solidFill>
              <a:srgbClr val="00E5B0"/>
            </a:solidFill>
            <a:prstDash val="solid"/>
          </a:ln>
        </p:spPr>
      </p:sp>
      <p:sp>
        <p:nvSpPr>
          <p:cNvPr id="66" name="Text 34"/>
          <p:cNvSpPr/>
          <p:nvPr/>
        </p:nvSpPr>
        <p:spPr>
          <a:xfrm>
            <a:off x="5421061" y="4715301"/>
            <a:ext cx="3291840" cy="256032"/>
          </a:xfrm>
          <a:prstGeom prst="rect">
            <a:avLst/>
          </a:prstGeom>
          <a:noFill/>
          <a:ln/>
        </p:spPr>
        <p:txBody>
          <a:bodyPr wrap="square" lIns="0" tIns="0" rIns="0" bIns="0" rtlCol="0" anchor="ctr"/>
          <a:lstStyle/>
          <a:p>
            <a:pPr marL="0" indent="0">
              <a:buNone/>
            </a:pPr>
            <a:r>
              <a:rPr lang="en-US" sz="1200" b="1" dirty="0">
                <a:solidFill>
                  <a:srgbClr val="00E5B0"/>
                </a:solidFill>
                <a:latin typeface="Times New Roman" panose="02020603050405020304" pitchFamily="18" charset="0"/>
                <a:cs typeface="Times New Roman" panose="02020603050405020304" pitchFamily="18" charset="0"/>
              </a:rPr>
              <a:t>Karate DSL</a:t>
            </a:r>
            <a:endParaRPr lang="en-US" sz="1200" b="1" dirty="0">
              <a:latin typeface="Times New Roman" panose="02020603050405020304" pitchFamily="18" charset="0"/>
              <a:cs typeface="Times New Roman" panose="02020603050405020304" pitchFamily="18" charset="0"/>
            </a:endParaRPr>
          </a:p>
        </p:txBody>
      </p:sp>
      <p:sp>
        <p:nvSpPr>
          <p:cNvPr id="67" name="Text 35"/>
          <p:cNvSpPr/>
          <p:nvPr/>
        </p:nvSpPr>
        <p:spPr>
          <a:xfrm>
            <a:off x="5421061" y="4962189"/>
            <a:ext cx="3291840" cy="274320"/>
          </a:xfrm>
          <a:prstGeom prst="rect">
            <a:avLst/>
          </a:prstGeom>
          <a:noFill/>
          <a:ln/>
        </p:spPr>
        <p:txBody>
          <a:bodyPr wrap="square" lIns="0" tIns="0" rIns="0" bIns="0" rtlCol="0" anchor="ctr"/>
          <a:lstStyle/>
          <a:p>
            <a:pPr marL="0" indent="0">
              <a:buNone/>
            </a:pPr>
            <a:r>
              <a:rPr lang="en-US" sz="1200" b="1" dirty="0">
                <a:solidFill>
                  <a:srgbClr val="8A9BBF"/>
                </a:solidFill>
                <a:latin typeface="Times New Roman" panose="02020603050405020304" pitchFamily="18" charset="0"/>
                <a:cs typeface="Times New Roman" panose="02020603050405020304" pitchFamily="18" charset="0"/>
              </a:rPr>
              <a:t>BDD pour les APIs REST. Pas besoin de Java pour écrire les scénarios.</a:t>
            </a:r>
            <a:endParaRPr lang="en-US" sz="1200" b="1" dirty="0">
              <a:latin typeface="Times New Roman" panose="02020603050405020304" pitchFamily="18" charset="0"/>
              <a:cs typeface="Times New Roman" panose="02020603050405020304" pitchFamily="18" charset="0"/>
            </a:endParaRPr>
          </a:p>
        </p:txBody>
      </p:sp>
      <p:sp>
        <p:nvSpPr>
          <p:cNvPr id="68"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5"/>
            </a:pPr>
            <a:r>
              <a:rPr lang="fr-CI" sz="2400" noProof="0" dirty="0" smtClean="0">
                <a:solidFill>
                  <a:srgbClr val="FF0000"/>
                </a:solidFill>
              </a:rPr>
              <a:t>NOTIONS TDD &amp; BDD</a:t>
            </a:r>
            <a:endParaRPr lang="fr-CI" sz="2400" noProof="0" dirty="0">
              <a:solidFill>
                <a:srgbClr val="FF0000"/>
              </a:solidFill>
            </a:endParaRPr>
          </a:p>
        </p:txBody>
      </p:sp>
      <p:pic>
        <p:nvPicPr>
          <p:cNvPr id="69" name="Image 68">
            <a:extLst>
              <a:ext uri="{FF2B5EF4-FFF2-40B4-BE49-F238E27FC236}">
                <a16:creationId xmlns:a16="http://schemas.microsoft.com/office/drawing/2014/main" id="{00E8C2E9-2E74-4B73-1EE7-440BC8106AE7}"/>
              </a:ext>
            </a:extLst>
          </p:cNvPr>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extLst>
      <p:ext uri="{BB962C8B-B14F-4D97-AF65-F5344CB8AC3E}">
        <p14:creationId xmlns:p14="http://schemas.microsoft.com/office/powerpoint/2010/main" val="1694802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noProof="0" dirty="0" smtClean="0">
                <a:solidFill>
                  <a:srgbClr val="FF0000"/>
                </a:solidFill>
              </a:rPr>
              <a:t>CONCLUSION</a:t>
            </a:r>
            <a:endParaRPr lang="fr-CI" sz="2400" noProof="0" dirty="0">
              <a:solidFill>
                <a:srgbClr val="FF0000"/>
              </a:solidFill>
            </a:endParaRPr>
          </a:p>
        </p:txBody>
      </p:sp>
      <p:pic>
        <p:nvPicPr>
          <p:cNvPr id="10"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p:cNvSpPr txBox="1"/>
          <p:nvPr/>
        </p:nvSpPr>
        <p:spPr>
          <a:xfrm>
            <a:off x="468616" y="1238561"/>
            <a:ext cx="8281169" cy="1477328"/>
          </a:xfrm>
          <a:prstGeom prst="rect">
            <a:avLst/>
          </a:prstGeom>
          <a:no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La qualité du code et les tests automatisés sont essentiels pour développer des logiciels fiables et faciles à maintenir. Un code clair facilite les tests, et des tests efficaces permettent de détecter rapidement les erreurs. Ensemble, ils réduisent les bugs, améliorent la productivité et garantissent la pérennité des applications.</a:t>
            </a:r>
          </a:p>
          <a:p>
            <a:pPr algn="just"/>
            <a:endParaRPr lang="fr-FR" dirty="0">
              <a:latin typeface="Times New Roman" panose="02020603050405020304" pitchFamily="18" charset="0"/>
              <a:cs typeface="Times New Roman" panose="02020603050405020304" pitchFamily="18" charset="0"/>
            </a:endParaRPr>
          </a:p>
        </p:txBody>
      </p:sp>
      <p:pic>
        <p:nvPicPr>
          <p:cNvPr id="8" name="Image 7">
            <a:extLst>
              <a:ext uri="{FF2B5EF4-FFF2-40B4-BE49-F238E27FC236}">
                <a16:creationId xmlns:a16="http://schemas.microsoft.com/office/drawing/2014/main" id="{00E8C2E9-2E74-4B73-1EE7-440BC8106AE7}"/>
              </a:ext>
            </a:extLst>
          </p:cNvPr>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extLst>
      <p:ext uri="{BB962C8B-B14F-4D97-AF65-F5344CB8AC3E}">
        <p14:creationId xmlns:p14="http://schemas.microsoft.com/office/powerpoint/2010/main" val="200602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dirty="0" smtClean="0">
                <a:solidFill>
                  <a:srgbClr val="FF0000"/>
                </a:solidFill>
              </a:rPr>
              <a:t>FIN DE LA PRESENTATION</a:t>
            </a:r>
            <a:endParaRPr lang="fr-CI" noProof="0" dirty="0">
              <a:solidFill>
                <a:srgbClr val="FF0000"/>
              </a:solidFill>
            </a:endParaRPr>
          </a:p>
        </p:txBody>
      </p:sp>
      <p:sp>
        <p:nvSpPr>
          <p:cNvPr id="6" name="ZoneTexte 5">
            <a:extLst>
              <a:ext uri="{FF2B5EF4-FFF2-40B4-BE49-F238E27FC236}">
                <a16:creationId xmlns:a16="http://schemas.microsoft.com/office/drawing/2014/main" id="{CD8178E0-C84B-72AA-FB7C-06BA3752FF8A}"/>
              </a:ext>
            </a:extLst>
          </p:cNvPr>
          <p:cNvSpPr txBox="1"/>
          <p:nvPr/>
        </p:nvSpPr>
        <p:spPr>
          <a:xfrm>
            <a:off x="2310710" y="2780928"/>
            <a:ext cx="4493538" cy="1569660"/>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fr-CI" sz="9600" b="1" noProof="0" dirty="0">
                <a:ln w="11430"/>
                <a:effectLst>
                  <a:outerShdw blurRad="80000" dist="40000" dir="5040000" algn="tl">
                    <a:srgbClr val="000000">
                      <a:alpha val="30000"/>
                    </a:srgbClr>
                  </a:outerShdw>
                </a:effectLst>
              </a:rPr>
              <a:t>Merci !</a:t>
            </a:r>
            <a:r>
              <a:rPr lang="fr-CI" sz="9600" b="1" noProof="0" dirty="0">
                <a:ln w="11430"/>
                <a:solidFill>
                  <a:schemeClr val="bg1">
                    <a:lumMod val="50000"/>
                  </a:schemeClr>
                </a:solidFill>
                <a:effectLst>
                  <a:outerShdw blurRad="80000" dist="40000" dir="5040000" algn="tl">
                    <a:srgbClr val="000000">
                      <a:alpha val="30000"/>
                    </a:srgbClr>
                  </a:outerShdw>
                </a:effectLst>
              </a:rPr>
              <a:t> </a:t>
            </a:r>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481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4213" y="44624"/>
            <a:ext cx="8208962" cy="837456"/>
          </a:xfrm>
        </p:spPr>
        <p:txBody>
          <a:bodyPr/>
          <a:lstStyle/>
          <a:p>
            <a:r>
              <a:rPr lang="fr-CI" noProof="0" dirty="0">
                <a:solidFill>
                  <a:srgbClr val="C00000"/>
                </a:solidFill>
              </a:rPr>
              <a:t>Questions …</a:t>
            </a:r>
            <a:endParaRPr lang="fr-CI" noProof="0" dirty="0"/>
          </a:p>
        </p:txBody>
      </p:sp>
      <p:sp>
        <p:nvSpPr>
          <p:cNvPr id="6" name="ZoneTexte 5"/>
          <p:cNvSpPr txBox="1"/>
          <p:nvPr/>
        </p:nvSpPr>
        <p:spPr>
          <a:xfrm>
            <a:off x="2627784" y="2708920"/>
            <a:ext cx="3456384" cy="1292662"/>
          </a:xfrm>
          <a:prstGeom prst="rect">
            <a:avLst/>
          </a:prstGeom>
          <a:noFill/>
        </p:spPr>
        <p:txBody>
          <a:bodyPr wrap="square" rtlCol="0">
            <a:spAutoFit/>
          </a:bodyPr>
          <a:lstStyle/>
          <a:p>
            <a:pPr algn="ctr"/>
            <a:r>
              <a:rPr lang="fr-CI" sz="6000" b="1" noProof="0" dirty="0">
                <a:solidFill>
                  <a:schemeClr val="bg1"/>
                </a:solidFill>
              </a:rPr>
              <a:t>Q&amp;A</a:t>
            </a:r>
          </a:p>
          <a:p>
            <a:pPr algn="ctr"/>
            <a:r>
              <a:rPr lang="fr-CI" b="1" noProof="0" dirty="0">
                <a:solidFill>
                  <a:schemeClr val="bg1"/>
                </a:solidFill>
              </a:rPr>
              <a:t>www.osositechnologies.com</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2119313"/>
            <a:ext cx="8963025" cy="261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ZoneTexte 1"/>
          <p:cNvSpPr txBox="1"/>
          <p:nvPr/>
        </p:nvSpPr>
        <p:spPr>
          <a:xfrm>
            <a:off x="744949" y="2691713"/>
            <a:ext cx="7416824" cy="1446550"/>
          </a:xfrm>
          <a:prstGeom prst="rect">
            <a:avLst/>
          </a:prstGeom>
          <a:noFill/>
        </p:spPr>
        <p:txBody>
          <a:bodyPr wrap="square" rtlCol="0">
            <a:spAutoFit/>
          </a:bodyPr>
          <a:lstStyle/>
          <a:p>
            <a:pPr algn="ctr"/>
            <a:r>
              <a:rPr lang="fr-CI" sz="6000" b="1" noProof="0" dirty="0">
                <a:solidFill>
                  <a:schemeClr val="bg1"/>
                </a:solidFill>
              </a:rPr>
              <a:t>Q&amp;A</a:t>
            </a:r>
          </a:p>
          <a:p>
            <a:pPr algn="ctr"/>
            <a:r>
              <a:rPr lang="fr-CI" sz="2800" b="1" noProof="0" dirty="0">
                <a:solidFill>
                  <a:schemeClr val="bg1"/>
                </a:solidFill>
              </a:rPr>
              <a:t>www.osistechnologies.com</a:t>
            </a:r>
          </a:p>
        </p:txBody>
      </p:sp>
      <p:sp>
        <p:nvSpPr>
          <p:cNvPr id="3" name="ZoneTexte 2"/>
          <p:cNvSpPr txBox="1"/>
          <p:nvPr/>
        </p:nvSpPr>
        <p:spPr>
          <a:xfrm>
            <a:off x="0" y="6381328"/>
            <a:ext cx="1691680" cy="476672"/>
          </a:xfrm>
          <a:prstGeom prst="rect">
            <a:avLst/>
          </a:prstGeom>
          <a:solidFill>
            <a:schemeClr val="bg1"/>
          </a:solidFill>
        </p:spPr>
        <p:txBody>
          <a:bodyPr wrap="square" rtlCol="0">
            <a:spAutoFit/>
          </a:bodyPr>
          <a:lstStyle/>
          <a:p>
            <a:endParaRPr lang="fr-CI" noProof="0" dirty="0"/>
          </a:p>
        </p:txBody>
      </p:sp>
      <p:pic>
        <p:nvPicPr>
          <p:cNvPr id="8" name="Image 7"/>
          <p:cNvPicPr>
            <a:picLocks noChangeAspect="1"/>
          </p:cNvPicPr>
          <p:nvPr/>
        </p:nvPicPr>
        <p:blipFill>
          <a:blip r:embed="rId3"/>
          <a:stretch>
            <a:fillRect/>
          </a:stretch>
        </p:blipFill>
        <p:spPr>
          <a:xfrm>
            <a:off x="7694557" y="6119753"/>
            <a:ext cx="1357595" cy="730650"/>
          </a:xfrm>
          <a:prstGeom prst="rect">
            <a:avLst/>
          </a:prstGeom>
        </p:spPr>
      </p:pic>
      <p:pic>
        <p:nvPicPr>
          <p:cNvPr id="5" name="Image 4"/>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12" name="Imag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0" y="6416501"/>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ection OIM">
  <a:themeElements>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ection OIM">
      <a:majorFont>
        <a:latin typeface="Arial"/>
        <a:ea typeface="ＭＳ Ｐゴシック"/>
        <a:cs typeface=""/>
      </a:majorFont>
      <a:minorFont>
        <a:latin typeface="Trebuchet M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OI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OI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OI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OI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OI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OI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OI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OI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OI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OI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OI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3457</TotalTime>
  <Words>1739</Words>
  <Application>Microsoft Office PowerPoint</Application>
  <PresentationFormat>Affichage à l'écran (4:3)</PresentationFormat>
  <Paragraphs>305</Paragraphs>
  <Slides>18</Slides>
  <Notes>16</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18</vt:i4>
      </vt:variant>
    </vt:vector>
  </HeadingPairs>
  <TitlesOfParts>
    <vt:vector size="28" baseType="lpstr">
      <vt:lpstr>MS PGothic</vt:lpstr>
      <vt:lpstr>MS PGothic</vt:lpstr>
      <vt:lpstr>Arial</vt:lpstr>
      <vt:lpstr>Arial Narrow</vt:lpstr>
      <vt:lpstr>Calibri</vt:lpstr>
      <vt:lpstr>Consolas</vt:lpstr>
      <vt:lpstr>Times New Roman</vt:lpstr>
      <vt:lpstr>Trebuchet MS</vt:lpstr>
      <vt:lpstr>Wingdings</vt:lpstr>
      <vt:lpstr>Section OIM</vt:lpstr>
      <vt:lpstr>QUALITE DE CODE ET TESTS AUTOMATISES</vt:lpstr>
      <vt:lpstr>SOMMAIRE</vt:lpstr>
      <vt:lpstr>INTRODUCTION</vt:lpstr>
      <vt:lpstr>TYPOLOGIE DE TESTS </vt:lpstr>
      <vt:lpstr>TYPOLOGIE DE TESTS </vt:lpstr>
      <vt:lpstr>TYPOLOGIE DE TESTS </vt:lpstr>
      <vt:lpstr>TYPOLOGIE DE TESTS </vt:lpstr>
      <vt:lpstr>FRAMEWORK DE TESTS</vt:lpstr>
      <vt:lpstr>FRAMEWORK DE TESTS</vt:lpstr>
      <vt:lpstr>FRAMEWORK DE TESTS</vt:lpstr>
      <vt:lpstr>FRAMEWORK DE TESTS</vt:lpstr>
      <vt:lpstr>FRAMEWORKS D’ASSERTIONS</vt:lpstr>
      <vt:lpstr>FRAMEWORK DE MOCK</vt:lpstr>
      <vt:lpstr>NOTIONS TDD &amp; BDD</vt:lpstr>
      <vt:lpstr>NOTIONS TDD &amp; BDD</vt:lpstr>
      <vt:lpstr>CONCLUSION</vt:lpstr>
      <vt:lpstr>FIN DE LA PRESENTATION</vt:lpstr>
      <vt:lpstr>Questions …</vt:lpstr>
    </vt:vector>
  </TitlesOfParts>
  <Company>Momentum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Maxime Yapi</dc:creator>
  <cp:lastModifiedBy>HP 830G7</cp:lastModifiedBy>
  <cp:revision>464</cp:revision>
  <dcterms:created xsi:type="dcterms:W3CDTF">2010-02-03T20:06:00Z</dcterms:created>
  <dcterms:modified xsi:type="dcterms:W3CDTF">2026-06-11T10:21:15Z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1036-12.1.0.25242</vt:lpwstr>
  </property>
  <property fmtid="{D5CDD505-2E9C-101B-9397-08002B2CF9AE}" pid="3" name="ICV">
    <vt:lpwstr>F7142A23608244029C64D6D2F36D401E_12</vt:lpwstr>
  </property>
</Properties>
</file>