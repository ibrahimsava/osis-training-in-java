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20"/>
  </p:notesMasterIdLst>
  <p:handoutMasterIdLst>
    <p:handoutMasterId r:id="rId21"/>
  </p:handoutMasterIdLst>
  <p:sldIdLst>
    <p:sldId id="256" r:id="rId2"/>
    <p:sldId id="356" r:id="rId3"/>
    <p:sldId id="357" r:id="rId4"/>
    <p:sldId id="360" r:id="rId5"/>
    <p:sldId id="359" r:id="rId6"/>
    <p:sldId id="358" r:id="rId7"/>
    <p:sldId id="361" r:id="rId8"/>
    <p:sldId id="364" r:id="rId9"/>
    <p:sldId id="363" r:id="rId10"/>
    <p:sldId id="362" r:id="rId11"/>
    <p:sldId id="366" r:id="rId12"/>
    <p:sldId id="368" r:id="rId13"/>
    <p:sldId id="365" r:id="rId14"/>
    <p:sldId id="370" r:id="rId15"/>
    <p:sldId id="367" r:id="rId16"/>
    <p:sldId id="369" r:id="rId17"/>
    <p:sldId id="327" r:id="rId18"/>
    <p:sldId id="345" r:id="rId19"/>
  </p:sldIdLst>
  <p:sldSz cx="9144000" cy="6858000" type="screen4x3"/>
  <p:notesSz cx="7010400" cy="9296400"/>
  <p:defaultTextStyle>
    <a:defPPr>
      <a:defRPr lang="fr-CA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001A"/>
    <a:srgbClr val="777777"/>
    <a:srgbClr val="006600"/>
    <a:srgbClr val="E3CDD0"/>
    <a:srgbClr val="FFFF99"/>
    <a:srgbClr val="FF6600"/>
    <a:srgbClr val="FF33CC"/>
    <a:srgbClr val="002C56"/>
    <a:srgbClr val="CBD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 autoAdjust="0"/>
    <p:restoredTop sz="94687" autoAdjust="0"/>
  </p:normalViewPr>
  <p:slideViewPr>
    <p:cSldViewPr>
      <p:cViewPr varScale="1">
        <p:scale>
          <a:sx n="68" d="100"/>
          <a:sy n="68" d="100"/>
        </p:scale>
        <p:origin x="1240" y="48"/>
      </p:cViewPr>
      <p:guideLst/>
    </p:cSldViewPr>
  </p:slideViewPr>
  <p:outlineViewPr>
    <p:cViewPr>
      <p:scale>
        <a:sx n="33" d="100"/>
        <a:sy n="33" d="100"/>
      </p:scale>
      <p:origin x="0" y="19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2540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EFB73F57-00A7-4824-AB68-DA8CEE9E7E80}" type="slidenum">
              <a:rPr lang="fr-CA"/>
              <a:pPr>
                <a:defRPr/>
              </a:pPr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857191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A" noProof="0"/>
              <a:t>Cliquez pour modifier les styles du texte du masque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  <a:p>
            <a:pPr lvl="4"/>
            <a:r>
              <a:rPr lang="fr-CA" noProof="0"/>
              <a:t>Cinquième niveau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4824BCD5-7DB3-4570-95FB-D6BD68920CD5}" type="slidenum">
              <a:rPr lang="fr-CA"/>
              <a:pPr>
                <a:defRPr/>
              </a:pPr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213082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24BCD5-7DB3-4570-95FB-D6BD68920CD5}" type="slidenum">
              <a:rPr lang="fr-CA" smtClean="0"/>
              <a:pPr>
                <a:defRPr/>
              </a:pPr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41517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25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15888"/>
            <a:ext cx="971550" cy="5762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CA"/>
          </a:p>
        </p:txBody>
      </p:sp>
      <p:sp>
        <p:nvSpPr>
          <p:cNvPr id="5" name="Rectangle 4"/>
          <p:cNvSpPr/>
          <p:nvPr userDrawn="1"/>
        </p:nvSpPr>
        <p:spPr>
          <a:xfrm>
            <a:off x="0" y="6237288"/>
            <a:ext cx="6876256" cy="620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CA"/>
          </a:p>
        </p:txBody>
      </p:sp>
      <p:sp>
        <p:nvSpPr>
          <p:cNvPr id="6" name="Rectangle 5"/>
          <p:cNvSpPr/>
          <p:nvPr userDrawn="1"/>
        </p:nvSpPr>
        <p:spPr>
          <a:xfrm>
            <a:off x="0" y="549275"/>
            <a:ext cx="9144000" cy="620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CA"/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31640" y="1916832"/>
            <a:ext cx="6048672" cy="1519808"/>
          </a:xfrm>
        </p:spPr>
        <p:txBody>
          <a:bodyPr/>
          <a:lstStyle>
            <a:lvl1pPr algn="r">
              <a:defRPr sz="4000">
                <a:solidFill>
                  <a:srgbClr val="E2001A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 lvl="0"/>
            <a:r>
              <a:rPr lang="fr-CA" noProof="0" dirty="0"/>
              <a:t>Cliquez et modifiez le titre</a:t>
            </a:r>
          </a:p>
        </p:txBody>
      </p:sp>
      <p:sp>
        <p:nvSpPr>
          <p:cNvPr id="23555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11760" y="3518712"/>
            <a:ext cx="6480720" cy="1278440"/>
          </a:xfrm>
        </p:spPr>
        <p:txBody>
          <a:bodyPr/>
          <a:lstStyle>
            <a:lvl1pPr marL="0" indent="0" algn="r">
              <a:buFontTx/>
              <a:buNone/>
              <a:defRPr sz="2600" i="1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 lvl="0"/>
            <a:r>
              <a:rPr lang="fr-CA" noProof="0" dirty="0"/>
              <a:t>Cliquez pour modifier le style des sous-titres du masque</a:t>
            </a:r>
          </a:p>
        </p:txBody>
      </p:sp>
      <p:cxnSp>
        <p:nvCxnSpPr>
          <p:cNvPr id="19" name="Connecteur en angle 18"/>
          <p:cNvCxnSpPr/>
          <p:nvPr userDrawn="1"/>
        </p:nvCxnSpPr>
        <p:spPr>
          <a:xfrm>
            <a:off x="211138" y="1484784"/>
            <a:ext cx="8681342" cy="38698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cteur en angle 23"/>
          <p:cNvCxnSpPr/>
          <p:nvPr userDrawn="1"/>
        </p:nvCxnSpPr>
        <p:spPr>
          <a:xfrm flipV="1">
            <a:off x="210443" y="1440160"/>
            <a:ext cx="8682037" cy="123178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Arrondir un rectangle avec un coin diagonal 26"/>
          <p:cNvSpPr/>
          <p:nvPr userDrawn="1"/>
        </p:nvSpPr>
        <p:spPr>
          <a:xfrm>
            <a:off x="35496" y="4899724"/>
            <a:ext cx="3960440" cy="292606"/>
          </a:xfrm>
          <a:prstGeom prst="round2Diag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" name="Espace réservé pour une image  4" descr="Débu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" y="5515793"/>
            <a:ext cx="452965" cy="14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ZoneTexte 28"/>
          <p:cNvSpPr txBox="1"/>
          <p:nvPr userDrawn="1"/>
        </p:nvSpPr>
        <p:spPr>
          <a:xfrm>
            <a:off x="35496" y="4859868"/>
            <a:ext cx="3960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La Force de l’Engagement et de l’Expertise</a:t>
            </a:r>
          </a:p>
        </p:txBody>
      </p:sp>
      <p:pic>
        <p:nvPicPr>
          <p:cNvPr id="21" name="Espace réservé pour une image  4" descr="Débu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9" y="5877272"/>
            <a:ext cx="452965" cy="14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Espace réservé pour une image  4" descr="Débu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235873"/>
            <a:ext cx="452965" cy="14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Espace réservé pour une image  4" descr="Débu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9" y="6595913"/>
            <a:ext cx="452965" cy="14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Imag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260648"/>
            <a:ext cx="2298552" cy="1086087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79450" y="1484313"/>
            <a:ext cx="3927475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759325" y="1484313"/>
            <a:ext cx="3927475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  <a:endParaRPr lang="fr-CA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CA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732588" y="-100013"/>
            <a:ext cx="2016125" cy="59769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79450" y="-100013"/>
            <a:ext cx="5900738" cy="59769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0097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-188913"/>
            <a:ext cx="8208962" cy="114300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CA" dirty="0"/>
              <a:t>Cliquez et modifiez le titre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9449" y="1125538"/>
            <a:ext cx="8213725" cy="4751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A" dirty="0"/>
              <a:t>Cliquez pour modifier les styles du texte du masque</a:t>
            </a:r>
          </a:p>
          <a:p>
            <a:pPr lvl="1"/>
            <a:r>
              <a:rPr lang="fr-CA" dirty="0"/>
              <a:t>Deuxième niveau</a:t>
            </a:r>
          </a:p>
          <a:p>
            <a:pPr lvl="2"/>
            <a:r>
              <a:rPr lang="fr-CA" dirty="0"/>
              <a:t> Troisième niveau</a:t>
            </a:r>
          </a:p>
          <a:p>
            <a:pPr lvl="3"/>
            <a:r>
              <a:rPr lang="fr-CA" dirty="0"/>
              <a:t>Quatrième niveau</a:t>
            </a:r>
          </a:p>
          <a:p>
            <a:pPr lvl="4"/>
            <a:r>
              <a:rPr lang="fr-CA" dirty="0"/>
              <a:t>Cinquième niveau</a:t>
            </a:r>
          </a:p>
        </p:txBody>
      </p:sp>
      <p:cxnSp>
        <p:nvCxnSpPr>
          <p:cNvPr id="10" name="Connecteur en angle 9"/>
          <p:cNvCxnSpPr/>
          <p:nvPr userDrawn="1"/>
        </p:nvCxnSpPr>
        <p:spPr>
          <a:xfrm flipV="1">
            <a:off x="679450" y="764704"/>
            <a:ext cx="8213725" cy="72008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Connecteur en angle 10"/>
          <p:cNvCxnSpPr/>
          <p:nvPr userDrawn="1"/>
        </p:nvCxnSpPr>
        <p:spPr>
          <a:xfrm flipV="1">
            <a:off x="679450" y="686150"/>
            <a:ext cx="8213725" cy="78554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Espace réservé pour une image  4" descr="Nouvelle notification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68344" y="6416675"/>
            <a:ext cx="1296144" cy="38833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0" y="296962"/>
            <a:ext cx="679450" cy="39573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Image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2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002C5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002C5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002C5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002C5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sz="2400">
          <a:solidFill>
            <a:srgbClr val="001523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sz="2000">
          <a:solidFill>
            <a:srgbClr val="001523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453336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6301BB6-AEF3-4BDF-B8AB-15484F3999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5378" y="116632"/>
            <a:ext cx="2320758" cy="125700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8BE8AC3-2515-43CB-9089-C1E6D9007D9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6307338"/>
            <a:ext cx="1296144" cy="515307"/>
          </a:xfrm>
          <a:prstGeom prst="rect">
            <a:avLst/>
          </a:prstGeom>
        </p:spPr>
      </p:pic>
      <p:sp>
        <p:nvSpPr>
          <p:cNvPr id="8" name="Titre 7">
            <a:extLst>
              <a:ext uri="{FF2B5EF4-FFF2-40B4-BE49-F238E27FC236}">
                <a16:creationId xmlns:a16="http://schemas.microsoft.com/office/drawing/2014/main" id="{29C277DC-CA85-4F4B-92F7-66515D6D0B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9453" y="2276872"/>
            <a:ext cx="5472608" cy="2520280"/>
          </a:xfrm>
        </p:spPr>
        <p:txBody>
          <a:bodyPr/>
          <a:lstStyle/>
          <a:p>
            <a:pPr algn="ctr"/>
            <a:r>
              <a:rPr lang="fr-FR" sz="4800" dirty="0" smtClean="0"/>
              <a:t>GENERIQUES ET COLLECTIVES(2)</a:t>
            </a:r>
            <a:endParaRPr lang="fr-FR" sz="4800" dirty="0"/>
          </a:p>
        </p:txBody>
      </p:sp>
      <p:sp>
        <p:nvSpPr>
          <p:cNvPr id="2" name="ZoneTexte 1"/>
          <p:cNvSpPr txBox="1"/>
          <p:nvPr/>
        </p:nvSpPr>
        <p:spPr>
          <a:xfrm>
            <a:off x="4788024" y="5638685"/>
            <a:ext cx="31683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Présenté par : </a:t>
            </a:r>
          </a:p>
          <a:p>
            <a:pPr algn="just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KORA AMON </a:t>
            </a:r>
          </a:p>
          <a:p>
            <a:pPr algn="just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SAVADOGO IBRAHIM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300" cap="none" dirty="0">
                <a:solidFill>
                  <a:srgbClr val="FF0000"/>
                </a:solidFill>
                <a:latin typeface="+mn-lt"/>
              </a:rPr>
              <a:t>SOMMAIRE</a:t>
            </a:r>
          </a:p>
        </p:txBody>
      </p:sp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F14F53A-C3CD-418C-B4AE-2BA5008321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6307338"/>
            <a:ext cx="1296144" cy="515307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755576" y="1340768"/>
            <a:ext cx="784887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/>
            <a:endParaRPr lang="fr-FR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 algn="just">
              <a:buFont typeface="+mj-lt"/>
              <a:buAutoNum type="romanUcPeriod"/>
            </a:pP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HIERACHIE DES COLLECTIONS </a:t>
            </a:r>
          </a:p>
          <a:p>
            <a:pPr algn="just"/>
            <a:endParaRPr lang="fr-FR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 algn="just">
              <a:buFont typeface="+mj-lt"/>
              <a:buAutoNum type="romanUcPeriod" startAt="2"/>
            </a:pP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 WRAPPER</a:t>
            </a:r>
          </a:p>
          <a:p>
            <a:pPr marL="400050" indent="-400050" algn="just">
              <a:buFont typeface="+mj-lt"/>
              <a:buAutoNum type="romanUcPeriod" startAt="2"/>
            </a:pPr>
            <a:endParaRPr lang="fr-FR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 algn="just">
              <a:buFont typeface="+mj-lt"/>
              <a:buAutoNum type="romanUcPeriod" startAt="3"/>
            </a:pP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</a:p>
          <a:p>
            <a:pPr marL="400050" indent="-400050" algn="just">
              <a:buFont typeface="+mj-lt"/>
              <a:buAutoNum type="romanUcPeriod"/>
            </a:pPr>
            <a:endParaRPr lang="fr-FR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 algn="just">
              <a:buFont typeface="+mj-lt"/>
              <a:buAutoNum type="romanUcPeriod" startAt="4"/>
            </a:pP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 VAR-ARGS</a:t>
            </a:r>
          </a:p>
          <a:p>
            <a:pPr algn="just"/>
            <a:endParaRPr lang="fr-FR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 algn="just">
              <a:buFont typeface="+mj-lt"/>
              <a:buAutoNum type="romanUcPeriod" startAt="5"/>
            </a:pP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HANDING</a:t>
            </a:r>
          </a:p>
          <a:p>
            <a:pPr algn="just"/>
            <a:endParaRPr lang="fr-FR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717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r>
              <a:rPr lang="fr-CA" sz="2400" cap="none" dirty="0">
                <a:solidFill>
                  <a:srgbClr val="FF0000"/>
                </a:solidFill>
              </a:rPr>
              <a:t>INTRODUCTION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395536" y="1196752"/>
            <a:ext cx="81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467544" y="1196752"/>
            <a:ext cx="8208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développement d'applications Java modernes exige bien plus que la simple maîtrise de la syntaxe de base. Il nécessite une compréhension approfondie des mécanismes qui assurent la flexibilité , la sécurité et la fiabilité du code.</a:t>
            </a: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C'est dans cette optique qui s'inscrit ce travail, qui aborde des notions clés telles que la hiérarchie des collections, les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Wrappers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les Strings, les Var-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la gestion des exceptions autant d'outils que tout développeur Java se doit de maîtriser pour produire un code de qualité professionnelle.</a:t>
            </a:r>
          </a:p>
          <a:p>
            <a:pPr algn="just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8938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14350" indent="-514350" algn="just">
              <a:buFont typeface="+mj-lt"/>
              <a:buAutoNum type="romanUcPeriod"/>
            </a:pPr>
            <a:r>
              <a:rPr lang="fr-CA" sz="2400" cap="none" dirty="0" smtClean="0">
                <a:solidFill>
                  <a:srgbClr val="FF0000"/>
                </a:solidFill>
              </a:rPr>
              <a:t>HIERACHIE DES COLLECTIONS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340768"/>
            <a:ext cx="7128792" cy="47701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ZoneTexte 6"/>
          <p:cNvSpPr txBox="1"/>
          <p:nvPr/>
        </p:nvSpPr>
        <p:spPr>
          <a:xfrm>
            <a:off x="1331640" y="866234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dirty="0" smtClean="0">
                <a:solidFill>
                  <a:srgbClr val="FF0000"/>
                </a:solidFill>
              </a:rPr>
              <a:t>Hiérarchie </a:t>
            </a: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3514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14350" indent="-514350">
              <a:buFont typeface="+mj-lt"/>
              <a:buAutoNum type="romanUcPeriod"/>
            </a:pPr>
            <a:r>
              <a:rPr lang="fr-CA" sz="2400" cap="none" dirty="0" smtClean="0">
                <a:solidFill>
                  <a:srgbClr val="FF0000"/>
                </a:solidFill>
              </a:rPr>
              <a:t>HIERACHIE DES COLLECTIONS 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352" y="1412776"/>
            <a:ext cx="7250056" cy="46259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46437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14350" indent="-514350">
              <a:buFont typeface="+mj-lt"/>
              <a:buAutoNum type="romanUcPeriod"/>
            </a:pPr>
            <a:r>
              <a:rPr lang="fr-CA" sz="2400" cap="none" dirty="0" smtClean="0">
                <a:solidFill>
                  <a:srgbClr val="FF0000"/>
                </a:solidFill>
              </a:rPr>
              <a:t>HIERACHIE DES COLLECTIONS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1388840" y="908720"/>
            <a:ext cx="684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fr-FR" dirty="0" smtClean="0">
                <a:solidFill>
                  <a:srgbClr val="FF0000"/>
                </a:solidFill>
              </a:rPr>
              <a:t>Leurs caractéristiques </a:t>
            </a:r>
            <a:endParaRPr lang="fr-FR" dirty="0">
              <a:solidFill>
                <a:srgbClr val="FF0000"/>
              </a:solidFill>
            </a:endParaRPr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423117"/>
              </p:ext>
            </p:extLst>
          </p:nvPr>
        </p:nvGraphicFramePr>
        <p:xfrm>
          <a:off x="884784" y="1844824"/>
          <a:ext cx="7344816" cy="37058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36204">
                  <a:extLst>
                    <a:ext uri="{9D8B030D-6E8A-4147-A177-3AD203B41FA5}">
                      <a16:colId xmlns:a16="http://schemas.microsoft.com/office/drawing/2014/main" val="574699121"/>
                    </a:ext>
                  </a:extLst>
                </a:gridCol>
                <a:gridCol w="1836204">
                  <a:extLst>
                    <a:ext uri="{9D8B030D-6E8A-4147-A177-3AD203B41FA5}">
                      <a16:colId xmlns:a16="http://schemas.microsoft.com/office/drawing/2014/main" val="1915381403"/>
                    </a:ext>
                  </a:extLst>
                </a:gridCol>
                <a:gridCol w="1836204">
                  <a:extLst>
                    <a:ext uri="{9D8B030D-6E8A-4147-A177-3AD203B41FA5}">
                      <a16:colId xmlns:a16="http://schemas.microsoft.com/office/drawing/2014/main" val="596538081"/>
                    </a:ext>
                  </a:extLst>
                </a:gridCol>
                <a:gridCol w="1836204">
                  <a:extLst>
                    <a:ext uri="{9D8B030D-6E8A-4147-A177-3AD203B41FA5}">
                      <a16:colId xmlns:a16="http://schemas.microsoft.com/office/drawing/2014/main" val="2510919050"/>
                    </a:ext>
                  </a:extLst>
                </a:gridCol>
              </a:tblGrid>
              <a:tr h="520072">
                <a:tc>
                  <a:txBody>
                    <a:bodyPr/>
                    <a:lstStyle/>
                    <a:p>
                      <a:pPr algn="just"/>
                      <a:r>
                        <a:rPr lang="fr-FR" dirty="0" smtClean="0"/>
                        <a:t>Interface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dirty="0" smtClean="0"/>
                        <a:t>Class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dirty="0" smtClean="0"/>
                        <a:t>Description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dirty="0" smtClean="0"/>
                        <a:t>Quand l’utiliser ?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381168"/>
                  </a:ext>
                </a:extLst>
              </a:tr>
              <a:tr h="520072">
                <a:tc rowSpan="4">
                  <a:txBody>
                    <a:bodyPr/>
                    <a:lstStyle/>
                    <a:p>
                      <a:pPr algn="just"/>
                      <a:r>
                        <a:rPr lang="fr-FR" dirty="0" smtClean="0"/>
                        <a:t>List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dirty="0" err="1" smtClean="0"/>
                        <a:t>ArrayList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dirty="0" smtClean="0"/>
                        <a:t>Tableau dynamique qui garde l'ordre et accepte les doublons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Liste de notes, de noms — accès rapide par index</a:t>
                      </a:r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804131"/>
                  </a:ext>
                </a:extLst>
              </a:tr>
              <a:tr h="52007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LinkedList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Liste chaînée avec insertion/suppression rapide en début et fin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Historique d'actions, file d'attente</a:t>
                      </a:r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605910"/>
                  </a:ext>
                </a:extLst>
              </a:tr>
              <a:tr h="930764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Vector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 smtClean="0">
                          <a:solidFill>
                            <a:schemeClr val="tx1"/>
                          </a:solidFill>
                          <a:effectLst/>
                        </a:rPr>
                        <a:t>Comme </a:t>
                      </a:r>
                      <a:r>
                        <a:rPr lang="fr-FR" sz="1200" dirty="0" err="1" smtClean="0">
                          <a:solidFill>
                            <a:schemeClr val="tx1"/>
                          </a:solidFill>
                          <a:effectLst/>
                        </a:rPr>
                        <a:t>ArrayList</a:t>
                      </a:r>
                      <a:r>
                        <a:rPr lang="fr-FR" sz="1200" dirty="0" smtClean="0">
                          <a:solidFill>
                            <a:schemeClr val="tx1"/>
                          </a:solidFill>
                          <a:effectLst/>
                        </a:rPr>
                        <a:t> mais synchronisé (thread-</a:t>
                      </a:r>
                      <a:r>
                        <a:rPr lang="fr-FR" sz="1200" dirty="0" err="1" smtClean="0">
                          <a:solidFill>
                            <a:schemeClr val="tx1"/>
                          </a:solidFill>
                          <a:effectLst/>
                        </a:rPr>
                        <a:t>safe</a:t>
                      </a:r>
                      <a:r>
                        <a:rPr lang="fr-FR" sz="1200" dirty="0" smtClean="0">
                          <a:solidFill>
                            <a:schemeClr val="tx1"/>
                          </a:solidFill>
                          <a:effectLst/>
                        </a:rPr>
                        <a:t>) — ancien</a:t>
                      </a:r>
                    </a:p>
                    <a:p>
                      <a:pPr algn="just" fontAlgn="t"/>
                      <a:r>
                        <a:rPr lang="fr-FR" dirty="0">
                          <a:solidFill>
                            <a:srgbClr val="FAF9F5"/>
                          </a:solidFill>
                          <a:effectLst/>
                        </a:rPr>
                        <a:t/>
                      </a:r>
                      <a:br>
                        <a:rPr lang="fr-FR" dirty="0">
                          <a:solidFill>
                            <a:srgbClr val="FAF9F5"/>
                          </a:solidFill>
                          <a:effectLst/>
                        </a:rPr>
                      </a:br>
                      <a:endParaRPr lang="fr-FR" sz="1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À éviter, préférer </a:t>
                      </a:r>
                      <a:r>
                        <a:rPr lang="fr-FR" sz="12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ArrayList</a:t>
                      </a:r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305909"/>
                  </a:ext>
                </a:extLst>
              </a:tr>
              <a:tr h="520072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Pile LIFO : le dernier ajouté est le premier sorti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Bouton "Annuler", expressions mathématiques</a:t>
                      </a:r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079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7438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14350" indent="-514350">
              <a:buFont typeface="+mj-lt"/>
              <a:buAutoNum type="romanUcPeriod"/>
            </a:pPr>
            <a:r>
              <a:rPr lang="fr-CA" sz="2400" cap="none" dirty="0" smtClean="0">
                <a:solidFill>
                  <a:srgbClr val="FF0000"/>
                </a:solidFill>
              </a:rPr>
              <a:t>HIERACHIE DES COLLECTIONS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365488"/>
              </p:ext>
            </p:extLst>
          </p:nvPr>
        </p:nvGraphicFramePr>
        <p:xfrm>
          <a:off x="899592" y="998881"/>
          <a:ext cx="7416824" cy="511002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54206">
                  <a:extLst>
                    <a:ext uri="{9D8B030D-6E8A-4147-A177-3AD203B41FA5}">
                      <a16:colId xmlns:a16="http://schemas.microsoft.com/office/drawing/2014/main" val="3360931912"/>
                    </a:ext>
                  </a:extLst>
                </a:gridCol>
                <a:gridCol w="1854206">
                  <a:extLst>
                    <a:ext uri="{9D8B030D-6E8A-4147-A177-3AD203B41FA5}">
                      <a16:colId xmlns:a16="http://schemas.microsoft.com/office/drawing/2014/main" val="4182393241"/>
                    </a:ext>
                  </a:extLst>
                </a:gridCol>
                <a:gridCol w="1854206">
                  <a:extLst>
                    <a:ext uri="{9D8B030D-6E8A-4147-A177-3AD203B41FA5}">
                      <a16:colId xmlns:a16="http://schemas.microsoft.com/office/drawing/2014/main" val="1790179562"/>
                    </a:ext>
                  </a:extLst>
                </a:gridCol>
                <a:gridCol w="1854206">
                  <a:extLst>
                    <a:ext uri="{9D8B030D-6E8A-4147-A177-3AD203B41FA5}">
                      <a16:colId xmlns:a16="http://schemas.microsoft.com/office/drawing/2014/main" val="197515944"/>
                    </a:ext>
                  </a:extLst>
                </a:gridCol>
              </a:tblGrid>
              <a:tr h="815355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smtClean="0"/>
                        <a:t>Interface</a:t>
                      </a:r>
                    </a:p>
                    <a:p>
                      <a:pPr algn="just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smtClean="0"/>
                        <a:t>Class</a:t>
                      </a:r>
                    </a:p>
                    <a:p>
                      <a:pPr algn="just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dirty="0" smtClean="0"/>
                        <a:t>Description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smtClean="0"/>
                        <a:t>Quand l’utiliser ?</a:t>
                      </a:r>
                    </a:p>
                    <a:p>
                      <a:pPr algn="just"/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798426"/>
                  </a:ext>
                </a:extLst>
              </a:tr>
              <a:tr h="896890">
                <a:tc rowSpan="5">
                  <a:txBody>
                    <a:bodyPr/>
                    <a:lstStyle/>
                    <a:p>
                      <a:pPr algn="just"/>
                      <a:r>
                        <a:rPr lang="fr-F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HashSet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Collection non ordonnée d'éléments uniques (sans doublons)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Vérifier si un élément existe déjà, liste d'utilisateurs uniques</a:t>
                      </a:r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712232"/>
                  </a:ext>
                </a:extLst>
              </a:tr>
              <a:tr h="978426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TreeSet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 trié automatiquement par ordre naturel, sans doublons</a:t>
                      </a:r>
                      <a:endParaRPr lang="fr-FR" sz="1200" dirty="0" smtClean="0"/>
                    </a:p>
                    <a:p>
                      <a:pPr algn="just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Classement de scores, liste de mots triés alphabétiquement</a:t>
                      </a:r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837976"/>
                  </a:ext>
                </a:extLst>
              </a:tr>
              <a:tr h="733819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LinkedHashSet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Conserve l'ordre d'insertion, sans doublons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Quand tu veux pas de doublons ET garder l'ordre d'ajout</a:t>
                      </a:r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956128"/>
                  </a:ext>
                </a:extLst>
              </a:tr>
              <a:tr h="733819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SortedSet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Interface qui garantit un tri automatique des éléments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Utiliser </a:t>
                      </a:r>
                      <a:r>
                        <a:rPr lang="fr-FR" sz="12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TreeSet</a:t>
                      </a:r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à la place</a:t>
                      </a:r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381457"/>
                  </a:ext>
                </a:extLst>
              </a:tr>
              <a:tr h="733819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NavigableSet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Étend </a:t>
                      </a:r>
                      <a:r>
                        <a:rPr lang="fr-FR" sz="12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SortedSet</a:t>
                      </a:r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avec navigation (premier, dernier, plus proche)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Utiliser </a:t>
                      </a:r>
                      <a:r>
                        <a:rPr lang="fr-FR" sz="12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TreeSet</a:t>
                      </a:r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qui l'implémente</a:t>
                      </a:r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041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0779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14350" indent="-514350">
              <a:buFont typeface="+mj-lt"/>
              <a:buAutoNum type="romanUcPeriod"/>
            </a:pPr>
            <a:r>
              <a:rPr lang="fr-CA" sz="2400" cap="none" dirty="0" smtClean="0">
                <a:solidFill>
                  <a:srgbClr val="FF0000"/>
                </a:solidFill>
              </a:rPr>
              <a:t>HIERACHIE DES COLLECTIONS 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592760"/>
              </p:ext>
            </p:extLst>
          </p:nvPr>
        </p:nvGraphicFramePr>
        <p:xfrm>
          <a:off x="899592" y="1397000"/>
          <a:ext cx="7416824" cy="33401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54206">
                  <a:extLst>
                    <a:ext uri="{9D8B030D-6E8A-4147-A177-3AD203B41FA5}">
                      <a16:colId xmlns:a16="http://schemas.microsoft.com/office/drawing/2014/main" val="2611627042"/>
                    </a:ext>
                  </a:extLst>
                </a:gridCol>
                <a:gridCol w="1854206">
                  <a:extLst>
                    <a:ext uri="{9D8B030D-6E8A-4147-A177-3AD203B41FA5}">
                      <a16:colId xmlns:a16="http://schemas.microsoft.com/office/drawing/2014/main" val="2255143661"/>
                    </a:ext>
                  </a:extLst>
                </a:gridCol>
                <a:gridCol w="1854206">
                  <a:extLst>
                    <a:ext uri="{9D8B030D-6E8A-4147-A177-3AD203B41FA5}">
                      <a16:colId xmlns:a16="http://schemas.microsoft.com/office/drawing/2014/main" val="29915187"/>
                    </a:ext>
                  </a:extLst>
                </a:gridCol>
                <a:gridCol w="1854206">
                  <a:extLst>
                    <a:ext uri="{9D8B030D-6E8A-4147-A177-3AD203B41FA5}">
                      <a16:colId xmlns:a16="http://schemas.microsoft.com/office/drawing/2014/main" val="4119027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smtClean="0"/>
                        <a:t>Interface</a:t>
                      </a:r>
                    </a:p>
                    <a:p>
                      <a:pPr algn="just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smtClean="0"/>
                        <a:t>Class</a:t>
                      </a:r>
                    </a:p>
                    <a:p>
                      <a:pPr algn="just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smtClean="0"/>
                        <a:t>Description</a:t>
                      </a:r>
                    </a:p>
                    <a:p>
                      <a:pPr algn="just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smtClean="0"/>
                        <a:t>Quand l’utiliser ?</a:t>
                      </a:r>
                    </a:p>
                    <a:p>
                      <a:pPr algn="just"/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37918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just"/>
                      <a:r>
                        <a:rPr lang="fr-FR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HashMap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Stocke des paires clé/valeur sans ordre particulier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Annuaire (nom → numéro), dictionnaire, cache</a:t>
                      </a:r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71786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TreeMap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</a:t>
                      </a:r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triée selon l'ordre naturel des clés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Quand tu veux tes clés triées automatiquement</a:t>
                      </a:r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62299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fr-FR" sz="1200" dirty="0" err="1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LinkedHashMap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Conserve l'ordre d'insertion des clés</a:t>
                      </a:r>
                      <a:endParaRPr lang="fr-FR" sz="1200" dirty="0">
                        <a:solidFill>
                          <a:srgbClr val="FAF9F5"/>
                        </a:solidFill>
                        <a:effectLst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Quand l'ordre d'ajout des clés est important</a:t>
                      </a:r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462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fr-F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Queue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PriorityQueue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File d'attente où l'élément le plus prioritaire sort en premier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Gestion de tâches par urgence, algorithme de </a:t>
                      </a:r>
                      <a:r>
                        <a:rPr lang="fr-FR" sz="12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Dijkstra</a:t>
                      </a:r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546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2143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14350" indent="-514350">
              <a:buFont typeface="+mj-lt"/>
              <a:buAutoNum type="romanUcPeriod" startAt="2"/>
            </a:pPr>
            <a:r>
              <a:rPr lang="fr-CA" sz="2400" cap="none" dirty="0" smtClean="0">
                <a:solidFill>
                  <a:srgbClr val="FF0000"/>
                </a:solidFill>
              </a:rPr>
              <a:t>JAVA WRAPPER 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611560" y="948690"/>
            <a:ext cx="835292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Boxing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>
              <a:solidFill>
                <a:srgbClr val="FF0000"/>
              </a:solidFill>
            </a:endParaRP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Boxing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consiste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convertir un type primitif en son objet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Wrapper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correspondant.</a:t>
            </a: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d'autres termes : transformer un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un double en Double, etc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</a:p>
          <a:p>
            <a:pPr algn="just"/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= 5;</a:t>
            </a:r>
          </a:p>
          <a:p>
            <a:pPr algn="just"/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=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Integer.valueOf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(a); </a:t>
            </a:r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 startAt="2"/>
            </a:pPr>
            <a:r>
              <a:rPr lang="fr-FR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Autoboxing</a:t>
            </a:r>
            <a:endParaRPr lang="fr-FR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Autoboxing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la conversion automatique effectuée par Java depuis la version 5. Java fait lui-même la conversion entre les types primitifs et leurs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Wrappers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</a:p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= 5;</a:t>
            </a:r>
          </a:p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= a; </a:t>
            </a:r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716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14350" indent="-514350">
              <a:buFont typeface="+mj-lt"/>
              <a:buAutoNum type="romanUcPeriod" startAt="2"/>
            </a:pPr>
            <a:r>
              <a:rPr lang="fr-CA" sz="2400" cap="none" dirty="0" smtClean="0">
                <a:solidFill>
                  <a:srgbClr val="FF0000"/>
                </a:solidFill>
              </a:rPr>
              <a:t>JAVA WRAPPER 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723499" y="1052736"/>
            <a:ext cx="799288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 startAt="3"/>
            </a:pPr>
            <a:r>
              <a:rPr lang="fr-FR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Unboxing</a:t>
            </a:r>
            <a:endParaRPr lang="fr-FR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Unboxing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la conversion inverse : d'un objet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Wrapper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vers un type primitif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</a:p>
          <a:p>
            <a:pPr algn="just"/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monEntier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42; </a:t>
            </a:r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primitif =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monEntier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 startAt="4"/>
            </a:pPr>
            <a:r>
              <a:rPr lang="fr-F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</a:t>
            </a:r>
            <a:r>
              <a:rPr lang="fr-FR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methodes</a:t>
            </a:r>
            <a:r>
              <a:rPr lang="fr-F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utiles des </a:t>
            </a:r>
            <a:r>
              <a:rPr lang="fr-FR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Wrapper</a:t>
            </a:r>
            <a:r>
              <a:rPr lang="fr-F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+mj-lt"/>
              <a:buAutoNum type="arabicPeriod" startAt="4"/>
            </a:pPr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Integer.parseInt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("42")  →  convertit un String en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Integer.MAX_VALUE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→  la valeur maximale d'un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(2 147 483 647)</a:t>
            </a:r>
          </a:p>
          <a:p>
            <a:pPr lvl="0" algn="just"/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Integer.MIN_VALUE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→  la valeur minimale d'un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(-2 147 483 648)</a:t>
            </a:r>
          </a:p>
          <a:p>
            <a:pPr lvl="0" algn="just"/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Integer.toBinaryString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  →  convertit en binaire : "1010"</a:t>
            </a:r>
          </a:p>
          <a:p>
            <a:pPr lvl="0" algn="just"/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Integer.compare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(a, b)  →  compare deux entiers</a:t>
            </a: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286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14350" indent="-514350">
              <a:buFont typeface="+mj-lt"/>
              <a:buAutoNum type="romanUcPeriod" startAt="2"/>
            </a:pPr>
            <a:r>
              <a:rPr lang="fr-CA" sz="2400" cap="none" dirty="0" smtClean="0">
                <a:solidFill>
                  <a:srgbClr val="FF0000"/>
                </a:solidFill>
              </a:rPr>
              <a:t>JAVA WRAPPER 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755576" y="1268760"/>
            <a:ext cx="79928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Double :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Double.parseDouble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("3.14")  →  convertit un String en double</a:t>
            </a:r>
          </a:p>
          <a:p>
            <a:pPr lvl="0" algn="just"/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Double.isNaN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  →  vérifie si x est "Not a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pPr lvl="0" algn="just"/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Double.isInfinite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  →  vérifie si x est infini</a:t>
            </a: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Character.isLetter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('A')  →  vérifie si c'est une lettre</a:t>
            </a:r>
          </a:p>
          <a:p>
            <a:pPr lvl="0" algn="just"/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Character.isDigit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('5')  →  vérifie si c'est un chiffre</a:t>
            </a:r>
          </a:p>
          <a:p>
            <a:pPr lvl="0" algn="just"/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Character.toUpperCase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('a')  →  retourne 'A'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7025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14350" indent="-514350" algn="just">
              <a:buFont typeface="+mj-lt"/>
              <a:buAutoNum type="romanUcPeriod" startAt="3"/>
            </a:pPr>
            <a:r>
              <a:rPr lang="fr-CA" sz="2400" cap="none" dirty="0" smtClean="0">
                <a:solidFill>
                  <a:srgbClr val="FF0000"/>
                </a:solidFill>
              </a:rPr>
              <a:t>STRING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533309" y="953905"/>
            <a:ext cx="8352928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fr-F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Définition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Une classe 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 objet fondamental et qui sert de 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representer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manipuler les chaines de 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caracteres</a:t>
            </a:r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 sont immuables : une fois créés, ils ne peuvent pas être modifiés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 startAt="2"/>
            </a:pPr>
            <a:r>
              <a:rPr lang="fr-F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Quelques méthodes essentielles de string  </a:t>
            </a:r>
          </a:p>
          <a:p>
            <a:pPr algn="just"/>
            <a:endParaRPr lang="fr-FR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fr-FR" b="1" dirty="0"/>
              <a:t>.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fr-FR" dirty="0"/>
              <a:t> </a:t>
            </a:r>
            <a:endParaRPr lang="fr-FR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toUpperCase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algn="just">
              <a:lnSpc>
                <a:spcPct val="15000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toLowerCase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algn="just">
              <a:lnSpc>
                <a:spcPct val="15000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trim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algn="just">
              <a:lnSpc>
                <a:spcPct val="15000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substring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7055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14350" indent="-514350">
              <a:buFont typeface="+mj-lt"/>
              <a:buAutoNum type="romanUcPeriod" startAt="4"/>
            </a:pPr>
            <a:r>
              <a:rPr lang="fr-CA" sz="2400" cap="none" dirty="0" smtClean="0">
                <a:solidFill>
                  <a:srgbClr val="FF0000"/>
                </a:solidFill>
              </a:rPr>
              <a:t>JAVA VAR-ARGS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575345" y="908720"/>
            <a:ext cx="806489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Java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Varargs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(Variable Arguments), introduits depuis Java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</a:p>
          <a:p>
            <a:pPr algn="just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Utilisant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syntaxe Type... </a:t>
            </a:r>
            <a:r>
              <a:rPr lang="fr-FR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Exemple simple</a:t>
            </a:r>
          </a:p>
          <a:p>
            <a:pPr marL="285750" indent="-285750" algn="just">
              <a:buFont typeface="Courier New" panose="02070309020205020404" pitchFamily="49" charset="0"/>
              <a:buChar char="o"/>
            </a:pP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 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fr-F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somme(</a:t>
            </a:r>
            <a:r>
              <a:rPr lang="fr-F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nombres) {</a:t>
            </a:r>
          </a:p>
          <a:p>
            <a:pPr algn="just"/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fr-F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total = 0;</a:t>
            </a:r>
          </a:p>
          <a:p>
            <a:pPr algn="just"/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for (</a:t>
            </a:r>
            <a:r>
              <a:rPr lang="fr-F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 : nombres) {</a:t>
            </a:r>
          </a:p>
          <a:p>
            <a:pPr algn="just"/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total += n;</a:t>
            </a:r>
          </a:p>
          <a:p>
            <a:pPr algn="just"/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algn="just"/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total;</a:t>
            </a: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main(String[]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(somme(5));         // 5</a:t>
            </a: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(somme(1, 2));      // 3</a:t>
            </a: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(somme(10, 20, 30)); // 60</a:t>
            </a: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fr-FR" dirty="0"/>
              <a:t> </a:t>
            </a:r>
          </a:p>
          <a:p>
            <a:pPr algn="just"/>
            <a:endParaRPr lang="fr-FR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271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93040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Exception Handling — Introduction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2970" y="1478034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1C28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Une exception = une erreur qui survient pendant l'exécution du programme. Java permet de les gérer proprement.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232029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Hiérarchie des exceptions 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273177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73177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337185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922B21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337185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03120" y="337185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1A8CA1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337185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45920" y="401193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0" y="401193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RuntimeException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0" y="232029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courantes 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06240" y="2731770"/>
            <a:ext cx="4663440" cy="502920"/>
          </a:xfrm>
          <a:prstGeom prst="rect">
            <a:avLst/>
          </a:prstGeom>
          <a:solidFill>
            <a:srgbClr val="FDEDEC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275005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NullPointerException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97680" y="298780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un objet null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06240" y="3298698"/>
            <a:ext cx="4663440" cy="502920"/>
          </a:xfrm>
          <a:prstGeom prst="rect">
            <a:avLst/>
          </a:prstGeom>
          <a:solidFill>
            <a:srgbClr val="EBF5FB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331698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ArrayIndexOutOfBoundsException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97680" y="355473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hors du tableau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06240" y="3865626"/>
            <a:ext cx="4663440" cy="502920"/>
          </a:xfrm>
          <a:prstGeom prst="rect">
            <a:avLst/>
          </a:prstGeom>
          <a:solidFill>
            <a:srgbClr val="FDEDEC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388391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NumberFormatException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0" y="412165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"abc" en nombre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06240" y="4432554"/>
            <a:ext cx="4663440" cy="502920"/>
          </a:xfrm>
          <a:prstGeom prst="rect">
            <a:avLst/>
          </a:prstGeom>
          <a:solidFill>
            <a:srgbClr val="EBF5FB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0" y="445084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ArithmeticException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97680" y="468858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par zéro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06240" y="4999482"/>
            <a:ext cx="4663440" cy="502920"/>
          </a:xfrm>
          <a:prstGeom prst="rect">
            <a:avLst/>
          </a:prstGeom>
          <a:solidFill>
            <a:srgbClr val="FDEDEC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0" y="501777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ClassCastException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97680" y="525551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impossible</a:t>
            </a:r>
            <a:endParaRPr lang="en-US" sz="1000" dirty="0"/>
          </a:p>
        </p:txBody>
      </p:sp>
      <p:sp>
        <p:nvSpPr>
          <p:cNvPr id="30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 txBox="1">
            <a:spLocks/>
          </p:cNvSpPr>
          <p:nvPr/>
        </p:nvSpPr>
        <p:spPr>
          <a:xfrm>
            <a:off x="755576" y="151802"/>
            <a:ext cx="8208912" cy="54089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ＭＳ Ｐゴシック" pitchFamily="28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ＭＳ Ｐゴシック" pitchFamily="28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ＭＳ Ｐゴシック" pitchFamily="28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ＭＳ Ｐゴシック" pitchFamily="28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ＭＳ Ｐゴシック" pitchFamily="28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ＭＳ Ｐゴシック" pitchFamily="28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ＭＳ Ｐゴシック" pitchFamily="28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ＭＳ Ｐゴシック" pitchFamily="28" charset="-128"/>
              </a:defRPr>
            </a:lvl9pPr>
          </a:lstStyle>
          <a:p>
            <a:pPr marL="514350" indent="-514350">
              <a:buFont typeface="+mj-lt"/>
              <a:buAutoNum type="romanUcPeriod" startAt="5"/>
            </a:pPr>
            <a:r>
              <a:rPr lang="fr-CA" sz="2400" kern="0" smtClean="0">
                <a:solidFill>
                  <a:srgbClr val="FF0000"/>
                </a:solidFill>
              </a:rPr>
              <a:t>EXCEPTION HANDING</a:t>
            </a:r>
            <a:endParaRPr lang="fr-CA" sz="2400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295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14350" indent="-514350">
              <a:buFont typeface="+mj-lt"/>
              <a:buAutoNum type="romanUcPeriod" startAt="5"/>
            </a:pPr>
            <a:r>
              <a:rPr lang="fr-CA" sz="2400" cap="none" dirty="0" smtClean="0">
                <a:solidFill>
                  <a:srgbClr val="FF0000"/>
                </a:solidFill>
              </a:rPr>
              <a:t>EXCEPTION HANDING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467544" y="1124744"/>
            <a:ext cx="820891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Lancer sa propre exception avec </a:t>
            </a:r>
            <a:r>
              <a:rPr lang="fr-FR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throw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peut aussi créer et lancer manuellement une exception avec le mot-clé </a:t>
            </a:r>
            <a:r>
              <a:rPr lang="fr-FR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throw</a:t>
            </a:r>
            <a:endParaRPr lang="fr-FR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fr-F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verifierAge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 (</a:t>
            </a:r>
            <a:r>
              <a:rPr lang="fr-F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0) {</a:t>
            </a:r>
          </a:p>
          <a:p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fr-F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throw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new </a:t>
            </a:r>
            <a:r>
              <a:rPr lang="fr-F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IllegalArgumentException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("L'âge ne peut pas être négatif !");</a:t>
            </a:r>
          </a:p>
          <a:p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("Âge valide : " + </a:t>
            </a:r>
            <a:r>
              <a:rPr lang="fr-F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main(String[]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verifierAge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(-5);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catch (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IllegalArgumentException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e) {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("Erreur : " +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e.getMessage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27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 smtClean="0">
                <a:solidFill>
                  <a:srgbClr val="FF0000"/>
                </a:solidFill>
              </a:rPr>
              <a:t>CONCLUSION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539552" y="1124744"/>
            <a:ext cx="80648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conclusion, les notions étudiées dans ce travail permettent de mieux comprendre le fonctionnement interne du langage Java et d’améliorer la qualité du code.</a:t>
            </a: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boxing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l’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autoboxing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facilitent la conversion entre types primitifs et objets, les classes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wrapper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offrent plus de flexibilité, tandis que les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varargs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simplifient la gestion de plusieurs paramètres.</a:t>
            </a: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plus, la gestion des exceptions est essentielle pour rendre les programmes plus robustes et éviter les erreurs inattendues.</a:t>
            </a:r>
          </a:p>
        </p:txBody>
      </p:sp>
    </p:spTree>
    <p:extLst>
      <p:ext uri="{BB962C8B-B14F-4D97-AF65-F5344CB8AC3E}">
        <p14:creationId xmlns:p14="http://schemas.microsoft.com/office/powerpoint/2010/main" val="320042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684213" y="99119"/>
            <a:ext cx="8064500" cy="665585"/>
          </a:xfrm>
        </p:spPr>
        <p:txBody>
          <a:bodyPr/>
          <a:lstStyle/>
          <a:p>
            <a:r>
              <a:rPr lang="fr-CA" sz="2400" dirty="0" smtClean="0">
                <a:solidFill>
                  <a:srgbClr val="FF0000"/>
                </a:solidFill>
              </a:rPr>
              <a:t>FIN DE LA PRESENTATION</a:t>
            </a:r>
            <a:endParaRPr lang="fr-CA" sz="2400" dirty="0">
              <a:solidFill>
                <a:srgbClr val="FF000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310710" y="2780928"/>
            <a:ext cx="4493538" cy="156966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fr-CA" sz="9600" b="1" dirty="0">
                <a:ln w="11430"/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Merci !</a:t>
            </a:r>
            <a:r>
              <a:rPr lang="fr-CA" sz="9600" b="1" dirty="0">
                <a:ln w="11430"/>
                <a:solidFill>
                  <a:schemeClr val="bg1">
                    <a:lumMod val="50000"/>
                  </a:schemeClr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1421D6F-C5F1-42E4-86F1-5ED2F5C6A9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6307338"/>
            <a:ext cx="1296144" cy="51530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684213" y="44624"/>
            <a:ext cx="8208962" cy="837456"/>
          </a:xfrm>
        </p:spPr>
        <p:txBody>
          <a:bodyPr/>
          <a:lstStyle/>
          <a:p>
            <a:r>
              <a:rPr lang="fr-CA">
                <a:solidFill>
                  <a:srgbClr val="C00000"/>
                </a:solidFill>
              </a:rPr>
              <a:t>Questions …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2627784" y="2708920"/>
            <a:ext cx="345638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0" b="1" dirty="0">
                <a:solidFill>
                  <a:schemeClr val="bg1"/>
                </a:solidFill>
              </a:rPr>
              <a:t>Q&amp;A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www.osositechnologies.com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8" y="2119313"/>
            <a:ext cx="8963025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744949" y="2691713"/>
            <a:ext cx="74168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6000" b="1" dirty="0">
                <a:solidFill>
                  <a:schemeClr val="bg1"/>
                </a:solidFill>
              </a:rPr>
              <a:t>Q&amp;A</a:t>
            </a:r>
          </a:p>
          <a:p>
            <a:pPr algn="ctr"/>
            <a:r>
              <a:rPr lang="fr-CA" sz="2800" b="1" dirty="0">
                <a:solidFill>
                  <a:schemeClr val="bg1"/>
                </a:solidFill>
              </a:rPr>
              <a:t>www.osistechnologies.com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F8C955B-5C10-4975-B7E2-47CF609D45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6307338"/>
            <a:ext cx="1296144" cy="51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523383"/>
      </p:ext>
    </p:extLst>
  </p:cSld>
  <p:clrMapOvr>
    <a:masterClrMapping/>
  </p:clrMapOvr>
</p:sld>
</file>

<file path=ppt/theme/theme1.xml><?xml version="1.0" encoding="utf-8"?>
<a:theme xmlns:a="http://schemas.openxmlformats.org/drawingml/2006/main" name="Section OIM">
  <a:themeElements>
    <a:clrScheme name="Section OI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ection OIM">
      <a:majorFont>
        <a:latin typeface="Arial"/>
        <a:ea typeface="ＭＳ Ｐゴシック"/>
        <a:cs typeface=""/>
      </a:majorFont>
      <a:minorFont>
        <a:latin typeface="Trebuchet MS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ection OI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ction OIM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ction OIM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ction OIM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ction OIM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ction OIM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17034</TotalTime>
  <Words>953</Words>
  <Application>Microsoft Office PowerPoint</Application>
  <PresentationFormat>Affichage à l'écran (4:3)</PresentationFormat>
  <Paragraphs>221</Paragraphs>
  <Slides>18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8" baseType="lpstr">
      <vt:lpstr>MS PGothic</vt:lpstr>
      <vt:lpstr>Arial</vt:lpstr>
      <vt:lpstr>Arial Narrow</vt:lpstr>
      <vt:lpstr>Calibri</vt:lpstr>
      <vt:lpstr>Courier New</vt:lpstr>
      <vt:lpstr>Times New Roman</vt:lpstr>
      <vt:lpstr>Trebuchet MS</vt:lpstr>
      <vt:lpstr>ui-monospace</vt:lpstr>
      <vt:lpstr>Wingdings</vt:lpstr>
      <vt:lpstr>Section OIM</vt:lpstr>
      <vt:lpstr>GENERIQUES ET COLLECTIVES(2)</vt:lpstr>
      <vt:lpstr>SOMMAIRE</vt:lpstr>
      <vt:lpstr>INTRODUCTION</vt:lpstr>
      <vt:lpstr>HIERACHIE DES COLLECTIONS</vt:lpstr>
      <vt:lpstr>HIERACHIE DES COLLECTIONS </vt:lpstr>
      <vt:lpstr>HIERACHIE DES COLLECTIONS</vt:lpstr>
      <vt:lpstr>HIERACHIE DES COLLECTIONS</vt:lpstr>
      <vt:lpstr>HIERACHIE DES COLLECTIONS </vt:lpstr>
      <vt:lpstr>JAVA WRAPPER </vt:lpstr>
      <vt:lpstr>JAVA WRAPPER </vt:lpstr>
      <vt:lpstr>JAVA WRAPPER </vt:lpstr>
      <vt:lpstr>STRING</vt:lpstr>
      <vt:lpstr>JAVA VAR-ARGS</vt:lpstr>
      <vt:lpstr>Présentation PowerPoint</vt:lpstr>
      <vt:lpstr>EXCEPTION HANDING</vt:lpstr>
      <vt:lpstr>CONCLUSION</vt:lpstr>
      <vt:lpstr>FIN DE LA PRESENTATION</vt:lpstr>
      <vt:lpstr>Questions …</vt:lpstr>
    </vt:vector>
  </TitlesOfParts>
  <Company>Momentum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Maxime Yapi</dc:creator>
  <cp:lastModifiedBy>HP 830G7</cp:lastModifiedBy>
  <cp:revision>657</cp:revision>
  <dcterms:created xsi:type="dcterms:W3CDTF">2010-02-03T20:06:36Z</dcterms:created>
  <dcterms:modified xsi:type="dcterms:W3CDTF">2026-04-30T08:56:09Z</dcterms:modified>
</cp:coreProperties>
</file>